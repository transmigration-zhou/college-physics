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387" r:id="rId2"/>
    <p:sldId id="548" r:id="rId3"/>
    <p:sldId id="678" r:id="rId4"/>
    <p:sldId id="679" r:id="rId5"/>
    <p:sldId id="680" r:id="rId6"/>
    <p:sldId id="681" r:id="rId7"/>
    <p:sldId id="682" r:id="rId8"/>
    <p:sldId id="723" r:id="rId9"/>
    <p:sldId id="683" r:id="rId10"/>
    <p:sldId id="724" r:id="rId11"/>
    <p:sldId id="684" r:id="rId12"/>
    <p:sldId id="685" r:id="rId13"/>
    <p:sldId id="686" r:id="rId14"/>
    <p:sldId id="687" r:id="rId15"/>
    <p:sldId id="688" r:id="rId16"/>
    <p:sldId id="689" r:id="rId17"/>
    <p:sldId id="721" r:id="rId18"/>
    <p:sldId id="691" r:id="rId19"/>
    <p:sldId id="719" r:id="rId20"/>
    <p:sldId id="720" r:id="rId21"/>
    <p:sldId id="693" r:id="rId22"/>
    <p:sldId id="694" r:id="rId23"/>
    <p:sldId id="695" r:id="rId24"/>
    <p:sldId id="696" r:id="rId25"/>
    <p:sldId id="697" r:id="rId26"/>
    <p:sldId id="698" r:id="rId27"/>
    <p:sldId id="699" r:id="rId28"/>
    <p:sldId id="700" r:id="rId29"/>
    <p:sldId id="701" r:id="rId30"/>
    <p:sldId id="702" r:id="rId31"/>
    <p:sldId id="703" r:id="rId32"/>
    <p:sldId id="704" r:id="rId33"/>
    <p:sldId id="705" r:id="rId34"/>
    <p:sldId id="706" r:id="rId35"/>
    <p:sldId id="707" r:id="rId36"/>
    <p:sldId id="708" r:id="rId37"/>
    <p:sldId id="722" r:id="rId38"/>
    <p:sldId id="709" r:id="rId39"/>
    <p:sldId id="710" r:id="rId40"/>
    <p:sldId id="711" r:id="rId41"/>
    <p:sldId id="712" r:id="rId42"/>
    <p:sldId id="713" r:id="rId43"/>
    <p:sldId id="714" r:id="rId44"/>
    <p:sldId id="71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29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>
  <ax:ocxPr ax:name="_cx" ax:value="22221"/>
  <ax:ocxPr ax:name="_cy" ax:value="11430"/>
  <ax:ocxPr ax:name="FlashVars" ax:value=""/>
  <ax:ocxPr ax:name="Movie" ax:value="FLASH/DJZJH.SWF"/>
  <ax:ocxPr ax:name="Src" ax:value="FLASH/DJZJH.SWF"/>
  <ax:ocxPr ax:name="WMode" ax:value="Window"/>
  <ax:ocxPr ax:name="Play" ax:value="-1"/>
  <ax:ocxPr ax:name="Loop" ax:value="-1"/>
  <ax:ocxPr ax:name="Quality" ax:value="High"/>
  <ax:ocxPr ax:name="SAlign" ax:value=""/>
  <ax:ocxPr ax:name="Menu" ax:value="-1"/>
  <ax:ocxPr ax:name="Base" ax:value=""/>
  <ax:ocxPr ax:name="AllowScriptAccess" ax:value="always"/>
  <ax:ocxPr ax:name="Scale" ax:value="ShowAll"/>
  <ax:ocxPr ax:name="DeviceFont" ax:value="0"/>
  <ax:ocxPr ax:name="EmbedMovie" ax:value="-1"/>
  <ax:ocxPr ax:name="BGColor" ax:value=""/>
  <ax:ocxPr ax:name="SWRemote" ax:value=""/>
</ax:ocx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w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w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e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png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4.wmf"/><Relationship Id="rId3" Type="http://schemas.openxmlformats.org/officeDocument/2006/relationships/image" Target="../media/image64.e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emf"/><Relationship Id="rId15" Type="http://schemas.openxmlformats.org/officeDocument/2006/relationships/image" Target="../media/image76.wmf"/><Relationship Id="rId10" Type="http://schemas.openxmlformats.org/officeDocument/2006/relationships/image" Target="../media/image71.wmf"/><Relationship Id="rId4" Type="http://schemas.openxmlformats.org/officeDocument/2006/relationships/image" Target="../media/image65.emf"/><Relationship Id="rId9" Type="http://schemas.openxmlformats.org/officeDocument/2006/relationships/image" Target="../media/image70.wmf"/><Relationship Id="rId14" Type="http://schemas.openxmlformats.org/officeDocument/2006/relationships/image" Target="../media/image7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9.wmf"/><Relationship Id="rId3" Type="http://schemas.openxmlformats.org/officeDocument/2006/relationships/image" Target="../media/image79.e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emf"/><Relationship Id="rId10" Type="http://schemas.openxmlformats.org/officeDocument/2006/relationships/image" Target="../media/image86.wmf"/><Relationship Id="rId4" Type="http://schemas.openxmlformats.org/officeDocument/2006/relationships/image" Target="../media/image80.emf"/><Relationship Id="rId9" Type="http://schemas.openxmlformats.org/officeDocument/2006/relationships/image" Target="../media/image8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12" Type="http://schemas.openxmlformats.org/officeDocument/2006/relationships/image" Target="../media/image101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11" Type="http://schemas.openxmlformats.org/officeDocument/2006/relationships/image" Target="../media/image100.wmf"/><Relationship Id="rId5" Type="http://schemas.openxmlformats.org/officeDocument/2006/relationships/image" Target="../media/image94.wmf"/><Relationship Id="rId10" Type="http://schemas.openxmlformats.org/officeDocument/2006/relationships/image" Target="../media/image99.w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8.wmf"/><Relationship Id="rId7" Type="http://schemas.openxmlformats.org/officeDocument/2006/relationships/image" Target="../media/image111.emf"/><Relationship Id="rId2" Type="http://schemas.openxmlformats.org/officeDocument/2006/relationships/image" Target="../media/image107.wmf"/><Relationship Id="rId1" Type="http://schemas.openxmlformats.org/officeDocument/2006/relationships/image" Target="../media/image106.emf"/><Relationship Id="rId6" Type="http://schemas.openxmlformats.org/officeDocument/2006/relationships/image" Target="../media/image110.wmf"/><Relationship Id="rId5" Type="http://schemas.openxmlformats.org/officeDocument/2006/relationships/image" Target="../media/image72.wmf"/><Relationship Id="rId10" Type="http://schemas.openxmlformats.org/officeDocument/2006/relationships/image" Target="../media/image114.emf"/><Relationship Id="rId4" Type="http://schemas.openxmlformats.org/officeDocument/2006/relationships/image" Target="../media/image109.wmf"/><Relationship Id="rId9" Type="http://schemas.openxmlformats.org/officeDocument/2006/relationships/image" Target="../media/image113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image" Target="../media/image117.wmf"/><Relationship Id="rId7" Type="http://schemas.openxmlformats.org/officeDocument/2006/relationships/image" Target="../media/image121.e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emf"/><Relationship Id="rId5" Type="http://schemas.openxmlformats.org/officeDocument/2006/relationships/image" Target="../media/image119.wmf"/><Relationship Id="rId10" Type="http://schemas.openxmlformats.org/officeDocument/2006/relationships/image" Target="../media/image124.emf"/><Relationship Id="rId4" Type="http://schemas.openxmlformats.org/officeDocument/2006/relationships/image" Target="../media/image118.wmf"/><Relationship Id="rId9" Type="http://schemas.openxmlformats.org/officeDocument/2006/relationships/image" Target="../media/image123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12" Type="http://schemas.openxmlformats.org/officeDocument/2006/relationships/image" Target="../media/image136.e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35.emf"/><Relationship Id="rId5" Type="http://schemas.openxmlformats.org/officeDocument/2006/relationships/image" Target="../media/image129.wmf"/><Relationship Id="rId10" Type="http://schemas.openxmlformats.org/officeDocument/2006/relationships/image" Target="../media/image134.emf"/><Relationship Id="rId4" Type="http://schemas.openxmlformats.org/officeDocument/2006/relationships/image" Target="../media/image128.wmf"/><Relationship Id="rId9" Type="http://schemas.openxmlformats.org/officeDocument/2006/relationships/image" Target="../media/image133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Relationship Id="rId9" Type="http://schemas.openxmlformats.org/officeDocument/2006/relationships/image" Target="../media/image14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e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e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emf"/><Relationship Id="rId9" Type="http://schemas.openxmlformats.org/officeDocument/2006/relationships/image" Target="../media/image161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64.wmf"/><Relationship Id="rId7" Type="http://schemas.openxmlformats.org/officeDocument/2006/relationships/image" Target="../media/image167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6.wmf"/><Relationship Id="rId11" Type="http://schemas.openxmlformats.org/officeDocument/2006/relationships/image" Target="../media/image171.wmf"/><Relationship Id="rId5" Type="http://schemas.openxmlformats.org/officeDocument/2006/relationships/image" Target="../media/image165.wmf"/><Relationship Id="rId10" Type="http://schemas.openxmlformats.org/officeDocument/2006/relationships/image" Target="../media/image170.wmf"/><Relationship Id="rId4" Type="http://schemas.openxmlformats.org/officeDocument/2006/relationships/image" Target="../media/image72.wmf"/><Relationship Id="rId9" Type="http://schemas.openxmlformats.org/officeDocument/2006/relationships/image" Target="../media/image16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image" Target="../media/image119.wmf"/><Relationship Id="rId18" Type="http://schemas.openxmlformats.org/officeDocument/2006/relationships/image" Target="../media/image196.wmf"/><Relationship Id="rId3" Type="http://schemas.openxmlformats.org/officeDocument/2006/relationships/image" Target="../media/image182.emf"/><Relationship Id="rId21" Type="http://schemas.openxmlformats.org/officeDocument/2006/relationships/image" Target="../media/image199.wmf"/><Relationship Id="rId7" Type="http://schemas.openxmlformats.org/officeDocument/2006/relationships/image" Target="../media/image186.emf"/><Relationship Id="rId12" Type="http://schemas.openxmlformats.org/officeDocument/2006/relationships/image" Target="../media/image191.wmf"/><Relationship Id="rId17" Type="http://schemas.openxmlformats.org/officeDocument/2006/relationships/image" Target="../media/image195.wmf"/><Relationship Id="rId2" Type="http://schemas.openxmlformats.org/officeDocument/2006/relationships/image" Target="../media/image181.wmf"/><Relationship Id="rId16" Type="http://schemas.openxmlformats.org/officeDocument/2006/relationships/image" Target="../media/image194.emf"/><Relationship Id="rId20" Type="http://schemas.openxmlformats.org/officeDocument/2006/relationships/image" Target="../media/image198.wmf"/><Relationship Id="rId1" Type="http://schemas.openxmlformats.org/officeDocument/2006/relationships/image" Target="../media/image180.wmf"/><Relationship Id="rId6" Type="http://schemas.openxmlformats.org/officeDocument/2006/relationships/image" Target="../media/image185.emf"/><Relationship Id="rId11" Type="http://schemas.openxmlformats.org/officeDocument/2006/relationships/image" Target="../media/image190.emf"/><Relationship Id="rId5" Type="http://schemas.openxmlformats.org/officeDocument/2006/relationships/image" Target="../media/image184.emf"/><Relationship Id="rId15" Type="http://schemas.openxmlformats.org/officeDocument/2006/relationships/image" Target="../media/image193.wmf"/><Relationship Id="rId10" Type="http://schemas.openxmlformats.org/officeDocument/2006/relationships/image" Target="../media/image189.emf"/><Relationship Id="rId19" Type="http://schemas.openxmlformats.org/officeDocument/2006/relationships/image" Target="../media/image197.wmf"/><Relationship Id="rId4" Type="http://schemas.openxmlformats.org/officeDocument/2006/relationships/image" Target="../media/image183.emf"/><Relationship Id="rId9" Type="http://schemas.openxmlformats.org/officeDocument/2006/relationships/image" Target="../media/image188.emf"/><Relationship Id="rId14" Type="http://schemas.openxmlformats.org/officeDocument/2006/relationships/image" Target="../media/image19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emf"/><Relationship Id="rId13" Type="http://schemas.openxmlformats.org/officeDocument/2006/relationships/image" Target="../media/image208.emf"/><Relationship Id="rId18" Type="http://schemas.openxmlformats.org/officeDocument/2006/relationships/image" Target="../media/image213.wmf"/><Relationship Id="rId3" Type="http://schemas.openxmlformats.org/officeDocument/2006/relationships/image" Target="../media/image200.wmf"/><Relationship Id="rId7" Type="http://schemas.openxmlformats.org/officeDocument/2006/relationships/image" Target="../media/image202.emf"/><Relationship Id="rId12" Type="http://schemas.openxmlformats.org/officeDocument/2006/relationships/image" Target="../media/image207.emf"/><Relationship Id="rId17" Type="http://schemas.openxmlformats.org/officeDocument/2006/relationships/image" Target="../media/image212.wmf"/><Relationship Id="rId2" Type="http://schemas.openxmlformats.org/officeDocument/2006/relationships/image" Target="../media/image119.wmf"/><Relationship Id="rId16" Type="http://schemas.openxmlformats.org/officeDocument/2006/relationships/image" Target="../media/image211.wmf"/><Relationship Id="rId1" Type="http://schemas.openxmlformats.org/officeDocument/2006/relationships/image" Target="../media/image191.wmf"/><Relationship Id="rId6" Type="http://schemas.openxmlformats.org/officeDocument/2006/relationships/image" Target="../media/image201.emf"/><Relationship Id="rId11" Type="http://schemas.openxmlformats.org/officeDocument/2006/relationships/image" Target="../media/image206.emf"/><Relationship Id="rId5" Type="http://schemas.openxmlformats.org/officeDocument/2006/relationships/image" Target="../media/image181.wmf"/><Relationship Id="rId15" Type="http://schemas.openxmlformats.org/officeDocument/2006/relationships/image" Target="../media/image210.emf"/><Relationship Id="rId10" Type="http://schemas.openxmlformats.org/officeDocument/2006/relationships/image" Target="../media/image205.emf"/><Relationship Id="rId4" Type="http://schemas.openxmlformats.org/officeDocument/2006/relationships/image" Target="../media/image180.wmf"/><Relationship Id="rId9" Type="http://schemas.openxmlformats.org/officeDocument/2006/relationships/image" Target="../media/image204.emf"/><Relationship Id="rId14" Type="http://schemas.openxmlformats.org/officeDocument/2006/relationships/image" Target="../media/image209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image" Target="../media/image224.wmf"/><Relationship Id="rId7" Type="http://schemas.openxmlformats.org/officeDocument/2006/relationships/image" Target="../media/image215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29.wmf"/><Relationship Id="rId11" Type="http://schemas.openxmlformats.org/officeDocument/2006/relationships/image" Target="../media/image230.wmf"/><Relationship Id="rId5" Type="http://schemas.openxmlformats.org/officeDocument/2006/relationships/image" Target="../media/image228.wmf"/><Relationship Id="rId10" Type="http://schemas.openxmlformats.org/officeDocument/2006/relationships/image" Target="../media/image218.wmf"/><Relationship Id="rId4" Type="http://schemas.openxmlformats.org/officeDocument/2006/relationships/image" Target="../media/image227.wmf"/><Relationship Id="rId9" Type="http://schemas.openxmlformats.org/officeDocument/2006/relationships/image" Target="../media/image217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emf"/><Relationship Id="rId6" Type="http://schemas.openxmlformats.org/officeDocument/2006/relationships/image" Target="../media/image244.e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Relationship Id="rId9" Type="http://schemas.openxmlformats.org/officeDocument/2006/relationships/image" Target="../media/image24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12" Type="http://schemas.openxmlformats.org/officeDocument/2006/relationships/image" Target="../media/image265.wmf"/><Relationship Id="rId2" Type="http://schemas.openxmlformats.org/officeDocument/2006/relationships/image" Target="../media/image255.emf"/><Relationship Id="rId1" Type="http://schemas.openxmlformats.org/officeDocument/2006/relationships/image" Target="../media/image254.emf"/><Relationship Id="rId6" Type="http://schemas.openxmlformats.org/officeDocument/2006/relationships/image" Target="../media/image259.wmf"/><Relationship Id="rId11" Type="http://schemas.openxmlformats.org/officeDocument/2006/relationships/image" Target="../media/image264.wmf"/><Relationship Id="rId5" Type="http://schemas.openxmlformats.org/officeDocument/2006/relationships/image" Target="../media/image258.wmf"/><Relationship Id="rId10" Type="http://schemas.openxmlformats.org/officeDocument/2006/relationships/image" Target="../media/image263.wmf"/><Relationship Id="rId4" Type="http://schemas.openxmlformats.org/officeDocument/2006/relationships/image" Target="../media/image257.wmf"/><Relationship Id="rId9" Type="http://schemas.openxmlformats.org/officeDocument/2006/relationships/image" Target="../media/image262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35AEC-04F2-4AF9-A41F-3763FA5CEC82}" type="datetimeFigureOut">
              <a:rPr lang="zh-CN" altLang="en-US" smtClean="0"/>
              <a:pPr/>
              <a:t>2020-07-03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63355-0DDA-4ED8-8CCF-298992E85D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A77E-BE69-4836-AAD8-89E74321E372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25F33-CCF9-474C-9C8E-A91491997BF2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9C82-82F8-4AEA-BCC9-3E97196941BA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8736-550E-44CC-A288-E032371A3C4D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73CE-34D2-420A-BC57-765738A1CE8D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C214-C8E6-4B27-A0CC-057D005CA9BE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0558-7156-4B5A-B509-CA3BD543B4D0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D454-AECE-4CDD-AFCF-5221F25A6BFC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C99B-06D6-4878-861F-315A00798F40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F1A7-381C-4A43-BB09-CF8734A869FC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D77F-DE49-4911-BDC5-59C445EE8A83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FB90-30A1-4B40-A388-A440C983D4FC}" type="datetime1">
              <a:rPr lang="zh-CN" altLang="en-US" smtClean="0"/>
              <a:pPr/>
              <a:t>2020-07-03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e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9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4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3.emf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8.e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37.bin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41.w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9.emf"/><Relationship Id="rId25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40.bin"/><Relationship Id="rId5" Type="http://schemas.openxmlformats.org/officeDocument/2006/relationships/image" Target="../media/image24.png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0.wmf"/><Relationship Id="rId4" Type="http://schemas.openxmlformats.org/officeDocument/2006/relationships/image" Target="../media/image33.emf"/><Relationship Id="rId9" Type="http://schemas.openxmlformats.org/officeDocument/2006/relationships/image" Target="../media/image35.e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0.w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E:\college-class\college-physics-C\ppt\ppt-lang\&#31532;10&#31456;%20&#38745;&#30005;&#22330;&#20013;&#30340;&#23548;&#20307;&#21644;&#30005;&#20171;&#36136;\AVSEQ08.DAT.Clip1.b2e3ded5e6af9b07.AV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3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5.bin"/><Relationship Id="rId25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7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72.wmf"/><Relationship Id="rId32" Type="http://schemas.openxmlformats.org/officeDocument/2006/relationships/image" Target="../media/image76.wmf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28" Type="http://schemas.openxmlformats.org/officeDocument/2006/relationships/image" Target="../media/image74.wmf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66.bin"/><Relationship Id="rId31" Type="http://schemas.openxmlformats.org/officeDocument/2006/relationships/oleObject" Target="../embeddings/oleObject72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70.bin"/><Relationship Id="rId30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1.e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9.wmf"/><Relationship Id="rId10" Type="http://schemas.openxmlformats.org/officeDocument/2006/relationships/image" Target="../media/image80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8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7.w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100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5.wmf"/><Relationship Id="rId22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4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12.emf"/><Relationship Id="rId3" Type="http://schemas.openxmlformats.org/officeDocument/2006/relationships/oleObject" Target="../embeddings/oleObject103.bin"/><Relationship Id="rId21" Type="http://schemas.openxmlformats.org/officeDocument/2006/relationships/oleObject" Target="../embeddings/oleObject112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emf"/><Relationship Id="rId20" Type="http://schemas.openxmlformats.org/officeDocument/2006/relationships/image" Target="../media/image113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11.bin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10.wmf"/><Relationship Id="rId22" Type="http://schemas.openxmlformats.org/officeDocument/2006/relationships/image" Target="../media/image11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22.e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emf"/><Relationship Id="rId20" Type="http://schemas.openxmlformats.org/officeDocument/2006/relationships/image" Target="../media/image123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18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20.emf"/><Relationship Id="rId22" Type="http://schemas.openxmlformats.org/officeDocument/2006/relationships/image" Target="../media/image124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32.emf"/><Relationship Id="rId26" Type="http://schemas.openxmlformats.org/officeDocument/2006/relationships/image" Target="../media/image136.emf"/><Relationship Id="rId3" Type="http://schemas.openxmlformats.org/officeDocument/2006/relationships/oleObject" Target="../embeddings/oleObject123.bin"/><Relationship Id="rId21" Type="http://schemas.openxmlformats.org/officeDocument/2006/relationships/oleObject" Target="../embeddings/oleObject132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30.bin"/><Relationship Id="rId25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1.wmf"/><Relationship Id="rId20" Type="http://schemas.openxmlformats.org/officeDocument/2006/relationships/image" Target="../media/image133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27.bin"/><Relationship Id="rId24" Type="http://schemas.openxmlformats.org/officeDocument/2006/relationships/image" Target="../media/image135.emf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31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30.wmf"/><Relationship Id="rId22" Type="http://schemas.openxmlformats.org/officeDocument/2006/relationships/image" Target="../media/image134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1.e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40.e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5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10" Type="http://schemas.openxmlformats.org/officeDocument/2006/relationships/image" Target="../media/image156.emf"/><Relationship Id="rId19" Type="http://schemas.openxmlformats.org/officeDocument/2006/relationships/oleObject" Target="../embeddings/oleObject159.bin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5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68.w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7.wmf"/><Relationship Id="rId20" Type="http://schemas.openxmlformats.org/officeDocument/2006/relationships/image" Target="../media/image16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71.wmf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6.wmf"/><Relationship Id="rId22" Type="http://schemas.openxmlformats.org/officeDocument/2006/relationships/image" Target="../media/image17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9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8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7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87.emf"/><Relationship Id="rId26" Type="http://schemas.openxmlformats.org/officeDocument/2006/relationships/image" Target="../media/image191.wmf"/><Relationship Id="rId39" Type="http://schemas.openxmlformats.org/officeDocument/2006/relationships/oleObject" Target="../embeddings/oleObject197.bin"/><Relationship Id="rId21" Type="http://schemas.openxmlformats.org/officeDocument/2006/relationships/oleObject" Target="../embeddings/oleObject188.bin"/><Relationship Id="rId34" Type="http://schemas.openxmlformats.org/officeDocument/2006/relationships/image" Target="../media/image194.emf"/><Relationship Id="rId42" Type="http://schemas.openxmlformats.org/officeDocument/2006/relationships/image" Target="../media/image198.wmf"/><Relationship Id="rId7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emf"/><Relationship Id="rId20" Type="http://schemas.openxmlformats.org/officeDocument/2006/relationships/image" Target="../media/image188.emf"/><Relationship Id="rId29" Type="http://schemas.openxmlformats.org/officeDocument/2006/relationships/oleObject" Target="../embeddings/oleObject192.bin"/><Relationship Id="rId41" Type="http://schemas.openxmlformats.org/officeDocument/2006/relationships/oleObject" Target="../embeddings/oleObject198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83.bin"/><Relationship Id="rId24" Type="http://schemas.openxmlformats.org/officeDocument/2006/relationships/image" Target="../media/image190.emf"/><Relationship Id="rId32" Type="http://schemas.openxmlformats.org/officeDocument/2006/relationships/image" Target="../media/image193.wmf"/><Relationship Id="rId37" Type="http://schemas.openxmlformats.org/officeDocument/2006/relationships/oleObject" Target="../embeddings/oleObject196.bin"/><Relationship Id="rId40" Type="http://schemas.openxmlformats.org/officeDocument/2006/relationships/image" Target="../media/image197.wmf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23" Type="http://schemas.openxmlformats.org/officeDocument/2006/relationships/oleObject" Target="../embeddings/oleObject189.bin"/><Relationship Id="rId28" Type="http://schemas.openxmlformats.org/officeDocument/2006/relationships/image" Target="../media/image119.wmf"/><Relationship Id="rId36" Type="http://schemas.openxmlformats.org/officeDocument/2006/relationships/image" Target="../media/image195.wmf"/><Relationship Id="rId10" Type="http://schemas.openxmlformats.org/officeDocument/2006/relationships/image" Target="../media/image183.emf"/><Relationship Id="rId19" Type="http://schemas.openxmlformats.org/officeDocument/2006/relationships/oleObject" Target="../embeddings/oleObject187.bin"/><Relationship Id="rId31" Type="http://schemas.openxmlformats.org/officeDocument/2006/relationships/oleObject" Target="../embeddings/oleObject193.bin"/><Relationship Id="rId44" Type="http://schemas.openxmlformats.org/officeDocument/2006/relationships/image" Target="../media/image199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85.emf"/><Relationship Id="rId22" Type="http://schemas.openxmlformats.org/officeDocument/2006/relationships/image" Target="../media/image189.emf"/><Relationship Id="rId27" Type="http://schemas.openxmlformats.org/officeDocument/2006/relationships/oleObject" Target="../embeddings/oleObject191.bin"/><Relationship Id="rId30" Type="http://schemas.openxmlformats.org/officeDocument/2006/relationships/image" Target="../media/image192.wmf"/><Relationship Id="rId35" Type="http://schemas.openxmlformats.org/officeDocument/2006/relationships/oleObject" Target="../embeddings/oleObject195.bin"/><Relationship Id="rId43" Type="http://schemas.openxmlformats.org/officeDocument/2006/relationships/oleObject" Target="../embeddings/oleObject199.bin"/><Relationship Id="rId8" Type="http://schemas.openxmlformats.org/officeDocument/2006/relationships/image" Target="../media/image182.emf"/><Relationship Id="rId3" Type="http://schemas.openxmlformats.org/officeDocument/2006/relationships/oleObject" Target="../embeddings/oleObject179.bin"/><Relationship Id="rId12" Type="http://schemas.openxmlformats.org/officeDocument/2006/relationships/image" Target="../media/image184.emf"/><Relationship Id="rId17" Type="http://schemas.openxmlformats.org/officeDocument/2006/relationships/oleObject" Target="../embeddings/oleObject186.bin"/><Relationship Id="rId25" Type="http://schemas.openxmlformats.org/officeDocument/2006/relationships/oleObject" Target="../embeddings/oleObject190.bin"/><Relationship Id="rId33" Type="http://schemas.openxmlformats.org/officeDocument/2006/relationships/oleObject" Target="../embeddings/oleObject194.bin"/><Relationship Id="rId38" Type="http://schemas.openxmlformats.org/officeDocument/2006/relationships/image" Target="../media/image196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3.emf"/><Relationship Id="rId26" Type="http://schemas.openxmlformats.org/officeDocument/2006/relationships/image" Target="../media/image207.emf"/><Relationship Id="rId21" Type="http://schemas.openxmlformats.org/officeDocument/2006/relationships/oleObject" Target="../embeddings/oleObject209.bin"/><Relationship Id="rId34" Type="http://schemas.openxmlformats.org/officeDocument/2006/relationships/image" Target="../media/image211.wmf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33" Type="http://schemas.openxmlformats.org/officeDocument/2006/relationships/oleObject" Target="../embeddings/oleObject215.bin"/><Relationship Id="rId38" Type="http://schemas.openxmlformats.org/officeDocument/2006/relationships/image" Target="../media/image2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2.emf"/><Relationship Id="rId20" Type="http://schemas.openxmlformats.org/officeDocument/2006/relationships/image" Target="../media/image204.emf"/><Relationship Id="rId29" Type="http://schemas.openxmlformats.org/officeDocument/2006/relationships/oleObject" Target="../embeddings/oleObject213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06.emf"/><Relationship Id="rId32" Type="http://schemas.openxmlformats.org/officeDocument/2006/relationships/image" Target="../media/image210.emf"/><Relationship Id="rId37" Type="http://schemas.openxmlformats.org/officeDocument/2006/relationships/oleObject" Target="../embeddings/oleObject217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08.emf"/><Relationship Id="rId36" Type="http://schemas.openxmlformats.org/officeDocument/2006/relationships/image" Target="../media/image212.wmf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1.emf"/><Relationship Id="rId22" Type="http://schemas.openxmlformats.org/officeDocument/2006/relationships/image" Target="../media/image205.e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209.emf"/><Relationship Id="rId35" Type="http://schemas.openxmlformats.org/officeDocument/2006/relationships/oleObject" Target="../embeddings/oleObject216.bin"/><Relationship Id="rId8" Type="http://schemas.openxmlformats.org/officeDocument/2006/relationships/image" Target="../media/image200.wmf"/><Relationship Id="rId3" Type="http://schemas.openxmlformats.org/officeDocument/2006/relationships/oleObject" Target="../embeddings/oleObject20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28.bin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0" Type="http://schemas.openxmlformats.org/officeDocument/2006/relationships/image" Target="../media/image222.wmf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2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16.wmf"/><Relationship Id="rId3" Type="http://schemas.openxmlformats.org/officeDocument/2006/relationships/oleObject" Target="../embeddings/oleObject229.bin"/><Relationship Id="rId21" Type="http://schemas.openxmlformats.org/officeDocument/2006/relationships/oleObject" Target="../embeddings/oleObject238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37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29.wmf"/><Relationship Id="rId22" Type="http://schemas.openxmlformats.org/officeDocument/2006/relationships/image" Target="../media/image21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38.wmf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35.wmf"/><Relationship Id="rId17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36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46.wmf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5.wmf"/><Relationship Id="rId20" Type="http://schemas.openxmlformats.org/officeDocument/2006/relationships/image" Target="../media/image24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42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39.e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44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9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51.wmf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5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261.emf"/><Relationship Id="rId26" Type="http://schemas.openxmlformats.org/officeDocument/2006/relationships/image" Target="../media/image265.wmf"/><Relationship Id="rId3" Type="http://schemas.openxmlformats.org/officeDocument/2006/relationships/oleObject" Target="../embeddings/oleObject263.bin"/><Relationship Id="rId21" Type="http://schemas.openxmlformats.org/officeDocument/2006/relationships/oleObject" Target="../embeddings/oleObject272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58.wmf"/><Relationship Id="rId17" Type="http://schemas.openxmlformats.org/officeDocument/2006/relationships/oleObject" Target="../embeddings/oleObject270.bin"/><Relationship Id="rId25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wmf"/><Relationship Id="rId20" Type="http://schemas.openxmlformats.org/officeDocument/2006/relationships/image" Target="../media/image262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5.emf"/><Relationship Id="rId11" Type="http://schemas.openxmlformats.org/officeDocument/2006/relationships/oleObject" Target="../embeddings/oleObject267.bin"/><Relationship Id="rId24" Type="http://schemas.openxmlformats.org/officeDocument/2006/relationships/image" Target="../media/image264.wmf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23" Type="http://schemas.openxmlformats.org/officeDocument/2006/relationships/oleObject" Target="../embeddings/oleObject273.bin"/><Relationship Id="rId10" Type="http://schemas.openxmlformats.org/officeDocument/2006/relationships/image" Target="../media/image257.wmf"/><Relationship Id="rId19" Type="http://schemas.openxmlformats.org/officeDocument/2006/relationships/oleObject" Target="../embeddings/oleObject271.bin"/><Relationship Id="rId4" Type="http://schemas.openxmlformats.org/officeDocument/2006/relationships/image" Target="../media/image254.e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59.wmf"/><Relationship Id="rId22" Type="http://schemas.openxmlformats.org/officeDocument/2006/relationships/image" Target="../media/image26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69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7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jpeg"/><Relationship Id="rId2" Type="http://schemas.openxmlformats.org/officeDocument/2006/relationships/image" Target="../media/image27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ChangeArrowheads="1"/>
          </p:cNvSpPr>
          <p:nvPr/>
        </p:nvSpPr>
        <p:spPr bwMode="auto">
          <a:xfrm>
            <a:off x="1933575" y="1203325"/>
            <a:ext cx="6650038" cy="290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   十   章</a:t>
            </a:r>
            <a:r>
              <a:rPr kumimoji="1" lang="zh-CN" altLang="en-US" sz="88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88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波      动</a:t>
            </a: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 rot="21571776">
            <a:off x="2062163" y="4929188"/>
            <a:ext cx="5429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360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MECHANICAL   WAVES</a:t>
            </a:r>
          </a:p>
        </p:txBody>
      </p:sp>
      <p:pic>
        <p:nvPicPr>
          <p:cNvPr id="285700" name="Picture 4" descr="moban-4-1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90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</p:pic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1241425" y="2820988"/>
            <a:ext cx="6530975" cy="312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80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静电场中的导体和电介质</a:t>
            </a:r>
          </a:p>
        </p:txBody>
      </p:sp>
      <p:sp>
        <p:nvSpPr>
          <p:cNvPr id="285702" name="Rectangle 6"/>
          <p:cNvSpPr>
            <a:spLocks noChangeArrowheads="1"/>
          </p:cNvSpPr>
          <p:nvPr/>
        </p:nvSpPr>
        <p:spPr bwMode="auto">
          <a:xfrm>
            <a:off x="1220788" y="1482725"/>
            <a:ext cx="65309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60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第  十  章</a:t>
            </a:r>
            <a:r>
              <a:rPr lang="zh-CN" altLang="en-US" sz="6000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itchFamily="2" charset="-122"/>
                <a:ea typeface="华文细黑" pitchFamily="2" charset="-122"/>
              </a:rPr>
              <a:t>　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" y="4966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主要内容：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1371600"/>
            <a:ext cx="77724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/>
              <a:t> 静电场中的导体；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/>
              <a:t> </a:t>
            </a:r>
            <a:r>
              <a:rPr kumimoji="1" lang="zh-CN" altLang="en-US" sz="2800" dirty="0"/>
              <a:t>静电场中的电介质；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/>
              <a:t> </a:t>
            </a:r>
            <a:r>
              <a:rPr kumimoji="1" lang="zh-CN" altLang="en-US" sz="2800" dirty="0"/>
              <a:t>电介质中的</a:t>
            </a:r>
            <a:r>
              <a:rPr kumimoji="1" lang="en-US" altLang="zh-CN" sz="2800" dirty="0"/>
              <a:t>Gauss</a:t>
            </a:r>
            <a:r>
              <a:rPr kumimoji="1" lang="zh-CN" altLang="en-US" sz="2800" dirty="0"/>
              <a:t>定理；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/>
              <a:t> </a:t>
            </a:r>
            <a:r>
              <a:rPr kumimoji="1" lang="zh-CN" altLang="en-US" sz="2800" dirty="0"/>
              <a:t>电容；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/>
              <a:t> 电场的能量。</a:t>
            </a:r>
            <a:endParaRPr kumimoji="1" lang="en-US" altLang="zh-C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85800" y="1357312"/>
            <a:ext cx="8077200" cy="4648200"/>
            <a:chOff x="432" y="864"/>
            <a:chExt cx="5088" cy="2928"/>
          </a:xfrm>
        </p:grpSpPr>
        <p:sp>
          <p:nvSpPr>
            <p:cNvPr id="145411" name="Rectangle 3"/>
            <p:cNvSpPr>
              <a:spLocks noChangeArrowheads="1"/>
            </p:cNvSpPr>
            <p:nvPr/>
          </p:nvSpPr>
          <p:spPr bwMode="auto">
            <a:xfrm>
              <a:off x="432" y="864"/>
              <a:ext cx="5088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920" y="1440"/>
              <a:ext cx="1680" cy="1872"/>
              <a:chOff x="1920" y="1440"/>
              <a:chExt cx="1680" cy="1872"/>
            </a:xfrm>
          </p:grpSpPr>
          <p:sp>
            <p:nvSpPr>
              <p:cNvPr id="145413" name="Rectangle 5"/>
              <p:cNvSpPr>
                <a:spLocks noChangeArrowheads="1"/>
              </p:cNvSpPr>
              <p:nvPr/>
            </p:nvSpPr>
            <p:spPr bwMode="auto">
              <a:xfrm>
                <a:off x="1920" y="1440"/>
                <a:ext cx="1680" cy="1872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1983" y="1632"/>
                <a:ext cx="192" cy="192"/>
                <a:chOff x="5088" y="2592"/>
                <a:chExt cx="192" cy="192"/>
              </a:xfrm>
            </p:grpSpPr>
            <p:sp>
              <p:nvSpPr>
                <p:cNvPr id="145415" name="Oval 7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16" name="Line 8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2079" y="1584"/>
                <a:ext cx="229" cy="330"/>
                <a:chOff x="5295" y="2784"/>
                <a:chExt cx="229" cy="330"/>
              </a:xfrm>
            </p:grpSpPr>
            <p:sp>
              <p:nvSpPr>
                <p:cNvPr id="145418" name="Oval 10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1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2607" y="1632"/>
                <a:ext cx="192" cy="192"/>
                <a:chOff x="5088" y="2592"/>
                <a:chExt cx="192" cy="192"/>
              </a:xfrm>
            </p:grpSpPr>
            <p:sp>
              <p:nvSpPr>
                <p:cNvPr id="145421" name="Oval 13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22" name="Line 14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2703" y="1584"/>
                <a:ext cx="229" cy="330"/>
                <a:chOff x="5295" y="2784"/>
                <a:chExt cx="229" cy="330"/>
              </a:xfrm>
            </p:grpSpPr>
            <p:sp>
              <p:nvSpPr>
                <p:cNvPr id="145424" name="Oval 16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2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8" name="Group 18"/>
              <p:cNvGrpSpPr>
                <a:grpSpLocks/>
              </p:cNvGrpSpPr>
              <p:nvPr/>
            </p:nvGrpSpPr>
            <p:grpSpPr bwMode="auto">
              <a:xfrm>
                <a:off x="3231" y="1632"/>
                <a:ext cx="192" cy="192"/>
                <a:chOff x="5088" y="2592"/>
                <a:chExt cx="192" cy="192"/>
              </a:xfrm>
            </p:grpSpPr>
            <p:sp>
              <p:nvSpPr>
                <p:cNvPr id="145427" name="Oval 19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28" name="Line 20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9" name="Group 21"/>
              <p:cNvGrpSpPr>
                <a:grpSpLocks/>
              </p:cNvGrpSpPr>
              <p:nvPr/>
            </p:nvGrpSpPr>
            <p:grpSpPr bwMode="auto">
              <a:xfrm>
                <a:off x="3327" y="1584"/>
                <a:ext cx="229" cy="330"/>
                <a:chOff x="5295" y="2784"/>
                <a:chExt cx="229" cy="330"/>
              </a:xfrm>
            </p:grpSpPr>
            <p:sp>
              <p:nvSpPr>
                <p:cNvPr id="145430" name="Oval 22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3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0" name="Group 24"/>
              <p:cNvGrpSpPr>
                <a:grpSpLocks/>
              </p:cNvGrpSpPr>
              <p:nvPr/>
            </p:nvGrpSpPr>
            <p:grpSpPr bwMode="auto">
              <a:xfrm>
                <a:off x="1983" y="2112"/>
                <a:ext cx="192" cy="192"/>
                <a:chOff x="5088" y="2592"/>
                <a:chExt cx="192" cy="192"/>
              </a:xfrm>
            </p:grpSpPr>
            <p:sp>
              <p:nvSpPr>
                <p:cNvPr id="145433" name="Oval 25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34" name="Line 26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2079" y="2064"/>
                <a:ext cx="229" cy="330"/>
                <a:chOff x="5295" y="2784"/>
                <a:chExt cx="229" cy="330"/>
              </a:xfrm>
            </p:grpSpPr>
            <p:sp>
              <p:nvSpPr>
                <p:cNvPr id="145436" name="Oval 28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37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2" name="Group 30"/>
              <p:cNvGrpSpPr>
                <a:grpSpLocks/>
              </p:cNvGrpSpPr>
              <p:nvPr/>
            </p:nvGrpSpPr>
            <p:grpSpPr bwMode="auto">
              <a:xfrm>
                <a:off x="2607" y="2112"/>
                <a:ext cx="192" cy="192"/>
                <a:chOff x="5088" y="2592"/>
                <a:chExt cx="192" cy="192"/>
              </a:xfrm>
            </p:grpSpPr>
            <p:sp>
              <p:nvSpPr>
                <p:cNvPr id="145439" name="Oval 31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40" name="Line 32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3" name="Group 33"/>
              <p:cNvGrpSpPr>
                <a:grpSpLocks/>
              </p:cNvGrpSpPr>
              <p:nvPr/>
            </p:nvGrpSpPr>
            <p:grpSpPr bwMode="auto">
              <a:xfrm>
                <a:off x="2703" y="2064"/>
                <a:ext cx="229" cy="330"/>
                <a:chOff x="5295" y="2784"/>
                <a:chExt cx="229" cy="330"/>
              </a:xfrm>
            </p:grpSpPr>
            <p:sp>
              <p:nvSpPr>
                <p:cNvPr id="145442" name="Oval 34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4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4" name="Group 36"/>
              <p:cNvGrpSpPr>
                <a:grpSpLocks/>
              </p:cNvGrpSpPr>
              <p:nvPr/>
            </p:nvGrpSpPr>
            <p:grpSpPr bwMode="auto">
              <a:xfrm>
                <a:off x="3231" y="2112"/>
                <a:ext cx="192" cy="192"/>
                <a:chOff x="5088" y="2592"/>
                <a:chExt cx="192" cy="192"/>
              </a:xfrm>
            </p:grpSpPr>
            <p:sp>
              <p:nvSpPr>
                <p:cNvPr id="145445" name="Oval 37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46" name="Line 38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5" name="Group 39"/>
              <p:cNvGrpSpPr>
                <a:grpSpLocks/>
              </p:cNvGrpSpPr>
              <p:nvPr/>
            </p:nvGrpSpPr>
            <p:grpSpPr bwMode="auto">
              <a:xfrm>
                <a:off x="3327" y="2064"/>
                <a:ext cx="229" cy="330"/>
                <a:chOff x="5295" y="2784"/>
                <a:chExt cx="229" cy="330"/>
              </a:xfrm>
            </p:grpSpPr>
            <p:sp>
              <p:nvSpPr>
                <p:cNvPr id="145448" name="Oval 40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4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6" name="Group 42"/>
              <p:cNvGrpSpPr>
                <a:grpSpLocks/>
              </p:cNvGrpSpPr>
              <p:nvPr/>
            </p:nvGrpSpPr>
            <p:grpSpPr bwMode="auto">
              <a:xfrm>
                <a:off x="1968" y="2544"/>
                <a:ext cx="192" cy="192"/>
                <a:chOff x="5088" y="2592"/>
                <a:chExt cx="192" cy="192"/>
              </a:xfrm>
            </p:grpSpPr>
            <p:sp>
              <p:nvSpPr>
                <p:cNvPr id="145451" name="Oval 43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52" name="Line 44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7" name="Group 45"/>
              <p:cNvGrpSpPr>
                <a:grpSpLocks/>
              </p:cNvGrpSpPr>
              <p:nvPr/>
            </p:nvGrpSpPr>
            <p:grpSpPr bwMode="auto">
              <a:xfrm>
                <a:off x="2064" y="2496"/>
                <a:ext cx="229" cy="330"/>
                <a:chOff x="5295" y="2784"/>
                <a:chExt cx="229" cy="330"/>
              </a:xfrm>
            </p:grpSpPr>
            <p:sp>
              <p:nvSpPr>
                <p:cNvPr id="145454" name="Oval 46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55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8" name="Group 48"/>
              <p:cNvGrpSpPr>
                <a:grpSpLocks/>
              </p:cNvGrpSpPr>
              <p:nvPr/>
            </p:nvGrpSpPr>
            <p:grpSpPr bwMode="auto">
              <a:xfrm>
                <a:off x="2592" y="2544"/>
                <a:ext cx="192" cy="192"/>
                <a:chOff x="5088" y="2592"/>
                <a:chExt cx="192" cy="192"/>
              </a:xfrm>
            </p:grpSpPr>
            <p:sp>
              <p:nvSpPr>
                <p:cNvPr id="145457" name="Oval 49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58" name="Line 50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9" name="Group 51"/>
              <p:cNvGrpSpPr>
                <a:grpSpLocks/>
              </p:cNvGrpSpPr>
              <p:nvPr/>
            </p:nvGrpSpPr>
            <p:grpSpPr bwMode="auto">
              <a:xfrm>
                <a:off x="2688" y="2496"/>
                <a:ext cx="229" cy="330"/>
                <a:chOff x="5295" y="2784"/>
                <a:chExt cx="229" cy="330"/>
              </a:xfrm>
            </p:grpSpPr>
            <p:sp>
              <p:nvSpPr>
                <p:cNvPr id="145460" name="Oval 52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61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20" name="Group 54"/>
              <p:cNvGrpSpPr>
                <a:grpSpLocks/>
              </p:cNvGrpSpPr>
              <p:nvPr/>
            </p:nvGrpSpPr>
            <p:grpSpPr bwMode="auto">
              <a:xfrm>
                <a:off x="3216" y="2544"/>
                <a:ext cx="192" cy="192"/>
                <a:chOff x="5088" y="2592"/>
                <a:chExt cx="192" cy="192"/>
              </a:xfrm>
            </p:grpSpPr>
            <p:sp>
              <p:nvSpPr>
                <p:cNvPr id="145463" name="Oval 55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64" name="Line 56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1" name="Group 57"/>
              <p:cNvGrpSpPr>
                <a:grpSpLocks/>
              </p:cNvGrpSpPr>
              <p:nvPr/>
            </p:nvGrpSpPr>
            <p:grpSpPr bwMode="auto">
              <a:xfrm>
                <a:off x="3312" y="2496"/>
                <a:ext cx="229" cy="330"/>
                <a:chOff x="5295" y="2784"/>
                <a:chExt cx="229" cy="330"/>
              </a:xfrm>
            </p:grpSpPr>
            <p:sp>
              <p:nvSpPr>
                <p:cNvPr id="145466" name="Oval 58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6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22" name="Group 60"/>
              <p:cNvGrpSpPr>
                <a:grpSpLocks/>
              </p:cNvGrpSpPr>
              <p:nvPr/>
            </p:nvGrpSpPr>
            <p:grpSpPr bwMode="auto">
              <a:xfrm>
                <a:off x="1968" y="2976"/>
                <a:ext cx="192" cy="192"/>
                <a:chOff x="5088" y="2592"/>
                <a:chExt cx="192" cy="192"/>
              </a:xfrm>
            </p:grpSpPr>
            <p:sp>
              <p:nvSpPr>
                <p:cNvPr id="145469" name="Oval 61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70" name="Line 62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3" name="Group 63"/>
              <p:cNvGrpSpPr>
                <a:grpSpLocks/>
              </p:cNvGrpSpPr>
              <p:nvPr/>
            </p:nvGrpSpPr>
            <p:grpSpPr bwMode="auto">
              <a:xfrm>
                <a:off x="2064" y="2928"/>
                <a:ext cx="229" cy="330"/>
                <a:chOff x="5295" y="2784"/>
                <a:chExt cx="229" cy="330"/>
              </a:xfrm>
            </p:grpSpPr>
            <p:sp>
              <p:nvSpPr>
                <p:cNvPr id="145472" name="Oval 64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7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24" name="Group 66"/>
              <p:cNvGrpSpPr>
                <a:grpSpLocks/>
              </p:cNvGrpSpPr>
              <p:nvPr/>
            </p:nvGrpSpPr>
            <p:grpSpPr bwMode="auto">
              <a:xfrm>
                <a:off x="2592" y="2976"/>
                <a:ext cx="192" cy="192"/>
                <a:chOff x="5088" y="2592"/>
                <a:chExt cx="192" cy="192"/>
              </a:xfrm>
            </p:grpSpPr>
            <p:sp>
              <p:nvSpPr>
                <p:cNvPr id="145475" name="Oval 67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76" name="Line 68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5" name="Group 69"/>
              <p:cNvGrpSpPr>
                <a:grpSpLocks/>
              </p:cNvGrpSpPr>
              <p:nvPr/>
            </p:nvGrpSpPr>
            <p:grpSpPr bwMode="auto">
              <a:xfrm>
                <a:off x="2688" y="2928"/>
                <a:ext cx="229" cy="330"/>
                <a:chOff x="5295" y="2784"/>
                <a:chExt cx="229" cy="330"/>
              </a:xfrm>
            </p:grpSpPr>
            <p:sp>
              <p:nvSpPr>
                <p:cNvPr id="145478" name="Oval 70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79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26" name="Group 72"/>
              <p:cNvGrpSpPr>
                <a:grpSpLocks/>
              </p:cNvGrpSpPr>
              <p:nvPr/>
            </p:nvGrpSpPr>
            <p:grpSpPr bwMode="auto">
              <a:xfrm>
                <a:off x="3216" y="2976"/>
                <a:ext cx="192" cy="192"/>
                <a:chOff x="5088" y="2592"/>
                <a:chExt cx="192" cy="192"/>
              </a:xfrm>
            </p:grpSpPr>
            <p:sp>
              <p:nvSpPr>
                <p:cNvPr id="145481" name="Oval 73"/>
                <p:cNvSpPr>
                  <a:spLocks noChangeArrowheads="1"/>
                </p:cNvSpPr>
                <p:nvPr/>
              </p:nvSpPr>
              <p:spPr bwMode="auto">
                <a:xfrm>
                  <a:off x="5088" y="259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82" name="Line 74"/>
                <p:cNvSpPr>
                  <a:spLocks noChangeShapeType="1"/>
                </p:cNvSpPr>
                <p:nvPr/>
              </p:nvSpPr>
              <p:spPr bwMode="auto">
                <a:xfrm>
                  <a:off x="5121" y="268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27" name="Group 75"/>
              <p:cNvGrpSpPr>
                <a:grpSpLocks/>
              </p:cNvGrpSpPr>
              <p:nvPr/>
            </p:nvGrpSpPr>
            <p:grpSpPr bwMode="auto">
              <a:xfrm>
                <a:off x="3312" y="2928"/>
                <a:ext cx="229" cy="330"/>
                <a:chOff x="5295" y="2784"/>
                <a:chExt cx="229" cy="330"/>
              </a:xfrm>
            </p:grpSpPr>
            <p:sp>
              <p:nvSpPr>
                <p:cNvPr id="145484" name="Oval 76"/>
                <p:cNvSpPr>
                  <a:spLocks noChangeArrowheads="1"/>
                </p:cNvSpPr>
                <p:nvPr/>
              </p:nvSpPr>
              <p:spPr bwMode="auto">
                <a:xfrm>
                  <a:off x="5302" y="2832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FF9999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548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5295" y="278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chemeClr val="tx1"/>
                      </a:solidFill>
                    </a:rPr>
                    <a:t>+</a:t>
                  </a:r>
                </a:p>
              </p:txBody>
            </p:sp>
          </p:grpSp>
        </p:grpSp>
      </p:grpSp>
      <p:grpSp>
        <p:nvGrpSpPr>
          <p:cNvPr id="28" name="Group 78"/>
          <p:cNvGrpSpPr>
            <a:grpSpLocks/>
          </p:cNvGrpSpPr>
          <p:nvPr/>
        </p:nvGrpSpPr>
        <p:grpSpPr bwMode="auto">
          <a:xfrm>
            <a:off x="1295400" y="1814512"/>
            <a:ext cx="7239000" cy="3657600"/>
            <a:chOff x="816" y="1152"/>
            <a:chExt cx="4560" cy="2304"/>
          </a:xfrm>
        </p:grpSpPr>
        <p:graphicFrame>
          <p:nvGraphicFramePr>
            <p:cNvPr id="145487" name="Object 79"/>
            <p:cNvGraphicFramePr>
              <a:graphicFrameLocks noChangeAspect="1"/>
            </p:cNvGraphicFramePr>
            <p:nvPr/>
          </p:nvGraphicFramePr>
          <p:xfrm>
            <a:off x="4904" y="2037"/>
            <a:ext cx="472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8227" name="Equation" r:id="rId3" imgW="291960" imgH="342720" progId="Equation.3">
                    <p:embed/>
                  </p:oleObj>
                </mc:Choice>
                <mc:Fallback>
                  <p:oleObj name="Equation" r:id="rId3" imgW="291960" imgH="342720" progId="Equation.3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4" y="2037"/>
                          <a:ext cx="472" cy="5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Group 80"/>
            <p:cNvGrpSpPr>
              <a:grpSpLocks/>
            </p:cNvGrpSpPr>
            <p:nvPr/>
          </p:nvGrpSpPr>
          <p:grpSpPr bwMode="auto">
            <a:xfrm>
              <a:off x="816" y="1152"/>
              <a:ext cx="4032" cy="2304"/>
              <a:chOff x="816" y="864"/>
              <a:chExt cx="4032" cy="2304"/>
            </a:xfrm>
          </p:grpSpPr>
          <p:sp>
            <p:nvSpPr>
              <p:cNvPr id="145489" name="Line 81"/>
              <p:cNvSpPr>
                <a:spLocks noChangeShapeType="1"/>
              </p:cNvSpPr>
              <p:nvPr/>
            </p:nvSpPr>
            <p:spPr bwMode="auto">
              <a:xfrm>
                <a:off x="816" y="110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0" name="Line 82"/>
              <p:cNvSpPr>
                <a:spLocks noChangeShapeType="1"/>
              </p:cNvSpPr>
              <p:nvPr/>
            </p:nvSpPr>
            <p:spPr bwMode="auto">
              <a:xfrm>
                <a:off x="816" y="86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1" name="Line 83"/>
              <p:cNvSpPr>
                <a:spLocks noChangeShapeType="1"/>
              </p:cNvSpPr>
              <p:nvPr/>
            </p:nvSpPr>
            <p:spPr bwMode="auto">
              <a:xfrm>
                <a:off x="816" y="134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2" name="Line 84"/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3" name="Line 85"/>
              <p:cNvSpPr>
                <a:spLocks noChangeShapeType="1"/>
              </p:cNvSpPr>
              <p:nvPr/>
            </p:nvSpPr>
            <p:spPr bwMode="auto">
              <a:xfrm>
                <a:off x="816" y="182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4" name="Line 86"/>
              <p:cNvSpPr>
                <a:spLocks noChangeShapeType="1"/>
              </p:cNvSpPr>
              <p:nvPr/>
            </p:nvSpPr>
            <p:spPr bwMode="auto">
              <a:xfrm>
                <a:off x="816" y="206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5" name="Line 87"/>
              <p:cNvSpPr>
                <a:spLocks noChangeShapeType="1"/>
              </p:cNvSpPr>
              <p:nvPr/>
            </p:nvSpPr>
            <p:spPr bwMode="auto">
              <a:xfrm>
                <a:off x="816" y="2304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6" name="Line 88"/>
              <p:cNvSpPr>
                <a:spLocks noChangeShapeType="1"/>
              </p:cNvSpPr>
              <p:nvPr/>
            </p:nvSpPr>
            <p:spPr bwMode="auto">
              <a:xfrm>
                <a:off x="816" y="316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7" name="Line 89"/>
              <p:cNvSpPr>
                <a:spLocks noChangeShapeType="1"/>
              </p:cNvSpPr>
              <p:nvPr/>
            </p:nvSpPr>
            <p:spPr bwMode="auto">
              <a:xfrm>
                <a:off x="816" y="2592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5498" name="Line 90"/>
              <p:cNvSpPr>
                <a:spLocks noChangeShapeType="1"/>
              </p:cNvSpPr>
              <p:nvPr/>
            </p:nvSpPr>
            <p:spPr bwMode="auto">
              <a:xfrm>
                <a:off x="816" y="2880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30" name="Group 91"/>
          <p:cNvGrpSpPr>
            <a:grpSpLocks/>
          </p:cNvGrpSpPr>
          <p:nvPr/>
        </p:nvGrpSpPr>
        <p:grpSpPr bwMode="auto">
          <a:xfrm>
            <a:off x="3657600" y="2728912"/>
            <a:ext cx="1447800" cy="0"/>
            <a:chOff x="3657600" y="2728912"/>
            <a:chExt cx="1447800" cy="0"/>
          </a:xfrm>
        </p:grpSpPr>
        <p:sp>
          <p:nvSpPr>
            <p:cNvPr id="145500" name="Line 92"/>
            <p:cNvSpPr>
              <a:spLocks noChangeShapeType="1"/>
            </p:cNvSpPr>
            <p:nvPr/>
          </p:nvSpPr>
          <p:spPr bwMode="auto">
            <a:xfrm>
              <a:off x="2880" y="172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5501" name="Line 93"/>
            <p:cNvSpPr>
              <a:spLocks noChangeShapeType="1"/>
            </p:cNvSpPr>
            <p:nvPr/>
          </p:nvSpPr>
          <p:spPr bwMode="auto">
            <a:xfrm flipH="1">
              <a:off x="2304" y="1728"/>
              <a:ext cx="33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95" name="Text Box 3"/>
          <p:cNvSpPr txBox="1">
            <a:spLocks noChangeArrowheads="1"/>
          </p:cNvSpPr>
          <p:nvPr/>
        </p:nvSpPr>
        <p:spPr bwMode="auto">
          <a:xfrm>
            <a:off x="609600" y="776288"/>
            <a:ext cx="502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一  静电平衡条件</a:t>
            </a:r>
          </a:p>
        </p:txBody>
      </p:sp>
      <p:sp>
        <p:nvSpPr>
          <p:cNvPr id="96" name="Rectangle 16"/>
          <p:cNvSpPr>
            <a:spLocks noChangeArrowheads="1"/>
          </p:cNvSpPr>
          <p:nvPr/>
        </p:nvSpPr>
        <p:spPr bwMode="auto">
          <a:xfrm>
            <a:off x="76200" y="76200"/>
            <a:ext cx="556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-1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静电场中的导体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434" name="Object 2"/>
          <p:cNvGraphicFramePr>
            <a:graphicFrameLocks noChangeAspect="1"/>
          </p:cNvGraphicFramePr>
          <p:nvPr/>
        </p:nvGraphicFramePr>
        <p:xfrm>
          <a:off x="2640013" y="4732338"/>
          <a:ext cx="37877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55" name="Equation" r:id="rId3" imgW="977760" imgH="241200" progId="Equation.3">
                  <p:embed/>
                </p:oleObj>
              </mc:Choice>
              <mc:Fallback>
                <p:oleObj name="Equation" r:id="rId3" imgW="97776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732338"/>
                        <a:ext cx="3787775" cy="8302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533400"/>
            <a:ext cx="8077200" cy="4114800"/>
            <a:chOff x="432" y="384"/>
            <a:chExt cx="5088" cy="2592"/>
          </a:xfrm>
        </p:grpSpPr>
        <p:sp>
          <p:nvSpPr>
            <p:cNvPr id="146436" name="Rectangle 4"/>
            <p:cNvSpPr>
              <a:spLocks noChangeArrowheads="1"/>
            </p:cNvSpPr>
            <p:nvPr/>
          </p:nvSpPr>
          <p:spPr bwMode="auto">
            <a:xfrm>
              <a:off x="432" y="384"/>
              <a:ext cx="5088" cy="25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46437" name="Object 5"/>
            <p:cNvGraphicFramePr>
              <a:graphicFrameLocks noChangeAspect="1"/>
            </p:cNvGraphicFramePr>
            <p:nvPr/>
          </p:nvGraphicFramePr>
          <p:xfrm>
            <a:off x="4848" y="1613"/>
            <a:ext cx="471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256" name="Equation" r:id="rId5" imgW="190440" imgH="241200" progId="Equation.3">
                    <p:embed/>
                  </p:oleObj>
                </mc:Choice>
                <mc:Fallback>
                  <p:oleObj name="Equation" r:id="rId5" imgW="190440" imgH="241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613"/>
                          <a:ext cx="471" cy="5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816" y="480"/>
              <a:ext cx="4032" cy="2400"/>
              <a:chOff x="816" y="528"/>
              <a:chExt cx="4032" cy="2400"/>
            </a:xfrm>
          </p:grpSpPr>
          <p:sp>
            <p:nvSpPr>
              <p:cNvPr id="146439" name="Line 7"/>
              <p:cNvSpPr>
                <a:spLocks noChangeShapeType="1"/>
              </p:cNvSpPr>
              <p:nvPr/>
            </p:nvSpPr>
            <p:spPr bwMode="auto">
              <a:xfrm>
                <a:off x="816" y="100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0" name="Line 8"/>
              <p:cNvSpPr>
                <a:spLocks noChangeShapeType="1"/>
              </p:cNvSpPr>
              <p:nvPr/>
            </p:nvSpPr>
            <p:spPr bwMode="auto">
              <a:xfrm>
                <a:off x="816" y="76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1" name="Line 9"/>
              <p:cNvSpPr>
                <a:spLocks noChangeShapeType="1"/>
              </p:cNvSpPr>
              <p:nvPr/>
            </p:nvSpPr>
            <p:spPr bwMode="auto">
              <a:xfrm>
                <a:off x="816" y="124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2" name="Line 10"/>
              <p:cNvSpPr>
                <a:spLocks noChangeShapeType="1"/>
              </p:cNvSpPr>
              <p:nvPr/>
            </p:nvSpPr>
            <p:spPr bwMode="auto">
              <a:xfrm>
                <a:off x="816" y="148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3" name="Line 11"/>
              <p:cNvSpPr>
                <a:spLocks noChangeShapeType="1"/>
              </p:cNvSpPr>
              <p:nvPr/>
            </p:nvSpPr>
            <p:spPr bwMode="auto">
              <a:xfrm>
                <a:off x="816" y="172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4" name="Line 12"/>
              <p:cNvSpPr>
                <a:spLocks noChangeShapeType="1"/>
              </p:cNvSpPr>
              <p:nvPr/>
            </p:nvSpPr>
            <p:spPr bwMode="auto">
              <a:xfrm>
                <a:off x="816" y="196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5" name="Line 13"/>
              <p:cNvSpPr>
                <a:spLocks noChangeShapeType="1"/>
              </p:cNvSpPr>
              <p:nvPr/>
            </p:nvSpPr>
            <p:spPr bwMode="auto">
              <a:xfrm>
                <a:off x="816" y="220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6" name="Line 14"/>
              <p:cNvSpPr>
                <a:spLocks noChangeShapeType="1"/>
              </p:cNvSpPr>
              <p:nvPr/>
            </p:nvSpPr>
            <p:spPr bwMode="auto">
              <a:xfrm>
                <a:off x="816" y="292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7" name="Line 15"/>
              <p:cNvSpPr>
                <a:spLocks noChangeShapeType="1"/>
              </p:cNvSpPr>
              <p:nvPr/>
            </p:nvSpPr>
            <p:spPr bwMode="auto">
              <a:xfrm>
                <a:off x="816" y="244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8" name="Line 16"/>
              <p:cNvSpPr>
                <a:spLocks noChangeShapeType="1"/>
              </p:cNvSpPr>
              <p:nvPr/>
            </p:nvSpPr>
            <p:spPr bwMode="auto">
              <a:xfrm>
                <a:off x="816" y="268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49" name="Line 17"/>
              <p:cNvSpPr>
                <a:spLocks noChangeShapeType="1"/>
              </p:cNvSpPr>
              <p:nvPr/>
            </p:nvSpPr>
            <p:spPr bwMode="auto">
              <a:xfrm>
                <a:off x="1824" y="2448"/>
                <a:ext cx="96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0" name="Line 18"/>
              <p:cNvSpPr>
                <a:spLocks noChangeShapeType="1"/>
              </p:cNvSpPr>
              <p:nvPr/>
            </p:nvSpPr>
            <p:spPr bwMode="auto">
              <a:xfrm>
                <a:off x="1776" y="2208"/>
                <a:ext cx="144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1" name="Line 19"/>
              <p:cNvSpPr>
                <a:spLocks noChangeShapeType="1"/>
              </p:cNvSpPr>
              <p:nvPr/>
            </p:nvSpPr>
            <p:spPr bwMode="auto">
              <a:xfrm>
                <a:off x="1776" y="1968"/>
                <a:ext cx="144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2" name="Line 20"/>
              <p:cNvSpPr>
                <a:spLocks noChangeShapeType="1"/>
              </p:cNvSpPr>
              <p:nvPr/>
            </p:nvSpPr>
            <p:spPr bwMode="auto">
              <a:xfrm>
                <a:off x="1824" y="1728"/>
                <a:ext cx="96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3" name="Line 21"/>
              <p:cNvSpPr>
                <a:spLocks noChangeShapeType="1"/>
              </p:cNvSpPr>
              <p:nvPr/>
            </p:nvSpPr>
            <p:spPr bwMode="auto">
              <a:xfrm>
                <a:off x="1824" y="1488"/>
                <a:ext cx="96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4" name="Line 22"/>
              <p:cNvSpPr>
                <a:spLocks noChangeShapeType="1"/>
              </p:cNvSpPr>
              <p:nvPr/>
            </p:nvSpPr>
            <p:spPr bwMode="auto">
              <a:xfrm>
                <a:off x="1776" y="1248"/>
                <a:ext cx="144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5" name="Line 23"/>
              <p:cNvSpPr>
                <a:spLocks noChangeShapeType="1"/>
              </p:cNvSpPr>
              <p:nvPr/>
            </p:nvSpPr>
            <p:spPr bwMode="auto">
              <a:xfrm>
                <a:off x="1776" y="1008"/>
                <a:ext cx="144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6" name="Line 24"/>
              <p:cNvSpPr>
                <a:spLocks noChangeShapeType="1"/>
              </p:cNvSpPr>
              <p:nvPr/>
            </p:nvSpPr>
            <p:spPr bwMode="auto">
              <a:xfrm>
                <a:off x="1824" y="2688"/>
                <a:ext cx="96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57" name="Line 25"/>
              <p:cNvSpPr>
                <a:spLocks noChangeShapeType="1"/>
              </p:cNvSpPr>
              <p:nvPr/>
            </p:nvSpPr>
            <p:spPr bwMode="auto">
              <a:xfrm>
                <a:off x="816" y="528"/>
                <a:ext cx="4032" cy="0"/>
              </a:xfrm>
              <a:prstGeom prst="line">
                <a:avLst/>
              </a:prstGeom>
              <a:noFill/>
              <a:ln w="1778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146458" name="Rectangle 26"/>
            <p:cNvSpPr>
              <a:spLocks noChangeArrowheads="1"/>
            </p:cNvSpPr>
            <p:nvPr/>
          </p:nvSpPr>
          <p:spPr bwMode="auto">
            <a:xfrm>
              <a:off x="1920" y="816"/>
              <a:ext cx="1680" cy="187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4" name="Group 27"/>
            <p:cNvGrpSpPr>
              <a:grpSpLocks/>
            </p:cNvGrpSpPr>
            <p:nvPr/>
          </p:nvGrpSpPr>
          <p:grpSpPr bwMode="auto">
            <a:xfrm>
              <a:off x="1983" y="1062"/>
              <a:ext cx="192" cy="192"/>
              <a:chOff x="5088" y="2592"/>
              <a:chExt cx="192" cy="192"/>
            </a:xfrm>
          </p:grpSpPr>
          <p:sp>
            <p:nvSpPr>
              <p:cNvPr id="146460" name="Oval 28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61" name="Line 29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1983" y="822"/>
              <a:ext cx="192" cy="192"/>
              <a:chOff x="5088" y="2592"/>
              <a:chExt cx="192" cy="192"/>
            </a:xfrm>
          </p:grpSpPr>
          <p:sp>
            <p:nvSpPr>
              <p:cNvPr id="146463" name="Oval 31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64" name="Line 32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6" name="Group 33"/>
            <p:cNvGrpSpPr>
              <a:grpSpLocks/>
            </p:cNvGrpSpPr>
            <p:nvPr/>
          </p:nvGrpSpPr>
          <p:grpSpPr bwMode="auto">
            <a:xfrm>
              <a:off x="3327" y="774"/>
              <a:ext cx="229" cy="330"/>
              <a:chOff x="5295" y="2784"/>
              <a:chExt cx="229" cy="330"/>
            </a:xfrm>
          </p:grpSpPr>
          <p:sp>
            <p:nvSpPr>
              <p:cNvPr id="146466" name="Oval 34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67" name="Text Box 35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7" name="Group 36"/>
            <p:cNvGrpSpPr>
              <a:grpSpLocks/>
            </p:cNvGrpSpPr>
            <p:nvPr/>
          </p:nvGrpSpPr>
          <p:grpSpPr bwMode="auto">
            <a:xfrm>
              <a:off x="3327" y="1014"/>
              <a:ext cx="229" cy="330"/>
              <a:chOff x="5295" y="2784"/>
              <a:chExt cx="229" cy="330"/>
            </a:xfrm>
          </p:grpSpPr>
          <p:sp>
            <p:nvSpPr>
              <p:cNvPr id="146469" name="Oval 37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70" name="Text Box 38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8" name="Group 39"/>
            <p:cNvGrpSpPr>
              <a:grpSpLocks/>
            </p:cNvGrpSpPr>
            <p:nvPr/>
          </p:nvGrpSpPr>
          <p:grpSpPr bwMode="auto">
            <a:xfrm>
              <a:off x="1983" y="1542"/>
              <a:ext cx="192" cy="192"/>
              <a:chOff x="5088" y="2592"/>
              <a:chExt cx="192" cy="192"/>
            </a:xfrm>
          </p:grpSpPr>
          <p:sp>
            <p:nvSpPr>
              <p:cNvPr id="146472" name="Oval 40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73" name="Line 41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9" name="Group 42"/>
            <p:cNvGrpSpPr>
              <a:grpSpLocks/>
            </p:cNvGrpSpPr>
            <p:nvPr/>
          </p:nvGrpSpPr>
          <p:grpSpPr bwMode="auto">
            <a:xfrm>
              <a:off x="1983" y="1302"/>
              <a:ext cx="192" cy="192"/>
              <a:chOff x="5088" y="2592"/>
              <a:chExt cx="192" cy="192"/>
            </a:xfrm>
          </p:grpSpPr>
          <p:sp>
            <p:nvSpPr>
              <p:cNvPr id="146475" name="Oval 43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76" name="Line 44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327" y="1254"/>
              <a:ext cx="229" cy="330"/>
              <a:chOff x="5295" y="2784"/>
              <a:chExt cx="229" cy="330"/>
            </a:xfrm>
          </p:grpSpPr>
          <p:sp>
            <p:nvSpPr>
              <p:cNvPr id="146478" name="Oval 46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79" name="Text Box 47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327" y="1494"/>
              <a:ext cx="229" cy="330"/>
              <a:chOff x="5295" y="2784"/>
              <a:chExt cx="229" cy="330"/>
            </a:xfrm>
          </p:grpSpPr>
          <p:sp>
            <p:nvSpPr>
              <p:cNvPr id="146481" name="Oval 49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82" name="Text Box 50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1983" y="2022"/>
              <a:ext cx="192" cy="192"/>
              <a:chOff x="5088" y="2592"/>
              <a:chExt cx="192" cy="192"/>
            </a:xfrm>
          </p:grpSpPr>
          <p:sp>
            <p:nvSpPr>
              <p:cNvPr id="146484" name="Oval 52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85" name="Line 53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3" name="Group 54"/>
            <p:cNvGrpSpPr>
              <a:grpSpLocks/>
            </p:cNvGrpSpPr>
            <p:nvPr/>
          </p:nvGrpSpPr>
          <p:grpSpPr bwMode="auto">
            <a:xfrm>
              <a:off x="1983" y="1782"/>
              <a:ext cx="192" cy="192"/>
              <a:chOff x="5088" y="2592"/>
              <a:chExt cx="192" cy="192"/>
            </a:xfrm>
          </p:grpSpPr>
          <p:sp>
            <p:nvSpPr>
              <p:cNvPr id="146487" name="Oval 55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88" name="Line 56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4" name="Group 57"/>
            <p:cNvGrpSpPr>
              <a:grpSpLocks/>
            </p:cNvGrpSpPr>
            <p:nvPr/>
          </p:nvGrpSpPr>
          <p:grpSpPr bwMode="auto">
            <a:xfrm>
              <a:off x="3327" y="1734"/>
              <a:ext cx="229" cy="330"/>
              <a:chOff x="5295" y="2784"/>
              <a:chExt cx="229" cy="330"/>
            </a:xfrm>
          </p:grpSpPr>
          <p:sp>
            <p:nvSpPr>
              <p:cNvPr id="146490" name="Oval 58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91" name="Text Box 59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15" name="Group 60"/>
            <p:cNvGrpSpPr>
              <a:grpSpLocks/>
            </p:cNvGrpSpPr>
            <p:nvPr/>
          </p:nvGrpSpPr>
          <p:grpSpPr bwMode="auto">
            <a:xfrm>
              <a:off x="3327" y="1974"/>
              <a:ext cx="229" cy="330"/>
              <a:chOff x="5295" y="2784"/>
              <a:chExt cx="229" cy="330"/>
            </a:xfrm>
          </p:grpSpPr>
          <p:sp>
            <p:nvSpPr>
              <p:cNvPr id="146493" name="Oval 61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94" name="Text Box 62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16" name="Group 63"/>
            <p:cNvGrpSpPr>
              <a:grpSpLocks/>
            </p:cNvGrpSpPr>
            <p:nvPr/>
          </p:nvGrpSpPr>
          <p:grpSpPr bwMode="auto">
            <a:xfrm>
              <a:off x="1983" y="2502"/>
              <a:ext cx="192" cy="192"/>
              <a:chOff x="5088" y="2592"/>
              <a:chExt cx="192" cy="192"/>
            </a:xfrm>
          </p:grpSpPr>
          <p:sp>
            <p:nvSpPr>
              <p:cNvPr id="146496" name="Oval 64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497" name="Line 65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7" name="Group 66"/>
            <p:cNvGrpSpPr>
              <a:grpSpLocks/>
            </p:cNvGrpSpPr>
            <p:nvPr/>
          </p:nvGrpSpPr>
          <p:grpSpPr bwMode="auto">
            <a:xfrm>
              <a:off x="1983" y="2262"/>
              <a:ext cx="192" cy="192"/>
              <a:chOff x="5088" y="2592"/>
              <a:chExt cx="192" cy="192"/>
            </a:xfrm>
          </p:grpSpPr>
          <p:sp>
            <p:nvSpPr>
              <p:cNvPr id="146499" name="Oval 67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500" name="Line 68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grpSp>
          <p:nvGrpSpPr>
            <p:cNvPr id="18" name="Group 69"/>
            <p:cNvGrpSpPr>
              <a:grpSpLocks/>
            </p:cNvGrpSpPr>
            <p:nvPr/>
          </p:nvGrpSpPr>
          <p:grpSpPr bwMode="auto">
            <a:xfrm>
              <a:off x="3327" y="2214"/>
              <a:ext cx="229" cy="330"/>
              <a:chOff x="5295" y="2784"/>
              <a:chExt cx="229" cy="330"/>
            </a:xfrm>
          </p:grpSpPr>
          <p:sp>
            <p:nvSpPr>
              <p:cNvPr id="146502" name="Oval 70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503" name="Text Box 71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  <p:grpSp>
          <p:nvGrpSpPr>
            <p:cNvPr id="19" name="Group 72"/>
            <p:cNvGrpSpPr>
              <a:grpSpLocks/>
            </p:cNvGrpSpPr>
            <p:nvPr/>
          </p:nvGrpSpPr>
          <p:grpSpPr bwMode="auto">
            <a:xfrm>
              <a:off x="3327" y="2454"/>
              <a:ext cx="229" cy="330"/>
              <a:chOff x="5295" y="2784"/>
              <a:chExt cx="229" cy="330"/>
            </a:xfrm>
          </p:grpSpPr>
          <p:sp>
            <p:nvSpPr>
              <p:cNvPr id="146505" name="Oval 73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46506" name="Text Box 74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+</a:t>
                </a:r>
              </a:p>
            </p:txBody>
          </p:sp>
        </p:grpSp>
      </p:grpSp>
      <p:grpSp>
        <p:nvGrpSpPr>
          <p:cNvPr id="20" name="Group 75"/>
          <p:cNvGrpSpPr>
            <a:grpSpLocks/>
          </p:cNvGrpSpPr>
          <p:nvPr/>
        </p:nvGrpSpPr>
        <p:grpSpPr bwMode="auto">
          <a:xfrm>
            <a:off x="3429000" y="2454275"/>
            <a:ext cx="1676400" cy="746125"/>
            <a:chOff x="2208" y="1594"/>
            <a:chExt cx="1056" cy="470"/>
          </a:xfrm>
        </p:grpSpPr>
        <p:sp>
          <p:nvSpPr>
            <p:cNvPr id="146508" name="Line 76"/>
            <p:cNvSpPr>
              <a:spLocks noChangeShapeType="1"/>
            </p:cNvSpPr>
            <p:nvPr/>
          </p:nvSpPr>
          <p:spPr bwMode="auto">
            <a:xfrm>
              <a:off x="2208" y="1594"/>
              <a:ext cx="105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46509" name="Object 77"/>
            <p:cNvGraphicFramePr>
              <a:graphicFrameLocks noChangeAspect="1"/>
            </p:cNvGraphicFramePr>
            <p:nvPr/>
          </p:nvGraphicFramePr>
          <p:xfrm>
            <a:off x="2559" y="1594"/>
            <a:ext cx="440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257" name="Equation" r:id="rId7" imgW="177480" imgH="190440" progId="Equation.3">
                    <p:embed/>
                  </p:oleObj>
                </mc:Choice>
                <mc:Fallback>
                  <p:oleObj name="Equation" r:id="rId7" imgW="177480" imgH="19044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9" y="1594"/>
                          <a:ext cx="440" cy="4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78"/>
          <p:cNvGrpSpPr>
            <a:grpSpLocks/>
          </p:cNvGrpSpPr>
          <p:nvPr/>
        </p:nvGrpSpPr>
        <p:grpSpPr bwMode="auto">
          <a:xfrm>
            <a:off x="3505200" y="1219200"/>
            <a:ext cx="1676400" cy="944563"/>
            <a:chOff x="2256" y="816"/>
            <a:chExt cx="1056" cy="595"/>
          </a:xfrm>
        </p:grpSpPr>
        <p:sp>
          <p:nvSpPr>
            <p:cNvPr id="146511" name="Line 79"/>
            <p:cNvSpPr>
              <a:spLocks noChangeShapeType="1"/>
            </p:cNvSpPr>
            <p:nvPr/>
          </p:nvSpPr>
          <p:spPr bwMode="auto">
            <a:xfrm>
              <a:off x="2256" y="1392"/>
              <a:ext cx="1056" cy="0"/>
            </a:xfrm>
            <a:prstGeom prst="line">
              <a:avLst/>
            </a:prstGeom>
            <a:noFill/>
            <a:ln w="76200">
              <a:solidFill>
                <a:srgbClr val="CC00CC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46512" name="Object 80"/>
            <p:cNvGraphicFramePr>
              <a:graphicFrameLocks noChangeAspect="1"/>
            </p:cNvGraphicFramePr>
            <p:nvPr/>
          </p:nvGraphicFramePr>
          <p:xfrm>
            <a:off x="2553" y="816"/>
            <a:ext cx="471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9258" name="Equation" r:id="rId9" imgW="190440" imgH="241200" progId="Equation.3">
                    <p:embed/>
                  </p:oleObj>
                </mc:Choice>
                <mc:Fallback>
                  <p:oleObj name="Equation" r:id="rId9" imgW="190440" imgH="241200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816"/>
                          <a:ext cx="471" cy="5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513" name="Object 81"/>
          <p:cNvGraphicFramePr>
            <a:graphicFrameLocks noChangeAspect="1"/>
          </p:cNvGraphicFramePr>
          <p:nvPr/>
        </p:nvGraphicFramePr>
        <p:xfrm>
          <a:off x="3438525" y="3276600"/>
          <a:ext cx="17319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59" name="Equation" r:id="rId11" imgW="380880" imgH="203040" progId="Equation.3">
                  <p:embed/>
                </p:oleObj>
              </mc:Choice>
              <mc:Fallback>
                <p:oleObj name="Equation" r:id="rId11" imgW="380880" imgH="20304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3276600"/>
                        <a:ext cx="1731963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82"/>
          <p:cNvGrpSpPr>
            <a:grpSpLocks/>
          </p:cNvGrpSpPr>
          <p:nvPr/>
        </p:nvGrpSpPr>
        <p:grpSpPr bwMode="auto">
          <a:xfrm>
            <a:off x="533400" y="5867400"/>
            <a:ext cx="2743200" cy="533400"/>
            <a:chOff x="336" y="3744"/>
            <a:chExt cx="1728" cy="336"/>
          </a:xfrm>
        </p:grpSpPr>
        <p:sp>
          <p:nvSpPr>
            <p:cNvPr id="146515" name="AutoShape 83"/>
            <p:cNvSpPr>
              <a:spLocks noChangeArrowheads="1"/>
            </p:cNvSpPr>
            <p:nvPr/>
          </p:nvSpPr>
          <p:spPr bwMode="auto">
            <a:xfrm>
              <a:off x="336" y="3744"/>
              <a:ext cx="1680" cy="336"/>
            </a:xfrm>
            <a:prstGeom prst="wedgeRectCallout">
              <a:avLst>
                <a:gd name="adj1" fmla="val 40477"/>
                <a:gd name="adj2" fmla="val -130356"/>
              </a:avLst>
            </a:prstGeom>
            <a:gradFill rotWithShape="0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CC00CC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/>
            <a:lstStyle/>
            <a:p>
              <a:pPr algn="ctr"/>
              <a:endParaRPr lang="zh-CN" altLang="en-US" sz="2800">
                <a:solidFill>
                  <a:srgbClr val="1C1C1C"/>
                </a:solidFill>
              </a:endParaRPr>
            </a:p>
          </p:txBody>
        </p:sp>
        <p:sp>
          <p:nvSpPr>
            <p:cNvPr id="146516" name="Text Box 84"/>
            <p:cNvSpPr txBox="1">
              <a:spLocks noChangeArrowheads="1"/>
            </p:cNvSpPr>
            <p:nvPr/>
          </p:nvSpPr>
          <p:spPr bwMode="auto">
            <a:xfrm>
              <a:off x="336" y="3744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导体内电场强度</a:t>
              </a:r>
            </a:p>
          </p:txBody>
        </p:sp>
      </p:grpSp>
      <p:grpSp>
        <p:nvGrpSpPr>
          <p:cNvPr id="23" name="Group 85"/>
          <p:cNvGrpSpPr>
            <a:grpSpLocks/>
          </p:cNvGrpSpPr>
          <p:nvPr/>
        </p:nvGrpSpPr>
        <p:grpSpPr bwMode="auto">
          <a:xfrm>
            <a:off x="3352800" y="5867400"/>
            <a:ext cx="2895600" cy="533400"/>
            <a:chOff x="2112" y="3744"/>
            <a:chExt cx="1824" cy="336"/>
          </a:xfrm>
        </p:grpSpPr>
        <p:sp>
          <p:nvSpPr>
            <p:cNvPr id="146518" name="AutoShape 86"/>
            <p:cNvSpPr>
              <a:spLocks noChangeArrowheads="1"/>
            </p:cNvSpPr>
            <p:nvPr/>
          </p:nvSpPr>
          <p:spPr bwMode="auto">
            <a:xfrm>
              <a:off x="2112" y="3744"/>
              <a:ext cx="1296" cy="336"/>
            </a:xfrm>
            <a:prstGeom prst="wedgeRectCallout">
              <a:avLst>
                <a:gd name="adj1" fmla="val -12963"/>
                <a:gd name="adj2" fmla="val -127681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2"/>
                </a:gs>
              </a:gsLst>
              <a:lin ang="5400000" scaled="1"/>
            </a:gradFill>
            <a:ln w="19050">
              <a:solidFill>
                <a:srgbClr val="CC99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/>
            <a:lstStyle/>
            <a:p>
              <a:pPr algn="ctr"/>
              <a:endParaRPr lang="zh-CN" altLang="en-US" sz="2800">
                <a:solidFill>
                  <a:srgbClr val="1C1C1C"/>
                </a:solidFill>
              </a:endParaRPr>
            </a:p>
          </p:txBody>
        </p:sp>
        <p:sp>
          <p:nvSpPr>
            <p:cNvPr id="146519" name="Rectangle 87"/>
            <p:cNvSpPr>
              <a:spLocks noChangeArrowheads="1"/>
            </p:cNvSpPr>
            <p:nvPr/>
          </p:nvSpPr>
          <p:spPr bwMode="auto">
            <a:xfrm>
              <a:off x="2112" y="3753"/>
              <a:ext cx="18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外电场强度</a:t>
              </a:r>
            </a:p>
          </p:txBody>
        </p:sp>
      </p:grpSp>
      <p:grpSp>
        <p:nvGrpSpPr>
          <p:cNvPr id="24" name="Group 88"/>
          <p:cNvGrpSpPr>
            <a:grpSpLocks/>
          </p:cNvGrpSpPr>
          <p:nvPr/>
        </p:nvGrpSpPr>
        <p:grpSpPr bwMode="auto">
          <a:xfrm>
            <a:off x="5562600" y="5867400"/>
            <a:ext cx="3054350" cy="533400"/>
            <a:chOff x="3504" y="3744"/>
            <a:chExt cx="1924" cy="336"/>
          </a:xfrm>
        </p:grpSpPr>
        <p:sp>
          <p:nvSpPr>
            <p:cNvPr id="146521" name="AutoShape 89"/>
            <p:cNvSpPr>
              <a:spLocks noChangeArrowheads="1"/>
            </p:cNvSpPr>
            <p:nvPr/>
          </p:nvSpPr>
          <p:spPr bwMode="auto">
            <a:xfrm>
              <a:off x="3504" y="3744"/>
              <a:ext cx="1920" cy="336"/>
            </a:xfrm>
            <a:prstGeom prst="wedgeRectCallout">
              <a:avLst>
                <a:gd name="adj1" fmla="val -59949"/>
                <a:gd name="adj2" fmla="val -132144"/>
              </a:avLst>
            </a:prstGeom>
            <a:gradFill rotWithShape="0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CC00CC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/>
            <a:lstStyle/>
            <a:p>
              <a:pPr algn="ctr"/>
              <a:endParaRPr lang="zh-CN" altLang="en-US" sz="2800">
                <a:solidFill>
                  <a:srgbClr val="1C1C1C"/>
                </a:solidFill>
              </a:endParaRPr>
            </a:p>
          </p:txBody>
        </p:sp>
        <p:sp>
          <p:nvSpPr>
            <p:cNvPr id="146522" name="Rectangle 90"/>
            <p:cNvSpPr>
              <a:spLocks noChangeArrowheads="1"/>
            </p:cNvSpPr>
            <p:nvPr/>
          </p:nvSpPr>
          <p:spPr bwMode="auto">
            <a:xfrm>
              <a:off x="3504" y="3753"/>
              <a:ext cx="19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Arial" charset="0"/>
                </a:rPr>
                <a:t>感应电荷电场强度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4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34000" y="2347912"/>
            <a:ext cx="3581400" cy="3810000"/>
            <a:chOff x="3408" y="1584"/>
            <a:chExt cx="2256" cy="2400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408" y="1584"/>
              <a:ext cx="2256" cy="2400"/>
              <a:chOff x="3408" y="1584"/>
              <a:chExt cx="2256" cy="240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408" y="1584"/>
                <a:ext cx="2256" cy="2400"/>
                <a:chOff x="3408" y="1584"/>
                <a:chExt cx="2256" cy="2400"/>
              </a:xfrm>
            </p:grpSpPr>
            <p:sp>
              <p:nvSpPr>
                <p:cNvPr id="147461" name="Rectangle 5"/>
                <p:cNvSpPr>
                  <a:spLocks noChangeArrowheads="1"/>
                </p:cNvSpPr>
                <p:nvPr/>
              </p:nvSpPr>
              <p:spPr bwMode="auto">
                <a:xfrm>
                  <a:off x="3408" y="1584"/>
                  <a:ext cx="2256" cy="24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2"/>
                  </a:solidFill>
                  <a:miter lim="800000"/>
                  <a:headEnd type="none" w="sm" len="lg"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47462" name="Freeform 6"/>
                <p:cNvSpPr>
                  <a:spLocks/>
                </p:cNvSpPr>
                <p:nvPr/>
              </p:nvSpPr>
              <p:spPr bwMode="auto">
                <a:xfrm>
                  <a:off x="3456" y="2880"/>
                  <a:ext cx="2183" cy="979"/>
                </a:xfrm>
                <a:custGeom>
                  <a:avLst/>
                  <a:gdLst/>
                  <a:ahLst/>
                  <a:cxnLst>
                    <a:cxn ang="0">
                      <a:pos x="254" y="375"/>
                    </a:cxn>
                    <a:cxn ang="0">
                      <a:pos x="647" y="54"/>
                    </a:cxn>
                    <a:cxn ang="0">
                      <a:pos x="1349" y="54"/>
                    </a:cxn>
                    <a:cxn ang="0">
                      <a:pos x="2099" y="378"/>
                    </a:cxn>
                    <a:cxn ang="0">
                      <a:pos x="1854" y="395"/>
                    </a:cxn>
                    <a:cxn ang="0">
                      <a:pos x="1217" y="596"/>
                    </a:cxn>
                    <a:cxn ang="0">
                      <a:pos x="594" y="690"/>
                    </a:cxn>
                    <a:cxn ang="0">
                      <a:pos x="231" y="801"/>
                    </a:cxn>
                    <a:cxn ang="0">
                      <a:pos x="18" y="959"/>
                    </a:cxn>
                    <a:cxn ang="0">
                      <a:pos x="120" y="682"/>
                    </a:cxn>
                    <a:cxn ang="0">
                      <a:pos x="254" y="375"/>
                    </a:cxn>
                  </a:cxnLst>
                  <a:rect l="0" t="0" r="r" b="b"/>
                  <a:pathLst>
                    <a:path w="2183" h="979">
                      <a:moveTo>
                        <a:pt x="254" y="375"/>
                      </a:moveTo>
                      <a:cubicBezTo>
                        <a:pt x="342" y="270"/>
                        <a:pt x="465" y="107"/>
                        <a:pt x="647" y="54"/>
                      </a:cubicBezTo>
                      <a:cubicBezTo>
                        <a:pt x="829" y="1"/>
                        <a:pt x="1107" y="0"/>
                        <a:pt x="1349" y="54"/>
                      </a:cubicBezTo>
                      <a:cubicBezTo>
                        <a:pt x="1591" y="108"/>
                        <a:pt x="2015" y="321"/>
                        <a:pt x="2099" y="378"/>
                      </a:cubicBezTo>
                      <a:cubicBezTo>
                        <a:pt x="2183" y="435"/>
                        <a:pt x="2001" y="359"/>
                        <a:pt x="1854" y="395"/>
                      </a:cubicBezTo>
                      <a:cubicBezTo>
                        <a:pt x="1707" y="431"/>
                        <a:pt x="1427" y="547"/>
                        <a:pt x="1217" y="596"/>
                      </a:cubicBezTo>
                      <a:cubicBezTo>
                        <a:pt x="1007" y="645"/>
                        <a:pt x="758" y="656"/>
                        <a:pt x="594" y="690"/>
                      </a:cubicBezTo>
                      <a:cubicBezTo>
                        <a:pt x="430" y="724"/>
                        <a:pt x="327" y="756"/>
                        <a:pt x="231" y="801"/>
                      </a:cubicBezTo>
                      <a:cubicBezTo>
                        <a:pt x="135" y="846"/>
                        <a:pt x="36" y="979"/>
                        <a:pt x="18" y="959"/>
                      </a:cubicBezTo>
                      <a:cubicBezTo>
                        <a:pt x="0" y="939"/>
                        <a:pt x="81" y="779"/>
                        <a:pt x="120" y="682"/>
                      </a:cubicBezTo>
                      <a:cubicBezTo>
                        <a:pt x="159" y="585"/>
                        <a:pt x="166" y="480"/>
                        <a:pt x="254" y="375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C0C0C0"/>
                    </a:gs>
                  </a:gsLst>
                  <a:path path="rect">
                    <a:fillToRect l="50000" t="50000" r="50000" b="50000"/>
                  </a:path>
                </a:gra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504" y="2688"/>
                <a:ext cx="1827" cy="762"/>
                <a:chOff x="3504" y="2688"/>
                <a:chExt cx="1827" cy="762"/>
              </a:xfrm>
            </p:grpSpPr>
            <p:sp>
              <p:nvSpPr>
                <p:cNvPr id="14746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032" y="2736"/>
                  <a:ext cx="272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7465" name="Rectangle 9"/>
                <p:cNvSpPr>
                  <a:spLocks noChangeArrowheads="1"/>
                </p:cNvSpPr>
                <p:nvPr/>
              </p:nvSpPr>
              <p:spPr bwMode="auto">
                <a:xfrm>
                  <a:off x="3713" y="2880"/>
                  <a:ext cx="28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 </a:t>
                  </a:r>
                </a:p>
              </p:txBody>
            </p:sp>
            <p:sp>
              <p:nvSpPr>
                <p:cNvPr id="147466" name="Rectangle 10"/>
                <p:cNvSpPr>
                  <a:spLocks noChangeArrowheads="1"/>
                </p:cNvSpPr>
                <p:nvPr/>
              </p:nvSpPr>
              <p:spPr bwMode="auto">
                <a:xfrm>
                  <a:off x="4408" y="268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7467" name="Rectangle 11"/>
                <p:cNvSpPr>
                  <a:spLocks noChangeArrowheads="1"/>
                </p:cNvSpPr>
                <p:nvPr/>
              </p:nvSpPr>
              <p:spPr bwMode="auto">
                <a:xfrm>
                  <a:off x="3504" y="312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7468" name="Rectangle 12"/>
                <p:cNvSpPr>
                  <a:spLocks noChangeArrowheads="1"/>
                </p:cNvSpPr>
                <p:nvPr/>
              </p:nvSpPr>
              <p:spPr bwMode="auto">
                <a:xfrm>
                  <a:off x="5102" y="288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sp>
          <p:nvSpPr>
            <p:cNvPr id="147469" name="Rectangle 13"/>
            <p:cNvSpPr>
              <a:spLocks noChangeArrowheads="1"/>
            </p:cNvSpPr>
            <p:nvPr/>
          </p:nvSpPr>
          <p:spPr bwMode="auto">
            <a:xfrm>
              <a:off x="4752" y="275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304800" y="1057275"/>
            <a:ext cx="620713" cy="4953000"/>
            <a:chOff x="192" y="720"/>
            <a:chExt cx="391" cy="3120"/>
          </a:xfrm>
        </p:grpSpPr>
        <p:sp>
          <p:nvSpPr>
            <p:cNvPr id="147471" name="Rectangle 15"/>
            <p:cNvSpPr>
              <a:spLocks noChangeArrowheads="1"/>
            </p:cNvSpPr>
            <p:nvPr/>
          </p:nvSpPr>
          <p:spPr bwMode="auto">
            <a:xfrm>
              <a:off x="192" y="720"/>
              <a:ext cx="384" cy="7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9050">
              <a:solidFill>
                <a:srgbClr val="CC00CC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7472" name="AutoShape 16"/>
            <p:cNvSpPr>
              <a:spLocks noChangeArrowheads="1"/>
            </p:cNvSpPr>
            <p:nvPr/>
          </p:nvSpPr>
          <p:spPr bwMode="auto">
            <a:xfrm>
              <a:off x="240" y="1536"/>
              <a:ext cx="240" cy="576"/>
            </a:xfrm>
            <a:prstGeom prst="upDownArrow">
              <a:avLst>
                <a:gd name="adj1" fmla="val 54167"/>
                <a:gd name="adj2" fmla="val 58756"/>
              </a:avLst>
            </a:prstGeom>
            <a:gradFill rotWithShape="0">
              <a:gsLst>
                <a:gs pos="0">
                  <a:srgbClr val="0000FF"/>
                </a:gs>
                <a:gs pos="50000">
                  <a:schemeClr val="bg1"/>
                </a:gs>
                <a:gs pos="100000">
                  <a:srgbClr val="0000FF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7473" name="Text Box 17"/>
            <p:cNvSpPr txBox="1">
              <a:spLocks noChangeArrowheads="1"/>
            </p:cNvSpPr>
            <p:nvPr/>
          </p:nvSpPr>
          <p:spPr bwMode="auto">
            <a:xfrm>
              <a:off x="195" y="2160"/>
              <a:ext cx="388" cy="168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9050">
              <a:solidFill>
                <a:srgbClr val="CC00CC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导体是等势体</a:t>
              </a:r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6327775" y="2347912"/>
            <a:ext cx="2435225" cy="2251075"/>
            <a:chOff x="4032" y="1551"/>
            <a:chExt cx="1534" cy="1418"/>
          </a:xfrm>
        </p:grpSpPr>
        <p:sp>
          <p:nvSpPr>
            <p:cNvPr id="147475" name="Line 19"/>
            <p:cNvSpPr>
              <a:spLocks noChangeShapeType="1"/>
            </p:cNvSpPr>
            <p:nvPr/>
          </p:nvSpPr>
          <p:spPr bwMode="auto">
            <a:xfrm>
              <a:off x="4416" y="2880"/>
              <a:ext cx="86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7476" name="Line 20"/>
            <p:cNvSpPr>
              <a:spLocks noChangeShapeType="1"/>
            </p:cNvSpPr>
            <p:nvPr/>
          </p:nvSpPr>
          <p:spPr bwMode="auto">
            <a:xfrm flipV="1">
              <a:off x="4416" y="1920"/>
              <a:ext cx="0" cy="96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47477" name="Object 21"/>
            <p:cNvGraphicFramePr>
              <a:graphicFrameLocks noChangeAspect="1"/>
            </p:cNvGraphicFramePr>
            <p:nvPr/>
          </p:nvGraphicFramePr>
          <p:xfrm>
            <a:off x="4032" y="1551"/>
            <a:ext cx="396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283" name="Equation" r:id="rId3" imgW="164880" imgH="215640" progId="Equation.3">
                    <p:embed/>
                  </p:oleObj>
                </mc:Choice>
                <mc:Fallback>
                  <p:oleObj name="Equation" r:id="rId3" imgW="164880" imgH="215640" progId="Equation.3">
                    <p:embed/>
                    <p:pic>
                      <p:nvPicPr>
                        <p:cNvPr id="0" name="Object 2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551"/>
                          <a:ext cx="396" cy="5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478" name="Object 22"/>
            <p:cNvGraphicFramePr>
              <a:graphicFrameLocks noChangeAspect="1"/>
            </p:cNvGraphicFramePr>
            <p:nvPr/>
          </p:nvGraphicFramePr>
          <p:xfrm>
            <a:off x="5169" y="2448"/>
            <a:ext cx="397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284" name="Equation" r:id="rId5" imgW="164880" imgH="215640" progId="Equation.3">
                    <p:embed/>
                  </p:oleObj>
                </mc:Choice>
                <mc:Fallback>
                  <p:oleObj name="Equation" r:id="rId5" imgW="164880" imgH="215640" progId="Equation.3">
                    <p:embed/>
                    <p:pic>
                      <p:nvPicPr>
                        <p:cNvPr id="0" name="Object 2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2448"/>
                          <a:ext cx="397" cy="5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7479" name="Text Box 23"/>
          <p:cNvSpPr txBox="1">
            <a:spLocks noChangeArrowheads="1"/>
          </p:cNvSpPr>
          <p:nvPr/>
        </p:nvSpPr>
        <p:spPr bwMode="auto">
          <a:xfrm>
            <a:off x="304800" y="457200"/>
            <a:ext cx="807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静电平衡条件</a:t>
            </a:r>
            <a:r>
              <a:rPr lang="en-US" altLang="zh-CN" sz="2800" b="1" dirty="0">
                <a:solidFill>
                  <a:srgbClr val="C00000"/>
                </a:solidFill>
                <a:latin typeface="宋体" charset="-122"/>
              </a:rPr>
              <a:t>(</a:t>
            </a:r>
            <a:r>
              <a:rPr lang="zh-CN" altLang="en-US" sz="2800" b="1" dirty="0">
                <a:latin typeface="宋体" charset="-122"/>
              </a:rPr>
              <a:t>电荷分布稳定，电荷没有定向移动</a:t>
            </a:r>
            <a:r>
              <a:rPr lang="en-US" altLang="zh-CN" sz="2800" b="1" dirty="0">
                <a:solidFill>
                  <a:srgbClr val="C00000"/>
                </a:solidFill>
                <a:latin typeface="宋体" charset="-122"/>
              </a:rPr>
              <a:t>)</a:t>
            </a:r>
            <a:endParaRPr lang="zh-CN" altLang="en-US" sz="2800" b="1" dirty="0">
              <a:solidFill>
                <a:srgbClr val="C00000"/>
              </a:solidFill>
              <a:latin typeface="宋体" charset="-122"/>
            </a:endParaRPr>
          </a:p>
        </p:txBody>
      </p:sp>
      <p:sp>
        <p:nvSpPr>
          <p:cNvPr id="147480" name="Text Box 24"/>
          <p:cNvSpPr txBox="1">
            <a:spLocks noChangeArrowheads="1"/>
          </p:cNvSpPr>
          <p:nvPr/>
        </p:nvSpPr>
        <p:spPr bwMode="auto">
          <a:xfrm>
            <a:off x="76200" y="1057275"/>
            <a:ext cx="9525000" cy="116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（1）导体内部任何一点处的电场强度为零；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（2）导体表面处的电场强度的方向,都与导体表面垂直.</a:t>
            </a:r>
          </a:p>
        </p:txBody>
      </p: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6911975" y="3151187"/>
            <a:ext cx="936625" cy="1308100"/>
            <a:chOff x="4402" y="2064"/>
            <a:chExt cx="590" cy="824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4417" y="2064"/>
              <a:ext cx="335" cy="816"/>
              <a:chOff x="4417" y="2064"/>
              <a:chExt cx="335" cy="816"/>
            </a:xfrm>
          </p:grpSpPr>
          <p:sp>
            <p:nvSpPr>
              <p:cNvPr id="147483" name="Line 27"/>
              <p:cNvSpPr>
                <a:spLocks noChangeShapeType="1"/>
              </p:cNvSpPr>
              <p:nvPr/>
            </p:nvSpPr>
            <p:spPr bwMode="auto">
              <a:xfrm flipV="1">
                <a:off x="4417" y="2208"/>
                <a:ext cx="0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47484" name="Object 28"/>
              <p:cNvGraphicFramePr>
                <a:graphicFrameLocks noChangeAspect="1"/>
              </p:cNvGraphicFramePr>
              <p:nvPr/>
            </p:nvGraphicFramePr>
            <p:xfrm>
              <a:off x="4465" y="2064"/>
              <a:ext cx="287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0285" name="Equation" r:id="rId7" imgW="215640" imgH="266400" progId="Equation.3">
                      <p:embed/>
                    </p:oleObj>
                  </mc:Choice>
                  <mc:Fallback>
                    <p:oleObj name="Equation" r:id="rId7" imgW="215640" imgH="266400" progId="Equation.3">
                      <p:embed/>
                      <p:pic>
                        <p:nvPicPr>
                          <p:cNvPr id="0" name="Object 2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5" y="2064"/>
                            <a:ext cx="287" cy="3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29"/>
            <p:cNvGrpSpPr>
              <a:grpSpLocks/>
            </p:cNvGrpSpPr>
            <p:nvPr/>
          </p:nvGrpSpPr>
          <p:grpSpPr bwMode="auto">
            <a:xfrm>
              <a:off x="4402" y="2496"/>
              <a:ext cx="590" cy="392"/>
              <a:chOff x="4402" y="2496"/>
              <a:chExt cx="590" cy="392"/>
            </a:xfrm>
          </p:grpSpPr>
          <p:sp>
            <p:nvSpPr>
              <p:cNvPr id="147486" name="Line 30"/>
              <p:cNvSpPr>
                <a:spLocks noChangeShapeType="1"/>
              </p:cNvSpPr>
              <p:nvPr/>
            </p:nvSpPr>
            <p:spPr bwMode="auto">
              <a:xfrm flipV="1">
                <a:off x="4402" y="2880"/>
                <a:ext cx="398" cy="8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47487" name="Object 31"/>
              <p:cNvGraphicFramePr>
                <a:graphicFrameLocks noChangeAspect="1"/>
              </p:cNvGraphicFramePr>
              <p:nvPr/>
            </p:nvGraphicFramePr>
            <p:xfrm>
              <a:off x="4656" y="2496"/>
              <a:ext cx="336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0286" name="Equation" r:id="rId9" imgW="291960" imgH="291960" progId="Equation.3">
                      <p:embed/>
                    </p:oleObj>
                  </mc:Choice>
                  <mc:Fallback>
                    <p:oleObj name="Equation" r:id="rId9" imgW="291960" imgH="291960" progId="Equation.3">
                      <p:embed/>
                      <p:pic>
                        <p:nvPicPr>
                          <p:cNvPr id="0" name="Object 31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496"/>
                            <a:ext cx="336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7488" name="Text Box 32"/>
          <p:cNvSpPr txBox="1">
            <a:spLocks noChangeArrowheads="1"/>
          </p:cNvSpPr>
          <p:nvPr/>
        </p:nvSpPr>
        <p:spPr bwMode="auto">
          <a:xfrm>
            <a:off x="1524000" y="2581275"/>
            <a:ext cx="388620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 导体表面是等势面</a:t>
            </a:r>
          </a:p>
        </p:txBody>
      </p:sp>
      <p:graphicFrame>
        <p:nvGraphicFramePr>
          <p:cNvPr id="147489" name="Object 33"/>
          <p:cNvGraphicFramePr>
            <a:graphicFrameLocks noChangeAspect="1"/>
          </p:cNvGraphicFramePr>
          <p:nvPr/>
        </p:nvGraphicFramePr>
        <p:xfrm>
          <a:off x="1331913" y="3829050"/>
          <a:ext cx="392588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287" name="Equation" r:id="rId11" imgW="1955520" imgH="291960" progId="Equation.3">
                  <p:embed/>
                </p:oleObj>
              </mc:Choice>
              <mc:Fallback>
                <p:oleObj name="Equation" r:id="rId11" imgW="1955520" imgH="2919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829050"/>
                        <a:ext cx="3925887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90" name="Text Box 34"/>
          <p:cNvSpPr txBox="1">
            <a:spLocks noChangeArrowheads="1"/>
          </p:cNvSpPr>
          <p:nvPr/>
        </p:nvSpPr>
        <p:spPr bwMode="auto">
          <a:xfrm>
            <a:off x="1524000" y="4638675"/>
            <a:ext cx="403860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</a:rPr>
              <a:t> 导体内部电势相等</a:t>
            </a:r>
          </a:p>
        </p:txBody>
      </p:sp>
      <p:graphicFrame>
        <p:nvGraphicFramePr>
          <p:cNvPr id="147491" name="Object 35"/>
          <p:cNvGraphicFramePr>
            <a:graphicFrameLocks noChangeAspect="1"/>
          </p:cNvGraphicFramePr>
          <p:nvPr/>
        </p:nvGraphicFramePr>
        <p:xfrm>
          <a:off x="1524000" y="5208587"/>
          <a:ext cx="38100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288" name="Equation" r:id="rId13" imgW="1168200" imgH="291960" progId="Equation.3">
                  <p:embed/>
                </p:oleObj>
              </mc:Choice>
              <mc:Fallback>
                <p:oleObj name="Equation" r:id="rId13" imgW="1168200" imgH="2919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208587"/>
                        <a:ext cx="381000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92" name="Object 36"/>
          <p:cNvGraphicFramePr>
            <a:graphicFrameLocks noChangeAspect="1"/>
          </p:cNvGraphicFramePr>
          <p:nvPr/>
        </p:nvGraphicFramePr>
        <p:xfrm>
          <a:off x="2151063" y="3154362"/>
          <a:ext cx="1887537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289" name="Equation" r:id="rId15" imgW="965160" imgH="291960" progId="Equation.3">
                  <p:embed/>
                </p:oleObj>
              </mc:Choice>
              <mc:Fallback>
                <p:oleObj name="Equation" r:id="rId15" imgW="965160" imgH="2919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3154362"/>
                        <a:ext cx="1887537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5749925" y="4867275"/>
            <a:ext cx="2174875" cy="768350"/>
            <a:chOff x="3670" y="3072"/>
            <a:chExt cx="1370" cy="484"/>
          </a:xfrm>
        </p:grpSpPr>
        <p:sp>
          <p:nvSpPr>
            <p:cNvPr id="147494" name="Arc 38"/>
            <p:cNvSpPr>
              <a:spLocks/>
            </p:cNvSpPr>
            <p:nvPr/>
          </p:nvSpPr>
          <p:spPr bwMode="auto">
            <a:xfrm flipV="1">
              <a:off x="3984" y="3216"/>
              <a:ext cx="768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153"/>
                <a:gd name="T1" fmla="*/ 0 h 21600"/>
                <a:gd name="T2" fmla="*/ 21153 w 21153"/>
                <a:gd name="T3" fmla="*/ 17227 h 21600"/>
                <a:gd name="T4" fmla="*/ 0 w 2115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53" h="21600" fill="none" extrusionOk="0">
                  <a:moveTo>
                    <a:pt x="-1" y="0"/>
                  </a:moveTo>
                  <a:cubicBezTo>
                    <a:pt x="10243" y="0"/>
                    <a:pt x="19078" y="7195"/>
                    <a:pt x="21152" y="17227"/>
                  </a:cubicBezTo>
                </a:path>
                <a:path w="21153" h="21600" stroke="0" extrusionOk="0">
                  <a:moveTo>
                    <a:pt x="-1" y="0"/>
                  </a:moveTo>
                  <a:cubicBezTo>
                    <a:pt x="10243" y="0"/>
                    <a:pt x="19078" y="7195"/>
                    <a:pt x="21152" y="172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47495" name="Object 39"/>
            <p:cNvGraphicFramePr>
              <a:graphicFrameLocks noChangeAspect="1"/>
            </p:cNvGraphicFramePr>
            <p:nvPr/>
          </p:nvGraphicFramePr>
          <p:xfrm>
            <a:off x="3670" y="3216"/>
            <a:ext cx="31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290" name="Equation" r:id="rId17" imgW="152280" imgH="164880" progId="Equation.3">
                    <p:embed/>
                  </p:oleObj>
                </mc:Choice>
                <mc:Fallback>
                  <p:oleObj name="Equation" r:id="rId17" imgW="152280" imgH="16488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3216"/>
                          <a:ext cx="314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496" name="Object 40"/>
            <p:cNvGraphicFramePr>
              <a:graphicFrameLocks noChangeAspect="1"/>
            </p:cNvGraphicFramePr>
            <p:nvPr/>
          </p:nvGraphicFramePr>
          <p:xfrm>
            <a:off x="4726" y="3072"/>
            <a:ext cx="31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291" name="Equation" r:id="rId19" imgW="152280" imgH="164880" progId="Equation.3">
                    <p:embed/>
                  </p:oleObj>
                </mc:Choice>
                <mc:Fallback>
                  <p:oleObj name="Equation" r:id="rId19" imgW="152280" imgH="16488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" y="3072"/>
                          <a:ext cx="314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7497" name="AutoShape 41"/>
          <p:cNvSpPr>
            <a:spLocks/>
          </p:cNvSpPr>
          <p:nvPr/>
        </p:nvSpPr>
        <p:spPr bwMode="auto">
          <a:xfrm>
            <a:off x="1066800" y="2733675"/>
            <a:ext cx="304800" cy="3200400"/>
          </a:xfrm>
          <a:prstGeom prst="leftBrace">
            <a:avLst>
              <a:gd name="adj1" fmla="val 87500"/>
              <a:gd name="adj2" fmla="val 48782"/>
            </a:avLst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4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4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2" dur="500"/>
                                        <p:tgtEl>
                                          <p:spTgt spid="14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80" grpId="0" autoUpdateAnimBg="0"/>
      <p:bldP spid="147488" grpId="0" autoUpdateAnimBg="0"/>
      <p:bldP spid="147490" grpId="0" autoUpdateAnimBg="0"/>
      <p:bldP spid="14749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096000" y="609600"/>
            <a:ext cx="2743200" cy="1828800"/>
            <a:chOff x="3936" y="480"/>
            <a:chExt cx="1728" cy="1152"/>
          </a:xfrm>
        </p:grpSpPr>
        <p:sp>
          <p:nvSpPr>
            <p:cNvPr id="148483" name="Rectangle 3"/>
            <p:cNvSpPr>
              <a:spLocks noChangeArrowheads="1"/>
            </p:cNvSpPr>
            <p:nvPr/>
          </p:nvSpPr>
          <p:spPr bwMode="auto">
            <a:xfrm>
              <a:off x="3936" y="480"/>
              <a:ext cx="1728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8484" name="Freeform 4"/>
            <p:cNvSpPr>
              <a:spLocks/>
            </p:cNvSpPr>
            <p:nvPr/>
          </p:nvSpPr>
          <p:spPr bwMode="auto">
            <a:xfrm>
              <a:off x="4032" y="576"/>
              <a:ext cx="1565" cy="911"/>
            </a:xfrm>
            <a:custGeom>
              <a:avLst/>
              <a:gdLst/>
              <a:ahLst/>
              <a:cxnLst>
                <a:cxn ang="0">
                  <a:pos x="20" y="401"/>
                </a:cxn>
                <a:cxn ang="0">
                  <a:pos x="304" y="133"/>
                </a:cxn>
                <a:cxn ang="0">
                  <a:pos x="864" y="30"/>
                </a:cxn>
                <a:cxn ang="0">
                  <a:pos x="1432" y="314"/>
                </a:cxn>
                <a:cxn ang="0">
                  <a:pos x="1448" y="827"/>
                </a:cxn>
                <a:cxn ang="0">
                  <a:pos x="730" y="819"/>
                </a:cxn>
                <a:cxn ang="0">
                  <a:pos x="186" y="669"/>
                </a:cxn>
                <a:cxn ang="0">
                  <a:pos x="20" y="401"/>
                </a:cxn>
              </a:cxnLst>
              <a:rect l="0" t="0" r="r" b="b"/>
              <a:pathLst>
                <a:path w="1565" h="911">
                  <a:moveTo>
                    <a:pt x="20" y="401"/>
                  </a:moveTo>
                  <a:cubicBezTo>
                    <a:pt x="40" y="312"/>
                    <a:pt x="163" y="195"/>
                    <a:pt x="304" y="133"/>
                  </a:cubicBezTo>
                  <a:cubicBezTo>
                    <a:pt x="445" y="71"/>
                    <a:pt x="676" y="0"/>
                    <a:pt x="864" y="30"/>
                  </a:cubicBezTo>
                  <a:cubicBezTo>
                    <a:pt x="1052" y="60"/>
                    <a:pt x="1335" y="181"/>
                    <a:pt x="1432" y="314"/>
                  </a:cubicBezTo>
                  <a:cubicBezTo>
                    <a:pt x="1529" y="447"/>
                    <a:pt x="1565" y="743"/>
                    <a:pt x="1448" y="827"/>
                  </a:cubicBezTo>
                  <a:cubicBezTo>
                    <a:pt x="1331" y="911"/>
                    <a:pt x="940" y="845"/>
                    <a:pt x="730" y="819"/>
                  </a:cubicBezTo>
                  <a:cubicBezTo>
                    <a:pt x="520" y="793"/>
                    <a:pt x="304" y="739"/>
                    <a:pt x="186" y="669"/>
                  </a:cubicBezTo>
                  <a:cubicBezTo>
                    <a:pt x="68" y="599"/>
                    <a:pt x="0" y="490"/>
                    <a:pt x="20" y="40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228600" y="457200"/>
            <a:ext cx="6019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二  静电平衡时导体上电荷的分布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196013" y="685800"/>
            <a:ext cx="2497137" cy="1666875"/>
            <a:chOff x="3936" y="624"/>
            <a:chExt cx="1573" cy="1050"/>
          </a:xfrm>
        </p:grpSpPr>
        <p:sp>
          <p:nvSpPr>
            <p:cNvPr id="148487" name="Text Box 7"/>
            <p:cNvSpPr txBox="1">
              <a:spLocks noChangeArrowheads="1"/>
            </p:cNvSpPr>
            <p:nvPr/>
          </p:nvSpPr>
          <p:spPr bwMode="auto">
            <a:xfrm>
              <a:off x="4320" y="67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88" name="Rectangle 8"/>
            <p:cNvSpPr>
              <a:spLocks noChangeArrowheads="1"/>
            </p:cNvSpPr>
            <p:nvPr/>
          </p:nvSpPr>
          <p:spPr bwMode="auto">
            <a:xfrm>
              <a:off x="4704" y="624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89" name="Rectangle 9"/>
            <p:cNvSpPr>
              <a:spLocks noChangeArrowheads="1"/>
            </p:cNvSpPr>
            <p:nvPr/>
          </p:nvSpPr>
          <p:spPr bwMode="auto">
            <a:xfrm>
              <a:off x="5088" y="81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0" name="Rectangle 10"/>
            <p:cNvSpPr>
              <a:spLocks noChangeArrowheads="1"/>
            </p:cNvSpPr>
            <p:nvPr/>
          </p:nvSpPr>
          <p:spPr bwMode="auto">
            <a:xfrm>
              <a:off x="5232" y="100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1" name="Rectangle 11"/>
            <p:cNvSpPr>
              <a:spLocks noChangeArrowheads="1"/>
            </p:cNvSpPr>
            <p:nvPr/>
          </p:nvSpPr>
          <p:spPr bwMode="auto">
            <a:xfrm>
              <a:off x="5280" y="124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2" name="Rectangle 12"/>
            <p:cNvSpPr>
              <a:spLocks noChangeArrowheads="1"/>
            </p:cNvSpPr>
            <p:nvPr/>
          </p:nvSpPr>
          <p:spPr bwMode="auto">
            <a:xfrm>
              <a:off x="5040" y="1344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3" name="Rectangle 13"/>
            <p:cNvSpPr>
              <a:spLocks noChangeArrowheads="1"/>
            </p:cNvSpPr>
            <p:nvPr/>
          </p:nvSpPr>
          <p:spPr bwMode="auto">
            <a:xfrm>
              <a:off x="4464" y="124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4" name="Rectangle 14"/>
            <p:cNvSpPr>
              <a:spLocks noChangeArrowheads="1"/>
            </p:cNvSpPr>
            <p:nvPr/>
          </p:nvSpPr>
          <p:spPr bwMode="auto">
            <a:xfrm>
              <a:off x="4080" y="768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5" name="Rectangle 15"/>
            <p:cNvSpPr>
              <a:spLocks noChangeArrowheads="1"/>
            </p:cNvSpPr>
            <p:nvPr/>
          </p:nvSpPr>
          <p:spPr bwMode="auto">
            <a:xfrm>
              <a:off x="3936" y="960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8496" name="Rectangle 16"/>
            <p:cNvSpPr>
              <a:spLocks noChangeArrowheads="1"/>
            </p:cNvSpPr>
            <p:nvPr/>
          </p:nvSpPr>
          <p:spPr bwMode="auto">
            <a:xfrm>
              <a:off x="4080" y="1104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148497" name="Text Box 17"/>
          <p:cNvSpPr txBox="1">
            <a:spLocks noChangeArrowheads="1"/>
          </p:cNvSpPr>
          <p:nvPr/>
        </p:nvSpPr>
        <p:spPr bwMode="auto">
          <a:xfrm>
            <a:off x="4267200" y="2728912"/>
            <a:ext cx="4114800" cy="53181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结论 </a:t>
            </a:r>
            <a:r>
              <a:rPr lang="zh-CN" altLang="en-US" sz="2800">
                <a:solidFill>
                  <a:schemeClr val="tx1"/>
                </a:solidFill>
              </a:rPr>
              <a:t>导体内部无电荷</a:t>
            </a:r>
            <a:endParaRPr lang="zh-CN" altLang="en-US" sz="2800">
              <a:solidFill>
                <a:schemeClr val="tx1"/>
              </a:solidFill>
              <a:latin typeface="Arial" charset="0"/>
            </a:endParaRPr>
          </a:p>
        </p:txBody>
      </p:sp>
      <p:graphicFrame>
        <p:nvGraphicFramePr>
          <p:cNvPr id="148498" name="Object 18"/>
          <p:cNvGraphicFramePr>
            <a:graphicFrameLocks noChangeAspect="1"/>
          </p:cNvGraphicFramePr>
          <p:nvPr/>
        </p:nvGraphicFramePr>
        <p:xfrm>
          <a:off x="2803525" y="1284287"/>
          <a:ext cx="3211513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04" name="Equation" r:id="rId3" imgW="1015920" imgH="431640" progId="Equation.3">
                  <p:embed/>
                </p:oleObj>
              </mc:Choice>
              <mc:Fallback>
                <p:oleObj name="Equation" r:id="rId3" imgW="101592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1284287"/>
                        <a:ext cx="3211513" cy="1362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9" name="Object 19"/>
          <p:cNvGraphicFramePr>
            <a:graphicFrameLocks noChangeAspect="1"/>
          </p:cNvGraphicFramePr>
          <p:nvPr/>
        </p:nvGraphicFramePr>
        <p:xfrm>
          <a:off x="762000" y="4176712"/>
          <a:ext cx="43815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05" name="Equation" r:id="rId5" imgW="1434960" imgH="291960" progId="Equation.3">
                  <p:embed/>
                </p:oleObj>
              </mc:Choice>
              <mc:Fallback>
                <p:oleObj name="Equation" r:id="rId5" imgW="1434960" imgH="2919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76712"/>
                        <a:ext cx="43815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0" name="Object 20"/>
          <p:cNvGraphicFramePr>
            <a:graphicFrameLocks noChangeAspect="1"/>
          </p:cNvGraphicFramePr>
          <p:nvPr/>
        </p:nvGraphicFramePr>
        <p:xfrm>
          <a:off x="609600" y="1584325"/>
          <a:ext cx="16764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06" name="Equation" r:id="rId7" imgW="507960" imgH="203040" progId="Equation.3">
                  <p:embed/>
                </p:oleObj>
              </mc:Choice>
              <mc:Fallback>
                <p:oleObj name="Equation" r:id="rId7" imgW="507960" imgH="2030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84325"/>
                        <a:ext cx="1676400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01" name="Text Box 21"/>
          <p:cNvSpPr txBox="1">
            <a:spLocks noChangeArrowheads="1"/>
          </p:cNvSpPr>
          <p:nvPr/>
        </p:nvSpPr>
        <p:spPr bwMode="auto">
          <a:xfrm>
            <a:off x="990600" y="990600"/>
            <a:ext cx="2971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1　</a:t>
            </a:r>
            <a:r>
              <a:rPr lang="zh-CN" altLang="en-US" sz="2800">
                <a:solidFill>
                  <a:schemeClr val="tx1"/>
                </a:solidFill>
              </a:rPr>
              <a:t>实心导体</a:t>
            </a:r>
          </a:p>
        </p:txBody>
      </p: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990600" y="3033712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2　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有空腔导体</a:t>
            </a:r>
          </a:p>
        </p:txBody>
      </p:sp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1371600" y="2347912"/>
          <a:ext cx="17526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07" name="Equation" r:id="rId9" imgW="469800" imgH="203040" progId="Equation.3">
                  <p:embed/>
                </p:oleObj>
              </mc:Choice>
              <mc:Fallback>
                <p:oleObj name="Equation" r:id="rId9" imgW="469800" imgH="203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47912"/>
                        <a:ext cx="17526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935788" y="1222375"/>
            <a:ext cx="1341437" cy="619125"/>
            <a:chOff x="4369" y="962"/>
            <a:chExt cx="845" cy="390"/>
          </a:xfrm>
        </p:grpSpPr>
        <p:graphicFrame>
          <p:nvGraphicFramePr>
            <p:cNvPr id="148505" name="Object 25"/>
            <p:cNvGraphicFramePr>
              <a:graphicFrameLocks noChangeAspect="1"/>
            </p:cNvGraphicFramePr>
            <p:nvPr/>
          </p:nvGraphicFramePr>
          <p:xfrm>
            <a:off x="4944" y="1008"/>
            <a:ext cx="27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308" name="Equation" r:id="rId11" imgW="139680" imgH="177480" progId="Equation.3">
                    <p:embed/>
                  </p:oleObj>
                </mc:Choice>
                <mc:Fallback>
                  <p:oleObj name="Equation" r:id="rId11" imgW="139680" imgH="177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008"/>
                          <a:ext cx="270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06" name="Freeform 26" descr="宽下对角线"/>
            <p:cNvSpPr>
              <a:spLocks/>
            </p:cNvSpPr>
            <p:nvPr/>
          </p:nvSpPr>
          <p:spPr bwMode="auto">
            <a:xfrm>
              <a:off x="4369" y="962"/>
              <a:ext cx="562" cy="307"/>
            </a:xfrm>
            <a:custGeom>
              <a:avLst/>
              <a:gdLst/>
              <a:ahLst/>
              <a:cxnLst>
                <a:cxn ang="0">
                  <a:pos x="89" y="56"/>
                </a:cxn>
                <a:cxn ang="0">
                  <a:pos x="294" y="9"/>
                </a:cxn>
                <a:cxn ang="0">
                  <a:pos x="531" y="111"/>
                </a:cxn>
                <a:cxn ang="0">
                  <a:pos x="479" y="286"/>
                </a:cxn>
                <a:cxn ang="0">
                  <a:pos x="65" y="237"/>
                </a:cxn>
                <a:cxn ang="0">
                  <a:pos x="89" y="56"/>
                </a:cxn>
              </a:cxnLst>
              <a:rect l="0" t="0" r="r" b="b"/>
              <a:pathLst>
                <a:path w="562" h="307">
                  <a:moveTo>
                    <a:pt x="89" y="56"/>
                  </a:moveTo>
                  <a:cubicBezTo>
                    <a:pt x="127" y="18"/>
                    <a:pt x="220" y="0"/>
                    <a:pt x="294" y="9"/>
                  </a:cubicBezTo>
                  <a:cubicBezTo>
                    <a:pt x="368" y="18"/>
                    <a:pt x="500" y="65"/>
                    <a:pt x="531" y="111"/>
                  </a:cubicBezTo>
                  <a:cubicBezTo>
                    <a:pt x="562" y="157"/>
                    <a:pt x="557" y="265"/>
                    <a:pt x="479" y="286"/>
                  </a:cubicBezTo>
                  <a:cubicBezTo>
                    <a:pt x="401" y="307"/>
                    <a:pt x="130" y="275"/>
                    <a:pt x="65" y="237"/>
                  </a:cubicBezTo>
                  <a:cubicBezTo>
                    <a:pt x="0" y="199"/>
                    <a:pt x="44" y="96"/>
                    <a:pt x="89" y="56"/>
                  </a:cubicBezTo>
                  <a:close/>
                </a:path>
              </a:pathLst>
            </a:custGeom>
            <a:pattFill prst="wdDnDiag">
              <a:fgClr>
                <a:srgbClr val="0000FF"/>
              </a:fgClr>
              <a:bgClr>
                <a:srgbClr val="EAEAEA"/>
              </a:bgClr>
            </a:pattFill>
            <a:ln w="19050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sp>
        <p:nvSpPr>
          <p:cNvPr id="148507" name="Text Box 27"/>
          <p:cNvSpPr txBox="1">
            <a:spLocks noChangeArrowheads="1"/>
          </p:cNvSpPr>
          <p:nvPr/>
        </p:nvSpPr>
        <p:spPr bwMode="auto">
          <a:xfrm>
            <a:off x="990600" y="3643312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13"/>
              </a:buBlip>
            </a:pPr>
            <a:r>
              <a:rPr lang="zh-CN" altLang="en-US" sz="2800">
                <a:solidFill>
                  <a:srgbClr val="1C1C1C"/>
                </a:solidFill>
              </a:rPr>
              <a:t>   空腔内无电荷</a:t>
            </a:r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5257800" y="3733800"/>
            <a:ext cx="3581400" cy="2438400"/>
            <a:chOff x="3408" y="2400"/>
            <a:chExt cx="2256" cy="1536"/>
          </a:xfrm>
        </p:grpSpPr>
        <p:sp>
          <p:nvSpPr>
            <p:cNvPr id="148509" name="Rectangle 29"/>
            <p:cNvSpPr>
              <a:spLocks noChangeArrowheads="1"/>
            </p:cNvSpPr>
            <p:nvPr/>
          </p:nvSpPr>
          <p:spPr bwMode="auto">
            <a:xfrm>
              <a:off x="3408" y="2400"/>
              <a:ext cx="2256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8510" name="AutoShape 30"/>
            <p:cNvSpPr>
              <a:spLocks noChangeArrowheads="1"/>
            </p:cNvSpPr>
            <p:nvPr/>
          </p:nvSpPr>
          <p:spPr bwMode="auto">
            <a:xfrm>
              <a:off x="3600" y="2544"/>
              <a:ext cx="1968" cy="1200"/>
            </a:xfrm>
            <a:custGeom>
              <a:avLst/>
              <a:gdLst>
                <a:gd name="G0" fmla="+- 6816 0 0"/>
                <a:gd name="G1" fmla="+- 21600 0 6816"/>
                <a:gd name="G2" fmla="+- 21600 0 6816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816" y="10800"/>
                  </a:moveTo>
                  <a:cubicBezTo>
                    <a:pt x="6816" y="13000"/>
                    <a:pt x="8600" y="14784"/>
                    <a:pt x="10800" y="14784"/>
                  </a:cubicBezTo>
                  <a:cubicBezTo>
                    <a:pt x="13000" y="14784"/>
                    <a:pt x="14784" y="13000"/>
                    <a:pt x="14784" y="10800"/>
                  </a:cubicBezTo>
                  <a:cubicBezTo>
                    <a:pt x="14784" y="8600"/>
                    <a:pt x="13000" y="6816"/>
                    <a:pt x="10800" y="6816"/>
                  </a:cubicBezTo>
                  <a:cubicBezTo>
                    <a:pt x="8600" y="6816"/>
                    <a:pt x="6816" y="8600"/>
                    <a:pt x="6816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7620000" y="4419600"/>
            <a:ext cx="892175" cy="1155700"/>
            <a:chOff x="4800" y="2880"/>
            <a:chExt cx="562" cy="728"/>
          </a:xfrm>
        </p:grpSpPr>
        <p:graphicFrame>
          <p:nvGraphicFramePr>
            <p:cNvPr id="148512" name="Object 32"/>
            <p:cNvGraphicFramePr>
              <a:graphicFrameLocks noChangeAspect="1"/>
            </p:cNvGraphicFramePr>
            <p:nvPr/>
          </p:nvGraphicFramePr>
          <p:xfrm>
            <a:off x="4848" y="3264"/>
            <a:ext cx="27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309" name="Equation" r:id="rId14" imgW="139680" imgH="177480" progId="Equation.3">
                    <p:embed/>
                  </p:oleObj>
                </mc:Choice>
                <mc:Fallback>
                  <p:oleObj name="Equation" r:id="rId14" imgW="139680" imgH="1774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264"/>
                          <a:ext cx="270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13" name="Freeform 33" descr="宽下对角线"/>
            <p:cNvSpPr>
              <a:spLocks/>
            </p:cNvSpPr>
            <p:nvPr/>
          </p:nvSpPr>
          <p:spPr bwMode="auto">
            <a:xfrm rot="2655082">
              <a:off x="4800" y="2880"/>
              <a:ext cx="562" cy="307"/>
            </a:xfrm>
            <a:custGeom>
              <a:avLst/>
              <a:gdLst/>
              <a:ahLst/>
              <a:cxnLst>
                <a:cxn ang="0">
                  <a:pos x="89" y="56"/>
                </a:cxn>
                <a:cxn ang="0">
                  <a:pos x="294" y="9"/>
                </a:cxn>
                <a:cxn ang="0">
                  <a:pos x="531" y="111"/>
                </a:cxn>
                <a:cxn ang="0">
                  <a:pos x="479" y="286"/>
                </a:cxn>
                <a:cxn ang="0">
                  <a:pos x="65" y="237"/>
                </a:cxn>
                <a:cxn ang="0">
                  <a:pos x="89" y="56"/>
                </a:cxn>
              </a:cxnLst>
              <a:rect l="0" t="0" r="r" b="b"/>
              <a:pathLst>
                <a:path w="562" h="307">
                  <a:moveTo>
                    <a:pt x="89" y="56"/>
                  </a:moveTo>
                  <a:cubicBezTo>
                    <a:pt x="127" y="18"/>
                    <a:pt x="220" y="0"/>
                    <a:pt x="294" y="9"/>
                  </a:cubicBezTo>
                  <a:cubicBezTo>
                    <a:pt x="368" y="18"/>
                    <a:pt x="500" y="65"/>
                    <a:pt x="531" y="111"/>
                  </a:cubicBezTo>
                  <a:cubicBezTo>
                    <a:pt x="562" y="157"/>
                    <a:pt x="557" y="265"/>
                    <a:pt x="479" y="286"/>
                  </a:cubicBezTo>
                  <a:cubicBezTo>
                    <a:pt x="401" y="307"/>
                    <a:pt x="130" y="275"/>
                    <a:pt x="65" y="237"/>
                  </a:cubicBezTo>
                  <a:cubicBezTo>
                    <a:pt x="0" y="199"/>
                    <a:pt x="44" y="96"/>
                    <a:pt x="89" y="56"/>
                  </a:cubicBezTo>
                  <a:close/>
                </a:path>
              </a:pathLst>
            </a:custGeom>
            <a:pattFill prst="wdDnDiag">
              <a:fgClr>
                <a:srgbClr val="0000FF"/>
              </a:fgClr>
              <a:bgClr>
                <a:srgbClr val="EAEAEA"/>
              </a:bgClr>
            </a:pattFill>
            <a:ln w="19050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sp>
        <p:nvSpPr>
          <p:cNvPr id="148514" name="Rectangle 34"/>
          <p:cNvSpPr>
            <a:spLocks noChangeArrowheads="1"/>
          </p:cNvSpPr>
          <p:nvPr/>
        </p:nvSpPr>
        <p:spPr bwMode="auto">
          <a:xfrm>
            <a:off x="1143000" y="5091112"/>
            <a:ext cx="34290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电荷分布在表面上</a:t>
            </a:r>
          </a:p>
        </p:txBody>
      </p:sp>
      <p:sp>
        <p:nvSpPr>
          <p:cNvPr id="148515" name="Text Box 35"/>
          <p:cNvSpPr txBox="1">
            <a:spLocks noChangeArrowheads="1"/>
          </p:cNvSpPr>
          <p:nvPr/>
        </p:nvSpPr>
        <p:spPr bwMode="auto">
          <a:xfrm>
            <a:off x="533400" y="5776912"/>
            <a:ext cx="4114800" cy="523220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问</a:t>
            </a:r>
            <a:r>
              <a:rPr lang="zh-CN" altLang="en-US" sz="2800">
                <a:solidFill>
                  <a:srgbClr val="1C1C1C"/>
                </a:solidFill>
              </a:rPr>
              <a:t> 内表面上有电荷吗</a:t>
            </a:r>
            <a:r>
              <a:rPr lang="zh-CN" altLang="en-US" sz="2800">
                <a:solidFill>
                  <a:srgbClr val="CC0000"/>
                </a:solidFill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animBg="1" autoUpdateAnimBg="0"/>
      <p:bldP spid="148501" grpId="0" autoUpdateAnimBg="0"/>
      <p:bldP spid="148502" grpId="0" autoUpdateAnimBg="0"/>
      <p:bldP spid="148507" grpId="0" autoUpdateAnimBg="0"/>
      <p:bldP spid="148514" grpId="0" animBg="1" autoUpdateAnimBg="0"/>
      <p:bldP spid="1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06" name="Object 2"/>
          <p:cNvGraphicFramePr>
            <a:graphicFrameLocks noChangeAspect="1"/>
          </p:cNvGraphicFramePr>
          <p:nvPr/>
        </p:nvGraphicFramePr>
        <p:xfrm>
          <a:off x="1508125" y="2514600"/>
          <a:ext cx="34448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28" name="Equation" r:id="rId3" imgW="1257120" imgH="291960" progId="Equation.3">
                  <p:embed/>
                </p:oleObj>
              </mc:Choice>
              <mc:Fallback>
                <p:oleObj name="Equation" r:id="rId3" imgW="1257120" imgH="291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2514600"/>
                        <a:ext cx="344487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457200" y="1752600"/>
            <a:ext cx="2819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若内表面带电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5181600" y="4343400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所以内表面</a:t>
            </a:r>
            <a:r>
              <a:rPr lang="zh-CN" altLang="en-US" sz="2800">
                <a:solidFill>
                  <a:srgbClr val="CC0000"/>
                </a:solidFill>
              </a:rPr>
              <a:t>不</a:t>
            </a:r>
            <a:r>
              <a:rPr lang="zh-CN" altLang="en-US" sz="2800">
                <a:solidFill>
                  <a:schemeClr val="tx1"/>
                </a:solidFill>
              </a:rPr>
              <a:t>带电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81600" y="1066800"/>
            <a:ext cx="3657600" cy="2438400"/>
            <a:chOff x="3264" y="720"/>
            <a:chExt cx="2304" cy="1536"/>
          </a:xfrm>
        </p:grpSpPr>
        <p:sp>
          <p:nvSpPr>
            <p:cNvPr id="149510" name="Rectangle 6"/>
            <p:cNvSpPr>
              <a:spLocks noChangeArrowheads="1"/>
            </p:cNvSpPr>
            <p:nvPr/>
          </p:nvSpPr>
          <p:spPr bwMode="auto">
            <a:xfrm>
              <a:off x="3264" y="720"/>
              <a:ext cx="2304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9511" name="AutoShape 7"/>
            <p:cNvSpPr>
              <a:spLocks noChangeArrowheads="1"/>
            </p:cNvSpPr>
            <p:nvPr/>
          </p:nvSpPr>
          <p:spPr bwMode="auto">
            <a:xfrm>
              <a:off x="3456" y="864"/>
              <a:ext cx="1968" cy="1200"/>
            </a:xfrm>
            <a:custGeom>
              <a:avLst/>
              <a:gdLst>
                <a:gd name="G0" fmla="+- 6816 0 0"/>
                <a:gd name="G1" fmla="+- 21600 0 6816"/>
                <a:gd name="G2" fmla="+- 21600 0 6816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816" y="10800"/>
                  </a:moveTo>
                  <a:cubicBezTo>
                    <a:pt x="6816" y="13000"/>
                    <a:pt x="8600" y="14784"/>
                    <a:pt x="10800" y="14784"/>
                  </a:cubicBezTo>
                  <a:cubicBezTo>
                    <a:pt x="13000" y="14784"/>
                    <a:pt x="14784" y="13000"/>
                    <a:pt x="14784" y="10800"/>
                  </a:cubicBezTo>
                  <a:cubicBezTo>
                    <a:pt x="14784" y="8600"/>
                    <a:pt x="13000" y="6816"/>
                    <a:pt x="10800" y="6816"/>
                  </a:cubicBezTo>
                  <a:cubicBezTo>
                    <a:pt x="8600" y="6816"/>
                    <a:pt x="6816" y="8600"/>
                    <a:pt x="6816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638800" y="1676400"/>
            <a:ext cx="2362200" cy="1143000"/>
            <a:chOff x="3456" y="2784"/>
            <a:chExt cx="1488" cy="720"/>
          </a:xfrm>
        </p:grpSpPr>
        <p:sp>
          <p:nvSpPr>
            <p:cNvPr id="149513" name="Oval 9"/>
            <p:cNvSpPr>
              <a:spLocks noChangeArrowheads="1"/>
            </p:cNvSpPr>
            <p:nvPr/>
          </p:nvSpPr>
          <p:spPr bwMode="auto">
            <a:xfrm>
              <a:off x="3744" y="2784"/>
              <a:ext cx="1200" cy="72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49514" name="Object 10"/>
            <p:cNvGraphicFramePr>
              <a:graphicFrameLocks noChangeAspect="1"/>
            </p:cNvGraphicFramePr>
            <p:nvPr/>
          </p:nvGraphicFramePr>
          <p:xfrm>
            <a:off x="3456" y="2976"/>
            <a:ext cx="27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29" name="Equation" r:id="rId5" imgW="139680" imgH="177480" progId="Equation.3">
                    <p:embed/>
                  </p:oleObj>
                </mc:Choice>
                <mc:Fallback>
                  <p:oleObj name="Equation" r:id="rId5" imgW="139680" imgH="177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76"/>
                          <a:ext cx="270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172200" y="1447800"/>
            <a:ext cx="1981200" cy="1209675"/>
            <a:chOff x="3888" y="960"/>
            <a:chExt cx="1248" cy="762"/>
          </a:xfrm>
        </p:grpSpPr>
        <p:sp>
          <p:nvSpPr>
            <p:cNvPr id="149516" name="Text Box 12"/>
            <p:cNvSpPr txBox="1">
              <a:spLocks noChangeArrowheads="1"/>
            </p:cNvSpPr>
            <p:nvPr/>
          </p:nvSpPr>
          <p:spPr bwMode="auto">
            <a:xfrm>
              <a:off x="3888" y="129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9517" name="Rectangle 13"/>
            <p:cNvSpPr>
              <a:spLocks noChangeArrowheads="1"/>
            </p:cNvSpPr>
            <p:nvPr/>
          </p:nvSpPr>
          <p:spPr bwMode="auto">
            <a:xfrm>
              <a:off x="3888" y="1392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49518" name="Text Box 14"/>
            <p:cNvSpPr txBox="1">
              <a:spLocks noChangeArrowheads="1"/>
            </p:cNvSpPr>
            <p:nvPr/>
          </p:nvSpPr>
          <p:spPr bwMode="auto">
            <a:xfrm>
              <a:off x="4769" y="1248"/>
              <a:ext cx="18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9900"/>
                  </a:solidFill>
                </a:rPr>
                <a:t>-</a:t>
              </a:r>
            </a:p>
          </p:txBody>
        </p:sp>
        <p:sp>
          <p:nvSpPr>
            <p:cNvPr id="149519" name="Rectangle 15"/>
            <p:cNvSpPr>
              <a:spLocks noChangeArrowheads="1"/>
            </p:cNvSpPr>
            <p:nvPr/>
          </p:nvSpPr>
          <p:spPr bwMode="auto">
            <a:xfrm>
              <a:off x="4761" y="1108"/>
              <a:ext cx="37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9900"/>
                  </a:solidFill>
                </a:rPr>
                <a:t>-</a:t>
              </a:r>
            </a:p>
          </p:txBody>
        </p:sp>
        <p:sp>
          <p:nvSpPr>
            <p:cNvPr id="149520" name="Line 16"/>
            <p:cNvSpPr>
              <a:spLocks noChangeShapeType="1"/>
            </p:cNvSpPr>
            <p:nvPr/>
          </p:nvSpPr>
          <p:spPr bwMode="auto">
            <a:xfrm flipV="1">
              <a:off x="4120" y="1392"/>
              <a:ext cx="68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9521" name="Line 17"/>
            <p:cNvSpPr>
              <a:spLocks noChangeShapeType="1"/>
            </p:cNvSpPr>
            <p:nvPr/>
          </p:nvSpPr>
          <p:spPr bwMode="auto">
            <a:xfrm flipV="1">
              <a:off x="4120" y="1488"/>
              <a:ext cx="68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49522" name="Object 18"/>
            <p:cNvGraphicFramePr>
              <a:graphicFrameLocks noChangeAspect="1"/>
            </p:cNvGraphicFramePr>
            <p:nvPr/>
          </p:nvGraphicFramePr>
          <p:xfrm>
            <a:off x="3910" y="960"/>
            <a:ext cx="31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30" name="Equation" r:id="rId7" imgW="152280" imgH="164880" progId="Equation.3">
                    <p:embed/>
                  </p:oleObj>
                </mc:Choice>
                <mc:Fallback>
                  <p:oleObj name="Equation" r:id="rId7" imgW="152280" imgH="1648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960"/>
                          <a:ext cx="314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23" name="Object 19"/>
            <p:cNvGraphicFramePr>
              <a:graphicFrameLocks noChangeAspect="1"/>
            </p:cNvGraphicFramePr>
            <p:nvPr/>
          </p:nvGraphicFramePr>
          <p:xfrm>
            <a:off x="4656" y="960"/>
            <a:ext cx="31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31" name="Equation" r:id="rId9" imgW="152280" imgH="164880" progId="Equation.3">
                    <p:embed/>
                  </p:oleObj>
                </mc:Choice>
                <mc:Fallback>
                  <p:oleObj name="Equation" r:id="rId9" imgW="152280" imgH="164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960"/>
                          <a:ext cx="314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24" name="Text Box 20"/>
          <p:cNvSpPr txBox="1">
            <a:spLocks noChangeArrowheads="1"/>
          </p:cNvSpPr>
          <p:nvPr/>
        </p:nvSpPr>
        <p:spPr bwMode="auto">
          <a:xfrm>
            <a:off x="838200" y="5486400"/>
            <a:ext cx="75438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 结论  </a:t>
            </a: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电荷分布在外表面上（内表面无电荷）</a:t>
            </a: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410200" y="1219200"/>
            <a:ext cx="3259138" cy="2124075"/>
            <a:chOff x="3408" y="624"/>
            <a:chExt cx="2053" cy="1338"/>
          </a:xfrm>
        </p:grpSpPr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3408" y="624"/>
              <a:ext cx="2053" cy="1338"/>
              <a:chOff x="3408" y="2544"/>
              <a:chExt cx="2053" cy="1338"/>
            </a:xfrm>
          </p:grpSpPr>
          <p:sp>
            <p:nvSpPr>
              <p:cNvPr id="149527" name="AutoShape 23"/>
              <p:cNvSpPr>
                <a:spLocks noChangeArrowheads="1"/>
              </p:cNvSpPr>
              <p:nvPr/>
            </p:nvSpPr>
            <p:spPr bwMode="auto">
              <a:xfrm>
                <a:off x="3456" y="2592"/>
                <a:ext cx="1968" cy="1200"/>
              </a:xfrm>
              <a:custGeom>
                <a:avLst/>
                <a:gdLst>
                  <a:gd name="G0" fmla="+- 6816 0 0"/>
                  <a:gd name="G1" fmla="+- 21600 0 6816"/>
                  <a:gd name="G2" fmla="+- 21600 0 6816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6816" y="10800"/>
                    </a:moveTo>
                    <a:cubicBezTo>
                      <a:pt x="6816" y="13000"/>
                      <a:pt x="8600" y="14784"/>
                      <a:pt x="10800" y="14784"/>
                    </a:cubicBezTo>
                    <a:cubicBezTo>
                      <a:pt x="13000" y="14784"/>
                      <a:pt x="14784" y="13000"/>
                      <a:pt x="14784" y="10800"/>
                    </a:cubicBezTo>
                    <a:cubicBezTo>
                      <a:pt x="14784" y="8600"/>
                      <a:pt x="13000" y="6816"/>
                      <a:pt x="10800" y="6816"/>
                    </a:cubicBezTo>
                    <a:cubicBezTo>
                      <a:pt x="8600" y="6816"/>
                      <a:pt x="6816" y="8600"/>
                      <a:pt x="6816" y="1080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FFFF">
                      <a:gamma/>
                      <a:shade val="76078"/>
                      <a:invGamma/>
                    </a:srgbClr>
                  </a:gs>
                </a:gsLst>
                <a:lin ang="2700000" scaled="1"/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3408" y="2544"/>
                <a:ext cx="2053" cy="1338"/>
                <a:chOff x="3408" y="624"/>
                <a:chExt cx="2053" cy="1338"/>
              </a:xfrm>
            </p:grpSpPr>
            <p:sp>
              <p:nvSpPr>
                <p:cNvPr id="14952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143" y="62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0" name="Rectangle 26"/>
                <p:cNvSpPr>
                  <a:spLocks noChangeArrowheads="1"/>
                </p:cNvSpPr>
                <p:nvPr/>
              </p:nvSpPr>
              <p:spPr bwMode="auto">
                <a:xfrm>
                  <a:off x="4575" y="624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1" name="Rectangle 27"/>
                <p:cNvSpPr>
                  <a:spLocks noChangeArrowheads="1"/>
                </p:cNvSpPr>
                <p:nvPr/>
              </p:nvSpPr>
              <p:spPr bwMode="auto">
                <a:xfrm>
                  <a:off x="5199" y="96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2" name="Rectangle 28"/>
                <p:cNvSpPr>
                  <a:spLocks noChangeArrowheads="1"/>
                </p:cNvSpPr>
                <p:nvPr/>
              </p:nvSpPr>
              <p:spPr bwMode="auto">
                <a:xfrm>
                  <a:off x="4959" y="76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3" name="Rectangle 29"/>
                <p:cNvSpPr>
                  <a:spLocks noChangeArrowheads="1"/>
                </p:cNvSpPr>
                <p:nvPr/>
              </p:nvSpPr>
              <p:spPr bwMode="auto">
                <a:xfrm>
                  <a:off x="5232" y="124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4" name="Rectangle 30"/>
                <p:cNvSpPr>
                  <a:spLocks noChangeArrowheads="1"/>
                </p:cNvSpPr>
                <p:nvPr/>
              </p:nvSpPr>
              <p:spPr bwMode="auto">
                <a:xfrm>
                  <a:off x="5007" y="148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5" name="Rectangle 31"/>
                <p:cNvSpPr>
                  <a:spLocks noChangeArrowheads="1"/>
                </p:cNvSpPr>
                <p:nvPr/>
              </p:nvSpPr>
              <p:spPr bwMode="auto">
                <a:xfrm>
                  <a:off x="4431" y="1632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6" name="Rectangle 32"/>
                <p:cNvSpPr>
                  <a:spLocks noChangeArrowheads="1"/>
                </p:cNvSpPr>
                <p:nvPr/>
              </p:nvSpPr>
              <p:spPr bwMode="auto">
                <a:xfrm>
                  <a:off x="3600" y="81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7" name="Rectangle 33"/>
                <p:cNvSpPr>
                  <a:spLocks noChangeArrowheads="1"/>
                </p:cNvSpPr>
                <p:nvPr/>
              </p:nvSpPr>
              <p:spPr bwMode="auto">
                <a:xfrm>
                  <a:off x="3408" y="1152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49538" name="Rectangle 34"/>
                <p:cNvSpPr>
                  <a:spLocks noChangeArrowheads="1"/>
                </p:cNvSpPr>
                <p:nvPr/>
              </p:nvSpPr>
              <p:spPr bwMode="auto">
                <a:xfrm>
                  <a:off x="3663" y="148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sp>
          <p:nvSpPr>
            <p:cNvPr id="149539" name="Oval 35"/>
            <p:cNvSpPr>
              <a:spLocks noChangeArrowheads="1"/>
            </p:cNvSpPr>
            <p:nvPr/>
          </p:nvSpPr>
          <p:spPr bwMode="auto">
            <a:xfrm>
              <a:off x="4032" y="1056"/>
              <a:ext cx="816" cy="43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533400" y="2362200"/>
            <a:ext cx="762000" cy="1371600"/>
            <a:chOff x="432" y="1632"/>
            <a:chExt cx="480" cy="864"/>
          </a:xfrm>
        </p:grpSpPr>
        <p:sp>
          <p:nvSpPr>
            <p:cNvPr id="149541" name="AutoShape 37"/>
            <p:cNvSpPr>
              <a:spLocks noChangeArrowheads="1"/>
            </p:cNvSpPr>
            <p:nvPr/>
          </p:nvSpPr>
          <p:spPr bwMode="auto">
            <a:xfrm>
              <a:off x="432" y="1632"/>
              <a:ext cx="480" cy="864"/>
            </a:xfrm>
            <a:prstGeom prst="upDownArrow">
              <a:avLst>
                <a:gd name="adj1" fmla="val 50000"/>
                <a:gd name="adj2" fmla="val 36000"/>
              </a:avLst>
            </a:prstGeom>
            <a:gradFill rotWithShape="0">
              <a:gsLst>
                <a:gs pos="0">
                  <a:srgbClr val="FF9999"/>
                </a:gs>
                <a:gs pos="50000">
                  <a:srgbClr val="FF9999">
                    <a:gamma/>
                    <a:tint val="0"/>
                    <a:invGamma/>
                  </a:srgbClr>
                </a:gs>
                <a:gs pos="100000">
                  <a:srgbClr val="FF9999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vert="eaVert" wrap="none" anchor="ctr"/>
            <a:lstStyle/>
            <a:p>
              <a:endParaRPr lang="zh-CN" altLang="en-US" sz="2800"/>
            </a:p>
          </p:txBody>
        </p:sp>
        <p:sp>
          <p:nvSpPr>
            <p:cNvPr id="149542" name="Text Box 38"/>
            <p:cNvSpPr txBox="1">
              <a:spLocks noChangeArrowheads="1"/>
            </p:cNvSpPr>
            <p:nvPr/>
          </p:nvSpPr>
          <p:spPr bwMode="auto">
            <a:xfrm>
              <a:off x="477" y="1824"/>
              <a:ext cx="388" cy="62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  <a:effectLst/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矛盾</a:t>
              </a:r>
            </a:p>
          </p:txBody>
        </p:sp>
      </p:grpSp>
      <p:graphicFrame>
        <p:nvGraphicFramePr>
          <p:cNvPr id="149543" name="Object 39"/>
          <p:cNvGraphicFramePr>
            <a:graphicFrameLocks noChangeAspect="1"/>
          </p:cNvGraphicFramePr>
          <p:nvPr/>
        </p:nvGraphicFramePr>
        <p:xfrm>
          <a:off x="801688" y="762000"/>
          <a:ext cx="3683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32" name="Equation" r:id="rId11" imgW="1206360" imgH="291960" progId="Equation.3">
                  <p:embed/>
                </p:oleObj>
              </mc:Choice>
              <mc:Fallback>
                <p:oleObj name="Equation" r:id="rId11" imgW="1206360" imgH="2919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762000"/>
                        <a:ext cx="36830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457200" y="3748088"/>
            <a:ext cx="4476750" cy="1520825"/>
            <a:chOff x="288" y="2505"/>
            <a:chExt cx="2820" cy="958"/>
          </a:xfrm>
        </p:grpSpPr>
        <p:sp>
          <p:nvSpPr>
            <p:cNvPr id="149545" name="Rectangle 41"/>
            <p:cNvSpPr>
              <a:spLocks noChangeArrowheads="1"/>
            </p:cNvSpPr>
            <p:nvPr/>
          </p:nvSpPr>
          <p:spPr bwMode="auto">
            <a:xfrm>
              <a:off x="288" y="2505"/>
              <a:ext cx="18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导体是等势体</a:t>
              </a:r>
            </a:p>
          </p:txBody>
        </p:sp>
        <p:graphicFrame>
          <p:nvGraphicFramePr>
            <p:cNvPr id="149546" name="Object 42"/>
            <p:cNvGraphicFramePr>
              <a:graphicFrameLocks noChangeAspect="1"/>
            </p:cNvGraphicFramePr>
            <p:nvPr/>
          </p:nvGraphicFramePr>
          <p:xfrm>
            <a:off x="960" y="2928"/>
            <a:ext cx="2148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33" name="Equation" r:id="rId13" imgW="1244520" imgH="291960" progId="Equation.3">
                    <p:embed/>
                  </p:oleObj>
                </mc:Choice>
                <mc:Fallback>
                  <p:oleObj name="Equation" r:id="rId13" imgW="1244520" imgH="29196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928"/>
                          <a:ext cx="2148" cy="5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autoUpdateAnimBg="0"/>
      <p:bldP spid="149508" grpId="0" autoUpdateAnimBg="0"/>
      <p:bldP spid="14952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1066800" y="6096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 屏蔽外电场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1295400"/>
            <a:ext cx="7772400" cy="3276600"/>
            <a:chOff x="480" y="1152"/>
            <a:chExt cx="4896" cy="2064"/>
          </a:xfrm>
        </p:grpSpPr>
        <p:sp>
          <p:nvSpPr>
            <p:cNvPr id="155653" name="Rectangle 5"/>
            <p:cNvSpPr>
              <a:spLocks noChangeArrowheads="1"/>
            </p:cNvSpPr>
            <p:nvPr/>
          </p:nvSpPr>
          <p:spPr bwMode="auto">
            <a:xfrm>
              <a:off x="480" y="1152"/>
              <a:ext cx="4896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672" y="1248"/>
              <a:ext cx="2208" cy="1911"/>
              <a:chOff x="672" y="1248"/>
              <a:chExt cx="2208" cy="1911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672" y="1296"/>
                <a:ext cx="1920" cy="1518"/>
                <a:chOff x="672" y="1428"/>
                <a:chExt cx="1920" cy="1518"/>
              </a:xfrm>
            </p:grpSpPr>
            <p:sp>
              <p:nvSpPr>
                <p:cNvPr id="155656" name="Line 8"/>
                <p:cNvSpPr>
                  <a:spLocks noChangeShapeType="1"/>
                </p:cNvSpPr>
                <p:nvPr/>
              </p:nvSpPr>
              <p:spPr bwMode="auto">
                <a:xfrm>
                  <a:off x="672" y="1428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7" name="Line 9"/>
                <p:cNvSpPr>
                  <a:spLocks noChangeShapeType="1"/>
                </p:cNvSpPr>
                <p:nvPr/>
              </p:nvSpPr>
              <p:spPr bwMode="auto">
                <a:xfrm>
                  <a:off x="672" y="1555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8" name="Line 10"/>
                <p:cNvSpPr>
                  <a:spLocks noChangeShapeType="1"/>
                </p:cNvSpPr>
                <p:nvPr/>
              </p:nvSpPr>
              <p:spPr bwMode="auto">
                <a:xfrm>
                  <a:off x="672" y="1681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9" name="Line 11"/>
                <p:cNvSpPr>
                  <a:spLocks noChangeShapeType="1"/>
                </p:cNvSpPr>
                <p:nvPr/>
              </p:nvSpPr>
              <p:spPr bwMode="auto">
                <a:xfrm>
                  <a:off x="672" y="1808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0" name="Line 12"/>
                <p:cNvSpPr>
                  <a:spLocks noChangeShapeType="1"/>
                </p:cNvSpPr>
                <p:nvPr/>
              </p:nvSpPr>
              <p:spPr bwMode="auto">
                <a:xfrm>
                  <a:off x="672" y="1934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1" name="Line 13"/>
                <p:cNvSpPr>
                  <a:spLocks noChangeShapeType="1"/>
                </p:cNvSpPr>
                <p:nvPr/>
              </p:nvSpPr>
              <p:spPr bwMode="auto">
                <a:xfrm>
                  <a:off x="672" y="2061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2" name="Line 14"/>
                <p:cNvSpPr>
                  <a:spLocks noChangeShapeType="1"/>
                </p:cNvSpPr>
                <p:nvPr/>
              </p:nvSpPr>
              <p:spPr bwMode="auto">
                <a:xfrm>
                  <a:off x="672" y="2187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3" name="Line 15"/>
                <p:cNvSpPr>
                  <a:spLocks noChangeShapeType="1"/>
                </p:cNvSpPr>
                <p:nvPr/>
              </p:nvSpPr>
              <p:spPr bwMode="auto">
                <a:xfrm>
                  <a:off x="672" y="2313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4" name="Line 16"/>
                <p:cNvSpPr>
                  <a:spLocks noChangeShapeType="1"/>
                </p:cNvSpPr>
                <p:nvPr/>
              </p:nvSpPr>
              <p:spPr bwMode="auto">
                <a:xfrm>
                  <a:off x="672" y="2440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5" name="Line 17"/>
                <p:cNvSpPr>
                  <a:spLocks noChangeShapeType="1"/>
                </p:cNvSpPr>
                <p:nvPr/>
              </p:nvSpPr>
              <p:spPr bwMode="auto">
                <a:xfrm>
                  <a:off x="672" y="2566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6" name="Line 18"/>
                <p:cNvSpPr>
                  <a:spLocks noChangeShapeType="1"/>
                </p:cNvSpPr>
                <p:nvPr/>
              </p:nvSpPr>
              <p:spPr bwMode="auto">
                <a:xfrm>
                  <a:off x="672" y="2693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7" name="Line 19"/>
                <p:cNvSpPr>
                  <a:spLocks noChangeShapeType="1"/>
                </p:cNvSpPr>
                <p:nvPr/>
              </p:nvSpPr>
              <p:spPr bwMode="auto">
                <a:xfrm>
                  <a:off x="672" y="2819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8" name="Line 20"/>
                <p:cNvSpPr>
                  <a:spLocks noChangeShapeType="1"/>
                </p:cNvSpPr>
                <p:nvPr/>
              </p:nvSpPr>
              <p:spPr bwMode="auto">
                <a:xfrm>
                  <a:off x="672" y="2946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aphicFrame>
            <p:nvGraphicFramePr>
              <p:cNvPr id="155669" name="Object 21"/>
              <p:cNvGraphicFramePr>
                <a:graphicFrameLocks noChangeAspect="1"/>
              </p:cNvGraphicFramePr>
              <p:nvPr/>
            </p:nvGraphicFramePr>
            <p:xfrm>
              <a:off x="2573" y="1248"/>
              <a:ext cx="30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0932" name="Equation" r:id="rId3" imgW="215640" imgH="266400" progId="Equation.3">
                      <p:embed/>
                    </p:oleObj>
                  </mc:Choice>
                  <mc:Fallback>
                    <p:oleObj name="Equation" r:id="rId3" imgW="215640" imgH="2664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3" y="1248"/>
                            <a:ext cx="307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670" name="Text Box 22"/>
              <p:cNvSpPr txBox="1">
                <a:spLocks noChangeArrowheads="1"/>
              </p:cNvSpPr>
              <p:nvPr/>
            </p:nvSpPr>
            <p:spPr bwMode="auto">
              <a:xfrm>
                <a:off x="1104" y="2832"/>
                <a:ext cx="960" cy="32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1C1C1C"/>
                    </a:solidFill>
                    <a:latin typeface="宋体" charset="-122"/>
                  </a:rPr>
                  <a:t>外电场</a:t>
                </a:r>
              </a:p>
            </p:txBody>
          </p:sp>
        </p:grpSp>
      </p:grpSp>
      <p:sp>
        <p:nvSpPr>
          <p:cNvPr id="155671" name="Rectangle 23"/>
          <p:cNvSpPr>
            <a:spLocks noChangeArrowheads="1"/>
          </p:cNvSpPr>
          <p:nvPr/>
        </p:nvSpPr>
        <p:spPr bwMode="auto">
          <a:xfrm>
            <a:off x="152400" y="4733925"/>
            <a:ext cx="8915400" cy="11271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    空腔导体可以屏蔽外电场, 使空腔内物体不受外电场影响.这时,整个空腔导体和腔内的电势也必处处相等.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495800" y="1371600"/>
            <a:ext cx="3886200" cy="3109913"/>
            <a:chOff x="2832" y="1200"/>
            <a:chExt cx="2448" cy="1959"/>
          </a:xfrm>
        </p:grpSpPr>
        <p:graphicFrame>
          <p:nvGraphicFramePr>
            <p:cNvPr id="155673" name="Object 25"/>
            <p:cNvGraphicFramePr>
              <a:graphicFrameLocks noChangeAspect="1"/>
            </p:cNvGraphicFramePr>
            <p:nvPr/>
          </p:nvGraphicFramePr>
          <p:xfrm>
            <a:off x="4944" y="1200"/>
            <a:ext cx="27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0933" name="Equation" r:id="rId5" imgW="215640" imgH="266400" progId="Equation.3">
                    <p:embed/>
                  </p:oleObj>
                </mc:Choice>
                <mc:Fallback>
                  <p:oleObj name="Equation" r:id="rId5" imgW="215640" imgH="2664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200"/>
                          <a:ext cx="27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74" name="Rectangle 26"/>
            <p:cNvSpPr>
              <a:spLocks noChangeArrowheads="1"/>
            </p:cNvSpPr>
            <p:nvPr/>
          </p:nvSpPr>
          <p:spPr bwMode="auto">
            <a:xfrm>
              <a:off x="2832" y="2832"/>
              <a:ext cx="24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chemeClr val="tx1"/>
                  </a:solidFill>
                </a:rPr>
                <a:t>空腔导体屏蔽外电场</a:t>
              </a:r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3317" y="1680"/>
              <a:ext cx="1147" cy="765"/>
              <a:chOff x="3317" y="1827"/>
              <a:chExt cx="1147" cy="765"/>
            </a:xfrm>
          </p:grpSpPr>
          <p:sp>
            <p:nvSpPr>
              <p:cNvPr id="155676" name="AutoShape 28"/>
              <p:cNvSpPr>
                <a:spLocks noChangeArrowheads="1"/>
              </p:cNvSpPr>
              <p:nvPr/>
            </p:nvSpPr>
            <p:spPr bwMode="auto">
              <a:xfrm rot="-2459627">
                <a:off x="3317" y="1957"/>
                <a:ext cx="1147" cy="587"/>
              </a:xfrm>
              <a:custGeom>
                <a:avLst/>
                <a:gdLst>
                  <a:gd name="G0" fmla="+- 4716 0 0"/>
                  <a:gd name="G1" fmla="+- 21600 0 4716"/>
                  <a:gd name="G2" fmla="+- 21600 0 4716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716" y="10800"/>
                    </a:moveTo>
                    <a:cubicBezTo>
                      <a:pt x="4716" y="14160"/>
                      <a:pt x="7440" y="16884"/>
                      <a:pt x="10800" y="16884"/>
                    </a:cubicBezTo>
                    <a:cubicBezTo>
                      <a:pt x="14160" y="16884"/>
                      <a:pt x="16884" y="14160"/>
                      <a:pt x="16884" y="10800"/>
                    </a:cubicBezTo>
                    <a:cubicBezTo>
                      <a:pt x="16884" y="7440"/>
                      <a:pt x="14160" y="4716"/>
                      <a:pt x="10800" y="4716"/>
                    </a:cubicBezTo>
                    <a:cubicBezTo>
                      <a:pt x="7440" y="4716"/>
                      <a:pt x="4716" y="7440"/>
                      <a:pt x="4716" y="1080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tx1"/>
                  </a:gs>
                  <a:gs pos="50000">
                    <a:srgbClr val="DDDDDD"/>
                  </a:gs>
                  <a:gs pos="100000">
                    <a:schemeClr val="tx1"/>
                  </a:gs>
                </a:gsLst>
                <a:lin ang="2700000" scaled="1"/>
              </a:gradFill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5677" name="Line 29"/>
              <p:cNvSpPr>
                <a:spLocks noChangeShapeType="1"/>
              </p:cNvSpPr>
              <p:nvPr/>
            </p:nvSpPr>
            <p:spPr bwMode="auto">
              <a:xfrm>
                <a:off x="3696" y="2064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78" name="Line 30"/>
              <p:cNvSpPr>
                <a:spLocks noChangeShapeType="1"/>
              </p:cNvSpPr>
              <p:nvPr/>
            </p:nvSpPr>
            <p:spPr bwMode="auto">
              <a:xfrm>
                <a:off x="3843" y="1968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79" name="Line 31"/>
              <p:cNvSpPr>
                <a:spLocks noChangeShapeType="1"/>
              </p:cNvSpPr>
              <p:nvPr/>
            </p:nvSpPr>
            <p:spPr bwMode="auto">
              <a:xfrm>
                <a:off x="3600" y="2160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0" name="Line 32"/>
              <p:cNvSpPr>
                <a:spLocks noChangeShapeType="1"/>
              </p:cNvSpPr>
              <p:nvPr/>
            </p:nvSpPr>
            <p:spPr bwMode="auto">
              <a:xfrm>
                <a:off x="3504" y="2256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1" name="Line 33"/>
              <p:cNvSpPr>
                <a:spLocks noChangeShapeType="1"/>
              </p:cNvSpPr>
              <p:nvPr/>
            </p:nvSpPr>
            <p:spPr bwMode="auto">
              <a:xfrm>
                <a:off x="3456" y="2352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2" name="Line 34"/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3" name="Line 35"/>
              <p:cNvSpPr>
                <a:spLocks noChangeShapeType="1"/>
              </p:cNvSpPr>
              <p:nvPr/>
            </p:nvSpPr>
            <p:spPr bwMode="auto">
              <a:xfrm>
                <a:off x="3408" y="2544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pSp>
            <p:nvGrpSpPr>
              <p:cNvPr id="7" name="Group 36"/>
              <p:cNvGrpSpPr>
                <a:grpSpLocks/>
              </p:cNvGrpSpPr>
              <p:nvPr/>
            </p:nvGrpSpPr>
            <p:grpSpPr bwMode="auto">
              <a:xfrm>
                <a:off x="4086" y="1827"/>
                <a:ext cx="93" cy="93"/>
                <a:chOff x="2688" y="2544"/>
                <a:chExt cx="96" cy="96"/>
              </a:xfrm>
            </p:grpSpPr>
            <p:sp>
              <p:nvSpPr>
                <p:cNvPr id="155685" name="Line 37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86" name="Line 38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8" name="Group 39"/>
              <p:cNvGrpSpPr>
                <a:grpSpLocks/>
              </p:cNvGrpSpPr>
              <p:nvPr/>
            </p:nvGrpSpPr>
            <p:grpSpPr bwMode="auto">
              <a:xfrm>
                <a:off x="4224" y="1923"/>
                <a:ext cx="93" cy="93"/>
                <a:chOff x="2688" y="2544"/>
                <a:chExt cx="96" cy="96"/>
              </a:xfrm>
            </p:grpSpPr>
            <p:sp>
              <p:nvSpPr>
                <p:cNvPr id="155688" name="Line 40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89" name="Line 41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9" name="Group 42"/>
              <p:cNvGrpSpPr>
                <a:grpSpLocks/>
              </p:cNvGrpSpPr>
              <p:nvPr/>
            </p:nvGrpSpPr>
            <p:grpSpPr bwMode="auto">
              <a:xfrm>
                <a:off x="4224" y="2067"/>
                <a:ext cx="93" cy="93"/>
                <a:chOff x="2688" y="2544"/>
                <a:chExt cx="96" cy="96"/>
              </a:xfrm>
            </p:grpSpPr>
            <p:sp>
              <p:nvSpPr>
                <p:cNvPr id="155691" name="Line 43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2" name="Line 44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0" name="Group 45"/>
              <p:cNvGrpSpPr>
                <a:grpSpLocks/>
              </p:cNvGrpSpPr>
              <p:nvPr/>
            </p:nvGrpSpPr>
            <p:grpSpPr bwMode="auto">
              <a:xfrm>
                <a:off x="4176" y="2211"/>
                <a:ext cx="93" cy="93"/>
                <a:chOff x="2688" y="2544"/>
                <a:chExt cx="96" cy="96"/>
              </a:xfrm>
            </p:grpSpPr>
            <p:sp>
              <p:nvSpPr>
                <p:cNvPr id="155694" name="Line 46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5" name="Line 47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48"/>
              <p:cNvGrpSpPr>
                <a:grpSpLocks/>
              </p:cNvGrpSpPr>
              <p:nvPr/>
            </p:nvGrpSpPr>
            <p:grpSpPr bwMode="auto">
              <a:xfrm>
                <a:off x="4032" y="2355"/>
                <a:ext cx="93" cy="93"/>
                <a:chOff x="2688" y="2544"/>
                <a:chExt cx="96" cy="96"/>
              </a:xfrm>
            </p:grpSpPr>
            <p:sp>
              <p:nvSpPr>
                <p:cNvPr id="155697" name="Line 49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8" name="Line 50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2" name="Group 51"/>
              <p:cNvGrpSpPr>
                <a:grpSpLocks/>
              </p:cNvGrpSpPr>
              <p:nvPr/>
            </p:nvGrpSpPr>
            <p:grpSpPr bwMode="auto">
              <a:xfrm>
                <a:off x="3888" y="2499"/>
                <a:ext cx="93" cy="93"/>
                <a:chOff x="2688" y="2544"/>
                <a:chExt cx="96" cy="96"/>
              </a:xfrm>
            </p:grpSpPr>
            <p:sp>
              <p:nvSpPr>
                <p:cNvPr id="155700" name="Line 52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701" name="Line 53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</p:grpSp>
        <p:grpSp>
          <p:nvGrpSpPr>
            <p:cNvPr id="13" name="Group 54"/>
            <p:cNvGrpSpPr>
              <a:grpSpLocks/>
            </p:cNvGrpSpPr>
            <p:nvPr/>
          </p:nvGrpSpPr>
          <p:grpSpPr bwMode="auto">
            <a:xfrm>
              <a:off x="2972" y="1296"/>
              <a:ext cx="1928" cy="1519"/>
              <a:chOff x="2972" y="1428"/>
              <a:chExt cx="1928" cy="1519"/>
            </a:xfrm>
          </p:grpSpPr>
          <p:sp>
            <p:nvSpPr>
              <p:cNvPr id="155703" name="Freeform 55"/>
              <p:cNvSpPr>
                <a:spLocks/>
              </p:cNvSpPr>
              <p:nvPr/>
            </p:nvSpPr>
            <p:spPr bwMode="auto">
              <a:xfrm>
                <a:off x="2976" y="1428"/>
                <a:ext cx="1920" cy="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48" y="12"/>
                  </a:cxn>
                  <a:cxn ang="0">
                    <a:pos x="792" y="36"/>
                  </a:cxn>
                  <a:cxn ang="0">
                    <a:pos x="948" y="44"/>
                  </a:cxn>
                  <a:cxn ang="0">
                    <a:pos x="1136" y="32"/>
                  </a:cxn>
                  <a:cxn ang="0">
                    <a:pos x="1360" y="12"/>
                  </a:cxn>
                  <a:cxn ang="0">
                    <a:pos x="1920" y="1"/>
                  </a:cxn>
                </a:cxnLst>
                <a:rect l="0" t="0" r="r" b="b"/>
                <a:pathLst>
                  <a:path w="1920" h="44">
                    <a:moveTo>
                      <a:pt x="0" y="0"/>
                    </a:moveTo>
                    <a:lnTo>
                      <a:pt x="548" y="12"/>
                    </a:lnTo>
                    <a:lnTo>
                      <a:pt x="792" y="36"/>
                    </a:lnTo>
                    <a:lnTo>
                      <a:pt x="948" y="44"/>
                    </a:lnTo>
                    <a:lnTo>
                      <a:pt x="1136" y="32"/>
                    </a:lnTo>
                    <a:lnTo>
                      <a:pt x="1360" y="12"/>
                    </a:lnTo>
                    <a:lnTo>
                      <a:pt x="1920" y="1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4" name="Freeform 56"/>
              <p:cNvSpPr>
                <a:spLocks/>
              </p:cNvSpPr>
              <p:nvPr/>
            </p:nvSpPr>
            <p:spPr bwMode="auto">
              <a:xfrm>
                <a:off x="2976" y="1548"/>
                <a:ext cx="1924" cy="16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360" y="36"/>
                  </a:cxn>
                  <a:cxn ang="0">
                    <a:pos x="532" y="52"/>
                  </a:cxn>
                  <a:cxn ang="0">
                    <a:pos x="696" y="84"/>
                  </a:cxn>
                  <a:cxn ang="0">
                    <a:pos x="824" y="124"/>
                  </a:cxn>
                  <a:cxn ang="0">
                    <a:pos x="912" y="160"/>
                  </a:cxn>
                  <a:cxn ang="0">
                    <a:pos x="996" y="160"/>
                  </a:cxn>
                  <a:cxn ang="0">
                    <a:pos x="1076" y="140"/>
                  </a:cxn>
                  <a:cxn ang="0">
                    <a:pos x="1220" y="92"/>
                  </a:cxn>
                  <a:cxn ang="0">
                    <a:pos x="1384" y="60"/>
                  </a:cxn>
                  <a:cxn ang="0">
                    <a:pos x="1556" y="32"/>
                  </a:cxn>
                  <a:cxn ang="0">
                    <a:pos x="1924" y="0"/>
                  </a:cxn>
                </a:cxnLst>
                <a:rect l="0" t="0" r="r" b="b"/>
                <a:pathLst>
                  <a:path w="1924" h="160">
                    <a:moveTo>
                      <a:pt x="0" y="6"/>
                    </a:moveTo>
                    <a:lnTo>
                      <a:pt x="360" y="36"/>
                    </a:lnTo>
                    <a:lnTo>
                      <a:pt x="532" y="52"/>
                    </a:lnTo>
                    <a:lnTo>
                      <a:pt x="696" y="84"/>
                    </a:lnTo>
                    <a:lnTo>
                      <a:pt x="824" y="124"/>
                    </a:lnTo>
                    <a:lnTo>
                      <a:pt x="912" y="160"/>
                    </a:lnTo>
                    <a:lnTo>
                      <a:pt x="996" y="160"/>
                    </a:lnTo>
                    <a:lnTo>
                      <a:pt x="1076" y="140"/>
                    </a:lnTo>
                    <a:lnTo>
                      <a:pt x="1220" y="92"/>
                    </a:lnTo>
                    <a:lnTo>
                      <a:pt x="1384" y="60"/>
                    </a:lnTo>
                    <a:lnTo>
                      <a:pt x="1556" y="32"/>
                    </a:lnTo>
                    <a:lnTo>
                      <a:pt x="1924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5" name="Freeform 57"/>
              <p:cNvSpPr>
                <a:spLocks/>
              </p:cNvSpPr>
              <p:nvPr/>
            </p:nvSpPr>
            <p:spPr bwMode="auto">
              <a:xfrm>
                <a:off x="2976" y="1681"/>
                <a:ext cx="876" cy="2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23"/>
                  </a:cxn>
                  <a:cxn ang="0">
                    <a:pos x="416" y="43"/>
                  </a:cxn>
                  <a:cxn ang="0">
                    <a:pos x="596" y="83"/>
                  </a:cxn>
                  <a:cxn ang="0">
                    <a:pos x="744" y="131"/>
                  </a:cxn>
                  <a:cxn ang="0">
                    <a:pos x="816" y="171"/>
                  </a:cxn>
                  <a:cxn ang="0">
                    <a:pos x="876" y="239"/>
                  </a:cxn>
                </a:cxnLst>
                <a:rect l="0" t="0" r="r" b="b"/>
                <a:pathLst>
                  <a:path w="876" h="239">
                    <a:moveTo>
                      <a:pt x="0" y="0"/>
                    </a:moveTo>
                    <a:lnTo>
                      <a:pt x="240" y="23"/>
                    </a:lnTo>
                    <a:lnTo>
                      <a:pt x="416" y="43"/>
                    </a:lnTo>
                    <a:lnTo>
                      <a:pt x="596" y="83"/>
                    </a:lnTo>
                    <a:lnTo>
                      <a:pt x="744" y="131"/>
                    </a:lnTo>
                    <a:lnTo>
                      <a:pt x="816" y="171"/>
                    </a:lnTo>
                    <a:lnTo>
                      <a:pt x="876" y="239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6" name="Freeform 58"/>
              <p:cNvSpPr>
                <a:spLocks/>
              </p:cNvSpPr>
              <p:nvPr/>
            </p:nvSpPr>
            <p:spPr bwMode="auto">
              <a:xfrm>
                <a:off x="2976" y="1808"/>
                <a:ext cx="764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4" y="40"/>
                  </a:cxn>
                  <a:cxn ang="0">
                    <a:pos x="468" y="60"/>
                  </a:cxn>
                  <a:cxn ang="0">
                    <a:pos x="564" y="88"/>
                  </a:cxn>
                  <a:cxn ang="0">
                    <a:pos x="764" y="176"/>
                  </a:cxn>
                </a:cxnLst>
                <a:rect l="0" t="0" r="r" b="b"/>
                <a:pathLst>
                  <a:path w="764" h="176">
                    <a:moveTo>
                      <a:pt x="0" y="0"/>
                    </a:moveTo>
                    <a:lnTo>
                      <a:pt x="364" y="40"/>
                    </a:lnTo>
                    <a:lnTo>
                      <a:pt x="468" y="60"/>
                    </a:lnTo>
                    <a:lnTo>
                      <a:pt x="564" y="88"/>
                    </a:lnTo>
                    <a:lnTo>
                      <a:pt x="764" y="17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7" name="Freeform 59"/>
              <p:cNvSpPr>
                <a:spLocks/>
              </p:cNvSpPr>
              <p:nvPr/>
            </p:nvSpPr>
            <p:spPr bwMode="auto">
              <a:xfrm>
                <a:off x="2976" y="1934"/>
                <a:ext cx="684" cy="1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14"/>
                  </a:cxn>
                  <a:cxn ang="0">
                    <a:pos x="372" y="38"/>
                  </a:cxn>
                  <a:cxn ang="0">
                    <a:pos x="528" y="74"/>
                  </a:cxn>
                  <a:cxn ang="0">
                    <a:pos x="684" y="138"/>
                  </a:cxn>
                </a:cxnLst>
                <a:rect l="0" t="0" r="r" b="b"/>
                <a:pathLst>
                  <a:path w="684" h="138">
                    <a:moveTo>
                      <a:pt x="0" y="0"/>
                    </a:moveTo>
                    <a:lnTo>
                      <a:pt x="192" y="14"/>
                    </a:lnTo>
                    <a:lnTo>
                      <a:pt x="372" y="38"/>
                    </a:lnTo>
                    <a:lnTo>
                      <a:pt x="528" y="74"/>
                    </a:lnTo>
                    <a:lnTo>
                      <a:pt x="684" y="138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8" name="Freeform 60"/>
              <p:cNvSpPr>
                <a:spLocks/>
              </p:cNvSpPr>
              <p:nvPr/>
            </p:nvSpPr>
            <p:spPr bwMode="auto">
              <a:xfrm>
                <a:off x="2976" y="2060"/>
                <a:ext cx="612" cy="8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84" y="0"/>
                  </a:cxn>
                  <a:cxn ang="0">
                    <a:pos x="408" y="24"/>
                  </a:cxn>
                  <a:cxn ang="0">
                    <a:pos x="612" y="84"/>
                  </a:cxn>
                </a:cxnLst>
                <a:rect l="0" t="0" r="r" b="b"/>
                <a:pathLst>
                  <a:path w="612" h="84">
                    <a:moveTo>
                      <a:pt x="0" y="1"/>
                    </a:moveTo>
                    <a:lnTo>
                      <a:pt x="184" y="0"/>
                    </a:lnTo>
                    <a:lnTo>
                      <a:pt x="408" y="24"/>
                    </a:lnTo>
                    <a:lnTo>
                      <a:pt x="612" y="84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9" name="Freeform 61"/>
              <p:cNvSpPr>
                <a:spLocks/>
              </p:cNvSpPr>
              <p:nvPr/>
            </p:nvSpPr>
            <p:spPr bwMode="auto">
              <a:xfrm>
                <a:off x="2976" y="2184"/>
                <a:ext cx="544" cy="52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64" y="0"/>
                  </a:cxn>
                  <a:cxn ang="0">
                    <a:pos x="368" y="12"/>
                  </a:cxn>
                  <a:cxn ang="0">
                    <a:pos x="544" y="52"/>
                  </a:cxn>
                </a:cxnLst>
                <a:rect l="0" t="0" r="r" b="b"/>
                <a:pathLst>
                  <a:path w="544" h="52">
                    <a:moveTo>
                      <a:pt x="0" y="3"/>
                    </a:moveTo>
                    <a:lnTo>
                      <a:pt x="164" y="0"/>
                    </a:lnTo>
                    <a:lnTo>
                      <a:pt x="368" y="12"/>
                    </a:lnTo>
                    <a:lnTo>
                      <a:pt x="544" y="52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0" name="Freeform 62"/>
              <p:cNvSpPr>
                <a:spLocks/>
              </p:cNvSpPr>
              <p:nvPr/>
            </p:nvSpPr>
            <p:spPr bwMode="auto">
              <a:xfrm>
                <a:off x="2976" y="2304"/>
                <a:ext cx="480" cy="12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44" y="0"/>
                  </a:cxn>
                  <a:cxn ang="0">
                    <a:pos x="480" y="12"/>
                  </a:cxn>
                </a:cxnLst>
                <a:rect l="0" t="0" r="r" b="b"/>
                <a:pathLst>
                  <a:path w="480" h="12">
                    <a:moveTo>
                      <a:pt x="0" y="9"/>
                    </a:moveTo>
                    <a:lnTo>
                      <a:pt x="144" y="0"/>
                    </a:lnTo>
                    <a:lnTo>
                      <a:pt x="480" y="12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1" name="Freeform 63"/>
              <p:cNvSpPr>
                <a:spLocks/>
              </p:cNvSpPr>
              <p:nvPr/>
            </p:nvSpPr>
            <p:spPr bwMode="auto">
              <a:xfrm>
                <a:off x="2972" y="2684"/>
                <a:ext cx="1924" cy="136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172" y="124"/>
                  </a:cxn>
                  <a:cxn ang="0">
                    <a:pos x="360" y="112"/>
                  </a:cxn>
                  <a:cxn ang="0">
                    <a:pos x="580" y="88"/>
                  </a:cxn>
                  <a:cxn ang="0">
                    <a:pos x="752" y="52"/>
                  </a:cxn>
                  <a:cxn ang="0">
                    <a:pos x="880" y="24"/>
                  </a:cxn>
                  <a:cxn ang="0">
                    <a:pos x="956" y="0"/>
                  </a:cxn>
                  <a:cxn ang="0">
                    <a:pos x="1032" y="8"/>
                  </a:cxn>
                  <a:cxn ang="0">
                    <a:pos x="1124" y="44"/>
                  </a:cxn>
                  <a:cxn ang="0">
                    <a:pos x="1268" y="72"/>
                  </a:cxn>
                  <a:cxn ang="0">
                    <a:pos x="1532" y="100"/>
                  </a:cxn>
                  <a:cxn ang="0">
                    <a:pos x="1924" y="136"/>
                  </a:cxn>
                </a:cxnLst>
                <a:rect l="0" t="0" r="r" b="b"/>
                <a:pathLst>
                  <a:path w="1924" h="136">
                    <a:moveTo>
                      <a:pt x="0" y="128"/>
                    </a:moveTo>
                    <a:lnTo>
                      <a:pt x="172" y="124"/>
                    </a:lnTo>
                    <a:lnTo>
                      <a:pt x="360" y="112"/>
                    </a:lnTo>
                    <a:lnTo>
                      <a:pt x="580" y="88"/>
                    </a:lnTo>
                    <a:lnTo>
                      <a:pt x="752" y="52"/>
                    </a:lnTo>
                    <a:lnTo>
                      <a:pt x="880" y="24"/>
                    </a:lnTo>
                    <a:lnTo>
                      <a:pt x="956" y="0"/>
                    </a:lnTo>
                    <a:lnTo>
                      <a:pt x="1032" y="8"/>
                    </a:lnTo>
                    <a:lnTo>
                      <a:pt x="1124" y="44"/>
                    </a:lnTo>
                    <a:lnTo>
                      <a:pt x="1268" y="72"/>
                    </a:lnTo>
                    <a:lnTo>
                      <a:pt x="1532" y="100"/>
                    </a:lnTo>
                    <a:lnTo>
                      <a:pt x="1924" y="13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2" name="Freeform 64"/>
              <p:cNvSpPr>
                <a:spLocks/>
              </p:cNvSpPr>
              <p:nvPr/>
            </p:nvSpPr>
            <p:spPr bwMode="auto">
              <a:xfrm>
                <a:off x="2976" y="2888"/>
                <a:ext cx="1920" cy="59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592" y="28"/>
                  </a:cxn>
                  <a:cxn ang="0">
                    <a:pos x="844" y="12"/>
                  </a:cxn>
                  <a:cxn ang="0">
                    <a:pos x="964" y="0"/>
                  </a:cxn>
                  <a:cxn ang="0">
                    <a:pos x="1072" y="12"/>
                  </a:cxn>
                  <a:cxn ang="0">
                    <a:pos x="1208" y="24"/>
                  </a:cxn>
                  <a:cxn ang="0">
                    <a:pos x="1408" y="36"/>
                  </a:cxn>
                  <a:cxn ang="0">
                    <a:pos x="1920" y="59"/>
                  </a:cxn>
                </a:cxnLst>
                <a:rect l="0" t="0" r="r" b="b"/>
                <a:pathLst>
                  <a:path w="1920" h="59">
                    <a:moveTo>
                      <a:pt x="0" y="58"/>
                    </a:moveTo>
                    <a:lnTo>
                      <a:pt x="592" y="28"/>
                    </a:lnTo>
                    <a:lnTo>
                      <a:pt x="844" y="12"/>
                    </a:lnTo>
                    <a:lnTo>
                      <a:pt x="964" y="0"/>
                    </a:lnTo>
                    <a:lnTo>
                      <a:pt x="1072" y="12"/>
                    </a:lnTo>
                    <a:lnTo>
                      <a:pt x="1208" y="24"/>
                    </a:lnTo>
                    <a:lnTo>
                      <a:pt x="1408" y="36"/>
                    </a:lnTo>
                    <a:lnTo>
                      <a:pt x="1920" y="59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3" name="Freeform 65"/>
              <p:cNvSpPr>
                <a:spLocks/>
              </p:cNvSpPr>
              <p:nvPr/>
            </p:nvSpPr>
            <p:spPr bwMode="auto">
              <a:xfrm>
                <a:off x="4176" y="1664"/>
                <a:ext cx="720" cy="160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80" y="136"/>
                  </a:cxn>
                  <a:cxn ang="0">
                    <a:pos x="152" y="100"/>
                  </a:cxn>
                  <a:cxn ang="0">
                    <a:pos x="264" y="68"/>
                  </a:cxn>
                  <a:cxn ang="0">
                    <a:pos x="368" y="48"/>
                  </a:cxn>
                  <a:cxn ang="0">
                    <a:pos x="484" y="32"/>
                  </a:cxn>
                  <a:cxn ang="0">
                    <a:pos x="836" y="0"/>
                  </a:cxn>
                </a:cxnLst>
                <a:rect l="0" t="0" r="r" b="b"/>
                <a:pathLst>
                  <a:path w="836" h="192">
                    <a:moveTo>
                      <a:pt x="0" y="192"/>
                    </a:moveTo>
                    <a:lnTo>
                      <a:pt x="80" y="136"/>
                    </a:lnTo>
                    <a:lnTo>
                      <a:pt x="152" y="100"/>
                    </a:lnTo>
                    <a:lnTo>
                      <a:pt x="264" y="68"/>
                    </a:lnTo>
                    <a:lnTo>
                      <a:pt x="368" y="48"/>
                    </a:lnTo>
                    <a:lnTo>
                      <a:pt x="484" y="32"/>
                    </a:lnTo>
                    <a:lnTo>
                      <a:pt x="836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4" name="Freeform 66"/>
              <p:cNvSpPr>
                <a:spLocks/>
              </p:cNvSpPr>
              <p:nvPr/>
            </p:nvSpPr>
            <p:spPr bwMode="auto">
              <a:xfrm>
                <a:off x="4320" y="1784"/>
                <a:ext cx="572" cy="88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00" y="64"/>
                  </a:cxn>
                  <a:cxn ang="0">
                    <a:pos x="228" y="36"/>
                  </a:cxn>
                  <a:cxn ang="0">
                    <a:pos x="668" y="0"/>
                  </a:cxn>
                </a:cxnLst>
                <a:rect l="0" t="0" r="r" b="b"/>
                <a:pathLst>
                  <a:path w="668" h="100">
                    <a:moveTo>
                      <a:pt x="0" y="100"/>
                    </a:moveTo>
                    <a:lnTo>
                      <a:pt x="100" y="64"/>
                    </a:lnTo>
                    <a:lnTo>
                      <a:pt x="228" y="36"/>
                    </a:lnTo>
                    <a:lnTo>
                      <a:pt x="668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5" name="Freeform 67"/>
              <p:cNvSpPr>
                <a:spLocks/>
              </p:cNvSpPr>
              <p:nvPr/>
            </p:nvSpPr>
            <p:spPr bwMode="auto">
              <a:xfrm>
                <a:off x="4368" y="1904"/>
                <a:ext cx="528" cy="64"/>
              </a:xfrm>
              <a:custGeom>
                <a:avLst/>
                <a:gdLst/>
                <a:ahLst/>
                <a:cxnLst>
                  <a:cxn ang="0">
                    <a:pos x="0" y="80"/>
                  </a:cxn>
                  <a:cxn ang="0">
                    <a:pos x="104" y="52"/>
                  </a:cxn>
                  <a:cxn ang="0">
                    <a:pos x="212" y="36"/>
                  </a:cxn>
                  <a:cxn ang="0">
                    <a:pos x="604" y="0"/>
                  </a:cxn>
                </a:cxnLst>
                <a:rect l="0" t="0" r="r" b="b"/>
                <a:pathLst>
                  <a:path w="604" h="80">
                    <a:moveTo>
                      <a:pt x="0" y="80"/>
                    </a:moveTo>
                    <a:lnTo>
                      <a:pt x="104" y="52"/>
                    </a:lnTo>
                    <a:lnTo>
                      <a:pt x="212" y="36"/>
                    </a:lnTo>
                    <a:lnTo>
                      <a:pt x="604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6" name="Freeform 68"/>
              <p:cNvSpPr>
                <a:spLocks/>
              </p:cNvSpPr>
              <p:nvPr/>
            </p:nvSpPr>
            <p:spPr bwMode="auto">
              <a:xfrm>
                <a:off x="4368" y="2028"/>
                <a:ext cx="524" cy="47"/>
              </a:xfrm>
              <a:custGeom>
                <a:avLst/>
                <a:gdLst/>
                <a:ahLst/>
                <a:cxnLst>
                  <a:cxn ang="0">
                    <a:pos x="0" y="72"/>
                  </a:cxn>
                  <a:cxn ang="0">
                    <a:pos x="256" y="32"/>
                  </a:cxn>
                  <a:cxn ang="0">
                    <a:pos x="620" y="0"/>
                  </a:cxn>
                </a:cxnLst>
                <a:rect l="0" t="0" r="r" b="b"/>
                <a:pathLst>
                  <a:path w="620" h="72">
                    <a:moveTo>
                      <a:pt x="0" y="72"/>
                    </a:moveTo>
                    <a:lnTo>
                      <a:pt x="256" y="32"/>
                    </a:lnTo>
                    <a:lnTo>
                      <a:pt x="620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7" name="Freeform 69"/>
              <p:cNvSpPr>
                <a:spLocks/>
              </p:cNvSpPr>
              <p:nvPr/>
            </p:nvSpPr>
            <p:spPr bwMode="auto">
              <a:xfrm>
                <a:off x="4332" y="2160"/>
                <a:ext cx="560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560" y="0"/>
                  </a:cxn>
                </a:cxnLst>
                <a:rect l="0" t="0" r="r" b="b"/>
                <a:pathLst>
                  <a:path w="560" h="20">
                    <a:moveTo>
                      <a:pt x="0" y="20"/>
                    </a:moveTo>
                    <a:lnTo>
                      <a:pt x="560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8" name="Freeform 70"/>
              <p:cNvSpPr>
                <a:spLocks/>
              </p:cNvSpPr>
              <p:nvPr/>
            </p:nvSpPr>
            <p:spPr bwMode="auto">
              <a:xfrm>
                <a:off x="4272" y="2256"/>
                <a:ext cx="624" cy="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6" y="16"/>
                  </a:cxn>
                  <a:cxn ang="0">
                    <a:pos x="284" y="28"/>
                  </a:cxn>
                  <a:cxn ang="0">
                    <a:pos x="428" y="32"/>
                  </a:cxn>
                  <a:cxn ang="0">
                    <a:pos x="712" y="36"/>
                  </a:cxn>
                </a:cxnLst>
                <a:rect l="0" t="0" r="r" b="b"/>
                <a:pathLst>
                  <a:path w="712" h="36">
                    <a:moveTo>
                      <a:pt x="0" y="0"/>
                    </a:moveTo>
                    <a:lnTo>
                      <a:pt x="136" y="16"/>
                    </a:lnTo>
                    <a:lnTo>
                      <a:pt x="284" y="28"/>
                    </a:lnTo>
                    <a:lnTo>
                      <a:pt x="428" y="32"/>
                    </a:lnTo>
                    <a:lnTo>
                      <a:pt x="712" y="3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9" name="Freeform 71"/>
              <p:cNvSpPr>
                <a:spLocks/>
              </p:cNvSpPr>
              <p:nvPr/>
            </p:nvSpPr>
            <p:spPr bwMode="auto">
              <a:xfrm>
                <a:off x="4208" y="2348"/>
                <a:ext cx="684" cy="1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2" y="30"/>
                  </a:cxn>
                  <a:cxn ang="0">
                    <a:pos x="282" y="54"/>
                  </a:cxn>
                  <a:cxn ang="0">
                    <a:pos x="460" y="77"/>
                  </a:cxn>
                  <a:cxn ang="0">
                    <a:pos x="684" y="100"/>
                  </a:cxn>
                </a:cxnLst>
                <a:rect l="0" t="0" r="r" b="b"/>
                <a:pathLst>
                  <a:path w="684" h="100">
                    <a:moveTo>
                      <a:pt x="0" y="0"/>
                    </a:moveTo>
                    <a:lnTo>
                      <a:pt x="142" y="30"/>
                    </a:lnTo>
                    <a:lnTo>
                      <a:pt x="282" y="54"/>
                    </a:lnTo>
                    <a:lnTo>
                      <a:pt x="460" y="77"/>
                    </a:lnTo>
                    <a:lnTo>
                      <a:pt x="684" y="10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0" name="Freeform 72"/>
              <p:cNvSpPr>
                <a:spLocks/>
              </p:cNvSpPr>
              <p:nvPr/>
            </p:nvSpPr>
            <p:spPr bwMode="auto">
              <a:xfrm>
                <a:off x="4132" y="2432"/>
                <a:ext cx="764" cy="1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0" y="28"/>
                  </a:cxn>
                  <a:cxn ang="0">
                    <a:pos x="240" y="60"/>
                  </a:cxn>
                  <a:cxn ang="0">
                    <a:pos x="420" y="84"/>
                  </a:cxn>
                  <a:cxn ang="0">
                    <a:pos x="764" y="124"/>
                  </a:cxn>
                </a:cxnLst>
                <a:rect l="0" t="0" r="r" b="b"/>
                <a:pathLst>
                  <a:path w="764" h="124">
                    <a:moveTo>
                      <a:pt x="0" y="0"/>
                    </a:moveTo>
                    <a:lnTo>
                      <a:pt x="80" y="28"/>
                    </a:lnTo>
                    <a:lnTo>
                      <a:pt x="240" y="60"/>
                    </a:lnTo>
                    <a:lnTo>
                      <a:pt x="420" y="84"/>
                    </a:lnTo>
                    <a:lnTo>
                      <a:pt x="764" y="124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1" name="Freeform 73"/>
              <p:cNvSpPr>
                <a:spLocks/>
              </p:cNvSpPr>
              <p:nvPr/>
            </p:nvSpPr>
            <p:spPr bwMode="auto">
              <a:xfrm>
                <a:off x="4056" y="2512"/>
                <a:ext cx="836" cy="1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8" y="32"/>
                  </a:cxn>
                  <a:cxn ang="0">
                    <a:pos x="164" y="68"/>
                  </a:cxn>
                  <a:cxn ang="0">
                    <a:pos x="259" y="89"/>
                  </a:cxn>
                  <a:cxn ang="0">
                    <a:pos x="421" y="121"/>
                  </a:cxn>
                  <a:cxn ang="0">
                    <a:pos x="580" y="145"/>
                  </a:cxn>
                  <a:cxn ang="0">
                    <a:pos x="836" y="180"/>
                  </a:cxn>
                </a:cxnLst>
                <a:rect l="0" t="0" r="r" b="b"/>
                <a:pathLst>
                  <a:path w="836" h="180">
                    <a:moveTo>
                      <a:pt x="0" y="0"/>
                    </a:moveTo>
                    <a:lnTo>
                      <a:pt x="68" y="32"/>
                    </a:lnTo>
                    <a:lnTo>
                      <a:pt x="164" y="68"/>
                    </a:lnTo>
                    <a:lnTo>
                      <a:pt x="259" y="89"/>
                    </a:lnTo>
                    <a:lnTo>
                      <a:pt x="421" y="121"/>
                    </a:lnTo>
                    <a:lnTo>
                      <a:pt x="580" y="145"/>
                    </a:lnTo>
                    <a:lnTo>
                      <a:pt x="836" y="18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2" name="Freeform 74"/>
              <p:cNvSpPr>
                <a:spLocks/>
              </p:cNvSpPr>
              <p:nvPr/>
            </p:nvSpPr>
            <p:spPr bwMode="auto">
              <a:xfrm>
                <a:off x="2976" y="2641"/>
                <a:ext cx="481" cy="57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0" y="48"/>
                  </a:cxn>
                  <a:cxn ang="0">
                    <a:pos x="480" y="0"/>
                  </a:cxn>
                </a:cxnLst>
                <a:rect l="0" t="0" r="r" b="b"/>
                <a:pathLst>
                  <a:path w="480" h="56">
                    <a:moveTo>
                      <a:pt x="0" y="48"/>
                    </a:moveTo>
                    <a:cubicBezTo>
                      <a:pt x="80" y="52"/>
                      <a:pt x="160" y="56"/>
                      <a:pt x="240" y="48"/>
                    </a:cubicBezTo>
                    <a:cubicBezTo>
                      <a:pt x="320" y="40"/>
                      <a:pt x="400" y="20"/>
                      <a:pt x="480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3" name="Freeform 75"/>
              <p:cNvSpPr>
                <a:spLocks/>
              </p:cNvSpPr>
              <p:nvPr/>
            </p:nvSpPr>
            <p:spPr bwMode="auto">
              <a:xfrm>
                <a:off x="2976" y="2544"/>
                <a:ext cx="432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0" y="8"/>
                  </a:cxn>
                  <a:cxn ang="0">
                    <a:pos x="432" y="0"/>
                  </a:cxn>
                </a:cxnLst>
                <a:rect l="0" t="0" r="r" b="b"/>
                <a:pathLst>
                  <a:path w="432" h="8">
                    <a:moveTo>
                      <a:pt x="0" y="0"/>
                    </a:moveTo>
                    <a:cubicBezTo>
                      <a:pt x="33" y="1"/>
                      <a:pt x="128" y="8"/>
                      <a:pt x="200" y="8"/>
                    </a:cubicBezTo>
                    <a:cubicBezTo>
                      <a:pt x="272" y="8"/>
                      <a:pt x="384" y="2"/>
                      <a:pt x="432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4" name="Freeform 76"/>
              <p:cNvSpPr>
                <a:spLocks/>
              </p:cNvSpPr>
              <p:nvPr/>
            </p:nvSpPr>
            <p:spPr bwMode="auto">
              <a:xfrm>
                <a:off x="2980" y="2428"/>
                <a:ext cx="448" cy="1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28" y="12"/>
                  </a:cxn>
                  <a:cxn ang="0">
                    <a:pos x="256" y="8"/>
                  </a:cxn>
                  <a:cxn ang="0">
                    <a:pos x="448" y="0"/>
                  </a:cxn>
                </a:cxnLst>
                <a:rect l="0" t="0" r="r" b="b"/>
                <a:pathLst>
                  <a:path w="448" h="12">
                    <a:moveTo>
                      <a:pt x="0" y="8"/>
                    </a:moveTo>
                    <a:cubicBezTo>
                      <a:pt x="21" y="9"/>
                      <a:pt x="85" y="12"/>
                      <a:pt x="128" y="12"/>
                    </a:cubicBezTo>
                    <a:cubicBezTo>
                      <a:pt x="171" y="12"/>
                      <a:pt x="203" y="10"/>
                      <a:pt x="256" y="8"/>
                    </a:cubicBezTo>
                    <a:cubicBezTo>
                      <a:pt x="309" y="6"/>
                      <a:pt x="408" y="2"/>
                      <a:pt x="448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7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724400" y="533400"/>
            <a:ext cx="4114800" cy="3962400"/>
            <a:chOff x="2976" y="480"/>
            <a:chExt cx="2592" cy="2496"/>
          </a:xfrm>
        </p:grpSpPr>
        <p:sp>
          <p:nvSpPr>
            <p:cNvPr id="150531" name="Rectangle 3"/>
            <p:cNvSpPr>
              <a:spLocks noChangeArrowheads="1"/>
            </p:cNvSpPr>
            <p:nvPr/>
          </p:nvSpPr>
          <p:spPr bwMode="auto">
            <a:xfrm>
              <a:off x="2976" y="480"/>
              <a:ext cx="2592" cy="24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0532" name="AutoShape 4"/>
            <p:cNvSpPr>
              <a:spLocks noChangeArrowheads="1"/>
            </p:cNvSpPr>
            <p:nvPr/>
          </p:nvSpPr>
          <p:spPr bwMode="auto">
            <a:xfrm>
              <a:off x="3168" y="960"/>
              <a:ext cx="2304" cy="1872"/>
            </a:xfrm>
            <a:custGeom>
              <a:avLst/>
              <a:gdLst>
                <a:gd name="G0" fmla="+- 6141 0 0"/>
                <a:gd name="G1" fmla="+- 21600 0 6141"/>
                <a:gd name="G2" fmla="+- 21600 0 614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141" y="10800"/>
                  </a:moveTo>
                  <a:cubicBezTo>
                    <a:pt x="6141" y="13373"/>
                    <a:pt x="8227" y="15459"/>
                    <a:pt x="10800" y="15459"/>
                  </a:cubicBezTo>
                  <a:cubicBezTo>
                    <a:pt x="13373" y="15459"/>
                    <a:pt x="15459" y="13373"/>
                    <a:pt x="15459" y="10800"/>
                  </a:cubicBezTo>
                  <a:cubicBezTo>
                    <a:pt x="15459" y="8227"/>
                    <a:pt x="13373" y="6141"/>
                    <a:pt x="10800" y="6141"/>
                  </a:cubicBezTo>
                  <a:cubicBezTo>
                    <a:pt x="8227" y="6141"/>
                    <a:pt x="6141" y="8227"/>
                    <a:pt x="6141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272" y="1627"/>
              <a:ext cx="528" cy="389"/>
              <a:chOff x="4320" y="1723"/>
              <a:chExt cx="528" cy="389"/>
            </a:xfrm>
          </p:grpSpPr>
          <p:sp>
            <p:nvSpPr>
              <p:cNvPr id="150534" name="Oval 6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50535" name="Object 7"/>
              <p:cNvGraphicFramePr>
                <a:graphicFrameLocks noChangeAspect="1"/>
              </p:cNvGraphicFramePr>
              <p:nvPr/>
            </p:nvGraphicFramePr>
            <p:xfrm>
              <a:off x="4320" y="1723"/>
              <a:ext cx="528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3357" name="Equation" r:id="rId3" imgW="241200" imgH="177480" progId="Equation.3">
                      <p:embed/>
                    </p:oleObj>
                  </mc:Choice>
                  <mc:Fallback>
                    <p:oleObj name="Equation" r:id="rId3" imgW="241200" imgH="17748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1723"/>
                            <a:ext cx="528" cy="3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436563" y="457200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5"/>
              </a:buBlip>
            </a:pPr>
            <a:r>
              <a:rPr lang="zh-CN" altLang="en-US" sz="2800">
                <a:solidFill>
                  <a:srgbClr val="1C1C1C"/>
                </a:solidFill>
              </a:rPr>
              <a:t>   空腔内有电荷</a:t>
            </a:r>
          </a:p>
        </p:txBody>
      </p:sp>
      <p:graphicFrame>
        <p:nvGraphicFramePr>
          <p:cNvPr id="150537" name="Object 9"/>
          <p:cNvGraphicFramePr>
            <a:graphicFrameLocks noChangeAspect="1"/>
          </p:cNvGraphicFramePr>
          <p:nvPr/>
        </p:nvGraphicFramePr>
        <p:xfrm>
          <a:off x="5943600" y="2895600"/>
          <a:ext cx="8382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58" name="Equation" r:id="rId6" imgW="241200" imgH="164880" progId="Equation.3">
                  <p:embed/>
                </p:oleObj>
              </mc:Choice>
              <mc:Fallback>
                <p:oleObj name="Equation" r:id="rId6" imgW="24120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895600"/>
                        <a:ext cx="8382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029200" y="1828800"/>
            <a:ext cx="2895600" cy="1905000"/>
            <a:chOff x="3216" y="1392"/>
            <a:chExt cx="1824" cy="1200"/>
          </a:xfrm>
        </p:grpSpPr>
        <p:sp>
          <p:nvSpPr>
            <p:cNvPr id="150539" name="Oval 11"/>
            <p:cNvSpPr>
              <a:spLocks noChangeArrowheads="1"/>
            </p:cNvSpPr>
            <p:nvPr/>
          </p:nvSpPr>
          <p:spPr bwMode="auto">
            <a:xfrm>
              <a:off x="3648" y="1392"/>
              <a:ext cx="1392" cy="1200"/>
            </a:xfrm>
            <a:prstGeom prst="ellipse">
              <a:avLst/>
            </a:prstGeom>
            <a:noFill/>
            <a:ln w="28575">
              <a:solidFill>
                <a:srgbClr val="CC00CC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0540" name="Object 12"/>
            <p:cNvGraphicFramePr>
              <a:graphicFrameLocks noChangeAspect="1"/>
            </p:cNvGraphicFramePr>
            <p:nvPr/>
          </p:nvGraphicFramePr>
          <p:xfrm>
            <a:off x="3216" y="1585"/>
            <a:ext cx="441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59" name="Equation" r:id="rId8" imgW="177480" imgH="215640" progId="Equation.3">
                    <p:embed/>
                  </p:oleObj>
                </mc:Choice>
                <mc:Fallback>
                  <p:oleObj name="Equation" r:id="rId8" imgW="17748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585"/>
                          <a:ext cx="441" cy="5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381000" y="1066800"/>
          <a:ext cx="401637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60" name="Equation" r:id="rId10" imgW="1434960" imgH="317160" progId="Equation.3">
                  <p:embed/>
                </p:oleObj>
              </mc:Choice>
              <mc:Fallback>
                <p:oleObj name="Equation" r:id="rId10" imgW="1434960" imgH="3171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4016375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1274763" y="3886200"/>
          <a:ext cx="19050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61" name="Equation" r:id="rId12" imgW="533160" imgH="241200" progId="Equation.3">
                  <p:embed/>
                </p:oleObj>
              </mc:Choice>
              <mc:Fallback>
                <p:oleObj name="Equation" r:id="rId12" imgW="53316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3886200"/>
                        <a:ext cx="1905000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Object 15"/>
          <p:cNvGraphicFramePr>
            <a:graphicFrameLocks noChangeAspect="1"/>
          </p:cNvGraphicFramePr>
          <p:nvPr/>
        </p:nvGraphicFramePr>
        <p:xfrm>
          <a:off x="7010400" y="885825"/>
          <a:ext cx="1295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62" name="Equation" r:id="rId14" imgW="368280" imgH="203040" progId="Equation.3">
                  <p:embed/>
                </p:oleObj>
              </mc:Choice>
              <mc:Fallback>
                <p:oleObj name="Equation" r:id="rId14" imgW="36828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885825"/>
                        <a:ext cx="12954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646988" y="2514600"/>
            <a:ext cx="887412" cy="1381125"/>
            <a:chOff x="4865" y="1824"/>
            <a:chExt cx="559" cy="870"/>
          </a:xfrm>
        </p:grpSpPr>
        <p:sp>
          <p:nvSpPr>
            <p:cNvPr id="150545" name="Oval 17" descr="宽上对角线"/>
            <p:cNvSpPr>
              <a:spLocks noChangeArrowheads="1"/>
            </p:cNvSpPr>
            <p:nvPr/>
          </p:nvSpPr>
          <p:spPr bwMode="auto">
            <a:xfrm rot="1639960">
              <a:off x="5088" y="1824"/>
              <a:ext cx="336" cy="480"/>
            </a:xfrm>
            <a:prstGeom prst="ellipse">
              <a:avLst/>
            </a:prstGeom>
            <a:pattFill prst="wdUpDiag">
              <a:fgClr>
                <a:srgbClr val="0000FF"/>
              </a:fgClr>
              <a:bgClr>
                <a:srgbClr val="DDDDDD"/>
              </a:bgClr>
            </a:pattFill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0546" name="Object 18"/>
            <p:cNvGraphicFramePr>
              <a:graphicFrameLocks noChangeAspect="1"/>
            </p:cNvGraphicFramePr>
            <p:nvPr/>
          </p:nvGraphicFramePr>
          <p:xfrm>
            <a:off x="4865" y="2160"/>
            <a:ext cx="409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63" name="Equation" r:id="rId16" imgW="164880" imgH="215640" progId="Equation.3">
                    <p:embed/>
                  </p:oleObj>
                </mc:Choice>
                <mc:Fallback>
                  <p:oleObj name="Equation" r:id="rId16" imgW="164880" imgH="2156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" y="2160"/>
                          <a:ext cx="409" cy="5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47" name="Rectangle 19"/>
          <p:cNvSpPr>
            <a:spLocks noChangeArrowheads="1"/>
          </p:cNvSpPr>
          <p:nvPr/>
        </p:nvSpPr>
        <p:spPr bwMode="auto">
          <a:xfrm>
            <a:off x="838200" y="1981200"/>
            <a:ext cx="32766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电荷分布在表面上</a:t>
            </a:r>
          </a:p>
        </p:txBody>
      </p:sp>
      <p:sp>
        <p:nvSpPr>
          <p:cNvPr id="150548" name="Text Box 20"/>
          <p:cNvSpPr txBox="1">
            <a:spLocks noChangeArrowheads="1"/>
          </p:cNvSpPr>
          <p:nvPr/>
        </p:nvSpPr>
        <p:spPr bwMode="auto">
          <a:xfrm>
            <a:off x="381000" y="2590800"/>
            <a:ext cx="4267200" cy="523220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问</a:t>
            </a:r>
            <a:r>
              <a:rPr lang="zh-CN" altLang="en-US" sz="2800">
                <a:solidFill>
                  <a:srgbClr val="1C1C1C"/>
                </a:solidFill>
              </a:rPr>
              <a:t>  内表面上有电荷吗</a:t>
            </a:r>
            <a:r>
              <a:rPr lang="zh-CN" altLang="en-US" sz="2800">
                <a:solidFill>
                  <a:srgbClr val="CC0000"/>
                </a:solidFill>
              </a:rPr>
              <a:t>？</a:t>
            </a:r>
          </a:p>
        </p:txBody>
      </p:sp>
      <p:graphicFrame>
        <p:nvGraphicFramePr>
          <p:cNvPr id="150549" name="Object 21"/>
          <p:cNvGraphicFramePr>
            <a:graphicFrameLocks noChangeAspect="1"/>
          </p:cNvGraphicFramePr>
          <p:nvPr/>
        </p:nvGraphicFramePr>
        <p:xfrm>
          <a:off x="381000" y="3200400"/>
          <a:ext cx="40751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64" name="Equation" r:id="rId18" imgW="1434960" imgH="317160" progId="Equation.3">
                  <p:embed/>
                </p:oleObj>
              </mc:Choice>
              <mc:Fallback>
                <p:oleObj name="Equation" r:id="rId18" imgW="1434960" imgH="3171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00400"/>
                        <a:ext cx="4075113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28600" y="4648200"/>
            <a:ext cx="8763000" cy="1639888"/>
            <a:chOff x="96" y="3216"/>
            <a:chExt cx="5520" cy="1033"/>
          </a:xfrm>
        </p:grpSpPr>
        <p:sp>
          <p:nvSpPr>
            <p:cNvPr id="150551" name="Text Box 23"/>
            <p:cNvSpPr txBox="1">
              <a:spLocks noChangeArrowheads="1"/>
            </p:cNvSpPr>
            <p:nvPr/>
          </p:nvSpPr>
          <p:spPr bwMode="auto">
            <a:xfrm>
              <a:off x="96" y="3216"/>
              <a:ext cx="5520" cy="10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        结论  </a:t>
              </a:r>
              <a:r>
                <a:rPr lang="zh-CN" altLang="en-US" sz="2800">
                  <a:solidFill>
                    <a:schemeClr val="tx1"/>
                  </a:solidFill>
                </a:rPr>
                <a:t>当空腔内有电荷        时,   内表面因静电感应出现等值异号的电荷       </a:t>
              </a:r>
              <a:r>
                <a:rPr lang="zh-CN" altLang="en-US" sz="2800" i="1">
                  <a:solidFill>
                    <a:schemeClr val="tx1"/>
                  </a:solidFill>
                </a:rPr>
                <a:t>，</a:t>
              </a:r>
              <a:r>
                <a:rPr lang="zh-CN" altLang="en-US" sz="2800">
                  <a:solidFill>
                    <a:schemeClr val="tx1"/>
                  </a:solidFill>
                </a:rPr>
                <a:t>外表面增加感应电荷         .       （电荷守恒）</a:t>
              </a:r>
              <a:endParaRPr lang="zh-CN" altLang="en-US" sz="2800">
                <a:solidFill>
                  <a:schemeClr val="tx1"/>
                </a:solidFill>
                <a:latin typeface="Arial" charset="0"/>
              </a:endParaRPr>
            </a:p>
          </p:txBody>
        </p:sp>
        <p:graphicFrame>
          <p:nvGraphicFramePr>
            <p:cNvPr id="150552" name="Object 24"/>
            <p:cNvGraphicFramePr>
              <a:graphicFrameLocks noChangeAspect="1"/>
            </p:cNvGraphicFramePr>
            <p:nvPr/>
          </p:nvGraphicFramePr>
          <p:xfrm>
            <a:off x="4608" y="3600"/>
            <a:ext cx="38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65" name="Equation" r:id="rId20" imgW="241200" imgH="177480" progId="Equation.3">
                    <p:embed/>
                  </p:oleObj>
                </mc:Choice>
                <mc:Fallback>
                  <p:oleObj name="Equation" r:id="rId20" imgW="241200" imgH="1774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00"/>
                          <a:ext cx="384" cy="3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3" name="Object 25"/>
            <p:cNvGraphicFramePr>
              <a:graphicFrameLocks noChangeAspect="1"/>
            </p:cNvGraphicFramePr>
            <p:nvPr/>
          </p:nvGraphicFramePr>
          <p:xfrm>
            <a:off x="2736" y="3295"/>
            <a:ext cx="38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66" name="Equation" r:id="rId22" imgW="241200" imgH="177480" progId="Equation.3">
                    <p:embed/>
                  </p:oleObj>
                </mc:Choice>
                <mc:Fallback>
                  <p:oleObj name="Equation" r:id="rId22" imgW="241200" imgH="177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295"/>
                          <a:ext cx="384" cy="3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4" name="Object 26"/>
            <p:cNvGraphicFramePr>
              <a:graphicFrameLocks noChangeAspect="1"/>
            </p:cNvGraphicFramePr>
            <p:nvPr/>
          </p:nvGraphicFramePr>
          <p:xfrm>
            <a:off x="1920" y="3608"/>
            <a:ext cx="38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367" name="Equation" r:id="rId24" imgW="241200" imgH="164880" progId="Equation.3">
                    <p:embed/>
                  </p:oleObj>
                </mc:Choice>
                <mc:Fallback>
                  <p:oleObj name="Equation" r:id="rId24" imgW="241200" imgH="16488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08"/>
                          <a:ext cx="384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47" grpId="0" animBg="1" autoUpdateAnimBg="0"/>
      <p:bldP spid="15054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733800" y="609600"/>
            <a:ext cx="5181600" cy="5562600"/>
            <a:chOff x="2352" y="528"/>
            <a:chExt cx="3264" cy="3504"/>
          </a:xfrm>
        </p:grpSpPr>
        <p:sp>
          <p:nvSpPr>
            <p:cNvPr id="156675" name="Rectangle 3"/>
            <p:cNvSpPr>
              <a:spLocks noChangeArrowheads="1"/>
            </p:cNvSpPr>
            <p:nvPr/>
          </p:nvSpPr>
          <p:spPr bwMode="auto">
            <a:xfrm>
              <a:off x="2352" y="528"/>
              <a:ext cx="3264" cy="3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76" name="AutoShape 4"/>
            <p:cNvSpPr>
              <a:spLocks noChangeArrowheads="1"/>
            </p:cNvSpPr>
            <p:nvPr/>
          </p:nvSpPr>
          <p:spPr bwMode="auto">
            <a:xfrm>
              <a:off x="2736" y="1200"/>
              <a:ext cx="2304" cy="2208"/>
            </a:xfrm>
            <a:custGeom>
              <a:avLst/>
              <a:gdLst>
                <a:gd name="G0" fmla="+- 4669 0 0"/>
                <a:gd name="G1" fmla="+- 21600 0 4669"/>
                <a:gd name="G2" fmla="+- 21600 0 4669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669" y="10800"/>
                  </a:moveTo>
                  <a:cubicBezTo>
                    <a:pt x="4669" y="14186"/>
                    <a:pt x="7414" y="16931"/>
                    <a:pt x="10800" y="16931"/>
                  </a:cubicBezTo>
                  <a:cubicBezTo>
                    <a:pt x="14186" y="16931"/>
                    <a:pt x="16931" y="14186"/>
                    <a:pt x="16931" y="10800"/>
                  </a:cubicBezTo>
                  <a:cubicBezTo>
                    <a:pt x="16931" y="7414"/>
                    <a:pt x="14186" y="4669"/>
                    <a:pt x="10800" y="4669"/>
                  </a:cubicBezTo>
                  <a:cubicBezTo>
                    <a:pt x="7414" y="4669"/>
                    <a:pt x="4669" y="7414"/>
                    <a:pt x="4669" y="1080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189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5105400" y="2438400"/>
            <a:ext cx="2133600" cy="1981200"/>
            <a:chOff x="960" y="1968"/>
            <a:chExt cx="1344" cy="1248"/>
          </a:xfrm>
        </p:grpSpPr>
        <p:sp>
          <p:nvSpPr>
            <p:cNvPr id="156678" name="Line 6"/>
            <p:cNvSpPr>
              <a:spLocks noChangeShapeType="1"/>
            </p:cNvSpPr>
            <p:nvPr/>
          </p:nvSpPr>
          <p:spPr bwMode="auto">
            <a:xfrm flipV="1">
              <a:off x="1632" y="1968"/>
              <a:ext cx="0" cy="6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79" name="Line 7"/>
            <p:cNvSpPr>
              <a:spLocks noChangeShapeType="1"/>
            </p:cNvSpPr>
            <p:nvPr/>
          </p:nvSpPr>
          <p:spPr bwMode="auto">
            <a:xfrm>
              <a:off x="1632" y="2640"/>
              <a:ext cx="0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0" name="Line 8"/>
            <p:cNvSpPr>
              <a:spLocks noChangeShapeType="1"/>
            </p:cNvSpPr>
            <p:nvPr/>
          </p:nvSpPr>
          <p:spPr bwMode="auto">
            <a:xfrm>
              <a:off x="1632" y="259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1" name="Line 9"/>
            <p:cNvSpPr>
              <a:spLocks noChangeShapeType="1"/>
            </p:cNvSpPr>
            <p:nvPr/>
          </p:nvSpPr>
          <p:spPr bwMode="auto">
            <a:xfrm flipH="1">
              <a:off x="960" y="259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2" name="Line 10"/>
            <p:cNvSpPr>
              <a:spLocks noChangeShapeType="1"/>
            </p:cNvSpPr>
            <p:nvPr/>
          </p:nvSpPr>
          <p:spPr bwMode="auto">
            <a:xfrm flipV="1">
              <a:off x="1632" y="2160"/>
              <a:ext cx="480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3" name="Line 11"/>
            <p:cNvSpPr>
              <a:spLocks noChangeShapeType="1"/>
            </p:cNvSpPr>
            <p:nvPr/>
          </p:nvSpPr>
          <p:spPr bwMode="auto">
            <a:xfrm flipH="1">
              <a:off x="1200" y="2592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4" name="Line 12"/>
            <p:cNvSpPr>
              <a:spLocks noChangeShapeType="1"/>
            </p:cNvSpPr>
            <p:nvPr/>
          </p:nvSpPr>
          <p:spPr bwMode="auto">
            <a:xfrm flipH="1" flipV="1">
              <a:off x="1152" y="2160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5" name="Line 13"/>
            <p:cNvSpPr>
              <a:spLocks noChangeShapeType="1"/>
            </p:cNvSpPr>
            <p:nvPr/>
          </p:nvSpPr>
          <p:spPr bwMode="auto">
            <a:xfrm>
              <a:off x="1632" y="2592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876800" y="2362200"/>
            <a:ext cx="2819400" cy="2133600"/>
            <a:chOff x="3072" y="1632"/>
            <a:chExt cx="1776" cy="1344"/>
          </a:xfrm>
        </p:grpSpPr>
        <p:graphicFrame>
          <p:nvGraphicFramePr>
            <p:cNvPr id="156687" name="Object 15"/>
            <p:cNvGraphicFramePr>
              <a:graphicFrameLocks noChangeAspect="1"/>
            </p:cNvGraphicFramePr>
            <p:nvPr/>
          </p:nvGraphicFramePr>
          <p:xfrm>
            <a:off x="4272" y="2400"/>
            <a:ext cx="576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81" name="公式" r:id="rId3" imgW="241200" imgH="164880" progId="Equation.3">
                    <p:embed/>
                  </p:oleObj>
                </mc:Choice>
                <mc:Fallback>
                  <p:oleObj name="公式" r:id="rId3" imgW="241200" imgH="164880" progId="Equation.3">
                    <p:embed/>
                    <p:pic>
                      <p:nvPicPr>
                        <p:cNvPr id="0" name="Object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400"/>
                          <a:ext cx="576" cy="3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3072" y="1632"/>
              <a:ext cx="1584" cy="1344"/>
              <a:chOff x="3456" y="1632"/>
              <a:chExt cx="1536" cy="1344"/>
            </a:xfrm>
          </p:grpSpPr>
          <p:sp>
            <p:nvSpPr>
              <p:cNvPr id="156689" name="Line 17"/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0" name="Line 18"/>
              <p:cNvSpPr>
                <a:spLocks noChangeShapeType="1"/>
              </p:cNvSpPr>
              <p:nvPr/>
            </p:nvSpPr>
            <p:spPr bwMode="auto">
              <a:xfrm>
                <a:off x="3648" y="187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1" name="Line 19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2" name="Line 20"/>
              <p:cNvSpPr>
                <a:spLocks noChangeShapeType="1"/>
              </p:cNvSpPr>
              <p:nvPr/>
            </p:nvSpPr>
            <p:spPr bwMode="auto">
              <a:xfrm>
                <a:off x="3456" y="230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3" name="Line 21"/>
              <p:cNvSpPr>
                <a:spLocks noChangeShapeType="1"/>
              </p:cNvSpPr>
              <p:nvPr/>
            </p:nvSpPr>
            <p:spPr bwMode="auto">
              <a:xfrm>
                <a:off x="4704" y="187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4" name="Line 22"/>
              <p:cNvSpPr>
                <a:spLocks noChangeShapeType="1"/>
              </p:cNvSpPr>
              <p:nvPr/>
            </p:nvSpPr>
            <p:spPr bwMode="auto">
              <a:xfrm>
                <a:off x="3696" y="273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5" name="Line 23"/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6" name="Line 24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848600" y="4114800"/>
            <a:ext cx="990600" cy="1447800"/>
            <a:chOff x="2784" y="2736"/>
            <a:chExt cx="624" cy="912"/>
          </a:xfrm>
        </p:grpSpPr>
        <p:sp>
          <p:nvSpPr>
            <p:cNvPr id="156698" name="Line 26"/>
            <p:cNvSpPr>
              <a:spLocks noChangeShapeType="1"/>
            </p:cNvSpPr>
            <p:nvPr/>
          </p:nvSpPr>
          <p:spPr bwMode="auto">
            <a:xfrm>
              <a:off x="2784" y="2736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99" name="Line 27"/>
            <p:cNvSpPr>
              <a:spLocks noChangeShapeType="1"/>
            </p:cNvSpPr>
            <p:nvPr/>
          </p:nvSpPr>
          <p:spPr bwMode="auto">
            <a:xfrm>
              <a:off x="3216" y="2736"/>
              <a:ext cx="0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0" name="Line 28"/>
            <p:cNvSpPr>
              <a:spLocks noChangeShapeType="1"/>
            </p:cNvSpPr>
            <p:nvPr/>
          </p:nvSpPr>
          <p:spPr bwMode="auto">
            <a:xfrm>
              <a:off x="3024" y="3456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1" name="Line 29"/>
            <p:cNvSpPr>
              <a:spLocks noChangeShapeType="1"/>
            </p:cNvSpPr>
            <p:nvPr/>
          </p:nvSpPr>
          <p:spPr bwMode="auto">
            <a:xfrm>
              <a:off x="3072" y="3552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2" name="Line 30"/>
            <p:cNvSpPr>
              <a:spLocks noChangeShapeType="1"/>
            </p:cNvSpPr>
            <p:nvPr/>
          </p:nvSpPr>
          <p:spPr bwMode="auto">
            <a:xfrm>
              <a:off x="3120" y="3648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56703" name="Text Box 31"/>
          <p:cNvSpPr txBox="1">
            <a:spLocks noChangeArrowheads="1"/>
          </p:cNvSpPr>
          <p:nvPr/>
        </p:nvSpPr>
        <p:spPr bwMode="auto">
          <a:xfrm>
            <a:off x="304800" y="1371600"/>
            <a:ext cx="3352800" cy="18113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         接地空腔导体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将使外部空间不受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空腔内的电场影响.</a:t>
            </a:r>
          </a:p>
        </p:txBody>
      </p:sp>
      <p:sp>
        <p:nvSpPr>
          <p:cNvPr id="156704" name="Text Box 32"/>
          <p:cNvSpPr txBox="1">
            <a:spLocks noChangeArrowheads="1"/>
          </p:cNvSpPr>
          <p:nvPr/>
        </p:nvSpPr>
        <p:spPr bwMode="auto">
          <a:xfrm>
            <a:off x="304800" y="4343400"/>
            <a:ext cx="3276600" cy="18113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         问：</a:t>
            </a:r>
            <a:r>
              <a:rPr lang="zh-CN" altLang="en-US" sz="2800">
                <a:solidFill>
                  <a:schemeClr val="tx1"/>
                </a:solidFill>
              </a:rPr>
              <a:t>空间各部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分的电场强度如何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分布 </a:t>
            </a:r>
            <a:r>
              <a:rPr lang="zh-CN" altLang="en-US" sz="2800">
                <a:solidFill>
                  <a:srgbClr val="CC0000"/>
                </a:solidFill>
              </a:rPr>
              <a:t>？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56705" name="Text Box 33"/>
          <p:cNvSpPr txBox="1">
            <a:spLocks noChangeArrowheads="1"/>
          </p:cNvSpPr>
          <p:nvPr/>
        </p:nvSpPr>
        <p:spPr bwMode="auto">
          <a:xfrm>
            <a:off x="304800" y="3509963"/>
            <a:ext cx="3352800" cy="528637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接地导体电势为零</a:t>
            </a: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6054725" y="2667000"/>
            <a:ext cx="539750" cy="914400"/>
            <a:chOff x="1654" y="1824"/>
            <a:chExt cx="340" cy="576"/>
          </a:xfrm>
        </p:grpSpPr>
        <p:sp>
          <p:nvSpPr>
            <p:cNvPr id="156707" name="Oval 35"/>
            <p:cNvSpPr>
              <a:spLocks noChangeArrowheads="1"/>
            </p:cNvSpPr>
            <p:nvPr/>
          </p:nvSpPr>
          <p:spPr bwMode="auto">
            <a:xfrm>
              <a:off x="1654" y="225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6708" name="Object 36"/>
            <p:cNvGraphicFramePr>
              <a:graphicFrameLocks noChangeAspect="1"/>
            </p:cNvGraphicFramePr>
            <p:nvPr/>
          </p:nvGraphicFramePr>
          <p:xfrm>
            <a:off x="1696" y="1824"/>
            <a:ext cx="29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82" name="公式" r:id="rId5" imgW="126720" imgH="164880" progId="Equation.3">
                    <p:embed/>
                  </p:oleObj>
                </mc:Choice>
                <mc:Fallback>
                  <p:oleObj name="公式" r:id="rId5" imgW="126720" imgH="164880" progId="Equation.3">
                    <p:embed/>
                    <p:pic>
                      <p:nvPicPr>
                        <p:cNvPr id="0" name="Object 3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" y="1824"/>
                          <a:ext cx="298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09" name="Text Box 37"/>
          <p:cNvSpPr txBox="1">
            <a:spLocks noChangeArrowheads="1"/>
          </p:cNvSpPr>
          <p:nvPr/>
        </p:nvSpPr>
        <p:spPr bwMode="auto">
          <a:xfrm>
            <a:off x="76200" y="53340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 屏蔽腔内电场</a:t>
            </a:r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3810000" y="914400"/>
            <a:ext cx="4876800" cy="4953000"/>
            <a:chOff x="2400" y="720"/>
            <a:chExt cx="3072" cy="3120"/>
          </a:xfrm>
        </p:grpSpPr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2400" y="720"/>
              <a:ext cx="3072" cy="3120"/>
              <a:chOff x="2400" y="720"/>
              <a:chExt cx="3072" cy="3120"/>
            </a:xfrm>
          </p:grpSpPr>
          <p:grpSp>
            <p:nvGrpSpPr>
              <p:cNvPr id="10" name="Group 40"/>
              <p:cNvGrpSpPr>
                <a:grpSpLocks/>
              </p:cNvGrpSpPr>
              <p:nvPr/>
            </p:nvGrpSpPr>
            <p:grpSpPr bwMode="auto">
              <a:xfrm>
                <a:off x="2400" y="720"/>
                <a:ext cx="3072" cy="3120"/>
                <a:chOff x="2400" y="720"/>
                <a:chExt cx="3072" cy="3120"/>
              </a:xfrm>
            </p:grpSpPr>
            <p:sp>
              <p:nvSpPr>
                <p:cNvPr id="156713" name="Line 41"/>
                <p:cNvSpPr>
                  <a:spLocks noChangeShapeType="1"/>
                </p:cNvSpPr>
                <p:nvPr/>
              </p:nvSpPr>
              <p:spPr bwMode="auto">
                <a:xfrm>
                  <a:off x="3888" y="3408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4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3840" y="720"/>
                  <a:ext cx="0" cy="52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5" name="Line 43"/>
                <p:cNvSpPr>
                  <a:spLocks noChangeShapeType="1"/>
                </p:cNvSpPr>
                <p:nvPr/>
              </p:nvSpPr>
              <p:spPr bwMode="auto">
                <a:xfrm>
                  <a:off x="5040" y="2352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6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400" y="235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7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736" y="3120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8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4704" y="1296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9" name="Line 47"/>
                <p:cNvSpPr>
                  <a:spLocks noChangeShapeType="1"/>
                </p:cNvSpPr>
                <p:nvPr/>
              </p:nvSpPr>
              <p:spPr bwMode="auto">
                <a:xfrm>
                  <a:off x="4656" y="3120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20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2688" y="1344"/>
                  <a:ext cx="336" cy="24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49"/>
              <p:cNvGrpSpPr>
                <a:grpSpLocks/>
              </p:cNvGrpSpPr>
              <p:nvPr/>
            </p:nvGrpSpPr>
            <p:grpSpPr bwMode="auto">
              <a:xfrm>
                <a:off x="2736" y="1090"/>
                <a:ext cx="2345" cy="2360"/>
                <a:chOff x="2736" y="1090"/>
                <a:chExt cx="2345" cy="2360"/>
              </a:xfrm>
            </p:grpSpPr>
            <p:sp>
              <p:nvSpPr>
                <p:cNvPr id="15672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766" y="3120"/>
                  <a:ext cx="384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3" name="Rectangle 51"/>
                <p:cNvSpPr>
                  <a:spLocks noChangeArrowheads="1"/>
                </p:cNvSpPr>
                <p:nvPr/>
              </p:nvSpPr>
              <p:spPr bwMode="auto">
                <a:xfrm>
                  <a:off x="3748" y="109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4" name="Rectangle 52"/>
                <p:cNvSpPr>
                  <a:spLocks noChangeArrowheads="1"/>
                </p:cNvSpPr>
                <p:nvPr/>
              </p:nvSpPr>
              <p:spPr bwMode="auto">
                <a:xfrm>
                  <a:off x="4564" y="142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5" name="Rectangle 53"/>
                <p:cNvSpPr>
                  <a:spLocks noChangeArrowheads="1"/>
                </p:cNvSpPr>
                <p:nvPr/>
              </p:nvSpPr>
              <p:spPr bwMode="auto">
                <a:xfrm>
                  <a:off x="2980" y="142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6" name="Rectangle 54"/>
                <p:cNvSpPr>
                  <a:spLocks noChangeArrowheads="1"/>
                </p:cNvSpPr>
                <p:nvPr/>
              </p:nvSpPr>
              <p:spPr bwMode="auto">
                <a:xfrm>
                  <a:off x="2736" y="214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7" name="Rectangle 55"/>
                <p:cNvSpPr>
                  <a:spLocks noChangeArrowheads="1"/>
                </p:cNvSpPr>
                <p:nvPr/>
              </p:nvSpPr>
              <p:spPr bwMode="auto">
                <a:xfrm>
                  <a:off x="3024" y="286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8" name="Rectangle 56"/>
                <p:cNvSpPr>
                  <a:spLocks noChangeArrowheads="1"/>
                </p:cNvSpPr>
                <p:nvPr/>
              </p:nvSpPr>
              <p:spPr bwMode="auto">
                <a:xfrm>
                  <a:off x="4852" y="214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9" name="Rectangle 57"/>
                <p:cNvSpPr>
                  <a:spLocks noChangeArrowheads="1"/>
                </p:cNvSpPr>
                <p:nvPr/>
              </p:nvSpPr>
              <p:spPr bwMode="auto">
                <a:xfrm>
                  <a:off x="4516" y="286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graphicFrame>
          <p:nvGraphicFramePr>
            <p:cNvPr id="156730" name="Object 58"/>
            <p:cNvGraphicFramePr>
              <a:graphicFrameLocks noChangeAspect="1"/>
            </p:cNvGraphicFramePr>
            <p:nvPr/>
          </p:nvGraphicFramePr>
          <p:xfrm>
            <a:off x="4095" y="3072"/>
            <a:ext cx="36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983" name="公式" r:id="rId7" imgW="126720" imgH="164880" progId="Equation.3">
                    <p:embed/>
                  </p:oleObj>
                </mc:Choice>
                <mc:Fallback>
                  <p:oleObj name="公式" r:id="rId7" imgW="126720" imgH="164880" progId="Equation.3">
                    <p:embed/>
                    <p:pic>
                      <p:nvPicPr>
                        <p:cNvPr id="0" name="Object 5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3072"/>
                          <a:ext cx="369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5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5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03" grpId="0" animBg="1" autoUpdateAnimBg="0"/>
      <p:bldP spid="156704" grpId="0" animBg="1" autoUpdateAnimBg="0"/>
      <p:bldP spid="15670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495800" y="2286000"/>
            <a:ext cx="4343400" cy="3886200"/>
            <a:chOff x="2880" y="1632"/>
            <a:chExt cx="2736" cy="2448"/>
          </a:xfrm>
        </p:grpSpPr>
        <p:sp>
          <p:nvSpPr>
            <p:cNvPr id="151555" name="Rectangle 3"/>
            <p:cNvSpPr>
              <a:spLocks noChangeArrowheads="1"/>
            </p:cNvSpPr>
            <p:nvPr/>
          </p:nvSpPr>
          <p:spPr bwMode="auto">
            <a:xfrm>
              <a:off x="2880" y="1632"/>
              <a:ext cx="2736" cy="24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976" y="2640"/>
              <a:ext cx="2532" cy="1311"/>
              <a:chOff x="2976" y="2640"/>
              <a:chExt cx="2532" cy="1311"/>
            </a:xfrm>
          </p:grpSpPr>
          <p:sp>
            <p:nvSpPr>
              <p:cNvPr id="151557" name="Freeform 5"/>
              <p:cNvSpPr>
                <a:spLocks/>
              </p:cNvSpPr>
              <p:nvPr/>
            </p:nvSpPr>
            <p:spPr bwMode="auto">
              <a:xfrm>
                <a:off x="3020" y="2801"/>
                <a:ext cx="2488" cy="1150"/>
              </a:xfrm>
              <a:custGeom>
                <a:avLst/>
                <a:gdLst/>
                <a:ahLst/>
                <a:cxnLst>
                  <a:cxn ang="0">
                    <a:pos x="465" y="307"/>
                  </a:cxn>
                  <a:cxn ang="0">
                    <a:pos x="1161" y="45"/>
                  </a:cxn>
                  <a:cxn ang="0">
                    <a:pos x="1906" y="37"/>
                  </a:cxn>
                  <a:cxn ang="0">
                    <a:pos x="2272" y="85"/>
                  </a:cxn>
                  <a:cxn ang="0">
                    <a:pos x="2488" y="121"/>
                  </a:cxn>
                  <a:cxn ang="0">
                    <a:pos x="2273" y="168"/>
                  </a:cxn>
                  <a:cxn ang="0">
                    <a:pos x="2144" y="278"/>
                  </a:cxn>
                  <a:cxn ang="0">
                    <a:pos x="1936" y="357"/>
                  </a:cxn>
                  <a:cxn ang="0">
                    <a:pos x="1628" y="655"/>
                  </a:cxn>
                  <a:cxn ang="0">
                    <a:pos x="1192" y="727"/>
                  </a:cxn>
                  <a:cxn ang="0">
                    <a:pos x="774" y="873"/>
                  </a:cxn>
                  <a:cxn ang="0">
                    <a:pos x="396" y="844"/>
                  </a:cxn>
                  <a:cxn ang="0">
                    <a:pos x="148" y="949"/>
                  </a:cxn>
                  <a:cxn ang="0">
                    <a:pos x="4" y="1111"/>
                  </a:cxn>
                  <a:cxn ang="0">
                    <a:pos x="172" y="713"/>
                  </a:cxn>
                  <a:cxn ang="0">
                    <a:pos x="465" y="307"/>
                  </a:cxn>
                </a:cxnLst>
                <a:rect l="0" t="0" r="r" b="b"/>
                <a:pathLst>
                  <a:path w="2488" h="1150">
                    <a:moveTo>
                      <a:pt x="465" y="307"/>
                    </a:moveTo>
                    <a:cubicBezTo>
                      <a:pt x="630" y="196"/>
                      <a:pt x="921" y="90"/>
                      <a:pt x="1161" y="45"/>
                    </a:cubicBezTo>
                    <a:cubicBezTo>
                      <a:pt x="1401" y="0"/>
                      <a:pt x="1721" y="30"/>
                      <a:pt x="1906" y="37"/>
                    </a:cubicBezTo>
                    <a:cubicBezTo>
                      <a:pt x="2091" y="44"/>
                      <a:pt x="2175" y="71"/>
                      <a:pt x="2272" y="85"/>
                    </a:cubicBezTo>
                    <a:cubicBezTo>
                      <a:pt x="2369" y="99"/>
                      <a:pt x="2488" y="107"/>
                      <a:pt x="2488" y="121"/>
                    </a:cubicBezTo>
                    <a:cubicBezTo>
                      <a:pt x="2488" y="135"/>
                      <a:pt x="2330" y="142"/>
                      <a:pt x="2273" y="168"/>
                    </a:cubicBezTo>
                    <a:cubicBezTo>
                      <a:pt x="2216" y="194"/>
                      <a:pt x="2200" y="247"/>
                      <a:pt x="2144" y="278"/>
                    </a:cubicBezTo>
                    <a:cubicBezTo>
                      <a:pt x="2088" y="309"/>
                      <a:pt x="2022" y="294"/>
                      <a:pt x="1936" y="357"/>
                    </a:cubicBezTo>
                    <a:cubicBezTo>
                      <a:pt x="1850" y="420"/>
                      <a:pt x="1752" y="593"/>
                      <a:pt x="1628" y="655"/>
                    </a:cubicBezTo>
                    <a:cubicBezTo>
                      <a:pt x="1504" y="717"/>
                      <a:pt x="1334" y="691"/>
                      <a:pt x="1192" y="727"/>
                    </a:cubicBezTo>
                    <a:cubicBezTo>
                      <a:pt x="1050" y="763"/>
                      <a:pt x="907" y="853"/>
                      <a:pt x="774" y="873"/>
                    </a:cubicBezTo>
                    <a:cubicBezTo>
                      <a:pt x="641" y="893"/>
                      <a:pt x="500" y="831"/>
                      <a:pt x="396" y="844"/>
                    </a:cubicBezTo>
                    <a:cubicBezTo>
                      <a:pt x="292" y="857"/>
                      <a:pt x="213" y="905"/>
                      <a:pt x="148" y="949"/>
                    </a:cubicBezTo>
                    <a:cubicBezTo>
                      <a:pt x="83" y="993"/>
                      <a:pt x="0" y="1150"/>
                      <a:pt x="4" y="1111"/>
                    </a:cubicBezTo>
                    <a:cubicBezTo>
                      <a:pt x="8" y="1072"/>
                      <a:pt x="95" y="847"/>
                      <a:pt x="172" y="713"/>
                    </a:cubicBezTo>
                    <a:cubicBezTo>
                      <a:pt x="249" y="579"/>
                      <a:pt x="345" y="413"/>
                      <a:pt x="465" y="30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C0C0C0"/>
                  </a:gs>
                </a:gsLst>
                <a:path path="rect">
                  <a:fillToRect l="50000" t="50000" r="50000" b="50000"/>
                </a:path>
              </a:gradFill>
              <a:ln w="12700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2976" y="2640"/>
                <a:ext cx="2454" cy="1133"/>
                <a:chOff x="2976" y="2640"/>
                <a:chExt cx="2454" cy="1133"/>
              </a:xfrm>
            </p:grpSpPr>
            <p:sp>
              <p:nvSpPr>
                <p:cNvPr id="151559" name="Rectangle 7"/>
                <p:cNvSpPr>
                  <a:spLocks noChangeArrowheads="1"/>
                </p:cNvSpPr>
                <p:nvPr/>
              </p:nvSpPr>
              <p:spPr bwMode="auto">
                <a:xfrm>
                  <a:off x="5201" y="269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0" name="Rectangle 8"/>
                <p:cNvSpPr>
                  <a:spLocks noChangeArrowheads="1"/>
                </p:cNvSpPr>
                <p:nvPr/>
              </p:nvSpPr>
              <p:spPr bwMode="auto">
                <a:xfrm>
                  <a:off x="2976" y="3443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1" name="Rectangle 9"/>
                <p:cNvSpPr>
                  <a:spLocks noChangeArrowheads="1"/>
                </p:cNvSpPr>
                <p:nvPr/>
              </p:nvSpPr>
              <p:spPr bwMode="auto">
                <a:xfrm>
                  <a:off x="3085" y="3242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2" name="Rectangle 10"/>
                <p:cNvSpPr>
                  <a:spLocks noChangeArrowheads="1"/>
                </p:cNvSpPr>
                <p:nvPr/>
              </p:nvSpPr>
              <p:spPr bwMode="auto">
                <a:xfrm>
                  <a:off x="4982" y="266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3" name="Rectangle 11"/>
                <p:cNvSpPr>
                  <a:spLocks noChangeArrowheads="1"/>
                </p:cNvSpPr>
                <p:nvPr/>
              </p:nvSpPr>
              <p:spPr bwMode="auto">
                <a:xfrm>
                  <a:off x="4709" y="264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4" name="Rectangle 12"/>
                <p:cNvSpPr>
                  <a:spLocks noChangeArrowheads="1"/>
                </p:cNvSpPr>
                <p:nvPr/>
              </p:nvSpPr>
              <p:spPr bwMode="auto">
                <a:xfrm>
                  <a:off x="3232" y="3041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5" name="Rectangle 13"/>
                <p:cNvSpPr>
                  <a:spLocks noChangeArrowheads="1"/>
                </p:cNvSpPr>
                <p:nvPr/>
              </p:nvSpPr>
              <p:spPr bwMode="auto">
                <a:xfrm>
                  <a:off x="4435" y="264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6" name="Rectangle 14"/>
                <p:cNvSpPr>
                  <a:spLocks noChangeArrowheads="1"/>
                </p:cNvSpPr>
                <p:nvPr/>
              </p:nvSpPr>
              <p:spPr bwMode="auto">
                <a:xfrm>
                  <a:off x="3396" y="2891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7" name="Rectangle 15"/>
                <p:cNvSpPr>
                  <a:spLocks noChangeArrowheads="1"/>
                </p:cNvSpPr>
                <p:nvPr/>
              </p:nvSpPr>
              <p:spPr bwMode="auto">
                <a:xfrm>
                  <a:off x="3632" y="279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8" name="Rectangle 16"/>
                <p:cNvSpPr>
                  <a:spLocks noChangeArrowheads="1"/>
                </p:cNvSpPr>
                <p:nvPr/>
              </p:nvSpPr>
              <p:spPr bwMode="auto">
                <a:xfrm>
                  <a:off x="4179" y="264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1569" name="Rectangle 17"/>
                <p:cNvSpPr>
                  <a:spLocks noChangeArrowheads="1"/>
                </p:cNvSpPr>
                <p:nvPr/>
              </p:nvSpPr>
              <p:spPr bwMode="auto">
                <a:xfrm>
                  <a:off x="3905" y="2688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248400" y="3124200"/>
            <a:ext cx="636588" cy="1143000"/>
            <a:chOff x="4080" y="2160"/>
            <a:chExt cx="401" cy="720"/>
          </a:xfrm>
        </p:grpSpPr>
        <p:sp>
          <p:nvSpPr>
            <p:cNvPr id="151571" name="Line 19"/>
            <p:cNvSpPr>
              <a:spLocks noChangeShapeType="1"/>
            </p:cNvSpPr>
            <p:nvPr/>
          </p:nvSpPr>
          <p:spPr bwMode="auto">
            <a:xfrm rot="21480000" flipH="1" flipV="1">
              <a:off x="4080" y="2304"/>
              <a:ext cx="96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1572" name="Object 20"/>
            <p:cNvGraphicFramePr>
              <a:graphicFrameLocks noChangeAspect="1"/>
            </p:cNvGraphicFramePr>
            <p:nvPr/>
          </p:nvGraphicFramePr>
          <p:xfrm>
            <a:off x="4176" y="2160"/>
            <a:ext cx="30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376" name="公式" r:id="rId3" imgW="152280" imgH="190440" progId="Equation.3">
                    <p:embed/>
                  </p:oleObj>
                </mc:Choice>
                <mc:Fallback>
                  <p:oleObj name="公式" r:id="rId3" imgW="152280" imgH="19044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160"/>
                          <a:ext cx="30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4800600" y="1219200"/>
            <a:ext cx="3962400" cy="519113"/>
            <a:chOff x="3024" y="1065"/>
            <a:chExt cx="2496" cy="327"/>
          </a:xfrm>
        </p:grpSpPr>
        <p:sp>
          <p:nvSpPr>
            <p:cNvPr id="151574" name="Text Box 22"/>
            <p:cNvSpPr txBox="1">
              <a:spLocks noChangeArrowheads="1"/>
            </p:cNvSpPr>
            <p:nvPr/>
          </p:nvSpPr>
          <p:spPr bwMode="auto">
            <a:xfrm>
              <a:off x="3024" y="1065"/>
              <a:ext cx="249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宋体" charset="-122"/>
                </a:rPr>
                <a:t>   为表面电荷面密度    </a:t>
              </a:r>
            </a:p>
          </p:txBody>
        </p:sp>
        <p:graphicFrame>
          <p:nvGraphicFramePr>
            <p:cNvPr id="151575" name="Object 23"/>
            <p:cNvGraphicFramePr>
              <a:graphicFrameLocks noChangeAspect="1"/>
            </p:cNvGraphicFramePr>
            <p:nvPr/>
          </p:nvGraphicFramePr>
          <p:xfrm>
            <a:off x="3130" y="1113"/>
            <a:ext cx="28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377" name="Equation" r:id="rId5" imgW="215640" imgH="190440" progId="Equation.3">
                    <p:embed/>
                  </p:oleObj>
                </mc:Choice>
                <mc:Fallback>
                  <p:oleObj name="Equation" r:id="rId5" imgW="215640" imgH="19044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1113"/>
                          <a:ext cx="286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576" name="Text Box 24"/>
          <p:cNvSpPr txBox="1">
            <a:spLocks noChangeArrowheads="1"/>
          </p:cNvSpPr>
          <p:nvPr/>
        </p:nvSpPr>
        <p:spPr bwMode="auto">
          <a:xfrm>
            <a:off x="4800600" y="2438400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作钱币形高斯面</a:t>
            </a:r>
            <a:r>
              <a:rPr lang="zh-CN" altLang="en-US" sz="2800">
                <a:solidFill>
                  <a:srgbClr val="CC0066"/>
                </a:solidFill>
                <a:latin typeface="宋体" charset="-122"/>
              </a:rPr>
              <a:t> </a:t>
            </a:r>
            <a:r>
              <a:rPr lang="en-US" altLang="zh-CN" sz="2800" i="1">
                <a:solidFill>
                  <a:srgbClr val="0000FF"/>
                </a:solidFill>
                <a:latin typeface="宋体" charset="-122"/>
              </a:rPr>
              <a:t>S</a:t>
            </a:r>
          </a:p>
        </p:txBody>
      </p:sp>
      <p:sp>
        <p:nvSpPr>
          <p:cNvPr id="151577" name="Text Box 25"/>
          <p:cNvSpPr txBox="1">
            <a:spLocks noChangeArrowheads="1"/>
          </p:cNvSpPr>
          <p:nvPr/>
        </p:nvSpPr>
        <p:spPr bwMode="auto">
          <a:xfrm>
            <a:off x="838200" y="457200"/>
            <a:ext cx="746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3　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导体表面电场强度与电荷面密度的关系</a:t>
            </a:r>
          </a:p>
        </p:txBody>
      </p:sp>
      <p:graphicFrame>
        <p:nvGraphicFramePr>
          <p:cNvPr id="151578" name="Object 26"/>
          <p:cNvGraphicFramePr>
            <a:graphicFrameLocks noChangeAspect="1"/>
          </p:cNvGraphicFramePr>
          <p:nvPr/>
        </p:nvGraphicFramePr>
        <p:xfrm>
          <a:off x="838200" y="990600"/>
          <a:ext cx="3200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78" name="Equation" r:id="rId7" imgW="927000" imgH="431640" progId="Equation.3">
                  <p:embed/>
                </p:oleObj>
              </mc:Choice>
              <mc:Fallback>
                <p:oleObj name="Equation" r:id="rId7" imgW="927000" imgH="4316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990600"/>
                        <a:ext cx="320040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9" name="Object 27"/>
          <p:cNvGraphicFramePr>
            <a:graphicFrameLocks noChangeAspect="1"/>
          </p:cNvGraphicFramePr>
          <p:nvPr/>
        </p:nvGraphicFramePr>
        <p:xfrm>
          <a:off x="914400" y="2057400"/>
          <a:ext cx="24384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79" name="Equation" r:id="rId9" imgW="825480" imgH="431640" progId="Equation.3">
                  <p:embed/>
                </p:oleObj>
              </mc:Choice>
              <mc:Fallback>
                <p:oleObj name="Equation" r:id="rId9" imgW="825480" imgH="4316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2438400" cy="119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80" name="Object 28"/>
          <p:cNvGraphicFramePr>
            <a:graphicFrameLocks noChangeAspect="1"/>
          </p:cNvGraphicFramePr>
          <p:nvPr/>
        </p:nvGraphicFramePr>
        <p:xfrm>
          <a:off x="1143000" y="3276600"/>
          <a:ext cx="1676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80" name="Equation" r:id="rId11" imgW="711000" imgH="672840" progId="Equation.3">
                  <p:embed/>
                </p:oleObj>
              </mc:Choice>
              <mc:Fallback>
                <p:oleObj name="Equation" r:id="rId11" imgW="711000" imgH="6728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76600"/>
                        <a:ext cx="1676400" cy="1143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2700">
                        <a:solidFill>
                          <a:srgbClr val="00666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81" name="Rectangle 29"/>
          <p:cNvSpPr>
            <a:spLocks noChangeArrowheads="1"/>
          </p:cNvSpPr>
          <p:nvPr/>
        </p:nvSpPr>
        <p:spPr bwMode="auto">
          <a:xfrm>
            <a:off x="304800" y="4648200"/>
            <a:ext cx="3962400" cy="16430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       表面电场强度的大小与该表面电荷面密度成正比</a:t>
            </a:r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5638800" y="4114800"/>
            <a:ext cx="1638300" cy="457200"/>
            <a:chOff x="3840" y="2736"/>
            <a:chExt cx="1032" cy="288"/>
          </a:xfrm>
        </p:grpSpPr>
        <p:sp>
          <p:nvSpPr>
            <p:cNvPr id="151583" name="AutoShape 31"/>
            <p:cNvSpPr>
              <a:spLocks noChangeArrowheads="1"/>
            </p:cNvSpPr>
            <p:nvPr/>
          </p:nvSpPr>
          <p:spPr bwMode="auto">
            <a:xfrm rot="-674099">
              <a:off x="3840" y="2736"/>
              <a:ext cx="1007" cy="192"/>
            </a:xfrm>
            <a:prstGeom prst="can">
              <a:avLst>
                <a:gd name="adj" fmla="val 50000"/>
              </a:avLst>
            </a:prstGeom>
            <a:solidFill>
              <a:srgbClr val="99CCFF">
                <a:alpha val="50000"/>
              </a:srgbClr>
            </a:soli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1584" name="AutoShape 32"/>
            <p:cNvSpPr>
              <a:spLocks noChangeArrowheads="1"/>
            </p:cNvSpPr>
            <p:nvPr/>
          </p:nvSpPr>
          <p:spPr bwMode="auto">
            <a:xfrm rot="-674099">
              <a:off x="3865" y="2832"/>
              <a:ext cx="1007" cy="192"/>
            </a:xfrm>
            <a:prstGeom prst="can">
              <a:avLst>
                <a:gd name="adj" fmla="val 50000"/>
              </a:avLst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151585" name="Object 33"/>
          <p:cNvGraphicFramePr>
            <a:graphicFrameLocks noChangeAspect="1"/>
          </p:cNvGraphicFramePr>
          <p:nvPr/>
        </p:nvGraphicFramePr>
        <p:xfrm>
          <a:off x="6010275" y="4572000"/>
          <a:ext cx="12287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81" name="Equation" r:id="rId13" imgW="380880" imgH="203040" progId="Equation.3">
                  <p:embed/>
                </p:oleObj>
              </mc:Choice>
              <mc:Fallback>
                <p:oleObj name="Equation" r:id="rId13" imgW="380880" imgH="2030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4572000"/>
                        <a:ext cx="1228725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15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76" grpId="0" autoUpdateAnimBg="0"/>
      <p:bldP spid="151581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143000" y="2209800"/>
            <a:ext cx="7086600" cy="2819400"/>
            <a:chOff x="768" y="1680"/>
            <a:chExt cx="4464" cy="1776"/>
          </a:xfrm>
        </p:grpSpPr>
        <p:sp>
          <p:nvSpPr>
            <p:cNvPr id="152579" name="Rectangle 3"/>
            <p:cNvSpPr>
              <a:spLocks noChangeArrowheads="1"/>
            </p:cNvSpPr>
            <p:nvPr/>
          </p:nvSpPr>
          <p:spPr bwMode="auto">
            <a:xfrm>
              <a:off x="768" y="1680"/>
              <a:ext cx="4464" cy="1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392" y="2112"/>
              <a:ext cx="1765" cy="906"/>
              <a:chOff x="1920" y="1968"/>
              <a:chExt cx="1765" cy="906"/>
            </a:xfrm>
          </p:grpSpPr>
          <p:sp>
            <p:nvSpPr>
              <p:cNvPr id="152581" name="Freeform 5"/>
              <p:cNvSpPr>
                <a:spLocks/>
              </p:cNvSpPr>
              <p:nvPr/>
            </p:nvSpPr>
            <p:spPr bwMode="auto">
              <a:xfrm>
                <a:off x="1949" y="2016"/>
                <a:ext cx="1699" cy="768"/>
              </a:xfrm>
              <a:custGeom>
                <a:avLst/>
                <a:gdLst/>
                <a:ahLst/>
                <a:cxnLst>
                  <a:cxn ang="0">
                    <a:pos x="3" y="376"/>
                  </a:cxn>
                  <a:cxn ang="0">
                    <a:pos x="40" y="229"/>
                  </a:cxn>
                  <a:cxn ang="0">
                    <a:pos x="78" y="170"/>
                  </a:cxn>
                  <a:cxn ang="0">
                    <a:pos x="378" y="0"/>
                  </a:cxn>
                  <a:cxn ang="0">
                    <a:pos x="686" y="6"/>
                  </a:cxn>
                  <a:cxn ang="0">
                    <a:pos x="860" y="33"/>
                  </a:cxn>
                  <a:cxn ang="0">
                    <a:pos x="1255" y="118"/>
                  </a:cxn>
                  <a:cxn ang="0">
                    <a:pos x="1361" y="163"/>
                  </a:cxn>
                  <a:cxn ang="0">
                    <a:pos x="1419" y="203"/>
                  </a:cxn>
                  <a:cxn ang="0">
                    <a:pos x="1659" y="360"/>
                  </a:cxn>
                  <a:cxn ang="0">
                    <a:pos x="1699" y="433"/>
                  </a:cxn>
                  <a:cxn ang="0">
                    <a:pos x="1689" y="531"/>
                  </a:cxn>
                  <a:cxn ang="0">
                    <a:pos x="1641" y="564"/>
                  </a:cxn>
                  <a:cxn ang="0">
                    <a:pos x="1468" y="610"/>
                  </a:cxn>
                  <a:cxn ang="0">
                    <a:pos x="1341" y="643"/>
                  </a:cxn>
                  <a:cxn ang="0">
                    <a:pos x="1033" y="708"/>
                  </a:cxn>
                  <a:cxn ang="0">
                    <a:pos x="869" y="734"/>
                  </a:cxn>
                  <a:cxn ang="0">
                    <a:pos x="349" y="708"/>
                  </a:cxn>
                  <a:cxn ang="0">
                    <a:pos x="175" y="623"/>
                  </a:cxn>
                  <a:cxn ang="0">
                    <a:pos x="75" y="544"/>
                  </a:cxn>
                  <a:cxn ang="0">
                    <a:pos x="21" y="440"/>
                  </a:cxn>
                  <a:cxn ang="0">
                    <a:pos x="3" y="376"/>
                  </a:cxn>
                </a:cxnLst>
                <a:rect l="0" t="0" r="r" b="b"/>
                <a:pathLst>
                  <a:path w="1699" h="768">
                    <a:moveTo>
                      <a:pt x="3" y="376"/>
                    </a:moveTo>
                    <a:cubicBezTo>
                      <a:pt x="6" y="304"/>
                      <a:pt x="33" y="301"/>
                      <a:pt x="40" y="229"/>
                    </a:cubicBezTo>
                    <a:cubicBezTo>
                      <a:pt x="44" y="195"/>
                      <a:pt x="61" y="195"/>
                      <a:pt x="78" y="170"/>
                    </a:cubicBezTo>
                    <a:cubicBezTo>
                      <a:pt x="145" y="77"/>
                      <a:pt x="223" y="19"/>
                      <a:pt x="378" y="0"/>
                    </a:cubicBezTo>
                    <a:cubicBezTo>
                      <a:pt x="480" y="2"/>
                      <a:pt x="583" y="3"/>
                      <a:pt x="686" y="6"/>
                    </a:cubicBezTo>
                    <a:cubicBezTo>
                      <a:pt x="744" y="8"/>
                      <a:pt x="803" y="24"/>
                      <a:pt x="860" y="33"/>
                    </a:cubicBezTo>
                    <a:cubicBezTo>
                      <a:pt x="994" y="52"/>
                      <a:pt x="1132" y="76"/>
                      <a:pt x="1255" y="118"/>
                    </a:cubicBezTo>
                    <a:cubicBezTo>
                      <a:pt x="1271" y="123"/>
                      <a:pt x="1353" y="157"/>
                      <a:pt x="1361" y="163"/>
                    </a:cubicBezTo>
                    <a:cubicBezTo>
                      <a:pt x="1381" y="177"/>
                      <a:pt x="1397" y="193"/>
                      <a:pt x="1419" y="203"/>
                    </a:cubicBezTo>
                    <a:cubicBezTo>
                      <a:pt x="1513" y="246"/>
                      <a:pt x="1609" y="290"/>
                      <a:pt x="1659" y="360"/>
                    </a:cubicBezTo>
                    <a:cubicBezTo>
                      <a:pt x="1668" y="390"/>
                      <a:pt x="1685" y="406"/>
                      <a:pt x="1699" y="433"/>
                    </a:cubicBezTo>
                    <a:cubicBezTo>
                      <a:pt x="1695" y="466"/>
                      <a:pt x="1698" y="499"/>
                      <a:pt x="1689" y="531"/>
                    </a:cubicBezTo>
                    <a:cubicBezTo>
                      <a:pt x="1685" y="546"/>
                      <a:pt x="1656" y="557"/>
                      <a:pt x="1641" y="564"/>
                    </a:cubicBezTo>
                    <a:cubicBezTo>
                      <a:pt x="1590" y="587"/>
                      <a:pt x="1526" y="598"/>
                      <a:pt x="1468" y="610"/>
                    </a:cubicBezTo>
                    <a:cubicBezTo>
                      <a:pt x="1427" y="628"/>
                      <a:pt x="1385" y="627"/>
                      <a:pt x="1341" y="643"/>
                    </a:cubicBezTo>
                    <a:cubicBezTo>
                      <a:pt x="1241" y="676"/>
                      <a:pt x="1141" y="687"/>
                      <a:pt x="1033" y="708"/>
                    </a:cubicBezTo>
                    <a:cubicBezTo>
                      <a:pt x="885" y="737"/>
                      <a:pt x="1010" y="723"/>
                      <a:pt x="869" y="734"/>
                    </a:cubicBezTo>
                    <a:cubicBezTo>
                      <a:pt x="680" y="768"/>
                      <a:pt x="526" y="733"/>
                      <a:pt x="349" y="708"/>
                    </a:cubicBezTo>
                    <a:cubicBezTo>
                      <a:pt x="290" y="683"/>
                      <a:pt x="216" y="665"/>
                      <a:pt x="175" y="623"/>
                    </a:cubicBezTo>
                    <a:cubicBezTo>
                      <a:pt x="134" y="581"/>
                      <a:pt x="102" y="583"/>
                      <a:pt x="75" y="544"/>
                    </a:cubicBezTo>
                    <a:cubicBezTo>
                      <a:pt x="48" y="507"/>
                      <a:pt x="47" y="477"/>
                      <a:pt x="21" y="440"/>
                    </a:cubicBezTo>
                    <a:cubicBezTo>
                      <a:pt x="19" y="437"/>
                      <a:pt x="0" y="374"/>
                      <a:pt x="3" y="3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chemeClr val="bg1"/>
                  </a:gs>
                </a:gsLst>
                <a:lin ang="18900000" scaled="1"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2582" name="Text Box 6"/>
              <p:cNvSpPr txBox="1">
                <a:spLocks noChangeArrowheads="1"/>
              </p:cNvSpPr>
              <p:nvPr/>
            </p:nvSpPr>
            <p:spPr bwMode="auto">
              <a:xfrm>
                <a:off x="3360" y="220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2583" name="Rectangle 7"/>
              <p:cNvSpPr>
                <a:spLocks noChangeArrowheads="1"/>
              </p:cNvSpPr>
              <p:nvPr/>
            </p:nvSpPr>
            <p:spPr bwMode="auto">
              <a:xfrm>
                <a:off x="3456" y="230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4" name="Rectangle 8"/>
              <p:cNvSpPr>
                <a:spLocks noChangeArrowheads="1"/>
              </p:cNvSpPr>
              <p:nvPr/>
            </p:nvSpPr>
            <p:spPr bwMode="auto">
              <a:xfrm>
                <a:off x="3456" y="2400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5" name="Rectangle 9"/>
              <p:cNvSpPr>
                <a:spLocks noChangeArrowheads="1"/>
              </p:cNvSpPr>
              <p:nvPr/>
            </p:nvSpPr>
            <p:spPr bwMode="auto">
              <a:xfrm>
                <a:off x="3312" y="2400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6" name="Rectangle 10"/>
              <p:cNvSpPr>
                <a:spLocks noChangeArrowheads="1"/>
              </p:cNvSpPr>
              <p:nvPr/>
            </p:nvSpPr>
            <p:spPr bwMode="auto">
              <a:xfrm>
                <a:off x="2064" y="2016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7" name="Rectangle 11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8" name="Rectangle 12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89" name="Rectangle 13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  <p:sp>
            <p:nvSpPr>
              <p:cNvPr id="152590" name="Rectangle 14"/>
              <p:cNvSpPr>
                <a:spLocks noChangeArrowheads="1"/>
              </p:cNvSpPr>
              <p:nvPr/>
            </p:nvSpPr>
            <p:spPr bwMode="auto">
              <a:xfrm>
                <a:off x="2448" y="2544"/>
                <a:ext cx="22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</p:grp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524000" y="2362200"/>
            <a:ext cx="4191000" cy="2438400"/>
            <a:chOff x="1536" y="1632"/>
            <a:chExt cx="2640" cy="1536"/>
          </a:xfrm>
        </p:grpSpPr>
        <p:sp>
          <p:nvSpPr>
            <p:cNvPr id="152592" name="Line 16"/>
            <p:cNvSpPr>
              <a:spLocks noChangeShapeType="1"/>
            </p:cNvSpPr>
            <p:nvPr/>
          </p:nvSpPr>
          <p:spPr bwMode="auto">
            <a:xfrm flipH="1">
              <a:off x="1776" y="2592"/>
              <a:ext cx="336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3" name="Line 17"/>
            <p:cNvSpPr>
              <a:spLocks noChangeShapeType="1"/>
            </p:cNvSpPr>
            <p:nvPr/>
          </p:nvSpPr>
          <p:spPr bwMode="auto">
            <a:xfrm>
              <a:off x="3600" y="2544"/>
              <a:ext cx="48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4" name="Line 18"/>
            <p:cNvSpPr>
              <a:spLocks noChangeShapeType="1"/>
            </p:cNvSpPr>
            <p:nvPr/>
          </p:nvSpPr>
          <p:spPr bwMode="auto">
            <a:xfrm flipV="1">
              <a:off x="3600" y="2160"/>
              <a:ext cx="480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5" name="Line 19"/>
            <p:cNvSpPr>
              <a:spLocks noChangeShapeType="1"/>
            </p:cNvSpPr>
            <p:nvPr/>
          </p:nvSpPr>
          <p:spPr bwMode="auto">
            <a:xfrm>
              <a:off x="3648" y="2496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6" name="Line 20"/>
            <p:cNvSpPr>
              <a:spLocks noChangeShapeType="1"/>
            </p:cNvSpPr>
            <p:nvPr/>
          </p:nvSpPr>
          <p:spPr bwMode="auto">
            <a:xfrm flipH="1">
              <a:off x="2496" y="2736"/>
              <a:ext cx="48" cy="43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7" name="Line 21"/>
            <p:cNvSpPr>
              <a:spLocks noChangeShapeType="1"/>
            </p:cNvSpPr>
            <p:nvPr/>
          </p:nvSpPr>
          <p:spPr bwMode="auto">
            <a:xfrm flipV="1">
              <a:off x="2592" y="1632"/>
              <a:ext cx="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8" name="Line 22"/>
            <p:cNvSpPr>
              <a:spLocks noChangeShapeType="1"/>
            </p:cNvSpPr>
            <p:nvPr/>
          </p:nvSpPr>
          <p:spPr bwMode="auto">
            <a:xfrm flipH="1" flipV="1">
              <a:off x="1872" y="1776"/>
              <a:ext cx="24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599" name="Line 23"/>
            <p:cNvSpPr>
              <a:spLocks noChangeShapeType="1"/>
            </p:cNvSpPr>
            <p:nvPr/>
          </p:nvSpPr>
          <p:spPr bwMode="auto">
            <a:xfrm flipH="1">
              <a:off x="1536" y="2352"/>
              <a:ext cx="48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600" name="Line 24"/>
            <p:cNvSpPr>
              <a:spLocks noChangeShapeType="1"/>
            </p:cNvSpPr>
            <p:nvPr/>
          </p:nvSpPr>
          <p:spPr bwMode="auto">
            <a:xfrm>
              <a:off x="3456" y="2640"/>
              <a:ext cx="96" cy="43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2601" name="Line 25"/>
            <p:cNvSpPr>
              <a:spLocks noChangeShapeType="1"/>
            </p:cNvSpPr>
            <p:nvPr/>
          </p:nvSpPr>
          <p:spPr bwMode="auto">
            <a:xfrm flipV="1">
              <a:off x="3504" y="1824"/>
              <a:ext cx="288" cy="43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52602" name="Text Box 26"/>
          <p:cNvSpPr txBox="1">
            <a:spLocks noChangeArrowheads="1"/>
          </p:cNvSpPr>
          <p:nvPr/>
        </p:nvSpPr>
        <p:spPr bwMode="auto">
          <a:xfrm>
            <a:off x="228600" y="5424488"/>
            <a:ext cx="8915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注意 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导体表面电荷分布与导体形状以及周围环境有关.</a:t>
            </a:r>
          </a:p>
        </p:txBody>
      </p:sp>
      <p:sp>
        <p:nvSpPr>
          <p:cNvPr id="152603" name="Text Box 27"/>
          <p:cNvSpPr txBox="1">
            <a:spLocks noChangeArrowheads="1"/>
          </p:cNvSpPr>
          <p:nvPr/>
        </p:nvSpPr>
        <p:spPr bwMode="auto">
          <a:xfrm>
            <a:off x="914400" y="609600"/>
            <a:ext cx="5334000" cy="519113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4</a:t>
            </a:r>
            <a:r>
              <a:rPr lang="zh-CN" altLang="en-US" sz="2800">
                <a:solidFill>
                  <a:srgbClr val="1C1C1C"/>
                </a:solidFill>
              </a:rPr>
              <a:t>　导体表面电荷分布</a:t>
            </a:r>
          </a:p>
        </p:txBody>
      </p:sp>
      <p:graphicFrame>
        <p:nvGraphicFramePr>
          <p:cNvPr id="152604" name="Object 28"/>
          <p:cNvGraphicFramePr>
            <a:graphicFrameLocks noChangeAspect="1"/>
          </p:cNvGraphicFramePr>
          <p:nvPr/>
        </p:nvGraphicFramePr>
        <p:xfrm>
          <a:off x="2379663" y="1295400"/>
          <a:ext cx="39449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396" name="Equation" r:id="rId3" imgW="1257120" imgH="228600" progId="Equation.3">
                  <p:embed/>
                </p:oleObj>
              </mc:Choice>
              <mc:Fallback>
                <p:oleObj name="Equation" r:id="rId3" imgW="125712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1295400"/>
                        <a:ext cx="3944937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605" name="Object 29"/>
          <p:cNvGraphicFramePr>
            <a:graphicFrameLocks noChangeAspect="1"/>
          </p:cNvGraphicFramePr>
          <p:nvPr/>
        </p:nvGraphicFramePr>
        <p:xfrm>
          <a:off x="6172200" y="3048000"/>
          <a:ext cx="16002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397" name="Equation" r:id="rId5" imgW="711000" imgH="672840" progId="Equation.3">
                  <p:embed/>
                </p:oleObj>
              </mc:Choice>
              <mc:Fallback>
                <p:oleObj name="Equation" r:id="rId5" imgW="711000" imgH="6728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048000"/>
                        <a:ext cx="16002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accent1">
                                    <a:gamma/>
                                    <a:tint val="0"/>
                                    <a:invGamma/>
                                  </a:schemeClr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5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0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2" descr="F:\m\Z7.T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3400" y="900112"/>
            <a:ext cx="3302000" cy="3581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914400" y="1752600"/>
            <a:ext cx="5105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带电导体尖端附近电场最强</a:t>
            </a:r>
          </a:p>
        </p:txBody>
      </p:sp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228600" y="2338387"/>
            <a:ext cx="53340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        带电导体尖端附近的电场特别大，可使尖端附近的空气发生电离而成为导体产生放电现象，即</a:t>
            </a:r>
            <a:r>
              <a:rPr lang="zh-CN" altLang="en-US" sz="2800">
                <a:solidFill>
                  <a:srgbClr val="CC0000"/>
                </a:solidFill>
              </a:rPr>
              <a:t>尖端放电</a:t>
            </a:r>
            <a:r>
              <a:rPr lang="zh-CN" altLang="en-US" sz="2800">
                <a:solidFill>
                  <a:srgbClr val="1C1C1C"/>
                </a:solidFill>
              </a:rPr>
              <a:t> .</a:t>
            </a: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228600" y="5116512"/>
            <a:ext cx="8610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        尖端放电会损耗电能,   还会干扰精密测量和对通讯产生</a:t>
            </a:r>
            <a:r>
              <a:rPr lang="zh-CN" altLang="en-US" sz="2800">
                <a:solidFill>
                  <a:srgbClr val="CC0000"/>
                </a:solidFill>
              </a:rPr>
              <a:t>危害</a:t>
            </a:r>
            <a:r>
              <a:rPr lang="zh-CN" altLang="en-US" sz="2800">
                <a:solidFill>
                  <a:srgbClr val="1C1C1C"/>
                </a:solidFill>
              </a:rPr>
              <a:t> .  然而尖端放电也有很广泛的</a:t>
            </a:r>
            <a:r>
              <a:rPr lang="zh-CN" altLang="en-US" sz="2800">
                <a:solidFill>
                  <a:srgbClr val="CC0000"/>
                </a:solidFill>
              </a:rPr>
              <a:t>应用</a:t>
            </a:r>
            <a:r>
              <a:rPr lang="zh-CN" altLang="en-US" sz="2800">
                <a:solidFill>
                  <a:srgbClr val="1C1C1C"/>
                </a:solidFill>
              </a:rPr>
              <a:t> .</a:t>
            </a:r>
          </a:p>
        </p:txBody>
      </p:sp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685800" y="457200"/>
            <a:ext cx="4191000" cy="519112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4"/>
              </a:buBlip>
            </a:pPr>
            <a:r>
              <a:rPr lang="zh-CN" altLang="en-US" sz="2800">
                <a:solidFill>
                  <a:srgbClr val="1C1C1C"/>
                </a:solidFill>
              </a:rPr>
              <a:t>   尖端放电现象</a:t>
            </a:r>
          </a:p>
        </p:txBody>
      </p:sp>
      <p:graphicFrame>
        <p:nvGraphicFramePr>
          <p:cNvPr id="153607" name="Object 7"/>
          <p:cNvGraphicFramePr>
            <a:graphicFrameLocks noChangeAspect="1"/>
          </p:cNvGraphicFramePr>
          <p:nvPr/>
        </p:nvGraphicFramePr>
        <p:xfrm>
          <a:off x="895350" y="1020762"/>
          <a:ext cx="235108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19" name="Equation" r:id="rId5" imgW="749160" imgH="228600" progId="Equation.3">
                  <p:embed/>
                </p:oleObj>
              </mc:Choice>
              <mc:Fallback>
                <p:oleObj name="Equation" r:id="rId5" imgW="7491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020762"/>
                        <a:ext cx="2351088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8" name="Text Box 8"/>
          <p:cNvSpPr txBox="1">
            <a:spLocks noChangeArrowheads="1"/>
          </p:cNvSpPr>
          <p:nvPr/>
        </p:nvSpPr>
        <p:spPr bwMode="auto">
          <a:xfrm>
            <a:off x="914400" y="4572000"/>
            <a:ext cx="4419600" cy="519112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尖端放电现象的</a:t>
            </a:r>
            <a:r>
              <a:rPr lang="zh-CN" altLang="en-US" sz="2800">
                <a:solidFill>
                  <a:srgbClr val="FF0000"/>
                </a:solidFill>
              </a:rPr>
              <a:t>利</a:t>
            </a:r>
            <a:r>
              <a:rPr lang="zh-CN" altLang="en-US" sz="2800">
                <a:solidFill>
                  <a:srgbClr val="1C1C1C"/>
                </a:solidFill>
              </a:rPr>
              <a:t>与</a:t>
            </a:r>
            <a:r>
              <a:rPr lang="zh-CN" altLang="en-US" sz="2800">
                <a:solidFill>
                  <a:srgbClr val="0000FF"/>
                </a:solidFill>
              </a:rPr>
              <a:t>弊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autoUpdateAnimBg="0"/>
      <p:bldP spid="153604" grpId="0" autoUpdateAnimBg="0"/>
      <p:bldP spid="153605" grpId="0" autoUpdateAnimBg="0"/>
      <p:bldP spid="15360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3352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 sz="2800"/>
              <a:t>    避雷针</a:t>
            </a:r>
          </a:p>
        </p:txBody>
      </p:sp>
      <p:pic>
        <p:nvPicPr>
          <p:cNvPr id="158723" name="AVSEQ08.DAT.Clip1.b2e3ded5e6af9b07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143000"/>
            <a:ext cx="6096000" cy="498792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8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587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72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5872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76200" y="381000"/>
            <a:ext cx="3276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三  静电屏蔽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1066800" y="9144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 1　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屏蔽外电场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1600200"/>
            <a:ext cx="7772400" cy="3276600"/>
            <a:chOff x="480" y="1152"/>
            <a:chExt cx="4896" cy="2064"/>
          </a:xfrm>
        </p:grpSpPr>
        <p:sp>
          <p:nvSpPr>
            <p:cNvPr id="155653" name="Rectangle 5"/>
            <p:cNvSpPr>
              <a:spLocks noChangeArrowheads="1"/>
            </p:cNvSpPr>
            <p:nvPr/>
          </p:nvSpPr>
          <p:spPr bwMode="auto">
            <a:xfrm>
              <a:off x="480" y="1152"/>
              <a:ext cx="4896" cy="20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672" y="1248"/>
              <a:ext cx="2208" cy="1911"/>
              <a:chOff x="672" y="1248"/>
              <a:chExt cx="2208" cy="1911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672" y="1296"/>
                <a:ext cx="1920" cy="1518"/>
                <a:chOff x="672" y="1428"/>
                <a:chExt cx="1920" cy="1518"/>
              </a:xfrm>
            </p:grpSpPr>
            <p:sp>
              <p:nvSpPr>
                <p:cNvPr id="155656" name="Line 8"/>
                <p:cNvSpPr>
                  <a:spLocks noChangeShapeType="1"/>
                </p:cNvSpPr>
                <p:nvPr/>
              </p:nvSpPr>
              <p:spPr bwMode="auto">
                <a:xfrm>
                  <a:off x="672" y="1428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7" name="Line 9"/>
                <p:cNvSpPr>
                  <a:spLocks noChangeShapeType="1"/>
                </p:cNvSpPr>
                <p:nvPr/>
              </p:nvSpPr>
              <p:spPr bwMode="auto">
                <a:xfrm>
                  <a:off x="672" y="1555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8" name="Line 10"/>
                <p:cNvSpPr>
                  <a:spLocks noChangeShapeType="1"/>
                </p:cNvSpPr>
                <p:nvPr/>
              </p:nvSpPr>
              <p:spPr bwMode="auto">
                <a:xfrm>
                  <a:off x="672" y="1681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59" name="Line 11"/>
                <p:cNvSpPr>
                  <a:spLocks noChangeShapeType="1"/>
                </p:cNvSpPr>
                <p:nvPr/>
              </p:nvSpPr>
              <p:spPr bwMode="auto">
                <a:xfrm>
                  <a:off x="672" y="1808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0" name="Line 12"/>
                <p:cNvSpPr>
                  <a:spLocks noChangeShapeType="1"/>
                </p:cNvSpPr>
                <p:nvPr/>
              </p:nvSpPr>
              <p:spPr bwMode="auto">
                <a:xfrm>
                  <a:off x="672" y="1934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1" name="Line 13"/>
                <p:cNvSpPr>
                  <a:spLocks noChangeShapeType="1"/>
                </p:cNvSpPr>
                <p:nvPr/>
              </p:nvSpPr>
              <p:spPr bwMode="auto">
                <a:xfrm>
                  <a:off x="672" y="2061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2" name="Line 14"/>
                <p:cNvSpPr>
                  <a:spLocks noChangeShapeType="1"/>
                </p:cNvSpPr>
                <p:nvPr/>
              </p:nvSpPr>
              <p:spPr bwMode="auto">
                <a:xfrm>
                  <a:off x="672" y="2187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3" name="Line 15"/>
                <p:cNvSpPr>
                  <a:spLocks noChangeShapeType="1"/>
                </p:cNvSpPr>
                <p:nvPr/>
              </p:nvSpPr>
              <p:spPr bwMode="auto">
                <a:xfrm>
                  <a:off x="672" y="2313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4" name="Line 16"/>
                <p:cNvSpPr>
                  <a:spLocks noChangeShapeType="1"/>
                </p:cNvSpPr>
                <p:nvPr/>
              </p:nvSpPr>
              <p:spPr bwMode="auto">
                <a:xfrm>
                  <a:off x="672" y="2440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5" name="Line 17"/>
                <p:cNvSpPr>
                  <a:spLocks noChangeShapeType="1"/>
                </p:cNvSpPr>
                <p:nvPr/>
              </p:nvSpPr>
              <p:spPr bwMode="auto">
                <a:xfrm>
                  <a:off x="672" y="2566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6" name="Line 18"/>
                <p:cNvSpPr>
                  <a:spLocks noChangeShapeType="1"/>
                </p:cNvSpPr>
                <p:nvPr/>
              </p:nvSpPr>
              <p:spPr bwMode="auto">
                <a:xfrm>
                  <a:off x="672" y="2693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7" name="Line 19"/>
                <p:cNvSpPr>
                  <a:spLocks noChangeShapeType="1"/>
                </p:cNvSpPr>
                <p:nvPr/>
              </p:nvSpPr>
              <p:spPr bwMode="auto">
                <a:xfrm>
                  <a:off x="672" y="2819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68" name="Line 20"/>
                <p:cNvSpPr>
                  <a:spLocks noChangeShapeType="1"/>
                </p:cNvSpPr>
                <p:nvPr/>
              </p:nvSpPr>
              <p:spPr bwMode="auto">
                <a:xfrm>
                  <a:off x="672" y="2946"/>
                  <a:ext cx="1920" cy="0"/>
                </a:xfrm>
                <a:prstGeom prst="line">
                  <a:avLst/>
                </a:prstGeom>
                <a:noFill/>
                <a:ln w="15875">
                  <a:solidFill>
                    <a:srgbClr val="0099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aphicFrame>
            <p:nvGraphicFramePr>
              <p:cNvPr id="155669" name="Object 21"/>
              <p:cNvGraphicFramePr>
                <a:graphicFrameLocks noChangeAspect="1"/>
              </p:cNvGraphicFramePr>
              <p:nvPr/>
            </p:nvGraphicFramePr>
            <p:xfrm>
              <a:off x="2573" y="1248"/>
              <a:ext cx="30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7444" name="Equation" r:id="rId3" imgW="215640" imgH="266400" progId="Equation.3">
                      <p:embed/>
                    </p:oleObj>
                  </mc:Choice>
                  <mc:Fallback>
                    <p:oleObj name="Equation" r:id="rId3" imgW="215640" imgH="2664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3" y="1248"/>
                            <a:ext cx="307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670" name="Text Box 22"/>
              <p:cNvSpPr txBox="1">
                <a:spLocks noChangeArrowheads="1"/>
              </p:cNvSpPr>
              <p:nvPr/>
            </p:nvSpPr>
            <p:spPr bwMode="auto">
              <a:xfrm>
                <a:off x="1104" y="2832"/>
                <a:ext cx="960" cy="32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1C1C1C"/>
                    </a:solidFill>
                    <a:latin typeface="宋体" charset="-122"/>
                  </a:rPr>
                  <a:t>外电场</a:t>
                </a:r>
              </a:p>
            </p:txBody>
          </p:sp>
        </p:grpSp>
      </p:grpSp>
      <p:sp>
        <p:nvSpPr>
          <p:cNvPr id="155671" name="Rectangle 23"/>
          <p:cNvSpPr>
            <a:spLocks noChangeArrowheads="1"/>
          </p:cNvSpPr>
          <p:nvPr/>
        </p:nvSpPr>
        <p:spPr bwMode="auto">
          <a:xfrm>
            <a:off x="152400" y="5038725"/>
            <a:ext cx="8915400" cy="11271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 type="none" w="sm" len="lg"/>
            <a:tailEnd type="none" w="sm" len="lg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    空腔导体可以屏蔽外电场, 使空腔内物体不受外电场影响.这时,整个空腔导体和腔内的电势也必处处相等.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495800" y="1676400"/>
            <a:ext cx="3886200" cy="3109913"/>
            <a:chOff x="2832" y="1200"/>
            <a:chExt cx="2448" cy="1959"/>
          </a:xfrm>
        </p:grpSpPr>
        <p:graphicFrame>
          <p:nvGraphicFramePr>
            <p:cNvPr id="155673" name="Object 25"/>
            <p:cNvGraphicFramePr>
              <a:graphicFrameLocks noChangeAspect="1"/>
            </p:cNvGraphicFramePr>
            <p:nvPr/>
          </p:nvGraphicFramePr>
          <p:xfrm>
            <a:off x="4944" y="1200"/>
            <a:ext cx="27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445" name="Equation" r:id="rId5" imgW="215640" imgH="266400" progId="Equation.3">
                    <p:embed/>
                  </p:oleObj>
                </mc:Choice>
                <mc:Fallback>
                  <p:oleObj name="Equation" r:id="rId5" imgW="215640" imgH="2664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200"/>
                          <a:ext cx="27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674" name="Rectangle 26"/>
            <p:cNvSpPr>
              <a:spLocks noChangeArrowheads="1"/>
            </p:cNvSpPr>
            <p:nvPr/>
          </p:nvSpPr>
          <p:spPr bwMode="auto">
            <a:xfrm>
              <a:off x="2832" y="2832"/>
              <a:ext cx="24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chemeClr val="tx1"/>
                  </a:solidFill>
                </a:rPr>
                <a:t>空腔导体屏蔽外电场</a:t>
              </a:r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3317" y="1680"/>
              <a:ext cx="1147" cy="765"/>
              <a:chOff x="3317" y="1827"/>
              <a:chExt cx="1147" cy="765"/>
            </a:xfrm>
          </p:grpSpPr>
          <p:sp>
            <p:nvSpPr>
              <p:cNvPr id="155676" name="AutoShape 28"/>
              <p:cNvSpPr>
                <a:spLocks noChangeArrowheads="1"/>
              </p:cNvSpPr>
              <p:nvPr/>
            </p:nvSpPr>
            <p:spPr bwMode="auto">
              <a:xfrm rot="-2459627">
                <a:off x="3317" y="1957"/>
                <a:ext cx="1147" cy="587"/>
              </a:xfrm>
              <a:custGeom>
                <a:avLst/>
                <a:gdLst>
                  <a:gd name="G0" fmla="+- 4716 0 0"/>
                  <a:gd name="G1" fmla="+- 21600 0 4716"/>
                  <a:gd name="G2" fmla="+- 21600 0 4716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716" y="10800"/>
                    </a:moveTo>
                    <a:cubicBezTo>
                      <a:pt x="4716" y="14160"/>
                      <a:pt x="7440" y="16884"/>
                      <a:pt x="10800" y="16884"/>
                    </a:cubicBezTo>
                    <a:cubicBezTo>
                      <a:pt x="14160" y="16884"/>
                      <a:pt x="16884" y="14160"/>
                      <a:pt x="16884" y="10800"/>
                    </a:cubicBezTo>
                    <a:cubicBezTo>
                      <a:pt x="16884" y="7440"/>
                      <a:pt x="14160" y="4716"/>
                      <a:pt x="10800" y="4716"/>
                    </a:cubicBezTo>
                    <a:cubicBezTo>
                      <a:pt x="7440" y="4716"/>
                      <a:pt x="4716" y="7440"/>
                      <a:pt x="4716" y="1080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tx1"/>
                  </a:gs>
                  <a:gs pos="50000">
                    <a:srgbClr val="DDDDDD"/>
                  </a:gs>
                  <a:gs pos="100000">
                    <a:schemeClr val="tx1"/>
                  </a:gs>
                </a:gsLst>
                <a:lin ang="2700000" scaled="1"/>
              </a:gradFill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5677" name="Line 29"/>
              <p:cNvSpPr>
                <a:spLocks noChangeShapeType="1"/>
              </p:cNvSpPr>
              <p:nvPr/>
            </p:nvSpPr>
            <p:spPr bwMode="auto">
              <a:xfrm>
                <a:off x="3696" y="2064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78" name="Line 30"/>
              <p:cNvSpPr>
                <a:spLocks noChangeShapeType="1"/>
              </p:cNvSpPr>
              <p:nvPr/>
            </p:nvSpPr>
            <p:spPr bwMode="auto">
              <a:xfrm>
                <a:off x="3843" y="1968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79" name="Line 31"/>
              <p:cNvSpPr>
                <a:spLocks noChangeShapeType="1"/>
              </p:cNvSpPr>
              <p:nvPr/>
            </p:nvSpPr>
            <p:spPr bwMode="auto">
              <a:xfrm>
                <a:off x="3600" y="2160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0" name="Line 32"/>
              <p:cNvSpPr>
                <a:spLocks noChangeShapeType="1"/>
              </p:cNvSpPr>
              <p:nvPr/>
            </p:nvSpPr>
            <p:spPr bwMode="auto">
              <a:xfrm>
                <a:off x="3504" y="2256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1" name="Line 33"/>
              <p:cNvSpPr>
                <a:spLocks noChangeShapeType="1"/>
              </p:cNvSpPr>
              <p:nvPr/>
            </p:nvSpPr>
            <p:spPr bwMode="auto">
              <a:xfrm>
                <a:off x="3456" y="2352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2" name="Line 34"/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683" name="Line 35"/>
              <p:cNvSpPr>
                <a:spLocks noChangeShapeType="1"/>
              </p:cNvSpPr>
              <p:nvPr/>
            </p:nvSpPr>
            <p:spPr bwMode="auto">
              <a:xfrm>
                <a:off x="3408" y="2544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pSp>
            <p:nvGrpSpPr>
              <p:cNvPr id="7" name="Group 36"/>
              <p:cNvGrpSpPr>
                <a:grpSpLocks/>
              </p:cNvGrpSpPr>
              <p:nvPr/>
            </p:nvGrpSpPr>
            <p:grpSpPr bwMode="auto">
              <a:xfrm>
                <a:off x="4086" y="1827"/>
                <a:ext cx="93" cy="93"/>
                <a:chOff x="2688" y="2544"/>
                <a:chExt cx="96" cy="96"/>
              </a:xfrm>
            </p:grpSpPr>
            <p:sp>
              <p:nvSpPr>
                <p:cNvPr id="155685" name="Line 37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86" name="Line 38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8" name="Group 39"/>
              <p:cNvGrpSpPr>
                <a:grpSpLocks/>
              </p:cNvGrpSpPr>
              <p:nvPr/>
            </p:nvGrpSpPr>
            <p:grpSpPr bwMode="auto">
              <a:xfrm>
                <a:off x="4224" y="1923"/>
                <a:ext cx="93" cy="93"/>
                <a:chOff x="2688" y="2544"/>
                <a:chExt cx="96" cy="96"/>
              </a:xfrm>
            </p:grpSpPr>
            <p:sp>
              <p:nvSpPr>
                <p:cNvPr id="155688" name="Line 40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89" name="Line 41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9" name="Group 42"/>
              <p:cNvGrpSpPr>
                <a:grpSpLocks/>
              </p:cNvGrpSpPr>
              <p:nvPr/>
            </p:nvGrpSpPr>
            <p:grpSpPr bwMode="auto">
              <a:xfrm>
                <a:off x="4224" y="2067"/>
                <a:ext cx="93" cy="93"/>
                <a:chOff x="2688" y="2544"/>
                <a:chExt cx="96" cy="96"/>
              </a:xfrm>
            </p:grpSpPr>
            <p:sp>
              <p:nvSpPr>
                <p:cNvPr id="155691" name="Line 43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2" name="Line 44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0" name="Group 45"/>
              <p:cNvGrpSpPr>
                <a:grpSpLocks/>
              </p:cNvGrpSpPr>
              <p:nvPr/>
            </p:nvGrpSpPr>
            <p:grpSpPr bwMode="auto">
              <a:xfrm>
                <a:off x="4176" y="2211"/>
                <a:ext cx="93" cy="93"/>
                <a:chOff x="2688" y="2544"/>
                <a:chExt cx="96" cy="96"/>
              </a:xfrm>
            </p:grpSpPr>
            <p:sp>
              <p:nvSpPr>
                <p:cNvPr id="155694" name="Line 46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5" name="Line 47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48"/>
              <p:cNvGrpSpPr>
                <a:grpSpLocks/>
              </p:cNvGrpSpPr>
              <p:nvPr/>
            </p:nvGrpSpPr>
            <p:grpSpPr bwMode="auto">
              <a:xfrm>
                <a:off x="4032" y="2355"/>
                <a:ext cx="93" cy="93"/>
                <a:chOff x="2688" y="2544"/>
                <a:chExt cx="96" cy="96"/>
              </a:xfrm>
            </p:grpSpPr>
            <p:sp>
              <p:nvSpPr>
                <p:cNvPr id="155697" name="Line 49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698" name="Line 50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2" name="Group 51"/>
              <p:cNvGrpSpPr>
                <a:grpSpLocks/>
              </p:cNvGrpSpPr>
              <p:nvPr/>
            </p:nvGrpSpPr>
            <p:grpSpPr bwMode="auto">
              <a:xfrm>
                <a:off x="3888" y="2499"/>
                <a:ext cx="93" cy="93"/>
                <a:chOff x="2688" y="2544"/>
                <a:chExt cx="96" cy="96"/>
              </a:xfrm>
            </p:grpSpPr>
            <p:sp>
              <p:nvSpPr>
                <p:cNvPr id="155700" name="Line 52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55701" name="Line 53"/>
                <p:cNvSpPr>
                  <a:spLocks noChangeShapeType="1"/>
                </p:cNvSpPr>
                <p:nvPr/>
              </p:nvSpPr>
              <p:spPr bwMode="auto">
                <a:xfrm>
                  <a:off x="2736" y="2544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</p:grpSp>
        <p:grpSp>
          <p:nvGrpSpPr>
            <p:cNvPr id="13" name="Group 54"/>
            <p:cNvGrpSpPr>
              <a:grpSpLocks/>
            </p:cNvGrpSpPr>
            <p:nvPr/>
          </p:nvGrpSpPr>
          <p:grpSpPr bwMode="auto">
            <a:xfrm>
              <a:off x="2972" y="1296"/>
              <a:ext cx="1928" cy="1519"/>
              <a:chOff x="2972" y="1428"/>
              <a:chExt cx="1928" cy="1519"/>
            </a:xfrm>
          </p:grpSpPr>
          <p:sp>
            <p:nvSpPr>
              <p:cNvPr id="155703" name="Freeform 55"/>
              <p:cNvSpPr>
                <a:spLocks/>
              </p:cNvSpPr>
              <p:nvPr/>
            </p:nvSpPr>
            <p:spPr bwMode="auto">
              <a:xfrm>
                <a:off x="2976" y="1428"/>
                <a:ext cx="1920" cy="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48" y="12"/>
                  </a:cxn>
                  <a:cxn ang="0">
                    <a:pos x="792" y="36"/>
                  </a:cxn>
                  <a:cxn ang="0">
                    <a:pos x="948" y="44"/>
                  </a:cxn>
                  <a:cxn ang="0">
                    <a:pos x="1136" y="32"/>
                  </a:cxn>
                  <a:cxn ang="0">
                    <a:pos x="1360" y="12"/>
                  </a:cxn>
                  <a:cxn ang="0">
                    <a:pos x="1920" y="1"/>
                  </a:cxn>
                </a:cxnLst>
                <a:rect l="0" t="0" r="r" b="b"/>
                <a:pathLst>
                  <a:path w="1920" h="44">
                    <a:moveTo>
                      <a:pt x="0" y="0"/>
                    </a:moveTo>
                    <a:lnTo>
                      <a:pt x="548" y="12"/>
                    </a:lnTo>
                    <a:lnTo>
                      <a:pt x="792" y="36"/>
                    </a:lnTo>
                    <a:lnTo>
                      <a:pt x="948" y="44"/>
                    </a:lnTo>
                    <a:lnTo>
                      <a:pt x="1136" y="32"/>
                    </a:lnTo>
                    <a:lnTo>
                      <a:pt x="1360" y="12"/>
                    </a:lnTo>
                    <a:lnTo>
                      <a:pt x="1920" y="1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4" name="Freeform 56"/>
              <p:cNvSpPr>
                <a:spLocks/>
              </p:cNvSpPr>
              <p:nvPr/>
            </p:nvSpPr>
            <p:spPr bwMode="auto">
              <a:xfrm>
                <a:off x="2976" y="1548"/>
                <a:ext cx="1924" cy="16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360" y="36"/>
                  </a:cxn>
                  <a:cxn ang="0">
                    <a:pos x="532" y="52"/>
                  </a:cxn>
                  <a:cxn ang="0">
                    <a:pos x="696" y="84"/>
                  </a:cxn>
                  <a:cxn ang="0">
                    <a:pos x="824" y="124"/>
                  </a:cxn>
                  <a:cxn ang="0">
                    <a:pos x="912" y="160"/>
                  </a:cxn>
                  <a:cxn ang="0">
                    <a:pos x="996" y="160"/>
                  </a:cxn>
                  <a:cxn ang="0">
                    <a:pos x="1076" y="140"/>
                  </a:cxn>
                  <a:cxn ang="0">
                    <a:pos x="1220" y="92"/>
                  </a:cxn>
                  <a:cxn ang="0">
                    <a:pos x="1384" y="60"/>
                  </a:cxn>
                  <a:cxn ang="0">
                    <a:pos x="1556" y="32"/>
                  </a:cxn>
                  <a:cxn ang="0">
                    <a:pos x="1924" y="0"/>
                  </a:cxn>
                </a:cxnLst>
                <a:rect l="0" t="0" r="r" b="b"/>
                <a:pathLst>
                  <a:path w="1924" h="160">
                    <a:moveTo>
                      <a:pt x="0" y="6"/>
                    </a:moveTo>
                    <a:lnTo>
                      <a:pt x="360" y="36"/>
                    </a:lnTo>
                    <a:lnTo>
                      <a:pt x="532" y="52"/>
                    </a:lnTo>
                    <a:lnTo>
                      <a:pt x="696" y="84"/>
                    </a:lnTo>
                    <a:lnTo>
                      <a:pt x="824" y="124"/>
                    </a:lnTo>
                    <a:lnTo>
                      <a:pt x="912" y="160"/>
                    </a:lnTo>
                    <a:lnTo>
                      <a:pt x="996" y="160"/>
                    </a:lnTo>
                    <a:lnTo>
                      <a:pt x="1076" y="140"/>
                    </a:lnTo>
                    <a:lnTo>
                      <a:pt x="1220" y="92"/>
                    </a:lnTo>
                    <a:lnTo>
                      <a:pt x="1384" y="60"/>
                    </a:lnTo>
                    <a:lnTo>
                      <a:pt x="1556" y="32"/>
                    </a:lnTo>
                    <a:lnTo>
                      <a:pt x="1924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5" name="Freeform 57"/>
              <p:cNvSpPr>
                <a:spLocks/>
              </p:cNvSpPr>
              <p:nvPr/>
            </p:nvSpPr>
            <p:spPr bwMode="auto">
              <a:xfrm>
                <a:off x="2976" y="1681"/>
                <a:ext cx="876" cy="2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23"/>
                  </a:cxn>
                  <a:cxn ang="0">
                    <a:pos x="416" y="43"/>
                  </a:cxn>
                  <a:cxn ang="0">
                    <a:pos x="596" y="83"/>
                  </a:cxn>
                  <a:cxn ang="0">
                    <a:pos x="744" y="131"/>
                  </a:cxn>
                  <a:cxn ang="0">
                    <a:pos x="816" y="171"/>
                  </a:cxn>
                  <a:cxn ang="0">
                    <a:pos x="876" y="239"/>
                  </a:cxn>
                </a:cxnLst>
                <a:rect l="0" t="0" r="r" b="b"/>
                <a:pathLst>
                  <a:path w="876" h="239">
                    <a:moveTo>
                      <a:pt x="0" y="0"/>
                    </a:moveTo>
                    <a:lnTo>
                      <a:pt x="240" y="23"/>
                    </a:lnTo>
                    <a:lnTo>
                      <a:pt x="416" y="43"/>
                    </a:lnTo>
                    <a:lnTo>
                      <a:pt x="596" y="83"/>
                    </a:lnTo>
                    <a:lnTo>
                      <a:pt x="744" y="131"/>
                    </a:lnTo>
                    <a:lnTo>
                      <a:pt x="816" y="171"/>
                    </a:lnTo>
                    <a:lnTo>
                      <a:pt x="876" y="239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6" name="Freeform 58"/>
              <p:cNvSpPr>
                <a:spLocks/>
              </p:cNvSpPr>
              <p:nvPr/>
            </p:nvSpPr>
            <p:spPr bwMode="auto">
              <a:xfrm>
                <a:off x="2976" y="1808"/>
                <a:ext cx="764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4" y="40"/>
                  </a:cxn>
                  <a:cxn ang="0">
                    <a:pos x="468" y="60"/>
                  </a:cxn>
                  <a:cxn ang="0">
                    <a:pos x="564" y="88"/>
                  </a:cxn>
                  <a:cxn ang="0">
                    <a:pos x="764" y="176"/>
                  </a:cxn>
                </a:cxnLst>
                <a:rect l="0" t="0" r="r" b="b"/>
                <a:pathLst>
                  <a:path w="764" h="176">
                    <a:moveTo>
                      <a:pt x="0" y="0"/>
                    </a:moveTo>
                    <a:lnTo>
                      <a:pt x="364" y="40"/>
                    </a:lnTo>
                    <a:lnTo>
                      <a:pt x="468" y="60"/>
                    </a:lnTo>
                    <a:lnTo>
                      <a:pt x="564" y="88"/>
                    </a:lnTo>
                    <a:lnTo>
                      <a:pt x="764" y="17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7" name="Freeform 59"/>
              <p:cNvSpPr>
                <a:spLocks/>
              </p:cNvSpPr>
              <p:nvPr/>
            </p:nvSpPr>
            <p:spPr bwMode="auto">
              <a:xfrm>
                <a:off x="2976" y="1934"/>
                <a:ext cx="684" cy="1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14"/>
                  </a:cxn>
                  <a:cxn ang="0">
                    <a:pos x="372" y="38"/>
                  </a:cxn>
                  <a:cxn ang="0">
                    <a:pos x="528" y="74"/>
                  </a:cxn>
                  <a:cxn ang="0">
                    <a:pos x="684" y="138"/>
                  </a:cxn>
                </a:cxnLst>
                <a:rect l="0" t="0" r="r" b="b"/>
                <a:pathLst>
                  <a:path w="684" h="138">
                    <a:moveTo>
                      <a:pt x="0" y="0"/>
                    </a:moveTo>
                    <a:lnTo>
                      <a:pt x="192" y="14"/>
                    </a:lnTo>
                    <a:lnTo>
                      <a:pt x="372" y="38"/>
                    </a:lnTo>
                    <a:lnTo>
                      <a:pt x="528" y="74"/>
                    </a:lnTo>
                    <a:lnTo>
                      <a:pt x="684" y="138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8" name="Freeform 60"/>
              <p:cNvSpPr>
                <a:spLocks/>
              </p:cNvSpPr>
              <p:nvPr/>
            </p:nvSpPr>
            <p:spPr bwMode="auto">
              <a:xfrm>
                <a:off x="2976" y="2060"/>
                <a:ext cx="612" cy="8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84" y="0"/>
                  </a:cxn>
                  <a:cxn ang="0">
                    <a:pos x="408" y="24"/>
                  </a:cxn>
                  <a:cxn ang="0">
                    <a:pos x="612" y="84"/>
                  </a:cxn>
                </a:cxnLst>
                <a:rect l="0" t="0" r="r" b="b"/>
                <a:pathLst>
                  <a:path w="612" h="84">
                    <a:moveTo>
                      <a:pt x="0" y="1"/>
                    </a:moveTo>
                    <a:lnTo>
                      <a:pt x="184" y="0"/>
                    </a:lnTo>
                    <a:lnTo>
                      <a:pt x="408" y="24"/>
                    </a:lnTo>
                    <a:lnTo>
                      <a:pt x="612" y="84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09" name="Freeform 61"/>
              <p:cNvSpPr>
                <a:spLocks/>
              </p:cNvSpPr>
              <p:nvPr/>
            </p:nvSpPr>
            <p:spPr bwMode="auto">
              <a:xfrm>
                <a:off x="2976" y="2184"/>
                <a:ext cx="544" cy="52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64" y="0"/>
                  </a:cxn>
                  <a:cxn ang="0">
                    <a:pos x="368" y="12"/>
                  </a:cxn>
                  <a:cxn ang="0">
                    <a:pos x="544" y="52"/>
                  </a:cxn>
                </a:cxnLst>
                <a:rect l="0" t="0" r="r" b="b"/>
                <a:pathLst>
                  <a:path w="544" h="52">
                    <a:moveTo>
                      <a:pt x="0" y="3"/>
                    </a:moveTo>
                    <a:lnTo>
                      <a:pt x="164" y="0"/>
                    </a:lnTo>
                    <a:lnTo>
                      <a:pt x="368" y="12"/>
                    </a:lnTo>
                    <a:lnTo>
                      <a:pt x="544" y="52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0" name="Freeform 62"/>
              <p:cNvSpPr>
                <a:spLocks/>
              </p:cNvSpPr>
              <p:nvPr/>
            </p:nvSpPr>
            <p:spPr bwMode="auto">
              <a:xfrm>
                <a:off x="2976" y="2304"/>
                <a:ext cx="480" cy="12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44" y="0"/>
                  </a:cxn>
                  <a:cxn ang="0">
                    <a:pos x="480" y="12"/>
                  </a:cxn>
                </a:cxnLst>
                <a:rect l="0" t="0" r="r" b="b"/>
                <a:pathLst>
                  <a:path w="480" h="12">
                    <a:moveTo>
                      <a:pt x="0" y="9"/>
                    </a:moveTo>
                    <a:lnTo>
                      <a:pt x="144" y="0"/>
                    </a:lnTo>
                    <a:lnTo>
                      <a:pt x="480" y="12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1" name="Freeform 63"/>
              <p:cNvSpPr>
                <a:spLocks/>
              </p:cNvSpPr>
              <p:nvPr/>
            </p:nvSpPr>
            <p:spPr bwMode="auto">
              <a:xfrm>
                <a:off x="2972" y="2684"/>
                <a:ext cx="1924" cy="136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172" y="124"/>
                  </a:cxn>
                  <a:cxn ang="0">
                    <a:pos x="360" y="112"/>
                  </a:cxn>
                  <a:cxn ang="0">
                    <a:pos x="580" y="88"/>
                  </a:cxn>
                  <a:cxn ang="0">
                    <a:pos x="752" y="52"/>
                  </a:cxn>
                  <a:cxn ang="0">
                    <a:pos x="880" y="24"/>
                  </a:cxn>
                  <a:cxn ang="0">
                    <a:pos x="956" y="0"/>
                  </a:cxn>
                  <a:cxn ang="0">
                    <a:pos x="1032" y="8"/>
                  </a:cxn>
                  <a:cxn ang="0">
                    <a:pos x="1124" y="44"/>
                  </a:cxn>
                  <a:cxn ang="0">
                    <a:pos x="1268" y="72"/>
                  </a:cxn>
                  <a:cxn ang="0">
                    <a:pos x="1532" y="100"/>
                  </a:cxn>
                  <a:cxn ang="0">
                    <a:pos x="1924" y="136"/>
                  </a:cxn>
                </a:cxnLst>
                <a:rect l="0" t="0" r="r" b="b"/>
                <a:pathLst>
                  <a:path w="1924" h="136">
                    <a:moveTo>
                      <a:pt x="0" y="128"/>
                    </a:moveTo>
                    <a:lnTo>
                      <a:pt x="172" y="124"/>
                    </a:lnTo>
                    <a:lnTo>
                      <a:pt x="360" y="112"/>
                    </a:lnTo>
                    <a:lnTo>
                      <a:pt x="580" y="88"/>
                    </a:lnTo>
                    <a:lnTo>
                      <a:pt x="752" y="52"/>
                    </a:lnTo>
                    <a:lnTo>
                      <a:pt x="880" y="24"/>
                    </a:lnTo>
                    <a:lnTo>
                      <a:pt x="956" y="0"/>
                    </a:lnTo>
                    <a:lnTo>
                      <a:pt x="1032" y="8"/>
                    </a:lnTo>
                    <a:lnTo>
                      <a:pt x="1124" y="44"/>
                    </a:lnTo>
                    <a:lnTo>
                      <a:pt x="1268" y="72"/>
                    </a:lnTo>
                    <a:lnTo>
                      <a:pt x="1532" y="100"/>
                    </a:lnTo>
                    <a:lnTo>
                      <a:pt x="1924" y="13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2" name="Freeform 64"/>
              <p:cNvSpPr>
                <a:spLocks/>
              </p:cNvSpPr>
              <p:nvPr/>
            </p:nvSpPr>
            <p:spPr bwMode="auto">
              <a:xfrm>
                <a:off x="2976" y="2888"/>
                <a:ext cx="1920" cy="59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592" y="28"/>
                  </a:cxn>
                  <a:cxn ang="0">
                    <a:pos x="844" y="12"/>
                  </a:cxn>
                  <a:cxn ang="0">
                    <a:pos x="964" y="0"/>
                  </a:cxn>
                  <a:cxn ang="0">
                    <a:pos x="1072" y="12"/>
                  </a:cxn>
                  <a:cxn ang="0">
                    <a:pos x="1208" y="24"/>
                  </a:cxn>
                  <a:cxn ang="0">
                    <a:pos x="1408" y="36"/>
                  </a:cxn>
                  <a:cxn ang="0">
                    <a:pos x="1920" y="59"/>
                  </a:cxn>
                </a:cxnLst>
                <a:rect l="0" t="0" r="r" b="b"/>
                <a:pathLst>
                  <a:path w="1920" h="59">
                    <a:moveTo>
                      <a:pt x="0" y="58"/>
                    </a:moveTo>
                    <a:lnTo>
                      <a:pt x="592" y="28"/>
                    </a:lnTo>
                    <a:lnTo>
                      <a:pt x="844" y="12"/>
                    </a:lnTo>
                    <a:lnTo>
                      <a:pt x="964" y="0"/>
                    </a:lnTo>
                    <a:lnTo>
                      <a:pt x="1072" y="12"/>
                    </a:lnTo>
                    <a:lnTo>
                      <a:pt x="1208" y="24"/>
                    </a:lnTo>
                    <a:lnTo>
                      <a:pt x="1408" y="36"/>
                    </a:lnTo>
                    <a:lnTo>
                      <a:pt x="1920" y="59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3" name="Freeform 65"/>
              <p:cNvSpPr>
                <a:spLocks/>
              </p:cNvSpPr>
              <p:nvPr/>
            </p:nvSpPr>
            <p:spPr bwMode="auto">
              <a:xfrm>
                <a:off x="4176" y="1664"/>
                <a:ext cx="720" cy="160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80" y="136"/>
                  </a:cxn>
                  <a:cxn ang="0">
                    <a:pos x="152" y="100"/>
                  </a:cxn>
                  <a:cxn ang="0">
                    <a:pos x="264" y="68"/>
                  </a:cxn>
                  <a:cxn ang="0">
                    <a:pos x="368" y="48"/>
                  </a:cxn>
                  <a:cxn ang="0">
                    <a:pos x="484" y="32"/>
                  </a:cxn>
                  <a:cxn ang="0">
                    <a:pos x="836" y="0"/>
                  </a:cxn>
                </a:cxnLst>
                <a:rect l="0" t="0" r="r" b="b"/>
                <a:pathLst>
                  <a:path w="836" h="192">
                    <a:moveTo>
                      <a:pt x="0" y="192"/>
                    </a:moveTo>
                    <a:lnTo>
                      <a:pt x="80" y="136"/>
                    </a:lnTo>
                    <a:lnTo>
                      <a:pt x="152" y="100"/>
                    </a:lnTo>
                    <a:lnTo>
                      <a:pt x="264" y="68"/>
                    </a:lnTo>
                    <a:lnTo>
                      <a:pt x="368" y="48"/>
                    </a:lnTo>
                    <a:lnTo>
                      <a:pt x="484" y="32"/>
                    </a:lnTo>
                    <a:lnTo>
                      <a:pt x="836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4" name="Freeform 66"/>
              <p:cNvSpPr>
                <a:spLocks/>
              </p:cNvSpPr>
              <p:nvPr/>
            </p:nvSpPr>
            <p:spPr bwMode="auto">
              <a:xfrm>
                <a:off x="4320" y="1784"/>
                <a:ext cx="572" cy="88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00" y="64"/>
                  </a:cxn>
                  <a:cxn ang="0">
                    <a:pos x="228" y="36"/>
                  </a:cxn>
                  <a:cxn ang="0">
                    <a:pos x="668" y="0"/>
                  </a:cxn>
                </a:cxnLst>
                <a:rect l="0" t="0" r="r" b="b"/>
                <a:pathLst>
                  <a:path w="668" h="100">
                    <a:moveTo>
                      <a:pt x="0" y="100"/>
                    </a:moveTo>
                    <a:lnTo>
                      <a:pt x="100" y="64"/>
                    </a:lnTo>
                    <a:lnTo>
                      <a:pt x="228" y="36"/>
                    </a:lnTo>
                    <a:lnTo>
                      <a:pt x="668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5" name="Freeform 67"/>
              <p:cNvSpPr>
                <a:spLocks/>
              </p:cNvSpPr>
              <p:nvPr/>
            </p:nvSpPr>
            <p:spPr bwMode="auto">
              <a:xfrm>
                <a:off x="4368" y="1904"/>
                <a:ext cx="528" cy="64"/>
              </a:xfrm>
              <a:custGeom>
                <a:avLst/>
                <a:gdLst/>
                <a:ahLst/>
                <a:cxnLst>
                  <a:cxn ang="0">
                    <a:pos x="0" y="80"/>
                  </a:cxn>
                  <a:cxn ang="0">
                    <a:pos x="104" y="52"/>
                  </a:cxn>
                  <a:cxn ang="0">
                    <a:pos x="212" y="36"/>
                  </a:cxn>
                  <a:cxn ang="0">
                    <a:pos x="604" y="0"/>
                  </a:cxn>
                </a:cxnLst>
                <a:rect l="0" t="0" r="r" b="b"/>
                <a:pathLst>
                  <a:path w="604" h="80">
                    <a:moveTo>
                      <a:pt x="0" y="80"/>
                    </a:moveTo>
                    <a:lnTo>
                      <a:pt x="104" y="52"/>
                    </a:lnTo>
                    <a:lnTo>
                      <a:pt x="212" y="36"/>
                    </a:lnTo>
                    <a:lnTo>
                      <a:pt x="604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6" name="Freeform 68"/>
              <p:cNvSpPr>
                <a:spLocks/>
              </p:cNvSpPr>
              <p:nvPr/>
            </p:nvSpPr>
            <p:spPr bwMode="auto">
              <a:xfrm>
                <a:off x="4368" y="2028"/>
                <a:ext cx="524" cy="47"/>
              </a:xfrm>
              <a:custGeom>
                <a:avLst/>
                <a:gdLst/>
                <a:ahLst/>
                <a:cxnLst>
                  <a:cxn ang="0">
                    <a:pos x="0" y="72"/>
                  </a:cxn>
                  <a:cxn ang="0">
                    <a:pos x="256" y="32"/>
                  </a:cxn>
                  <a:cxn ang="0">
                    <a:pos x="620" y="0"/>
                  </a:cxn>
                </a:cxnLst>
                <a:rect l="0" t="0" r="r" b="b"/>
                <a:pathLst>
                  <a:path w="620" h="72">
                    <a:moveTo>
                      <a:pt x="0" y="72"/>
                    </a:moveTo>
                    <a:lnTo>
                      <a:pt x="256" y="32"/>
                    </a:lnTo>
                    <a:lnTo>
                      <a:pt x="620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7" name="Freeform 69"/>
              <p:cNvSpPr>
                <a:spLocks/>
              </p:cNvSpPr>
              <p:nvPr/>
            </p:nvSpPr>
            <p:spPr bwMode="auto">
              <a:xfrm>
                <a:off x="4332" y="2160"/>
                <a:ext cx="560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560" y="0"/>
                  </a:cxn>
                </a:cxnLst>
                <a:rect l="0" t="0" r="r" b="b"/>
                <a:pathLst>
                  <a:path w="560" h="20">
                    <a:moveTo>
                      <a:pt x="0" y="20"/>
                    </a:moveTo>
                    <a:lnTo>
                      <a:pt x="560" y="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8" name="Freeform 70"/>
              <p:cNvSpPr>
                <a:spLocks/>
              </p:cNvSpPr>
              <p:nvPr/>
            </p:nvSpPr>
            <p:spPr bwMode="auto">
              <a:xfrm>
                <a:off x="4272" y="2256"/>
                <a:ext cx="624" cy="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6" y="16"/>
                  </a:cxn>
                  <a:cxn ang="0">
                    <a:pos x="284" y="28"/>
                  </a:cxn>
                  <a:cxn ang="0">
                    <a:pos x="428" y="32"/>
                  </a:cxn>
                  <a:cxn ang="0">
                    <a:pos x="712" y="36"/>
                  </a:cxn>
                </a:cxnLst>
                <a:rect l="0" t="0" r="r" b="b"/>
                <a:pathLst>
                  <a:path w="712" h="36">
                    <a:moveTo>
                      <a:pt x="0" y="0"/>
                    </a:moveTo>
                    <a:lnTo>
                      <a:pt x="136" y="16"/>
                    </a:lnTo>
                    <a:lnTo>
                      <a:pt x="284" y="28"/>
                    </a:lnTo>
                    <a:lnTo>
                      <a:pt x="428" y="32"/>
                    </a:lnTo>
                    <a:lnTo>
                      <a:pt x="712" y="36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19" name="Freeform 71"/>
              <p:cNvSpPr>
                <a:spLocks/>
              </p:cNvSpPr>
              <p:nvPr/>
            </p:nvSpPr>
            <p:spPr bwMode="auto">
              <a:xfrm>
                <a:off x="4208" y="2348"/>
                <a:ext cx="684" cy="1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2" y="30"/>
                  </a:cxn>
                  <a:cxn ang="0">
                    <a:pos x="282" y="54"/>
                  </a:cxn>
                  <a:cxn ang="0">
                    <a:pos x="460" y="77"/>
                  </a:cxn>
                  <a:cxn ang="0">
                    <a:pos x="684" y="100"/>
                  </a:cxn>
                </a:cxnLst>
                <a:rect l="0" t="0" r="r" b="b"/>
                <a:pathLst>
                  <a:path w="684" h="100">
                    <a:moveTo>
                      <a:pt x="0" y="0"/>
                    </a:moveTo>
                    <a:lnTo>
                      <a:pt x="142" y="30"/>
                    </a:lnTo>
                    <a:lnTo>
                      <a:pt x="282" y="54"/>
                    </a:lnTo>
                    <a:lnTo>
                      <a:pt x="460" y="77"/>
                    </a:lnTo>
                    <a:lnTo>
                      <a:pt x="684" y="10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0" name="Freeform 72"/>
              <p:cNvSpPr>
                <a:spLocks/>
              </p:cNvSpPr>
              <p:nvPr/>
            </p:nvSpPr>
            <p:spPr bwMode="auto">
              <a:xfrm>
                <a:off x="4132" y="2432"/>
                <a:ext cx="764" cy="1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0" y="28"/>
                  </a:cxn>
                  <a:cxn ang="0">
                    <a:pos x="240" y="60"/>
                  </a:cxn>
                  <a:cxn ang="0">
                    <a:pos x="420" y="84"/>
                  </a:cxn>
                  <a:cxn ang="0">
                    <a:pos x="764" y="124"/>
                  </a:cxn>
                </a:cxnLst>
                <a:rect l="0" t="0" r="r" b="b"/>
                <a:pathLst>
                  <a:path w="764" h="124">
                    <a:moveTo>
                      <a:pt x="0" y="0"/>
                    </a:moveTo>
                    <a:lnTo>
                      <a:pt x="80" y="28"/>
                    </a:lnTo>
                    <a:lnTo>
                      <a:pt x="240" y="60"/>
                    </a:lnTo>
                    <a:lnTo>
                      <a:pt x="420" y="84"/>
                    </a:lnTo>
                    <a:lnTo>
                      <a:pt x="764" y="124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1" name="Freeform 73"/>
              <p:cNvSpPr>
                <a:spLocks/>
              </p:cNvSpPr>
              <p:nvPr/>
            </p:nvSpPr>
            <p:spPr bwMode="auto">
              <a:xfrm>
                <a:off x="4056" y="2512"/>
                <a:ext cx="836" cy="1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8" y="32"/>
                  </a:cxn>
                  <a:cxn ang="0">
                    <a:pos x="164" y="68"/>
                  </a:cxn>
                  <a:cxn ang="0">
                    <a:pos x="259" y="89"/>
                  </a:cxn>
                  <a:cxn ang="0">
                    <a:pos x="421" y="121"/>
                  </a:cxn>
                  <a:cxn ang="0">
                    <a:pos x="580" y="145"/>
                  </a:cxn>
                  <a:cxn ang="0">
                    <a:pos x="836" y="180"/>
                  </a:cxn>
                </a:cxnLst>
                <a:rect l="0" t="0" r="r" b="b"/>
                <a:pathLst>
                  <a:path w="836" h="180">
                    <a:moveTo>
                      <a:pt x="0" y="0"/>
                    </a:moveTo>
                    <a:lnTo>
                      <a:pt x="68" y="32"/>
                    </a:lnTo>
                    <a:lnTo>
                      <a:pt x="164" y="68"/>
                    </a:lnTo>
                    <a:lnTo>
                      <a:pt x="259" y="89"/>
                    </a:lnTo>
                    <a:lnTo>
                      <a:pt x="421" y="121"/>
                    </a:lnTo>
                    <a:lnTo>
                      <a:pt x="580" y="145"/>
                    </a:lnTo>
                    <a:lnTo>
                      <a:pt x="836" y="180"/>
                    </a:lnTo>
                  </a:path>
                </a:pathLst>
              </a:custGeom>
              <a:noFill/>
              <a:ln w="15875" cmpd="sng">
                <a:solidFill>
                  <a:srgbClr val="009900"/>
                </a:solidFill>
                <a:round/>
                <a:headEnd type="none" w="med" len="med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2" name="Freeform 74"/>
              <p:cNvSpPr>
                <a:spLocks/>
              </p:cNvSpPr>
              <p:nvPr/>
            </p:nvSpPr>
            <p:spPr bwMode="auto">
              <a:xfrm>
                <a:off x="2976" y="2641"/>
                <a:ext cx="481" cy="57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0" y="48"/>
                  </a:cxn>
                  <a:cxn ang="0">
                    <a:pos x="480" y="0"/>
                  </a:cxn>
                </a:cxnLst>
                <a:rect l="0" t="0" r="r" b="b"/>
                <a:pathLst>
                  <a:path w="480" h="56">
                    <a:moveTo>
                      <a:pt x="0" y="48"/>
                    </a:moveTo>
                    <a:cubicBezTo>
                      <a:pt x="80" y="52"/>
                      <a:pt x="160" y="56"/>
                      <a:pt x="240" y="48"/>
                    </a:cubicBezTo>
                    <a:cubicBezTo>
                      <a:pt x="320" y="40"/>
                      <a:pt x="400" y="20"/>
                      <a:pt x="480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3" name="Freeform 75"/>
              <p:cNvSpPr>
                <a:spLocks/>
              </p:cNvSpPr>
              <p:nvPr/>
            </p:nvSpPr>
            <p:spPr bwMode="auto">
              <a:xfrm>
                <a:off x="2976" y="2544"/>
                <a:ext cx="432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0" y="8"/>
                  </a:cxn>
                  <a:cxn ang="0">
                    <a:pos x="432" y="0"/>
                  </a:cxn>
                </a:cxnLst>
                <a:rect l="0" t="0" r="r" b="b"/>
                <a:pathLst>
                  <a:path w="432" h="8">
                    <a:moveTo>
                      <a:pt x="0" y="0"/>
                    </a:moveTo>
                    <a:cubicBezTo>
                      <a:pt x="33" y="1"/>
                      <a:pt x="128" y="8"/>
                      <a:pt x="200" y="8"/>
                    </a:cubicBezTo>
                    <a:cubicBezTo>
                      <a:pt x="272" y="8"/>
                      <a:pt x="384" y="2"/>
                      <a:pt x="432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55724" name="Freeform 76"/>
              <p:cNvSpPr>
                <a:spLocks/>
              </p:cNvSpPr>
              <p:nvPr/>
            </p:nvSpPr>
            <p:spPr bwMode="auto">
              <a:xfrm>
                <a:off x="2980" y="2428"/>
                <a:ext cx="448" cy="1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28" y="12"/>
                  </a:cxn>
                  <a:cxn ang="0">
                    <a:pos x="256" y="8"/>
                  </a:cxn>
                  <a:cxn ang="0">
                    <a:pos x="448" y="0"/>
                  </a:cxn>
                </a:cxnLst>
                <a:rect l="0" t="0" r="r" b="b"/>
                <a:pathLst>
                  <a:path w="448" h="12">
                    <a:moveTo>
                      <a:pt x="0" y="8"/>
                    </a:moveTo>
                    <a:cubicBezTo>
                      <a:pt x="21" y="9"/>
                      <a:pt x="85" y="12"/>
                      <a:pt x="128" y="12"/>
                    </a:cubicBezTo>
                    <a:cubicBezTo>
                      <a:pt x="171" y="12"/>
                      <a:pt x="203" y="10"/>
                      <a:pt x="256" y="8"/>
                    </a:cubicBezTo>
                    <a:cubicBezTo>
                      <a:pt x="309" y="6"/>
                      <a:pt x="408" y="2"/>
                      <a:pt x="448" y="0"/>
                    </a:cubicBezTo>
                  </a:path>
                </a:pathLst>
              </a:custGeom>
              <a:noFill/>
              <a:ln w="15875" cap="flat" cmpd="sng">
                <a:solidFill>
                  <a:srgbClr val="0099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7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733800" y="609600"/>
            <a:ext cx="5181600" cy="5562600"/>
            <a:chOff x="2352" y="528"/>
            <a:chExt cx="3264" cy="3504"/>
          </a:xfrm>
        </p:grpSpPr>
        <p:sp>
          <p:nvSpPr>
            <p:cNvPr id="156675" name="Rectangle 3"/>
            <p:cNvSpPr>
              <a:spLocks noChangeArrowheads="1"/>
            </p:cNvSpPr>
            <p:nvPr/>
          </p:nvSpPr>
          <p:spPr bwMode="auto">
            <a:xfrm>
              <a:off x="2352" y="528"/>
              <a:ext cx="3264" cy="3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76" name="AutoShape 4"/>
            <p:cNvSpPr>
              <a:spLocks noChangeArrowheads="1"/>
            </p:cNvSpPr>
            <p:nvPr/>
          </p:nvSpPr>
          <p:spPr bwMode="auto">
            <a:xfrm>
              <a:off x="2736" y="1200"/>
              <a:ext cx="2304" cy="2208"/>
            </a:xfrm>
            <a:custGeom>
              <a:avLst/>
              <a:gdLst>
                <a:gd name="G0" fmla="+- 4669 0 0"/>
                <a:gd name="G1" fmla="+- 21600 0 4669"/>
                <a:gd name="G2" fmla="+- 21600 0 4669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669" y="10800"/>
                  </a:moveTo>
                  <a:cubicBezTo>
                    <a:pt x="4669" y="14186"/>
                    <a:pt x="7414" y="16931"/>
                    <a:pt x="10800" y="16931"/>
                  </a:cubicBezTo>
                  <a:cubicBezTo>
                    <a:pt x="14186" y="16931"/>
                    <a:pt x="16931" y="14186"/>
                    <a:pt x="16931" y="10800"/>
                  </a:cubicBezTo>
                  <a:cubicBezTo>
                    <a:pt x="16931" y="7414"/>
                    <a:pt x="14186" y="4669"/>
                    <a:pt x="10800" y="4669"/>
                  </a:cubicBezTo>
                  <a:cubicBezTo>
                    <a:pt x="7414" y="4669"/>
                    <a:pt x="4669" y="7414"/>
                    <a:pt x="4669" y="1080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189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5105400" y="2438400"/>
            <a:ext cx="2133600" cy="1981200"/>
            <a:chOff x="960" y="1968"/>
            <a:chExt cx="1344" cy="1248"/>
          </a:xfrm>
        </p:grpSpPr>
        <p:sp>
          <p:nvSpPr>
            <p:cNvPr id="156678" name="Line 6"/>
            <p:cNvSpPr>
              <a:spLocks noChangeShapeType="1"/>
            </p:cNvSpPr>
            <p:nvPr/>
          </p:nvSpPr>
          <p:spPr bwMode="auto">
            <a:xfrm flipV="1">
              <a:off x="1632" y="1968"/>
              <a:ext cx="0" cy="6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79" name="Line 7"/>
            <p:cNvSpPr>
              <a:spLocks noChangeShapeType="1"/>
            </p:cNvSpPr>
            <p:nvPr/>
          </p:nvSpPr>
          <p:spPr bwMode="auto">
            <a:xfrm>
              <a:off x="1632" y="2640"/>
              <a:ext cx="0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0" name="Line 8"/>
            <p:cNvSpPr>
              <a:spLocks noChangeShapeType="1"/>
            </p:cNvSpPr>
            <p:nvPr/>
          </p:nvSpPr>
          <p:spPr bwMode="auto">
            <a:xfrm>
              <a:off x="1632" y="259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1" name="Line 9"/>
            <p:cNvSpPr>
              <a:spLocks noChangeShapeType="1"/>
            </p:cNvSpPr>
            <p:nvPr/>
          </p:nvSpPr>
          <p:spPr bwMode="auto">
            <a:xfrm flipH="1">
              <a:off x="960" y="259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2" name="Line 10"/>
            <p:cNvSpPr>
              <a:spLocks noChangeShapeType="1"/>
            </p:cNvSpPr>
            <p:nvPr/>
          </p:nvSpPr>
          <p:spPr bwMode="auto">
            <a:xfrm flipV="1">
              <a:off x="1632" y="2160"/>
              <a:ext cx="480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3" name="Line 11"/>
            <p:cNvSpPr>
              <a:spLocks noChangeShapeType="1"/>
            </p:cNvSpPr>
            <p:nvPr/>
          </p:nvSpPr>
          <p:spPr bwMode="auto">
            <a:xfrm flipH="1">
              <a:off x="1200" y="2592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4" name="Line 12"/>
            <p:cNvSpPr>
              <a:spLocks noChangeShapeType="1"/>
            </p:cNvSpPr>
            <p:nvPr/>
          </p:nvSpPr>
          <p:spPr bwMode="auto">
            <a:xfrm flipH="1" flipV="1">
              <a:off x="1152" y="2160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85" name="Line 13"/>
            <p:cNvSpPr>
              <a:spLocks noChangeShapeType="1"/>
            </p:cNvSpPr>
            <p:nvPr/>
          </p:nvSpPr>
          <p:spPr bwMode="auto">
            <a:xfrm>
              <a:off x="1632" y="2592"/>
              <a:ext cx="432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876800" y="2362200"/>
            <a:ext cx="2819400" cy="2133600"/>
            <a:chOff x="3072" y="1632"/>
            <a:chExt cx="1776" cy="1344"/>
          </a:xfrm>
        </p:grpSpPr>
        <p:graphicFrame>
          <p:nvGraphicFramePr>
            <p:cNvPr id="156687" name="Object 15"/>
            <p:cNvGraphicFramePr>
              <a:graphicFrameLocks noChangeAspect="1"/>
            </p:cNvGraphicFramePr>
            <p:nvPr/>
          </p:nvGraphicFramePr>
          <p:xfrm>
            <a:off x="4272" y="2400"/>
            <a:ext cx="576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469" name="公式" r:id="rId3" imgW="241200" imgH="164880" progId="Equation.3">
                    <p:embed/>
                  </p:oleObj>
                </mc:Choice>
                <mc:Fallback>
                  <p:oleObj name="公式" r:id="rId3" imgW="241200" imgH="164880" progId="Equation.3">
                    <p:embed/>
                    <p:pic>
                      <p:nvPicPr>
                        <p:cNvPr id="0" name="Object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400"/>
                          <a:ext cx="576" cy="3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3072" y="1632"/>
              <a:ext cx="1584" cy="1344"/>
              <a:chOff x="3456" y="1632"/>
              <a:chExt cx="1536" cy="1344"/>
            </a:xfrm>
          </p:grpSpPr>
          <p:sp>
            <p:nvSpPr>
              <p:cNvPr id="156689" name="Line 17"/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0" name="Line 18"/>
              <p:cNvSpPr>
                <a:spLocks noChangeShapeType="1"/>
              </p:cNvSpPr>
              <p:nvPr/>
            </p:nvSpPr>
            <p:spPr bwMode="auto">
              <a:xfrm>
                <a:off x="3648" y="187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1" name="Line 19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2" name="Line 20"/>
              <p:cNvSpPr>
                <a:spLocks noChangeShapeType="1"/>
              </p:cNvSpPr>
              <p:nvPr/>
            </p:nvSpPr>
            <p:spPr bwMode="auto">
              <a:xfrm>
                <a:off x="3456" y="2304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3" name="Line 21"/>
              <p:cNvSpPr>
                <a:spLocks noChangeShapeType="1"/>
              </p:cNvSpPr>
              <p:nvPr/>
            </p:nvSpPr>
            <p:spPr bwMode="auto">
              <a:xfrm>
                <a:off x="4704" y="1872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4" name="Line 22"/>
              <p:cNvSpPr>
                <a:spLocks noChangeShapeType="1"/>
              </p:cNvSpPr>
              <p:nvPr/>
            </p:nvSpPr>
            <p:spPr bwMode="auto">
              <a:xfrm>
                <a:off x="3696" y="273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5" name="Line 23"/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56696" name="Line 24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5045E5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848600" y="4114800"/>
            <a:ext cx="990600" cy="1447800"/>
            <a:chOff x="2784" y="2736"/>
            <a:chExt cx="624" cy="912"/>
          </a:xfrm>
        </p:grpSpPr>
        <p:sp>
          <p:nvSpPr>
            <p:cNvPr id="156698" name="Line 26"/>
            <p:cNvSpPr>
              <a:spLocks noChangeShapeType="1"/>
            </p:cNvSpPr>
            <p:nvPr/>
          </p:nvSpPr>
          <p:spPr bwMode="auto">
            <a:xfrm>
              <a:off x="2784" y="2736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699" name="Line 27"/>
            <p:cNvSpPr>
              <a:spLocks noChangeShapeType="1"/>
            </p:cNvSpPr>
            <p:nvPr/>
          </p:nvSpPr>
          <p:spPr bwMode="auto">
            <a:xfrm>
              <a:off x="3216" y="2736"/>
              <a:ext cx="0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0" name="Line 28"/>
            <p:cNvSpPr>
              <a:spLocks noChangeShapeType="1"/>
            </p:cNvSpPr>
            <p:nvPr/>
          </p:nvSpPr>
          <p:spPr bwMode="auto">
            <a:xfrm>
              <a:off x="3024" y="3456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1" name="Line 29"/>
            <p:cNvSpPr>
              <a:spLocks noChangeShapeType="1"/>
            </p:cNvSpPr>
            <p:nvPr/>
          </p:nvSpPr>
          <p:spPr bwMode="auto">
            <a:xfrm>
              <a:off x="3072" y="3552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6702" name="Line 30"/>
            <p:cNvSpPr>
              <a:spLocks noChangeShapeType="1"/>
            </p:cNvSpPr>
            <p:nvPr/>
          </p:nvSpPr>
          <p:spPr bwMode="auto">
            <a:xfrm>
              <a:off x="3120" y="3648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56703" name="Text Box 31"/>
          <p:cNvSpPr txBox="1">
            <a:spLocks noChangeArrowheads="1"/>
          </p:cNvSpPr>
          <p:nvPr/>
        </p:nvSpPr>
        <p:spPr bwMode="auto">
          <a:xfrm>
            <a:off x="304800" y="1371600"/>
            <a:ext cx="3352800" cy="18113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         接地空腔导体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将使外部空间不受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空腔内的电场影响.</a:t>
            </a:r>
          </a:p>
        </p:txBody>
      </p:sp>
      <p:sp>
        <p:nvSpPr>
          <p:cNvPr id="156704" name="Text Box 32"/>
          <p:cNvSpPr txBox="1">
            <a:spLocks noChangeArrowheads="1"/>
          </p:cNvSpPr>
          <p:nvPr/>
        </p:nvSpPr>
        <p:spPr bwMode="auto">
          <a:xfrm>
            <a:off x="304800" y="4343400"/>
            <a:ext cx="3276600" cy="18113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         问：</a:t>
            </a:r>
            <a:r>
              <a:rPr lang="zh-CN" altLang="en-US" sz="2800">
                <a:solidFill>
                  <a:schemeClr val="tx1"/>
                </a:solidFill>
              </a:rPr>
              <a:t>空间各部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分的电场强度如何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分布 </a:t>
            </a:r>
            <a:r>
              <a:rPr lang="zh-CN" altLang="en-US" sz="2800">
                <a:solidFill>
                  <a:srgbClr val="CC0000"/>
                </a:solidFill>
              </a:rPr>
              <a:t>？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56705" name="Text Box 33"/>
          <p:cNvSpPr txBox="1">
            <a:spLocks noChangeArrowheads="1"/>
          </p:cNvSpPr>
          <p:nvPr/>
        </p:nvSpPr>
        <p:spPr bwMode="auto">
          <a:xfrm>
            <a:off x="304800" y="3509963"/>
            <a:ext cx="3352800" cy="528637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接地导体电势为零</a:t>
            </a: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6054725" y="2667000"/>
            <a:ext cx="539750" cy="914400"/>
            <a:chOff x="1654" y="1824"/>
            <a:chExt cx="340" cy="576"/>
          </a:xfrm>
        </p:grpSpPr>
        <p:sp>
          <p:nvSpPr>
            <p:cNvPr id="156707" name="Oval 35"/>
            <p:cNvSpPr>
              <a:spLocks noChangeArrowheads="1"/>
            </p:cNvSpPr>
            <p:nvPr/>
          </p:nvSpPr>
          <p:spPr bwMode="auto">
            <a:xfrm>
              <a:off x="1654" y="225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6708" name="Object 36"/>
            <p:cNvGraphicFramePr>
              <a:graphicFrameLocks noChangeAspect="1"/>
            </p:cNvGraphicFramePr>
            <p:nvPr/>
          </p:nvGraphicFramePr>
          <p:xfrm>
            <a:off x="1696" y="1824"/>
            <a:ext cx="29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470" name="公式" r:id="rId5" imgW="126720" imgH="164880" progId="Equation.3">
                    <p:embed/>
                  </p:oleObj>
                </mc:Choice>
                <mc:Fallback>
                  <p:oleObj name="公式" r:id="rId5" imgW="126720" imgH="164880" progId="Equation.3">
                    <p:embed/>
                    <p:pic>
                      <p:nvPicPr>
                        <p:cNvPr id="0" name="Object 3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" y="1824"/>
                          <a:ext cx="298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09" name="Text Box 37"/>
          <p:cNvSpPr txBox="1">
            <a:spLocks noChangeArrowheads="1"/>
          </p:cNvSpPr>
          <p:nvPr/>
        </p:nvSpPr>
        <p:spPr bwMode="auto">
          <a:xfrm>
            <a:off x="76200" y="53340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 2　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屏蔽腔内电场</a:t>
            </a:r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3810000" y="914400"/>
            <a:ext cx="4876800" cy="4953000"/>
            <a:chOff x="2400" y="720"/>
            <a:chExt cx="3072" cy="3120"/>
          </a:xfrm>
        </p:grpSpPr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2400" y="720"/>
              <a:ext cx="3072" cy="3120"/>
              <a:chOff x="2400" y="720"/>
              <a:chExt cx="3072" cy="3120"/>
            </a:xfrm>
          </p:grpSpPr>
          <p:grpSp>
            <p:nvGrpSpPr>
              <p:cNvPr id="10" name="Group 40"/>
              <p:cNvGrpSpPr>
                <a:grpSpLocks/>
              </p:cNvGrpSpPr>
              <p:nvPr/>
            </p:nvGrpSpPr>
            <p:grpSpPr bwMode="auto">
              <a:xfrm>
                <a:off x="2400" y="720"/>
                <a:ext cx="3072" cy="3120"/>
                <a:chOff x="2400" y="720"/>
                <a:chExt cx="3072" cy="3120"/>
              </a:xfrm>
            </p:grpSpPr>
            <p:sp>
              <p:nvSpPr>
                <p:cNvPr id="156713" name="Line 41"/>
                <p:cNvSpPr>
                  <a:spLocks noChangeShapeType="1"/>
                </p:cNvSpPr>
                <p:nvPr/>
              </p:nvSpPr>
              <p:spPr bwMode="auto">
                <a:xfrm>
                  <a:off x="3888" y="3408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4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3840" y="720"/>
                  <a:ext cx="0" cy="52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5" name="Line 43"/>
                <p:cNvSpPr>
                  <a:spLocks noChangeShapeType="1"/>
                </p:cNvSpPr>
                <p:nvPr/>
              </p:nvSpPr>
              <p:spPr bwMode="auto">
                <a:xfrm>
                  <a:off x="5040" y="2352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6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400" y="2352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7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736" y="3120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8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4704" y="1296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19" name="Line 47"/>
                <p:cNvSpPr>
                  <a:spLocks noChangeShapeType="1"/>
                </p:cNvSpPr>
                <p:nvPr/>
              </p:nvSpPr>
              <p:spPr bwMode="auto">
                <a:xfrm>
                  <a:off x="4656" y="3120"/>
                  <a:ext cx="336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  <p:sp>
              <p:nvSpPr>
                <p:cNvPr id="156720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2688" y="1344"/>
                  <a:ext cx="336" cy="24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800"/>
                </a:p>
              </p:txBody>
            </p:sp>
          </p:grpSp>
          <p:grpSp>
            <p:nvGrpSpPr>
              <p:cNvPr id="11" name="Group 49"/>
              <p:cNvGrpSpPr>
                <a:grpSpLocks/>
              </p:cNvGrpSpPr>
              <p:nvPr/>
            </p:nvGrpSpPr>
            <p:grpSpPr bwMode="auto">
              <a:xfrm>
                <a:off x="2736" y="1090"/>
                <a:ext cx="2345" cy="2360"/>
                <a:chOff x="2736" y="1090"/>
                <a:chExt cx="2345" cy="2360"/>
              </a:xfrm>
            </p:grpSpPr>
            <p:sp>
              <p:nvSpPr>
                <p:cNvPr id="15672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766" y="3120"/>
                  <a:ext cx="384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3" name="Rectangle 51"/>
                <p:cNvSpPr>
                  <a:spLocks noChangeArrowheads="1"/>
                </p:cNvSpPr>
                <p:nvPr/>
              </p:nvSpPr>
              <p:spPr bwMode="auto">
                <a:xfrm>
                  <a:off x="3748" y="1090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4" name="Rectangle 52"/>
                <p:cNvSpPr>
                  <a:spLocks noChangeArrowheads="1"/>
                </p:cNvSpPr>
                <p:nvPr/>
              </p:nvSpPr>
              <p:spPr bwMode="auto">
                <a:xfrm>
                  <a:off x="4564" y="142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5" name="Rectangle 53"/>
                <p:cNvSpPr>
                  <a:spLocks noChangeArrowheads="1"/>
                </p:cNvSpPr>
                <p:nvPr/>
              </p:nvSpPr>
              <p:spPr bwMode="auto">
                <a:xfrm>
                  <a:off x="2980" y="142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6" name="Rectangle 54"/>
                <p:cNvSpPr>
                  <a:spLocks noChangeArrowheads="1"/>
                </p:cNvSpPr>
                <p:nvPr/>
              </p:nvSpPr>
              <p:spPr bwMode="auto">
                <a:xfrm>
                  <a:off x="2736" y="214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7" name="Rectangle 55"/>
                <p:cNvSpPr>
                  <a:spLocks noChangeArrowheads="1"/>
                </p:cNvSpPr>
                <p:nvPr/>
              </p:nvSpPr>
              <p:spPr bwMode="auto">
                <a:xfrm>
                  <a:off x="3024" y="286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8" name="Rectangle 56"/>
                <p:cNvSpPr>
                  <a:spLocks noChangeArrowheads="1"/>
                </p:cNvSpPr>
                <p:nvPr/>
              </p:nvSpPr>
              <p:spPr bwMode="auto">
                <a:xfrm>
                  <a:off x="4852" y="214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  <p:sp>
              <p:nvSpPr>
                <p:cNvPr id="156729" name="Rectangle 57"/>
                <p:cNvSpPr>
                  <a:spLocks noChangeArrowheads="1"/>
                </p:cNvSpPr>
                <p:nvPr/>
              </p:nvSpPr>
              <p:spPr bwMode="auto">
                <a:xfrm>
                  <a:off x="4516" y="2866"/>
                  <a:ext cx="22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800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graphicFrame>
          <p:nvGraphicFramePr>
            <p:cNvPr id="156730" name="Object 58"/>
            <p:cNvGraphicFramePr>
              <a:graphicFrameLocks noChangeAspect="1"/>
            </p:cNvGraphicFramePr>
            <p:nvPr/>
          </p:nvGraphicFramePr>
          <p:xfrm>
            <a:off x="4095" y="3072"/>
            <a:ext cx="36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471" name="公式" r:id="rId7" imgW="126720" imgH="164880" progId="Equation.3">
                    <p:embed/>
                  </p:oleObj>
                </mc:Choice>
                <mc:Fallback>
                  <p:oleObj name="公式" r:id="rId7" imgW="126720" imgH="164880" progId="Equation.3">
                    <p:embed/>
                    <p:pic>
                      <p:nvPicPr>
                        <p:cNvPr id="0" name="Object 5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3072"/>
                          <a:ext cx="369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5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5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03" grpId="0" animBg="1" autoUpdateAnimBg="0"/>
      <p:bldP spid="156704" grpId="0" animBg="1" autoUpdateAnimBg="0"/>
      <p:bldP spid="15670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81000" y="9538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2186428"/>
            <a:ext cx="7772400" cy="147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/>
              <a:t> </a:t>
            </a:r>
            <a:r>
              <a:rPr kumimoji="1" lang="en-US" altLang="zh-CN" sz="2800" dirty="0"/>
              <a:t>10-1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10-2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10-3</a:t>
            </a:r>
            <a:r>
              <a:rPr kumimoji="1" lang="zh-CN" altLang="en-US" sz="2800" dirty="0"/>
              <a:t>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/>
              <a:t> 10-8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10-9</a:t>
            </a:r>
            <a:r>
              <a:rPr kumimoji="1" lang="zh-CN" altLang="en-US" sz="2800" dirty="0"/>
              <a:t>。</a:t>
            </a:r>
            <a:endParaRPr kumimoji="1" lang="en-US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609600" y="700088"/>
            <a:ext cx="3886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一  电介质的极化机制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95400" y="1233488"/>
            <a:ext cx="6934200" cy="1052512"/>
            <a:chOff x="816" y="777"/>
            <a:chExt cx="4368" cy="663"/>
          </a:xfrm>
        </p:grpSpPr>
        <p:sp>
          <p:nvSpPr>
            <p:cNvPr id="158724" name="Text Box 4"/>
            <p:cNvSpPr txBox="1">
              <a:spLocks noChangeArrowheads="1"/>
            </p:cNvSpPr>
            <p:nvPr/>
          </p:nvSpPr>
          <p:spPr bwMode="auto">
            <a:xfrm>
              <a:off x="816" y="777"/>
              <a:ext cx="43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CC"/>
                  </a:solidFill>
                </a:rPr>
                <a:t>无极</a:t>
              </a:r>
              <a:r>
                <a:rPr lang="zh-CN" altLang="en-US" sz="2800" dirty="0">
                  <a:solidFill>
                    <a:schemeClr val="tx1"/>
                  </a:solidFill>
                </a:rPr>
                <a:t>分子电介质：（氢、甲烷、石蜡等）</a:t>
              </a:r>
            </a:p>
          </p:txBody>
        </p:sp>
        <p:sp>
          <p:nvSpPr>
            <p:cNvPr id="158725" name="Rectangle 5"/>
            <p:cNvSpPr>
              <a:spLocks noChangeArrowheads="1"/>
            </p:cNvSpPr>
            <p:nvPr/>
          </p:nvSpPr>
          <p:spPr bwMode="auto">
            <a:xfrm>
              <a:off x="816" y="1113"/>
              <a:ext cx="43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9900"/>
                  </a:solidFill>
                </a:rPr>
                <a:t>有极</a:t>
              </a:r>
              <a:r>
                <a:rPr lang="zh-CN" altLang="en-US" sz="2800">
                  <a:solidFill>
                    <a:schemeClr val="tx1"/>
                  </a:solidFill>
                </a:rPr>
                <a:t>分子电介质：（水、有机玻璃等）</a:t>
              </a:r>
            </a:p>
          </p:txBody>
        </p:sp>
      </p:grp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152400" y="76200"/>
            <a:ext cx="5638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-2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静电场中的电介质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960515" r:id="rId2" imgW="8000000" imgH="4114286"/>
        </mc:Choice>
        <mc:Fallback>
          <p:control r:id="rId2" imgW="8000000" imgH="4114286">
            <p:pic>
              <p:nvPicPr>
                <p:cNvPr id="3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9600" y="2362200"/>
                  <a:ext cx="8001000" cy="411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6"/>
          <p:cNvGrpSpPr/>
          <p:nvPr/>
        </p:nvGrpSpPr>
        <p:grpSpPr>
          <a:xfrm>
            <a:off x="4648200" y="1219200"/>
            <a:ext cx="3810000" cy="3124200"/>
            <a:chOff x="4876800" y="1174750"/>
            <a:chExt cx="3810000" cy="3124200"/>
          </a:xfrm>
        </p:grpSpPr>
        <p:sp>
          <p:nvSpPr>
            <p:cNvPr id="159747" name="Rectangle 3"/>
            <p:cNvSpPr>
              <a:spLocks noChangeArrowheads="1"/>
            </p:cNvSpPr>
            <p:nvPr/>
          </p:nvSpPr>
          <p:spPr bwMode="auto">
            <a:xfrm>
              <a:off x="4876800" y="1174750"/>
              <a:ext cx="3810000" cy="3124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48" name="Rectangle 4" descr="20%"/>
            <p:cNvSpPr>
              <a:spLocks noChangeArrowheads="1"/>
            </p:cNvSpPr>
            <p:nvPr/>
          </p:nvSpPr>
          <p:spPr bwMode="auto">
            <a:xfrm>
              <a:off x="5562600" y="1860550"/>
              <a:ext cx="2971800" cy="1752600"/>
            </a:xfrm>
            <a:prstGeom prst="rect">
              <a:avLst/>
            </a:prstGeom>
            <a:pattFill prst="pct20">
              <a:fgClr>
                <a:srgbClr val="0000FF"/>
              </a:fgClr>
              <a:bgClr>
                <a:schemeClr val="bg1"/>
              </a:bgClr>
            </a:patt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5562600" y="1250950"/>
              <a:ext cx="2971800" cy="53340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0" name="Rectangle 6"/>
            <p:cNvSpPr>
              <a:spLocks noChangeArrowheads="1"/>
            </p:cNvSpPr>
            <p:nvPr/>
          </p:nvSpPr>
          <p:spPr bwMode="auto">
            <a:xfrm>
              <a:off x="5562600" y="3689350"/>
              <a:ext cx="2971800" cy="53340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3" name="Rectangle 9"/>
            <p:cNvSpPr>
              <a:spLocks noChangeArrowheads="1"/>
            </p:cNvSpPr>
            <p:nvPr/>
          </p:nvSpPr>
          <p:spPr bwMode="auto">
            <a:xfrm>
              <a:off x="5562600" y="1403350"/>
              <a:ext cx="31242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159754" name="Rectangle 10"/>
            <p:cNvSpPr>
              <a:spLocks noChangeArrowheads="1"/>
            </p:cNvSpPr>
            <p:nvPr/>
          </p:nvSpPr>
          <p:spPr bwMode="auto">
            <a:xfrm>
              <a:off x="5562600" y="3384550"/>
              <a:ext cx="306686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dirty="0">
                  <a:solidFill>
                    <a:srgbClr val="CC0000"/>
                  </a:solidFill>
                </a:rPr>
                <a:t>- - - - - - - - - - -</a:t>
              </a:r>
            </a:p>
          </p:txBody>
        </p:sp>
        <p:sp>
          <p:nvSpPr>
            <p:cNvPr id="159755" name="Line 11"/>
            <p:cNvSpPr>
              <a:spLocks noChangeShapeType="1"/>
            </p:cNvSpPr>
            <p:nvPr/>
          </p:nvSpPr>
          <p:spPr bwMode="auto">
            <a:xfrm>
              <a:off x="5105400" y="1860550"/>
              <a:ext cx="53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>
              <a:off x="5410200" y="1860550"/>
              <a:ext cx="0" cy="1752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57" name="Object 13"/>
            <p:cNvGraphicFramePr>
              <a:graphicFrameLocks noChangeAspect="1"/>
            </p:cNvGraphicFramePr>
            <p:nvPr/>
          </p:nvGraphicFramePr>
          <p:xfrm>
            <a:off x="5010150" y="2393950"/>
            <a:ext cx="40005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37" name="Equation" r:id="rId3" imgW="190440" imgH="253800" progId="Equation.3">
                    <p:embed/>
                  </p:oleObj>
                </mc:Choice>
                <mc:Fallback>
                  <p:oleObj name="Equation" r:id="rId3" imgW="190440" imgH="253800" progId="Equation.3">
                    <p:embed/>
                    <p:pic>
                      <p:nvPicPr>
                        <p:cNvPr id="0" name="Object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0150" y="2393950"/>
                          <a:ext cx="40005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59" name="Line 15"/>
            <p:cNvSpPr>
              <a:spLocks noChangeShapeType="1"/>
            </p:cNvSpPr>
            <p:nvPr/>
          </p:nvSpPr>
          <p:spPr bwMode="auto">
            <a:xfrm>
              <a:off x="5105400" y="3613150"/>
              <a:ext cx="53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159761" name="Object 17"/>
          <p:cNvGraphicFramePr>
            <a:graphicFrameLocks noChangeAspect="1"/>
          </p:cNvGraphicFramePr>
          <p:nvPr/>
        </p:nvGraphicFramePr>
        <p:xfrm>
          <a:off x="496887" y="1951038"/>
          <a:ext cx="4075113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38" name="Equation" r:id="rId5" imgW="1282680" imgH="406080" progId="Equation.3">
                  <p:embed/>
                </p:oleObj>
              </mc:Choice>
              <mc:Fallback>
                <p:oleObj name="Equation" r:id="rId5" imgW="128268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" y="1951038"/>
                        <a:ext cx="4075113" cy="12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867400" y="1784350"/>
            <a:ext cx="604838" cy="1981200"/>
            <a:chOff x="4176" y="1152"/>
            <a:chExt cx="381" cy="1248"/>
          </a:xfrm>
        </p:grpSpPr>
        <p:sp>
          <p:nvSpPr>
            <p:cNvPr id="159767" name="Line 23"/>
            <p:cNvSpPr>
              <a:spLocks noChangeShapeType="1"/>
            </p:cNvSpPr>
            <p:nvPr/>
          </p:nvSpPr>
          <p:spPr bwMode="auto">
            <a:xfrm>
              <a:off x="4176" y="1152"/>
              <a:ext cx="0" cy="1248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68" name="Object 24"/>
            <p:cNvGraphicFramePr>
              <a:graphicFrameLocks noChangeAspect="1"/>
            </p:cNvGraphicFramePr>
            <p:nvPr/>
          </p:nvGraphicFramePr>
          <p:xfrm>
            <a:off x="4176" y="1536"/>
            <a:ext cx="381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39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Object 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536"/>
                          <a:ext cx="381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629400" y="2393950"/>
            <a:ext cx="644525" cy="762000"/>
            <a:chOff x="4656" y="1536"/>
            <a:chExt cx="406" cy="480"/>
          </a:xfrm>
        </p:grpSpPr>
        <p:sp>
          <p:nvSpPr>
            <p:cNvPr id="159770" name="Line 26"/>
            <p:cNvSpPr>
              <a:spLocks noChangeShapeType="1"/>
            </p:cNvSpPr>
            <p:nvPr/>
          </p:nvSpPr>
          <p:spPr bwMode="auto">
            <a:xfrm flipV="1">
              <a:off x="4656" y="1536"/>
              <a:ext cx="0" cy="4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71" name="Object 27"/>
            <p:cNvGraphicFramePr>
              <a:graphicFrameLocks noChangeAspect="1"/>
            </p:cNvGraphicFramePr>
            <p:nvPr/>
          </p:nvGraphicFramePr>
          <p:xfrm>
            <a:off x="4704" y="1536"/>
            <a:ext cx="35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40" name="Equation" r:id="rId9" imgW="177480" imgH="190440" progId="Equation.3">
                    <p:embed/>
                  </p:oleObj>
                </mc:Choice>
                <mc:Fallback>
                  <p:oleObj name="Equation" r:id="rId9" imgW="177480" imgH="190440" progId="Equation.3">
                    <p:embed/>
                    <p:pic>
                      <p:nvPicPr>
                        <p:cNvPr id="0" name="Object 2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536"/>
                          <a:ext cx="35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7315200" y="2286000"/>
            <a:ext cx="620713" cy="1066800"/>
            <a:chOff x="5136" y="1440"/>
            <a:chExt cx="391" cy="672"/>
          </a:xfrm>
        </p:grpSpPr>
        <p:sp>
          <p:nvSpPr>
            <p:cNvPr id="159773" name="Line 29"/>
            <p:cNvSpPr>
              <a:spLocks noChangeShapeType="1"/>
            </p:cNvSpPr>
            <p:nvPr/>
          </p:nvSpPr>
          <p:spPr bwMode="auto">
            <a:xfrm>
              <a:off x="5136" y="1440"/>
              <a:ext cx="0" cy="6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74" name="Object 30"/>
            <p:cNvGraphicFramePr>
              <a:graphicFrameLocks noChangeAspect="1"/>
            </p:cNvGraphicFramePr>
            <p:nvPr/>
          </p:nvGraphicFramePr>
          <p:xfrm>
            <a:off x="5184" y="1488"/>
            <a:ext cx="343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41" name="公式" r:id="rId11" imgW="152280" imgH="190440" progId="Equation.3">
                    <p:embed/>
                  </p:oleObj>
                </mc:Choice>
                <mc:Fallback>
                  <p:oleObj name="公式" r:id="rId11" imgW="152280" imgH="190440" progId="Equation.3">
                    <p:embed/>
                    <p:pic>
                      <p:nvPicPr>
                        <p:cNvPr id="0" name="Object 3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488"/>
                          <a:ext cx="343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1549" name="Object 17"/>
          <p:cNvGraphicFramePr>
            <a:graphicFrameLocks noChangeAspect="1"/>
          </p:cNvGraphicFramePr>
          <p:nvPr/>
        </p:nvGraphicFramePr>
        <p:xfrm>
          <a:off x="514350" y="838200"/>
          <a:ext cx="169545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2" name="Equation" r:id="rId13" imgW="533160" imgH="406080" progId="Equation.3">
                  <p:embed/>
                </p:oleObj>
              </mc:Choice>
              <mc:Fallback>
                <p:oleObj name="Equation" r:id="rId13" imgW="533160" imgH="4060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838200"/>
                        <a:ext cx="1695450" cy="1250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0" name="Object 14"/>
          <p:cNvGraphicFramePr>
            <a:graphicFrameLocks noChangeAspect="1"/>
          </p:cNvGraphicFramePr>
          <p:nvPr/>
        </p:nvGraphicFramePr>
        <p:xfrm>
          <a:off x="2743200" y="838200"/>
          <a:ext cx="1533525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3" name="Equation" r:id="rId15" imgW="482400" imgH="406080" progId="Equation.3">
                  <p:embed/>
                </p:oleObj>
              </mc:Choice>
              <mc:Fallback>
                <p:oleObj name="Equation" r:id="rId15" imgW="482400" imgH="4060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838200"/>
                        <a:ext cx="1533525" cy="1250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048000" y="4410670"/>
            <a:ext cx="61722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B050"/>
                </a:solidFill>
              </a:rPr>
              <a:t>对于相同的外加电场</a:t>
            </a:r>
            <a:r>
              <a:rPr lang="en-US" altLang="zh-CN" dirty="0">
                <a:solidFill>
                  <a:srgbClr val="00B050"/>
                </a:solidFill>
              </a:rPr>
              <a:t>E0</a:t>
            </a:r>
            <a:r>
              <a:rPr lang="zh-CN" altLang="en-US" dirty="0">
                <a:solidFill>
                  <a:srgbClr val="00B050"/>
                </a:solidFill>
              </a:rPr>
              <a:t>，不同的介质会产生不同的极化电荷</a:t>
            </a:r>
            <a:r>
              <a:rPr lang="en-US" altLang="zh-CN" dirty="0">
                <a:solidFill>
                  <a:srgbClr val="00B050"/>
                </a:solidFill>
              </a:rPr>
              <a:t>sigma</a:t>
            </a:r>
            <a:r>
              <a:rPr lang="zh-CN" altLang="en-US" dirty="0">
                <a:solidFill>
                  <a:srgbClr val="00B050"/>
                </a:solidFill>
              </a:rPr>
              <a:t>，而不同的的极化电荷会导致最终总电场</a:t>
            </a:r>
            <a:r>
              <a:rPr lang="en-US" altLang="zh-CN" dirty="0">
                <a:solidFill>
                  <a:srgbClr val="00B050"/>
                </a:solidFill>
              </a:rPr>
              <a:t>E</a:t>
            </a:r>
            <a:r>
              <a:rPr lang="zh-CN" altLang="en-US" dirty="0">
                <a:solidFill>
                  <a:srgbClr val="00B050"/>
                </a:solidFill>
              </a:rPr>
              <a:t>的不同。极化电荷越多，极化电场对外加电场的抵消越多，总电场越小。</a:t>
            </a: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381000" y="3124200"/>
            <a:ext cx="4419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4"/>
                </a:solidFill>
              </a:rPr>
              <a:t>引入代表电介质形式的相对电容率：</a:t>
            </a:r>
          </a:p>
        </p:txBody>
      </p:sp>
      <p:graphicFrame>
        <p:nvGraphicFramePr>
          <p:cNvPr id="961552" name="Object 11"/>
          <p:cNvGraphicFramePr>
            <a:graphicFrameLocks noChangeAspect="1"/>
          </p:cNvGraphicFramePr>
          <p:nvPr/>
        </p:nvGraphicFramePr>
        <p:xfrm>
          <a:off x="1219200" y="4038600"/>
          <a:ext cx="1828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4" name="Equation" r:id="rId17" imgW="495000" imgH="431640" progId="Equation.3">
                  <p:embed/>
                </p:oleObj>
              </mc:Choice>
              <mc:Fallback>
                <p:oleObj name="Equation" r:id="rId17" imgW="49500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038600"/>
                        <a:ext cx="18288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762000" y="5410200"/>
            <a:ext cx="3581400" cy="787400"/>
            <a:chOff x="480" y="3504"/>
            <a:chExt cx="2256" cy="496"/>
          </a:xfrm>
        </p:grpSpPr>
        <p:sp>
          <p:nvSpPr>
            <p:cNvPr id="39" name="Rectangle 13"/>
            <p:cNvSpPr>
              <a:spLocks noChangeArrowheads="1"/>
            </p:cNvSpPr>
            <p:nvPr/>
          </p:nvSpPr>
          <p:spPr bwMode="auto">
            <a:xfrm>
              <a:off x="480" y="3504"/>
              <a:ext cx="2256" cy="48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40" name="Object 14"/>
            <p:cNvGraphicFramePr>
              <a:graphicFrameLocks noChangeAspect="1"/>
            </p:cNvGraphicFramePr>
            <p:nvPr/>
          </p:nvGraphicFramePr>
          <p:xfrm>
            <a:off x="1776" y="3504"/>
            <a:ext cx="84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45" name="Equation" r:id="rId19" imgW="368280" imgH="215640" progId="Equation.3">
                    <p:embed/>
                  </p:oleObj>
                </mc:Choice>
                <mc:Fallback>
                  <p:oleObj name="Equation" r:id="rId19" imgW="368280" imgH="215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504"/>
                          <a:ext cx="84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528" y="3600"/>
              <a:ext cx="186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相对</a:t>
              </a:r>
              <a:r>
                <a:rPr lang="zh-CN" altLang="en-US" sz="2800">
                  <a:solidFill>
                    <a:schemeClr val="tx1"/>
                  </a:solidFill>
                </a:rPr>
                <a:t>电容率</a:t>
              </a:r>
            </a:p>
          </p:txBody>
        </p:sp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4953000" y="5410200"/>
            <a:ext cx="3581400" cy="825500"/>
            <a:chOff x="3120" y="3504"/>
            <a:chExt cx="2256" cy="520"/>
          </a:xfrm>
        </p:grpSpPr>
        <p:sp>
          <p:nvSpPr>
            <p:cNvPr id="43" name="Rectangle 17"/>
            <p:cNvSpPr>
              <a:spLocks noChangeArrowheads="1"/>
            </p:cNvSpPr>
            <p:nvPr/>
          </p:nvSpPr>
          <p:spPr bwMode="auto">
            <a:xfrm>
              <a:off x="3120" y="3504"/>
              <a:ext cx="2256" cy="48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4" name="Rectangle 18"/>
            <p:cNvSpPr>
              <a:spLocks noChangeArrowheads="1"/>
            </p:cNvSpPr>
            <p:nvPr/>
          </p:nvSpPr>
          <p:spPr bwMode="auto">
            <a:xfrm>
              <a:off x="3273" y="3600"/>
              <a:ext cx="12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电容率</a:t>
              </a:r>
            </a:p>
          </p:txBody>
        </p:sp>
        <p:graphicFrame>
          <p:nvGraphicFramePr>
            <p:cNvPr id="45" name="Object 19"/>
            <p:cNvGraphicFramePr>
              <a:graphicFrameLocks noChangeAspect="1"/>
            </p:cNvGraphicFramePr>
            <p:nvPr/>
          </p:nvGraphicFramePr>
          <p:xfrm>
            <a:off x="4128" y="3504"/>
            <a:ext cx="1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546" name="Equation" r:id="rId21" imgW="507960" imgH="228600" progId="Equation.3">
                    <p:embed/>
                  </p:oleObj>
                </mc:Choice>
                <mc:Fallback>
                  <p:oleObj name="Equation" r:id="rId21" imgW="507960" imgH="22860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504"/>
                          <a:ext cx="115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228600" y="381000"/>
            <a:ext cx="655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二 电介质对电场的影响  相对电容率</a:t>
            </a:r>
          </a:p>
        </p:txBody>
      </p:sp>
      <p:grpSp>
        <p:nvGrpSpPr>
          <p:cNvPr id="8" name="Group 49"/>
          <p:cNvGrpSpPr/>
          <p:nvPr/>
        </p:nvGrpSpPr>
        <p:grpSpPr>
          <a:xfrm>
            <a:off x="5334000" y="1600200"/>
            <a:ext cx="3429000" cy="2209800"/>
            <a:chOff x="5715000" y="1600200"/>
            <a:chExt cx="3429000" cy="2209800"/>
          </a:xfrm>
        </p:grpSpPr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5715000" y="1600200"/>
              <a:ext cx="289560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49" name="Text Box 7"/>
            <p:cNvSpPr txBox="1">
              <a:spLocks noChangeArrowheads="1"/>
            </p:cNvSpPr>
            <p:nvPr/>
          </p:nvSpPr>
          <p:spPr bwMode="auto">
            <a:xfrm>
              <a:off x="5715000" y="3225225"/>
              <a:ext cx="34290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0000FF"/>
                  </a:solidFill>
                </a:rPr>
                <a:t>+    +    +    +   +   +</a:t>
              </a:r>
              <a:r>
                <a:rPr lang="zh-CN" altLang="en-US" sz="3200" dirty="0">
                  <a:solidFill>
                    <a:srgbClr val="CC0000"/>
                  </a:solidFill>
                </a:rPr>
                <a:t>     </a:t>
              </a:r>
            </a:p>
          </p:txBody>
        </p:sp>
      </p:grpSp>
      <p:graphicFrame>
        <p:nvGraphicFramePr>
          <p:cNvPr id="961555" name="Object 14"/>
          <p:cNvGraphicFramePr>
            <a:graphicFrameLocks noChangeAspect="1"/>
          </p:cNvGraphicFramePr>
          <p:nvPr/>
        </p:nvGraphicFramePr>
        <p:xfrm>
          <a:off x="5329237" y="1981200"/>
          <a:ext cx="5381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7" name="Equation" r:id="rId23" imgW="152280" imgH="215640" progId="Equation.3">
                  <p:embed/>
                </p:oleObj>
              </mc:Choice>
              <mc:Fallback>
                <p:oleObj name="Equation" r:id="rId23" imgW="152280" imgH="215640" progId="Equation.3">
                  <p:embed/>
                  <p:pic>
                    <p:nvPicPr>
                      <p:cNvPr id="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7" y="1981200"/>
                        <a:ext cx="5381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6" name="Object 20"/>
          <p:cNvGraphicFramePr>
            <a:graphicFrameLocks noChangeAspect="1"/>
          </p:cNvGraphicFramePr>
          <p:nvPr/>
        </p:nvGraphicFramePr>
        <p:xfrm>
          <a:off x="8458200" y="1295400"/>
          <a:ext cx="59722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8" name="Equation" r:id="rId25" imgW="304560" imgH="203040" progId="Equation.3">
                  <p:embed/>
                </p:oleObj>
              </mc:Choice>
              <mc:Fallback>
                <p:oleObj name="Equation" r:id="rId25" imgW="30456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295400"/>
                        <a:ext cx="59722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7" name="Object 21"/>
          <p:cNvGraphicFramePr>
            <a:graphicFrameLocks noChangeAspect="1"/>
          </p:cNvGraphicFramePr>
          <p:nvPr/>
        </p:nvGraphicFramePr>
        <p:xfrm>
          <a:off x="8534400" y="1743075"/>
          <a:ext cx="5715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9" name="Equation" r:id="rId27" imgW="291960" imgH="177480" progId="Equation.3">
                  <p:embed/>
                </p:oleObj>
              </mc:Choice>
              <mc:Fallback>
                <p:oleObj name="Equation" r:id="rId27" imgW="291960" imgH="177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1743075"/>
                        <a:ext cx="5715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8" name="Object 22"/>
          <p:cNvGraphicFramePr>
            <a:graphicFrameLocks noChangeAspect="1"/>
          </p:cNvGraphicFramePr>
          <p:nvPr/>
        </p:nvGraphicFramePr>
        <p:xfrm>
          <a:off x="8559800" y="3233738"/>
          <a:ext cx="5715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0" name="Equation" r:id="rId29" imgW="291960" imgH="177480" progId="Equation.3">
                  <p:embed/>
                </p:oleObj>
              </mc:Choice>
              <mc:Fallback>
                <p:oleObj name="Equation" r:id="rId29" imgW="291960" imgH="177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3233738"/>
                        <a:ext cx="5715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9" name="Object 23"/>
          <p:cNvGraphicFramePr>
            <a:graphicFrameLocks noChangeAspect="1"/>
          </p:cNvGraphicFramePr>
          <p:nvPr/>
        </p:nvGraphicFramePr>
        <p:xfrm>
          <a:off x="8559800" y="3657600"/>
          <a:ext cx="571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1" name="Equation" r:id="rId31" imgW="291960" imgH="203040" progId="Equation.3">
                  <p:embed/>
                </p:oleObj>
              </mc:Choice>
              <mc:Fallback>
                <p:oleObj name="Equation" r:id="rId31" imgW="291960" imgH="2030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3657600"/>
                        <a:ext cx="5715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96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96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6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96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96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96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6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6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6"/>
          <p:cNvGrpSpPr/>
          <p:nvPr/>
        </p:nvGrpSpPr>
        <p:grpSpPr>
          <a:xfrm>
            <a:off x="4648200" y="1219200"/>
            <a:ext cx="3810000" cy="3124200"/>
            <a:chOff x="4876800" y="1174750"/>
            <a:chExt cx="3810000" cy="3124200"/>
          </a:xfrm>
        </p:grpSpPr>
        <p:sp>
          <p:nvSpPr>
            <p:cNvPr id="159747" name="Rectangle 3"/>
            <p:cNvSpPr>
              <a:spLocks noChangeArrowheads="1"/>
            </p:cNvSpPr>
            <p:nvPr/>
          </p:nvSpPr>
          <p:spPr bwMode="auto">
            <a:xfrm>
              <a:off x="4876800" y="1174750"/>
              <a:ext cx="3810000" cy="3124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48" name="Rectangle 4" descr="20%"/>
            <p:cNvSpPr>
              <a:spLocks noChangeArrowheads="1"/>
            </p:cNvSpPr>
            <p:nvPr/>
          </p:nvSpPr>
          <p:spPr bwMode="auto">
            <a:xfrm>
              <a:off x="5562600" y="1860550"/>
              <a:ext cx="2971800" cy="1752600"/>
            </a:xfrm>
            <a:prstGeom prst="rect">
              <a:avLst/>
            </a:prstGeom>
            <a:pattFill prst="pct20">
              <a:fgClr>
                <a:srgbClr val="0000FF"/>
              </a:fgClr>
              <a:bgClr>
                <a:schemeClr val="bg1"/>
              </a:bgClr>
            </a:patt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5562600" y="1250950"/>
              <a:ext cx="2971800" cy="53340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0" name="Rectangle 6"/>
            <p:cNvSpPr>
              <a:spLocks noChangeArrowheads="1"/>
            </p:cNvSpPr>
            <p:nvPr/>
          </p:nvSpPr>
          <p:spPr bwMode="auto">
            <a:xfrm>
              <a:off x="5562600" y="3689350"/>
              <a:ext cx="2971800" cy="53340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3" name="Rectangle 9"/>
            <p:cNvSpPr>
              <a:spLocks noChangeArrowheads="1"/>
            </p:cNvSpPr>
            <p:nvPr/>
          </p:nvSpPr>
          <p:spPr bwMode="auto">
            <a:xfrm>
              <a:off x="5562600" y="1403350"/>
              <a:ext cx="31242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159754" name="Rectangle 10"/>
            <p:cNvSpPr>
              <a:spLocks noChangeArrowheads="1"/>
            </p:cNvSpPr>
            <p:nvPr/>
          </p:nvSpPr>
          <p:spPr bwMode="auto">
            <a:xfrm>
              <a:off x="5562600" y="3384550"/>
              <a:ext cx="306686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dirty="0">
                  <a:solidFill>
                    <a:srgbClr val="CC0000"/>
                  </a:solidFill>
                </a:rPr>
                <a:t>- - - - - - - - - - -</a:t>
              </a:r>
            </a:p>
          </p:txBody>
        </p:sp>
        <p:sp>
          <p:nvSpPr>
            <p:cNvPr id="159755" name="Line 11"/>
            <p:cNvSpPr>
              <a:spLocks noChangeShapeType="1"/>
            </p:cNvSpPr>
            <p:nvPr/>
          </p:nvSpPr>
          <p:spPr bwMode="auto">
            <a:xfrm>
              <a:off x="5105400" y="1860550"/>
              <a:ext cx="53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>
              <a:off x="5410200" y="1860550"/>
              <a:ext cx="0" cy="1752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57" name="Object 13"/>
            <p:cNvGraphicFramePr>
              <a:graphicFrameLocks noChangeAspect="1"/>
            </p:cNvGraphicFramePr>
            <p:nvPr/>
          </p:nvGraphicFramePr>
          <p:xfrm>
            <a:off x="5010150" y="2393950"/>
            <a:ext cx="40005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563" name="Equation" r:id="rId3" imgW="190440" imgH="253800" progId="Equation.3">
                    <p:embed/>
                  </p:oleObj>
                </mc:Choice>
                <mc:Fallback>
                  <p:oleObj name="Equation" r:id="rId3" imgW="190440" imgH="253800" progId="Equation.3">
                    <p:embed/>
                    <p:pic>
                      <p:nvPicPr>
                        <p:cNvPr id="0" name="Object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0150" y="2393950"/>
                          <a:ext cx="40005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59" name="Line 15"/>
            <p:cNvSpPr>
              <a:spLocks noChangeShapeType="1"/>
            </p:cNvSpPr>
            <p:nvPr/>
          </p:nvSpPr>
          <p:spPr bwMode="auto">
            <a:xfrm>
              <a:off x="5105400" y="3613150"/>
              <a:ext cx="53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aphicFrame>
        <p:nvGraphicFramePr>
          <p:cNvPr id="159761" name="Object 17"/>
          <p:cNvGraphicFramePr>
            <a:graphicFrameLocks noChangeAspect="1"/>
          </p:cNvGraphicFramePr>
          <p:nvPr/>
        </p:nvGraphicFramePr>
        <p:xfrm>
          <a:off x="496887" y="914400"/>
          <a:ext cx="4075113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64" name="Equation" r:id="rId5" imgW="1282680" imgH="406080" progId="Equation.3">
                  <p:embed/>
                </p:oleObj>
              </mc:Choice>
              <mc:Fallback>
                <p:oleObj name="Equation" r:id="rId5" imgW="128268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" y="914400"/>
                        <a:ext cx="4075113" cy="12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867400" y="1784350"/>
            <a:ext cx="604838" cy="1981200"/>
            <a:chOff x="4176" y="1152"/>
            <a:chExt cx="381" cy="1248"/>
          </a:xfrm>
        </p:grpSpPr>
        <p:sp>
          <p:nvSpPr>
            <p:cNvPr id="159767" name="Line 23"/>
            <p:cNvSpPr>
              <a:spLocks noChangeShapeType="1"/>
            </p:cNvSpPr>
            <p:nvPr/>
          </p:nvSpPr>
          <p:spPr bwMode="auto">
            <a:xfrm>
              <a:off x="4176" y="1152"/>
              <a:ext cx="0" cy="1248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68" name="Object 24"/>
            <p:cNvGraphicFramePr>
              <a:graphicFrameLocks noChangeAspect="1"/>
            </p:cNvGraphicFramePr>
            <p:nvPr/>
          </p:nvGraphicFramePr>
          <p:xfrm>
            <a:off x="4176" y="1536"/>
            <a:ext cx="381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565" name="公式" r:id="rId7" imgW="190440" imgH="241200" progId="Equation.3">
                    <p:embed/>
                  </p:oleObj>
                </mc:Choice>
                <mc:Fallback>
                  <p:oleObj name="公式" r:id="rId7" imgW="190440" imgH="241200" progId="Equation.3">
                    <p:embed/>
                    <p:pic>
                      <p:nvPicPr>
                        <p:cNvPr id="0" name="Object 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536"/>
                          <a:ext cx="381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629400" y="2393950"/>
            <a:ext cx="644525" cy="762000"/>
            <a:chOff x="4656" y="1536"/>
            <a:chExt cx="406" cy="480"/>
          </a:xfrm>
        </p:grpSpPr>
        <p:sp>
          <p:nvSpPr>
            <p:cNvPr id="159770" name="Line 26"/>
            <p:cNvSpPr>
              <a:spLocks noChangeShapeType="1"/>
            </p:cNvSpPr>
            <p:nvPr/>
          </p:nvSpPr>
          <p:spPr bwMode="auto">
            <a:xfrm flipV="1">
              <a:off x="4656" y="1536"/>
              <a:ext cx="0" cy="4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71" name="Object 27"/>
            <p:cNvGraphicFramePr>
              <a:graphicFrameLocks noChangeAspect="1"/>
            </p:cNvGraphicFramePr>
            <p:nvPr/>
          </p:nvGraphicFramePr>
          <p:xfrm>
            <a:off x="4704" y="1536"/>
            <a:ext cx="35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566" name="Equation" r:id="rId9" imgW="177480" imgH="190440" progId="Equation.3">
                    <p:embed/>
                  </p:oleObj>
                </mc:Choice>
                <mc:Fallback>
                  <p:oleObj name="Equation" r:id="rId9" imgW="177480" imgH="190440" progId="Equation.3">
                    <p:embed/>
                    <p:pic>
                      <p:nvPicPr>
                        <p:cNvPr id="0" name="Object 2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536"/>
                          <a:ext cx="358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7315200" y="2286000"/>
            <a:ext cx="620713" cy="1066800"/>
            <a:chOff x="5136" y="1440"/>
            <a:chExt cx="391" cy="672"/>
          </a:xfrm>
        </p:grpSpPr>
        <p:sp>
          <p:nvSpPr>
            <p:cNvPr id="159773" name="Line 29"/>
            <p:cNvSpPr>
              <a:spLocks noChangeShapeType="1"/>
            </p:cNvSpPr>
            <p:nvPr/>
          </p:nvSpPr>
          <p:spPr bwMode="auto">
            <a:xfrm>
              <a:off x="5136" y="1440"/>
              <a:ext cx="0" cy="6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59774" name="Object 30"/>
            <p:cNvGraphicFramePr>
              <a:graphicFrameLocks noChangeAspect="1"/>
            </p:cNvGraphicFramePr>
            <p:nvPr/>
          </p:nvGraphicFramePr>
          <p:xfrm>
            <a:off x="5184" y="1488"/>
            <a:ext cx="343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567" name="公式" r:id="rId11" imgW="152280" imgH="190440" progId="Equation.3">
                    <p:embed/>
                  </p:oleObj>
                </mc:Choice>
                <mc:Fallback>
                  <p:oleObj name="公式" r:id="rId11" imgW="152280" imgH="190440" progId="Equation.3">
                    <p:embed/>
                    <p:pic>
                      <p:nvPicPr>
                        <p:cNvPr id="0" name="Object 3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488"/>
                          <a:ext cx="343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048000" y="4410670"/>
            <a:ext cx="61722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B050"/>
                </a:solidFill>
              </a:rPr>
              <a:t>对于相同的外加电场</a:t>
            </a:r>
            <a:r>
              <a:rPr lang="en-US" altLang="zh-CN" dirty="0">
                <a:solidFill>
                  <a:srgbClr val="00B050"/>
                </a:solidFill>
              </a:rPr>
              <a:t>E0</a:t>
            </a:r>
            <a:r>
              <a:rPr lang="zh-CN" altLang="en-US" dirty="0">
                <a:solidFill>
                  <a:srgbClr val="00B050"/>
                </a:solidFill>
              </a:rPr>
              <a:t>，不同的介质会产生不同的极化电荷</a:t>
            </a:r>
            <a:r>
              <a:rPr lang="en-US" altLang="zh-CN" dirty="0">
                <a:solidFill>
                  <a:srgbClr val="00B050"/>
                </a:solidFill>
              </a:rPr>
              <a:t>sigma</a:t>
            </a:r>
            <a:r>
              <a:rPr lang="zh-CN" altLang="en-US" dirty="0">
                <a:solidFill>
                  <a:srgbClr val="00B050"/>
                </a:solidFill>
              </a:rPr>
              <a:t>，而不同的的极化电荷会导致最终总电场</a:t>
            </a:r>
            <a:r>
              <a:rPr lang="en-US" altLang="zh-CN" dirty="0">
                <a:solidFill>
                  <a:srgbClr val="00B050"/>
                </a:solidFill>
              </a:rPr>
              <a:t>E</a:t>
            </a:r>
            <a:r>
              <a:rPr lang="zh-CN" altLang="en-US" dirty="0">
                <a:solidFill>
                  <a:srgbClr val="00B050"/>
                </a:solidFill>
              </a:rPr>
              <a:t>的不同。极化电荷越多，极化电场对外加电场的抵消越多，总电场越小。</a:t>
            </a:r>
          </a:p>
        </p:txBody>
      </p:sp>
      <p:graphicFrame>
        <p:nvGraphicFramePr>
          <p:cNvPr id="961552" name="Object 11"/>
          <p:cNvGraphicFramePr>
            <a:graphicFrameLocks noChangeAspect="1"/>
          </p:cNvGraphicFramePr>
          <p:nvPr/>
        </p:nvGraphicFramePr>
        <p:xfrm>
          <a:off x="1219200" y="2057400"/>
          <a:ext cx="1828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68" name="Equation" r:id="rId13" imgW="495000" imgH="431640" progId="Equation.3">
                  <p:embed/>
                </p:oleObj>
              </mc:Choice>
              <mc:Fallback>
                <p:oleObj name="Equation" r:id="rId13" imgW="49500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57400"/>
                        <a:ext cx="18288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9"/>
          <p:cNvGrpSpPr/>
          <p:nvPr/>
        </p:nvGrpSpPr>
        <p:grpSpPr>
          <a:xfrm>
            <a:off x="5334000" y="1600200"/>
            <a:ext cx="3429000" cy="2209800"/>
            <a:chOff x="5715000" y="1600200"/>
            <a:chExt cx="3429000" cy="2209800"/>
          </a:xfrm>
        </p:grpSpPr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5715000" y="1600200"/>
              <a:ext cx="2895600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49" name="Text Box 7"/>
            <p:cNvSpPr txBox="1">
              <a:spLocks noChangeArrowheads="1"/>
            </p:cNvSpPr>
            <p:nvPr/>
          </p:nvSpPr>
          <p:spPr bwMode="auto">
            <a:xfrm>
              <a:off x="5715000" y="3225225"/>
              <a:ext cx="34290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0000FF"/>
                  </a:solidFill>
                </a:rPr>
                <a:t>+    +    +    +   +   +</a:t>
              </a:r>
              <a:r>
                <a:rPr lang="zh-CN" altLang="en-US" sz="3200" dirty="0">
                  <a:solidFill>
                    <a:srgbClr val="CC0000"/>
                  </a:solidFill>
                </a:rPr>
                <a:t>     </a:t>
              </a:r>
            </a:p>
          </p:txBody>
        </p:sp>
      </p:grpSp>
      <p:graphicFrame>
        <p:nvGraphicFramePr>
          <p:cNvPr id="961555" name="Object 14"/>
          <p:cNvGraphicFramePr>
            <a:graphicFrameLocks noChangeAspect="1"/>
          </p:cNvGraphicFramePr>
          <p:nvPr/>
        </p:nvGraphicFramePr>
        <p:xfrm>
          <a:off x="5329237" y="1981200"/>
          <a:ext cx="5381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69" name="Equation" r:id="rId15" imgW="152280" imgH="215640" progId="Equation.3">
                  <p:embed/>
                </p:oleObj>
              </mc:Choice>
              <mc:Fallback>
                <p:oleObj name="Equation" r:id="rId15" imgW="152280" imgH="215640" progId="Equation.3">
                  <p:embed/>
                  <p:pic>
                    <p:nvPicPr>
                      <p:cNvPr id="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7" y="1981200"/>
                        <a:ext cx="5381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6" name="Object 20"/>
          <p:cNvGraphicFramePr>
            <a:graphicFrameLocks noChangeAspect="1"/>
          </p:cNvGraphicFramePr>
          <p:nvPr/>
        </p:nvGraphicFramePr>
        <p:xfrm>
          <a:off x="8458200" y="1295400"/>
          <a:ext cx="59722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0" name="Equation" r:id="rId17" imgW="304560" imgH="203040" progId="Equation.3">
                  <p:embed/>
                </p:oleObj>
              </mc:Choice>
              <mc:Fallback>
                <p:oleObj name="Equation" r:id="rId17" imgW="30456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295400"/>
                        <a:ext cx="59722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7" name="Object 21"/>
          <p:cNvGraphicFramePr>
            <a:graphicFrameLocks noChangeAspect="1"/>
          </p:cNvGraphicFramePr>
          <p:nvPr/>
        </p:nvGraphicFramePr>
        <p:xfrm>
          <a:off x="8534400" y="1743075"/>
          <a:ext cx="5715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1" name="Equation" r:id="rId19" imgW="291960" imgH="177480" progId="Equation.3">
                  <p:embed/>
                </p:oleObj>
              </mc:Choice>
              <mc:Fallback>
                <p:oleObj name="Equation" r:id="rId19" imgW="291960" imgH="177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1743075"/>
                        <a:ext cx="5715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8" name="Object 22"/>
          <p:cNvGraphicFramePr>
            <a:graphicFrameLocks noChangeAspect="1"/>
          </p:cNvGraphicFramePr>
          <p:nvPr/>
        </p:nvGraphicFramePr>
        <p:xfrm>
          <a:off x="8559800" y="3233738"/>
          <a:ext cx="5715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2" name="Equation" r:id="rId21" imgW="291960" imgH="177480" progId="Equation.3">
                  <p:embed/>
                </p:oleObj>
              </mc:Choice>
              <mc:Fallback>
                <p:oleObj name="Equation" r:id="rId21" imgW="291960" imgH="177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3233738"/>
                        <a:ext cx="5715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59" name="Object 23"/>
          <p:cNvGraphicFramePr>
            <a:graphicFrameLocks noChangeAspect="1"/>
          </p:cNvGraphicFramePr>
          <p:nvPr/>
        </p:nvGraphicFramePr>
        <p:xfrm>
          <a:off x="8559800" y="3657600"/>
          <a:ext cx="571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3" name="Equation" r:id="rId23" imgW="291960" imgH="203040" progId="Equation.3">
                  <p:embed/>
                </p:oleObj>
              </mc:Choice>
              <mc:Fallback>
                <p:oleObj name="Equation" r:id="rId23" imgW="291960" imgH="2030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3657600"/>
                        <a:ext cx="5715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6"/>
          <p:cNvSpPr txBox="1">
            <a:spLocks noChangeArrowheads="1"/>
          </p:cNvSpPr>
          <p:nvPr/>
        </p:nvSpPr>
        <p:spPr bwMode="auto">
          <a:xfrm>
            <a:off x="304800" y="412750"/>
            <a:ext cx="883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三  电介质中的电场强度 极化电荷与自由电荷的关系</a:t>
            </a:r>
          </a:p>
        </p:txBody>
      </p:sp>
      <p:graphicFrame>
        <p:nvGraphicFramePr>
          <p:cNvPr id="1004561" name="Object 19"/>
          <p:cNvGraphicFramePr>
            <a:graphicFrameLocks noChangeAspect="1"/>
          </p:cNvGraphicFramePr>
          <p:nvPr/>
        </p:nvGraphicFramePr>
        <p:xfrm>
          <a:off x="838200" y="3460750"/>
          <a:ext cx="281940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4" name="Equation" r:id="rId25" imgW="812520" imgH="431640" progId="Equation.3">
                  <p:embed/>
                </p:oleObj>
              </mc:Choice>
              <mc:Fallback>
                <p:oleObj name="Equation" r:id="rId25" imgW="81252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460750"/>
                        <a:ext cx="2819400" cy="12922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666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4562" name="Object 31"/>
          <p:cNvGraphicFramePr>
            <a:graphicFrameLocks noChangeAspect="1"/>
          </p:cNvGraphicFramePr>
          <p:nvPr/>
        </p:nvGraphicFramePr>
        <p:xfrm>
          <a:off x="685800" y="5410200"/>
          <a:ext cx="32004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5" name="Equation" r:id="rId27" imgW="990360" imgH="228600" progId="">
                  <p:embed/>
                </p:oleObj>
              </mc:Choice>
              <mc:Fallback>
                <p:oleObj name="Equation" r:id="rId27" imgW="990360" imgH="228600" progId="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10200"/>
                        <a:ext cx="3200400" cy="6937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666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794" name="Object 2"/>
          <p:cNvGraphicFramePr>
            <a:graphicFrameLocks noChangeAspect="1"/>
          </p:cNvGraphicFramePr>
          <p:nvPr/>
        </p:nvGraphicFramePr>
        <p:xfrm>
          <a:off x="1143000" y="1905000"/>
          <a:ext cx="25908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74" name="Equation" r:id="rId3" imgW="850680" imgH="431640" progId="Equation.3">
                  <p:embed/>
                </p:oleObj>
              </mc:Choice>
              <mc:Fallback>
                <p:oleObj name="Equation" r:id="rId3" imgW="85068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2590800" cy="120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439738" y="914400"/>
          <a:ext cx="4132262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75" name="Equation" r:id="rId5" imgW="1371600" imgH="431640" progId="Equation.3">
                  <p:embed/>
                </p:oleObj>
              </mc:Choice>
              <mc:Fallback>
                <p:oleObj name="Equation" r:id="rId5" imgW="13716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914400"/>
                        <a:ext cx="4132262" cy="1233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4800600"/>
            <a:ext cx="5029200" cy="715962"/>
            <a:chOff x="336" y="2784"/>
            <a:chExt cx="3168" cy="451"/>
          </a:xfrm>
        </p:grpSpPr>
        <p:sp>
          <p:nvSpPr>
            <p:cNvPr id="161797" name="Rectangle 5"/>
            <p:cNvSpPr>
              <a:spLocks noChangeArrowheads="1"/>
            </p:cNvSpPr>
            <p:nvPr/>
          </p:nvSpPr>
          <p:spPr bwMode="auto">
            <a:xfrm>
              <a:off x="336" y="2784"/>
              <a:ext cx="3168" cy="432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1798" name="Object 6"/>
            <p:cNvGraphicFramePr>
              <a:graphicFrameLocks noChangeAspect="1"/>
            </p:cNvGraphicFramePr>
            <p:nvPr/>
          </p:nvGraphicFramePr>
          <p:xfrm>
            <a:off x="1536" y="2784"/>
            <a:ext cx="1961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576" name="Equation" r:id="rId7" imgW="977760" imgH="241200" progId="Equation.3">
                    <p:embed/>
                  </p:oleObj>
                </mc:Choice>
                <mc:Fallback>
                  <p:oleObj name="Equation" r:id="rId7" imgW="97776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784"/>
                          <a:ext cx="1961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FFCC"/>
                                  </a:gs>
                                  <a:gs pos="10000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799" name="Rectangle 7"/>
            <p:cNvSpPr>
              <a:spLocks noChangeArrowheads="1"/>
            </p:cNvSpPr>
            <p:nvPr/>
          </p:nvSpPr>
          <p:spPr bwMode="auto">
            <a:xfrm>
              <a:off x="336" y="2832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电位移矢量</a:t>
              </a:r>
            </a:p>
          </p:txBody>
        </p:sp>
      </p:grpSp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5257800" y="4876800"/>
            <a:ext cx="3810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</a:rPr>
              <a:t>（均匀各向同性介质）</a:t>
            </a:r>
          </a:p>
        </p:txBody>
      </p:sp>
      <p:sp>
        <p:nvSpPr>
          <p:cNvPr id="161801" name="Rectangle 9"/>
          <p:cNvSpPr>
            <a:spLocks noChangeArrowheads="1"/>
          </p:cNvSpPr>
          <p:nvPr/>
        </p:nvSpPr>
        <p:spPr bwMode="auto">
          <a:xfrm>
            <a:off x="4724400" y="990600"/>
            <a:ext cx="4038600" cy="3352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161802" name="Object 10"/>
          <p:cNvGraphicFramePr>
            <a:graphicFrameLocks noChangeAspect="1"/>
          </p:cNvGraphicFramePr>
          <p:nvPr/>
        </p:nvGraphicFramePr>
        <p:xfrm>
          <a:off x="5083175" y="1143000"/>
          <a:ext cx="5556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77" name="Equation" r:id="rId9" imgW="190440" imgH="228600" progId="Equation.3">
                  <p:embed/>
                </p:oleObj>
              </mc:Choice>
              <mc:Fallback>
                <p:oleObj name="Equation" r:id="rId9" imgW="19044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3175" y="1143000"/>
                        <a:ext cx="555625" cy="66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3" name="Object 11"/>
          <p:cNvGraphicFramePr>
            <a:graphicFrameLocks noChangeAspect="1"/>
          </p:cNvGraphicFramePr>
          <p:nvPr/>
        </p:nvGraphicFramePr>
        <p:xfrm>
          <a:off x="4800600" y="3395663"/>
          <a:ext cx="9144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78" name="Equation" r:id="rId11" imgW="304560" imgH="228600" progId="Equation.3">
                  <p:embed/>
                </p:oleObj>
              </mc:Choice>
              <mc:Fallback>
                <p:oleObj name="Equation" r:id="rId11" imgW="30456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395663"/>
                        <a:ext cx="914400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4" name="Object 12"/>
          <p:cNvGraphicFramePr>
            <a:graphicFrameLocks noChangeAspect="1"/>
          </p:cNvGraphicFramePr>
          <p:nvPr/>
        </p:nvGraphicFramePr>
        <p:xfrm>
          <a:off x="4762500" y="1676400"/>
          <a:ext cx="8763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79" name="Equation" r:id="rId13" imgW="291960" imgH="177480" progId="Equation.3">
                  <p:embed/>
                </p:oleObj>
              </mc:Choice>
              <mc:Fallback>
                <p:oleObj name="Equation" r:id="rId13" imgW="29196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1676400"/>
                        <a:ext cx="8763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5" name="Object 13"/>
          <p:cNvGraphicFramePr>
            <a:graphicFrameLocks noChangeAspect="1"/>
          </p:cNvGraphicFramePr>
          <p:nvPr/>
        </p:nvGraphicFramePr>
        <p:xfrm>
          <a:off x="5086350" y="3048000"/>
          <a:ext cx="5746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0" name="Equation" r:id="rId15" imgW="190440" imgH="177480" progId="Equation.3">
                  <p:embed/>
                </p:oleObj>
              </mc:Choice>
              <mc:Fallback>
                <p:oleObj name="Equation" r:id="rId15" imgW="190440" imgH="177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3048000"/>
                        <a:ext cx="5746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6" name="Rectangle 14" descr="20%"/>
          <p:cNvSpPr>
            <a:spLocks noChangeArrowheads="1"/>
          </p:cNvSpPr>
          <p:nvPr/>
        </p:nvSpPr>
        <p:spPr bwMode="auto">
          <a:xfrm>
            <a:off x="5638800" y="1752600"/>
            <a:ext cx="2971800" cy="1752600"/>
          </a:xfrm>
          <a:prstGeom prst="rect">
            <a:avLst/>
          </a:prstGeom>
          <a:pattFill prst="pct20">
            <a:fgClr>
              <a:srgbClr val="0033CC"/>
            </a:fgClr>
            <a:bgClr>
              <a:srgbClr val="EBEBFF"/>
            </a:bgClr>
          </a:pattFill>
          <a:ln w="19050">
            <a:solidFill>
              <a:srgbClr val="CDCD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61807" name="Rectangle 15"/>
          <p:cNvSpPr>
            <a:spLocks noChangeArrowheads="1"/>
          </p:cNvSpPr>
          <p:nvPr/>
        </p:nvSpPr>
        <p:spPr bwMode="auto">
          <a:xfrm>
            <a:off x="5638800" y="1143000"/>
            <a:ext cx="2971800" cy="533400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61808" name="Rectangle 16"/>
          <p:cNvSpPr>
            <a:spLocks noChangeArrowheads="1"/>
          </p:cNvSpPr>
          <p:nvPr/>
        </p:nvSpPr>
        <p:spPr bwMode="auto">
          <a:xfrm>
            <a:off x="5638800" y="3581400"/>
            <a:ext cx="2971800" cy="5334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66275"/>
                  <a:invGamma/>
                </a:schemeClr>
              </a:gs>
            </a:gsLst>
            <a:lin ang="5400000" scaled="1"/>
          </a:gradFill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61809" name="Text Box 17"/>
          <p:cNvSpPr txBox="1">
            <a:spLocks noChangeArrowheads="1"/>
          </p:cNvSpPr>
          <p:nvPr/>
        </p:nvSpPr>
        <p:spPr bwMode="auto">
          <a:xfrm>
            <a:off x="5638800" y="3138488"/>
            <a:ext cx="3429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</a:rPr>
              <a:t>+    +    +    +   +   +     </a:t>
            </a:r>
          </a:p>
        </p:txBody>
      </p:sp>
      <p:sp>
        <p:nvSpPr>
          <p:cNvPr id="161810" name="Rectangle 18"/>
          <p:cNvSpPr>
            <a:spLocks noChangeArrowheads="1"/>
          </p:cNvSpPr>
          <p:nvPr/>
        </p:nvSpPr>
        <p:spPr bwMode="auto">
          <a:xfrm>
            <a:off x="5715000" y="1447800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400" dirty="0">
                <a:solidFill>
                  <a:srgbClr val="0000FF"/>
                </a:solidFill>
              </a:rPr>
              <a:t>-   -   -   -  -  -        </a:t>
            </a:r>
          </a:p>
        </p:txBody>
      </p:sp>
      <p:sp>
        <p:nvSpPr>
          <p:cNvPr id="161811" name="Rectangle 19"/>
          <p:cNvSpPr>
            <a:spLocks noChangeArrowheads="1"/>
          </p:cNvSpPr>
          <p:nvPr/>
        </p:nvSpPr>
        <p:spPr bwMode="auto">
          <a:xfrm>
            <a:off x="5715000" y="1305580"/>
            <a:ext cx="3124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</a:rPr>
              <a:t>+ + + + + + + + + + +</a:t>
            </a:r>
          </a:p>
        </p:txBody>
      </p:sp>
      <p:sp>
        <p:nvSpPr>
          <p:cNvPr id="161812" name="Rectangle 20"/>
          <p:cNvSpPr>
            <a:spLocks noChangeArrowheads="1"/>
          </p:cNvSpPr>
          <p:nvPr/>
        </p:nvSpPr>
        <p:spPr bwMode="auto">
          <a:xfrm>
            <a:off x="5607050" y="3276600"/>
            <a:ext cx="30668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0000FF"/>
                </a:solidFill>
              </a:rPr>
              <a:t>- - - - - - - - - - -</a:t>
            </a:r>
          </a:p>
        </p:txBody>
      </p:sp>
      <p:graphicFrame>
        <p:nvGraphicFramePr>
          <p:cNvPr id="161813" name="Object 21"/>
          <p:cNvGraphicFramePr>
            <a:graphicFrameLocks noChangeAspect="1"/>
          </p:cNvGraphicFramePr>
          <p:nvPr/>
        </p:nvGraphicFramePr>
        <p:xfrm>
          <a:off x="5683250" y="2057400"/>
          <a:ext cx="6397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1" name="公式" r:id="rId17" imgW="164880" imgH="215640" progId="Equation.3">
                  <p:embed/>
                </p:oleObj>
              </mc:Choice>
              <mc:Fallback>
                <p:oleObj name="公式" r:id="rId17" imgW="16488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2057400"/>
                        <a:ext cx="6397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6400800" y="1295400"/>
            <a:ext cx="1371600" cy="936625"/>
            <a:chOff x="4128" y="624"/>
            <a:chExt cx="864" cy="590"/>
          </a:xfrm>
        </p:grpSpPr>
        <p:sp>
          <p:nvSpPr>
            <p:cNvPr id="161815" name="AutoShape 23"/>
            <p:cNvSpPr>
              <a:spLocks noChangeArrowheads="1"/>
            </p:cNvSpPr>
            <p:nvPr/>
          </p:nvSpPr>
          <p:spPr bwMode="auto">
            <a:xfrm>
              <a:off x="4128" y="624"/>
              <a:ext cx="864" cy="590"/>
            </a:xfrm>
            <a:prstGeom prst="can">
              <a:avLst>
                <a:gd name="adj" fmla="val 35000"/>
              </a:avLst>
            </a:prstGeom>
            <a:solidFill>
              <a:srgbClr val="CCFF99">
                <a:alpha val="50000"/>
              </a:srgbClr>
            </a:solidFill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1816" name="Object 24"/>
            <p:cNvGraphicFramePr>
              <a:graphicFrameLocks noChangeAspect="1"/>
            </p:cNvGraphicFramePr>
            <p:nvPr/>
          </p:nvGraphicFramePr>
          <p:xfrm>
            <a:off x="4464" y="864"/>
            <a:ext cx="24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582" name="Equation" r:id="rId19" imgW="190440" imgH="241200" progId="Equation.3">
                    <p:embed/>
                  </p:oleObj>
                </mc:Choice>
                <mc:Fallback>
                  <p:oleObj name="Equation" r:id="rId19" imgW="19044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864"/>
                          <a:ext cx="24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838200" y="2895600"/>
            <a:ext cx="3048000" cy="825500"/>
            <a:chOff x="528" y="1536"/>
            <a:chExt cx="1920" cy="520"/>
          </a:xfrm>
        </p:grpSpPr>
        <p:sp>
          <p:nvSpPr>
            <p:cNvPr id="161818" name="Rectangle 26"/>
            <p:cNvSpPr>
              <a:spLocks noChangeArrowheads="1"/>
            </p:cNvSpPr>
            <p:nvPr/>
          </p:nvSpPr>
          <p:spPr bwMode="auto">
            <a:xfrm>
              <a:off x="528" y="1632"/>
              <a:ext cx="12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电容率</a:t>
              </a:r>
            </a:p>
          </p:txBody>
        </p:sp>
        <p:graphicFrame>
          <p:nvGraphicFramePr>
            <p:cNvPr id="161819" name="Object 27"/>
            <p:cNvGraphicFramePr>
              <a:graphicFrameLocks noChangeAspect="1"/>
            </p:cNvGraphicFramePr>
            <p:nvPr/>
          </p:nvGraphicFramePr>
          <p:xfrm>
            <a:off x="1296" y="1536"/>
            <a:ext cx="1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583" name="Equation" r:id="rId21" imgW="507960" imgH="228600" progId="Equation.3">
                    <p:embed/>
                  </p:oleObj>
                </mc:Choice>
                <mc:Fallback>
                  <p:oleObj name="Equation" r:id="rId21" imgW="507960" imgH="2286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536"/>
                          <a:ext cx="115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1820" name="Object 28"/>
          <p:cNvGraphicFramePr>
            <a:graphicFrameLocks noChangeAspect="1"/>
          </p:cNvGraphicFramePr>
          <p:nvPr/>
        </p:nvGraphicFramePr>
        <p:xfrm>
          <a:off x="990600" y="3581400"/>
          <a:ext cx="2690813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4" name="Equation" r:id="rId23" imgW="914400" imgH="431640" progId="Equation.3">
                  <p:embed/>
                </p:oleObj>
              </mc:Choice>
              <mc:Fallback>
                <p:oleObj name="Equation" r:id="rId23" imgW="914400" imgH="4316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81400"/>
                        <a:ext cx="2690813" cy="127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609600" y="5562600"/>
            <a:ext cx="6096000" cy="990600"/>
            <a:chOff x="288" y="3504"/>
            <a:chExt cx="3840" cy="624"/>
          </a:xfrm>
        </p:grpSpPr>
        <p:sp>
          <p:nvSpPr>
            <p:cNvPr id="161823" name="Rectangle 31"/>
            <p:cNvSpPr>
              <a:spLocks noChangeArrowheads="1"/>
            </p:cNvSpPr>
            <p:nvPr/>
          </p:nvSpPr>
          <p:spPr bwMode="auto">
            <a:xfrm>
              <a:off x="288" y="3600"/>
              <a:ext cx="2496" cy="327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buClr>
                  <a:srgbClr val="0000FF"/>
                </a:buClr>
                <a:buFont typeface="Wingdings" pitchFamily="2" charset="2"/>
                <a:buChar char="Ø"/>
              </a:pPr>
              <a:r>
                <a:rPr lang="zh-CN" altLang="en-US" sz="2800" dirty="0">
                  <a:solidFill>
                    <a:srgbClr val="CC0000"/>
                  </a:solidFill>
                </a:rPr>
                <a:t>     电位移通量</a:t>
              </a:r>
            </a:p>
          </p:txBody>
        </p:sp>
        <p:graphicFrame>
          <p:nvGraphicFramePr>
            <p:cNvPr id="161824" name="Object 32"/>
            <p:cNvGraphicFramePr>
              <a:graphicFrameLocks noChangeAspect="1"/>
            </p:cNvGraphicFramePr>
            <p:nvPr/>
          </p:nvGraphicFramePr>
          <p:xfrm>
            <a:off x="2496" y="3504"/>
            <a:ext cx="163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585" name="Equation" r:id="rId25" imgW="774360" imgH="291960" progId="Equation.3">
                    <p:embed/>
                  </p:oleObj>
                </mc:Choice>
                <mc:Fallback>
                  <p:oleObj name="Equation" r:id="rId25" imgW="774360" imgH="29196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504"/>
                          <a:ext cx="1632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152400" y="381000"/>
            <a:ext cx="8077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-3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电位移 有电介质时的高斯定理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90600" y="838200"/>
            <a:ext cx="7086600" cy="669925"/>
            <a:chOff x="624" y="624"/>
            <a:chExt cx="4464" cy="422"/>
          </a:xfrm>
        </p:grpSpPr>
        <p:sp>
          <p:nvSpPr>
            <p:cNvPr id="162819" name="Rectangle 3"/>
            <p:cNvSpPr>
              <a:spLocks noChangeArrowheads="1"/>
            </p:cNvSpPr>
            <p:nvPr/>
          </p:nvSpPr>
          <p:spPr bwMode="auto">
            <a:xfrm>
              <a:off x="624" y="672"/>
              <a:ext cx="1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电位移矢量</a:t>
              </a: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968" y="624"/>
              <a:ext cx="3120" cy="422"/>
              <a:chOff x="2208" y="1008"/>
              <a:chExt cx="3120" cy="422"/>
            </a:xfrm>
          </p:grpSpPr>
          <p:graphicFrame>
            <p:nvGraphicFramePr>
              <p:cNvPr id="162821" name="Object 5"/>
              <p:cNvGraphicFramePr>
                <a:graphicFrameLocks noChangeAspect="1"/>
              </p:cNvGraphicFramePr>
              <p:nvPr/>
            </p:nvGraphicFramePr>
            <p:xfrm>
              <a:off x="2208" y="1008"/>
              <a:ext cx="1344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3591" name="公式" r:id="rId3" imgW="482400" imgH="203040" progId="Equation.3">
                      <p:embed/>
                    </p:oleObj>
                  </mc:Choice>
                  <mc:Fallback>
                    <p:oleObj name="公式" r:id="rId3" imgW="482400" imgH="20304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008"/>
                            <a:ext cx="1344" cy="422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chemeClr val="accent1"/>
                              </a:gs>
                              <a:gs pos="50000">
                                <a:schemeClr val="accent1">
                                  <a:gamma/>
                                  <a:tint val="0"/>
                                  <a:invGamma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5400000" scaled="1"/>
                          </a:gradFill>
                          <a:ln w="9525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822" name="Text Box 6"/>
              <p:cNvSpPr txBox="1">
                <a:spLocks noChangeArrowheads="1"/>
              </p:cNvSpPr>
              <p:nvPr/>
            </p:nvSpPr>
            <p:spPr bwMode="auto">
              <a:xfrm>
                <a:off x="3600" y="1056"/>
                <a:ext cx="17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chemeClr val="tx1"/>
                    </a:solidFill>
                  </a:rPr>
                  <a:t>（</a:t>
                </a:r>
                <a:r>
                  <a:rPr lang="zh-CN" altLang="en-US" sz="2800">
                    <a:solidFill>
                      <a:srgbClr val="CC0000"/>
                    </a:solidFill>
                  </a:rPr>
                  <a:t>均匀</a:t>
                </a:r>
                <a:r>
                  <a:rPr lang="zh-CN" altLang="en-US" sz="2800">
                    <a:solidFill>
                      <a:schemeClr val="tx1"/>
                    </a:solidFill>
                  </a:rPr>
                  <a:t>介质）</a:t>
                </a:r>
              </a:p>
            </p:txBody>
          </p:sp>
        </p:grp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990600" y="2840038"/>
            <a:ext cx="7239000" cy="1046162"/>
            <a:chOff x="576" y="1488"/>
            <a:chExt cx="4560" cy="659"/>
          </a:xfrm>
        </p:grpSpPr>
        <p:sp>
          <p:nvSpPr>
            <p:cNvPr id="162824" name="Rectangle 8"/>
            <p:cNvSpPr>
              <a:spLocks noChangeArrowheads="1"/>
            </p:cNvSpPr>
            <p:nvPr/>
          </p:nvSpPr>
          <p:spPr bwMode="auto">
            <a:xfrm>
              <a:off x="576" y="1488"/>
              <a:ext cx="4560" cy="624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825" name="Rectangle 9"/>
            <p:cNvSpPr>
              <a:spLocks noChangeArrowheads="1"/>
            </p:cNvSpPr>
            <p:nvPr/>
          </p:nvSpPr>
          <p:spPr bwMode="auto">
            <a:xfrm>
              <a:off x="576" y="1584"/>
              <a:ext cx="21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有介质时的高斯定理</a:t>
              </a:r>
            </a:p>
          </p:txBody>
        </p:sp>
        <p:graphicFrame>
          <p:nvGraphicFramePr>
            <p:cNvPr id="162826" name="Object 10"/>
            <p:cNvGraphicFramePr>
              <a:graphicFrameLocks noChangeAspect="1"/>
            </p:cNvGraphicFramePr>
            <p:nvPr/>
          </p:nvGraphicFramePr>
          <p:xfrm>
            <a:off x="2832" y="1488"/>
            <a:ext cx="220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592" name="Equation" r:id="rId5" imgW="1028520" imgH="355320" progId="Equation.3">
                    <p:embed/>
                  </p:oleObj>
                </mc:Choice>
                <mc:Fallback>
                  <p:oleObj name="Equation" r:id="rId5" imgW="1028520" imgH="3553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488"/>
                          <a:ext cx="2208" cy="6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066800" y="4051300"/>
            <a:ext cx="5334000" cy="825500"/>
            <a:chOff x="672" y="2112"/>
            <a:chExt cx="3360" cy="520"/>
          </a:xfrm>
        </p:grpSpPr>
        <p:sp>
          <p:nvSpPr>
            <p:cNvPr id="162828" name="Rectangle 12"/>
            <p:cNvSpPr>
              <a:spLocks noChangeArrowheads="1"/>
            </p:cNvSpPr>
            <p:nvPr/>
          </p:nvSpPr>
          <p:spPr bwMode="auto">
            <a:xfrm>
              <a:off x="672" y="2208"/>
              <a:ext cx="12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电容率</a:t>
              </a:r>
            </a:p>
          </p:txBody>
        </p:sp>
        <p:graphicFrame>
          <p:nvGraphicFramePr>
            <p:cNvPr id="162829" name="Object 13"/>
            <p:cNvGraphicFramePr>
              <a:graphicFrameLocks noChangeAspect="1"/>
            </p:cNvGraphicFramePr>
            <p:nvPr/>
          </p:nvGraphicFramePr>
          <p:xfrm>
            <a:off x="2880" y="2112"/>
            <a:ext cx="1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593" name="Equation" r:id="rId7" imgW="507960" imgH="228600" progId="Equation.3">
                    <p:embed/>
                  </p:oleObj>
                </mc:Choice>
                <mc:Fallback>
                  <p:oleObj name="Equation" r:id="rId7" imgW="50796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112"/>
                          <a:ext cx="115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2743200" y="5334000"/>
            <a:ext cx="4953000" cy="533400"/>
            <a:chOff x="1248" y="3696"/>
            <a:chExt cx="3120" cy="336"/>
          </a:xfrm>
        </p:grpSpPr>
        <p:sp>
          <p:nvSpPr>
            <p:cNvPr id="162831" name="Text Box 15"/>
            <p:cNvSpPr txBox="1">
              <a:spLocks noChangeArrowheads="1"/>
            </p:cNvSpPr>
            <p:nvPr/>
          </p:nvSpPr>
          <p:spPr bwMode="auto">
            <a:xfrm>
              <a:off x="1248" y="3696"/>
              <a:ext cx="3120" cy="335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latin typeface="宋体" charset="-122"/>
                </a:rPr>
                <a:t>有介质时先求 </a:t>
              </a:r>
              <a:r>
                <a:rPr lang="zh-CN" altLang="zh-CN" sz="2800">
                  <a:solidFill>
                    <a:schemeClr val="tx1"/>
                  </a:solidFill>
                  <a:latin typeface="宋体" charset="-122"/>
                </a:rPr>
                <a:t>             </a:t>
              </a:r>
            </a:p>
          </p:txBody>
        </p:sp>
        <p:graphicFrame>
          <p:nvGraphicFramePr>
            <p:cNvPr id="162832" name="Object 16"/>
            <p:cNvGraphicFramePr>
              <a:graphicFrameLocks noChangeAspect="1"/>
            </p:cNvGraphicFramePr>
            <p:nvPr/>
          </p:nvGraphicFramePr>
          <p:xfrm>
            <a:off x="2832" y="3717"/>
            <a:ext cx="148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594" name="公式" r:id="rId9" imgW="1320480" imgH="279360" progId="Equation.3">
                    <p:embed/>
                  </p:oleObj>
                </mc:Choice>
                <mc:Fallback>
                  <p:oleObj name="公式" r:id="rId9" imgW="1320480" imgH="2793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717"/>
                          <a:ext cx="1488" cy="31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chemeClr val="accent1">
                                <a:gamma/>
                                <a:tint val="0"/>
                                <a:invGamma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990600" y="5029200"/>
            <a:ext cx="1600200" cy="1219200"/>
            <a:chOff x="336" y="3360"/>
            <a:chExt cx="1008" cy="768"/>
          </a:xfrm>
        </p:grpSpPr>
        <p:sp>
          <p:nvSpPr>
            <p:cNvPr id="162834" name="AutoShape 18"/>
            <p:cNvSpPr>
              <a:spLocks noChangeArrowheads="1"/>
            </p:cNvSpPr>
            <p:nvPr/>
          </p:nvSpPr>
          <p:spPr bwMode="auto">
            <a:xfrm>
              <a:off x="336" y="3360"/>
              <a:ext cx="912" cy="768"/>
            </a:xfrm>
            <a:prstGeom prst="irregularSeal1">
              <a:avLst/>
            </a:prstGeom>
            <a:gradFill rotWithShape="0">
              <a:gsLst>
                <a:gs pos="0">
                  <a:srgbClr val="FFCCFF">
                    <a:gamma/>
                    <a:tint val="0"/>
                    <a:invGamma/>
                  </a:srgbClr>
                </a:gs>
                <a:gs pos="100000">
                  <a:srgbClr val="FF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835" name="Text Box 19"/>
            <p:cNvSpPr txBox="1">
              <a:spLocks noChangeArrowheads="1"/>
            </p:cNvSpPr>
            <p:nvPr/>
          </p:nvSpPr>
          <p:spPr bwMode="auto">
            <a:xfrm>
              <a:off x="528" y="3561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注意</a:t>
              </a:r>
            </a:p>
          </p:txBody>
        </p:sp>
      </p:grpSp>
      <p:grpSp>
        <p:nvGrpSpPr>
          <p:cNvPr id="8" name="Group 20"/>
          <p:cNvGrpSpPr>
            <a:grpSpLocks/>
          </p:cNvGrpSpPr>
          <p:nvPr/>
        </p:nvGrpSpPr>
        <p:grpSpPr bwMode="auto">
          <a:xfrm>
            <a:off x="990600" y="1828800"/>
            <a:ext cx="7086600" cy="688975"/>
            <a:chOff x="624" y="1248"/>
            <a:chExt cx="4464" cy="434"/>
          </a:xfrm>
        </p:grpSpPr>
        <p:graphicFrame>
          <p:nvGraphicFramePr>
            <p:cNvPr id="162837" name="Object 21"/>
            <p:cNvGraphicFramePr>
              <a:graphicFrameLocks noChangeAspect="1"/>
            </p:cNvGraphicFramePr>
            <p:nvPr/>
          </p:nvGraphicFramePr>
          <p:xfrm>
            <a:off x="1968" y="1248"/>
            <a:ext cx="1344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595" name="Equation" r:id="rId11" imgW="660240" imgH="228600" progId="Equation.3">
                    <p:embed/>
                  </p:oleObj>
                </mc:Choice>
                <mc:Fallback>
                  <p:oleObj name="Equation" r:id="rId11" imgW="660240" imgH="2286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248"/>
                          <a:ext cx="1344" cy="43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chemeClr val="accent1">
                                <a:gamma/>
                                <a:tint val="0"/>
                                <a:invGamma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38" name="Text Box 22"/>
            <p:cNvSpPr txBox="1">
              <a:spLocks noChangeArrowheads="1"/>
            </p:cNvSpPr>
            <p:nvPr/>
          </p:nvSpPr>
          <p:spPr bwMode="auto">
            <a:xfrm>
              <a:off x="3360" y="1250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</a:rPr>
                <a:t>（</a:t>
              </a:r>
              <a:r>
                <a:rPr lang="zh-CN" altLang="en-US" sz="2800">
                  <a:solidFill>
                    <a:srgbClr val="CC0000"/>
                  </a:solidFill>
                </a:rPr>
                <a:t>均匀</a:t>
              </a:r>
              <a:r>
                <a:rPr lang="zh-CN" altLang="en-US" sz="2800">
                  <a:solidFill>
                    <a:schemeClr val="tx1"/>
                  </a:solidFill>
                </a:rPr>
                <a:t>介质）</a:t>
              </a:r>
            </a:p>
          </p:txBody>
        </p:sp>
        <p:sp>
          <p:nvSpPr>
            <p:cNvPr id="162839" name="Rectangle 23"/>
            <p:cNvSpPr>
              <a:spLocks noChangeArrowheads="1"/>
            </p:cNvSpPr>
            <p:nvPr/>
          </p:nvSpPr>
          <p:spPr bwMode="auto">
            <a:xfrm>
              <a:off x="624" y="1257"/>
              <a:ext cx="1200" cy="327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chemeClr val="tx1"/>
                  </a:solidFill>
                </a:rPr>
                <a:t>电场强度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381000" y="3886200"/>
            <a:ext cx="8382000" cy="228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19538" y="4732338"/>
            <a:ext cx="4191000" cy="609600"/>
            <a:chOff x="2565" y="3077"/>
            <a:chExt cx="2640" cy="384"/>
          </a:xfrm>
        </p:grpSpPr>
        <p:sp>
          <p:nvSpPr>
            <p:cNvPr id="163844" name="AutoShape 4"/>
            <p:cNvSpPr>
              <a:spLocks noChangeArrowheads="1"/>
            </p:cNvSpPr>
            <p:nvPr/>
          </p:nvSpPr>
          <p:spPr bwMode="auto">
            <a:xfrm rot="16200000" flipH="1">
              <a:off x="3693" y="1949"/>
              <a:ext cx="384" cy="2640"/>
            </a:xfrm>
            <a:prstGeom prst="can">
              <a:avLst>
                <a:gd name="adj" fmla="val 44783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5" name="Oval 5"/>
            <p:cNvSpPr>
              <a:spLocks noChangeArrowheads="1"/>
            </p:cNvSpPr>
            <p:nvPr/>
          </p:nvSpPr>
          <p:spPr bwMode="auto">
            <a:xfrm>
              <a:off x="2565" y="3077"/>
              <a:ext cx="170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838200" y="4144963"/>
            <a:ext cx="1627188" cy="1493837"/>
            <a:chOff x="645" y="2749"/>
            <a:chExt cx="981" cy="880"/>
          </a:xfrm>
        </p:grpSpPr>
        <p:sp>
          <p:nvSpPr>
            <p:cNvPr id="163847" name="Oval 7"/>
            <p:cNvSpPr>
              <a:spLocks noChangeArrowheads="1"/>
            </p:cNvSpPr>
            <p:nvPr/>
          </p:nvSpPr>
          <p:spPr bwMode="auto">
            <a:xfrm>
              <a:off x="906" y="2909"/>
              <a:ext cx="720" cy="72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48" name="Freeform 8"/>
            <p:cNvSpPr>
              <a:spLocks/>
            </p:cNvSpPr>
            <p:nvPr/>
          </p:nvSpPr>
          <p:spPr bwMode="auto">
            <a:xfrm>
              <a:off x="981" y="3029"/>
              <a:ext cx="288" cy="240"/>
            </a:xfrm>
            <a:custGeom>
              <a:avLst/>
              <a:gdLst/>
              <a:ahLst/>
              <a:cxnLst>
                <a:cxn ang="0">
                  <a:pos x="286" y="204"/>
                </a:cxn>
                <a:cxn ang="0">
                  <a:pos x="0" y="0"/>
                </a:cxn>
              </a:cxnLst>
              <a:rect l="0" t="0" r="r" b="b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3849" name="Object 9"/>
            <p:cNvGraphicFramePr>
              <a:graphicFrameLocks noChangeAspect="1"/>
            </p:cNvGraphicFramePr>
            <p:nvPr/>
          </p:nvGraphicFramePr>
          <p:xfrm>
            <a:off x="645" y="2749"/>
            <a:ext cx="338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0" name="Equation" r:id="rId3" imgW="114120" imgH="126720" progId="Equation.3">
                    <p:embed/>
                  </p:oleObj>
                </mc:Choice>
                <mc:Fallback>
                  <p:oleObj name="Equation" r:id="rId3" imgW="114120" imgH="12672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" y="2749"/>
                          <a:ext cx="338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304800" y="533400"/>
            <a:ext cx="8610600" cy="3168650"/>
            <a:chOff x="192" y="480"/>
            <a:chExt cx="5424" cy="1996"/>
          </a:xfrm>
        </p:grpSpPr>
        <p:sp>
          <p:nvSpPr>
            <p:cNvPr id="163851" name="Text Box 11"/>
            <p:cNvSpPr txBox="1">
              <a:spLocks noChangeArrowheads="1"/>
            </p:cNvSpPr>
            <p:nvPr/>
          </p:nvSpPr>
          <p:spPr bwMode="auto">
            <a:xfrm>
              <a:off x="192" y="480"/>
              <a:ext cx="5424" cy="1996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1C1C1C"/>
                  </a:solidFill>
                </a:rPr>
                <a:t>        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例</a:t>
              </a:r>
              <a:r>
                <a:rPr lang="zh-CN" altLang="en-US" sz="2800" dirty="0">
                  <a:solidFill>
                    <a:srgbClr val="CC0000"/>
                  </a:solidFill>
                </a:rPr>
                <a:t>  </a:t>
              </a:r>
              <a:r>
                <a:rPr lang="zh-CN" altLang="en-US" sz="2800" dirty="0">
                  <a:solidFill>
                    <a:srgbClr val="1C1C1C"/>
                  </a:solidFill>
                </a:rPr>
                <a:t>   常用的圆柱形电容器，是由半径为      的长直圆柱导体和同轴的半径为       的薄导体圆筒组成，并在直导体与导体圆筒之间充以相对电容率为       的电介质.设直导体和圆筒单位长度上的电荷分别为        和          .　</a:t>
              </a:r>
              <a:r>
                <a:rPr lang="zh-CN" altLang="en-US" sz="2800" dirty="0">
                  <a:solidFill>
                    <a:srgbClr val="CC0000"/>
                  </a:solidFill>
                </a:rPr>
                <a:t>求（1）</a:t>
              </a:r>
              <a:r>
                <a:rPr lang="zh-CN" altLang="en-US" sz="2800" dirty="0">
                  <a:solidFill>
                    <a:srgbClr val="1C1C1C"/>
                  </a:solidFill>
                </a:rPr>
                <a:t>电介质中的电场强度和电位移；</a:t>
              </a:r>
              <a:r>
                <a:rPr lang="zh-CN" altLang="en-US" sz="2800" dirty="0">
                  <a:solidFill>
                    <a:srgbClr val="CC0000"/>
                  </a:solidFill>
                </a:rPr>
                <a:t>（２）</a:t>
              </a:r>
              <a:r>
                <a:rPr lang="zh-CN" altLang="en-US" sz="2800" dirty="0">
                  <a:solidFill>
                    <a:srgbClr val="1C1C1C"/>
                  </a:solidFill>
                </a:rPr>
                <a:t>电介质内、外表面的极化电荷面密度．</a:t>
              </a:r>
            </a:p>
          </p:txBody>
        </p:sp>
        <p:graphicFrame>
          <p:nvGraphicFramePr>
            <p:cNvPr id="163852" name="Object 12"/>
            <p:cNvGraphicFramePr>
              <a:graphicFrameLocks noChangeAspect="1"/>
            </p:cNvGraphicFramePr>
            <p:nvPr/>
          </p:nvGraphicFramePr>
          <p:xfrm>
            <a:off x="4272" y="1488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1" name="Equation" r:id="rId5" imgW="253800" imgH="177480" progId="Equation.3">
                    <p:embed/>
                  </p:oleObj>
                </mc:Choice>
                <mc:Fallback>
                  <p:oleObj name="Equation" r:id="rId5" imgW="253800" imgH="177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488"/>
                          <a:ext cx="464" cy="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53" name="Object 13"/>
            <p:cNvGraphicFramePr>
              <a:graphicFrameLocks noChangeAspect="1"/>
            </p:cNvGraphicFramePr>
            <p:nvPr/>
          </p:nvGraphicFramePr>
          <p:xfrm>
            <a:off x="4512" y="480"/>
            <a:ext cx="33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2" name="Equation" r:id="rId7" imgW="177480" imgH="215640" progId="Equation.3">
                    <p:embed/>
                  </p:oleObj>
                </mc:Choice>
                <mc:Fallback>
                  <p:oleObj name="Equation" r:id="rId7" imgW="17748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480"/>
                          <a:ext cx="333" cy="4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54" name="Object 14"/>
            <p:cNvGraphicFramePr>
              <a:graphicFrameLocks noChangeAspect="1"/>
            </p:cNvGraphicFramePr>
            <p:nvPr/>
          </p:nvGraphicFramePr>
          <p:xfrm>
            <a:off x="2736" y="856"/>
            <a:ext cx="357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3" name="Equation" r:id="rId9" imgW="190440" imgH="203040" progId="Equation.3">
                    <p:embed/>
                  </p:oleObj>
                </mc:Choice>
                <mc:Fallback>
                  <p:oleObj name="Equation" r:id="rId9" imgW="19044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856"/>
                          <a:ext cx="357" cy="3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55" name="Object 15"/>
            <p:cNvGraphicFramePr>
              <a:graphicFrameLocks noChangeAspect="1"/>
            </p:cNvGraphicFramePr>
            <p:nvPr/>
          </p:nvGraphicFramePr>
          <p:xfrm>
            <a:off x="4362" y="1120"/>
            <a:ext cx="29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4" name="Equation" r:id="rId11" imgW="152280" imgH="215640" progId="Equation.3">
                    <p:embed/>
                  </p:oleObj>
                </mc:Choice>
                <mc:Fallback>
                  <p:oleObj name="Equation" r:id="rId11" imgW="152280" imgH="2156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2" y="1120"/>
                          <a:ext cx="294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56" name="Object 16"/>
            <p:cNvGraphicFramePr>
              <a:graphicFrameLocks noChangeAspect="1"/>
            </p:cNvGraphicFramePr>
            <p:nvPr/>
          </p:nvGraphicFramePr>
          <p:xfrm>
            <a:off x="4944" y="1499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5" name="Equation" r:id="rId13" imgW="253800" imgH="177480" progId="Equation.3">
                    <p:embed/>
                  </p:oleObj>
                </mc:Choice>
                <mc:Fallback>
                  <p:oleObj name="Equation" r:id="rId13" imgW="253800" imgH="1774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499"/>
                          <a:ext cx="464" cy="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85800" y="4275138"/>
            <a:ext cx="2025650" cy="1524000"/>
            <a:chOff x="528" y="2789"/>
            <a:chExt cx="1276" cy="960"/>
          </a:xfrm>
        </p:grpSpPr>
        <p:sp>
          <p:nvSpPr>
            <p:cNvPr id="163858" name="AutoShape 18"/>
            <p:cNvSpPr>
              <a:spLocks noChangeArrowheads="1"/>
            </p:cNvSpPr>
            <p:nvPr/>
          </p:nvSpPr>
          <p:spPr bwMode="auto">
            <a:xfrm>
              <a:off x="789" y="2789"/>
              <a:ext cx="960" cy="960"/>
            </a:xfrm>
            <a:custGeom>
              <a:avLst/>
              <a:gdLst>
                <a:gd name="G0" fmla="+- 6593 0 0"/>
                <a:gd name="G1" fmla="+- 21600 0 6593"/>
                <a:gd name="G2" fmla="+- 21600 0 6593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59" name="Line 19"/>
            <p:cNvSpPr>
              <a:spLocks noChangeShapeType="1"/>
            </p:cNvSpPr>
            <p:nvPr/>
          </p:nvSpPr>
          <p:spPr bwMode="auto">
            <a:xfrm flipV="1">
              <a:off x="1269" y="3269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0" name="Line 20"/>
            <p:cNvSpPr>
              <a:spLocks noChangeShapeType="1"/>
            </p:cNvSpPr>
            <p:nvPr/>
          </p:nvSpPr>
          <p:spPr bwMode="auto">
            <a:xfrm flipH="1">
              <a:off x="789" y="3269"/>
              <a:ext cx="480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3861" name="Object 21"/>
            <p:cNvGraphicFramePr>
              <a:graphicFrameLocks noChangeAspect="1"/>
            </p:cNvGraphicFramePr>
            <p:nvPr/>
          </p:nvGraphicFramePr>
          <p:xfrm>
            <a:off x="1392" y="3004"/>
            <a:ext cx="412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6" name="Equation" r:id="rId15" imgW="177480" imgH="215640" progId="Equation.3">
                    <p:embed/>
                  </p:oleObj>
                </mc:Choice>
                <mc:Fallback>
                  <p:oleObj name="Equation" r:id="rId15" imgW="177480" imgH="2156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004"/>
                          <a:ext cx="412" cy="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62" name="Object 22"/>
            <p:cNvGraphicFramePr>
              <a:graphicFrameLocks noChangeAspect="1"/>
            </p:cNvGraphicFramePr>
            <p:nvPr/>
          </p:nvGraphicFramePr>
          <p:xfrm>
            <a:off x="528" y="3297"/>
            <a:ext cx="357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7" name="Equation" r:id="rId17" imgW="190440" imgH="215640" progId="Equation.3">
                    <p:embed/>
                  </p:oleObj>
                </mc:Choice>
                <mc:Fallback>
                  <p:oleObj name="Equation" r:id="rId17" imgW="190440" imgH="21564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297"/>
                          <a:ext cx="357" cy="4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1785938" y="4275138"/>
            <a:ext cx="2438400" cy="1524000"/>
            <a:chOff x="1221" y="2789"/>
            <a:chExt cx="1536" cy="960"/>
          </a:xfrm>
        </p:grpSpPr>
        <p:sp>
          <p:nvSpPr>
            <p:cNvPr id="163864" name="Line 24"/>
            <p:cNvSpPr>
              <a:spLocks noChangeShapeType="1"/>
            </p:cNvSpPr>
            <p:nvPr/>
          </p:nvSpPr>
          <p:spPr bwMode="auto">
            <a:xfrm>
              <a:off x="1221" y="2789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5" name="Line 25"/>
            <p:cNvSpPr>
              <a:spLocks noChangeShapeType="1"/>
            </p:cNvSpPr>
            <p:nvPr/>
          </p:nvSpPr>
          <p:spPr bwMode="auto">
            <a:xfrm>
              <a:off x="1221" y="3749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6" name="Line 26"/>
            <p:cNvSpPr>
              <a:spLocks noChangeShapeType="1"/>
            </p:cNvSpPr>
            <p:nvPr/>
          </p:nvSpPr>
          <p:spPr bwMode="auto">
            <a:xfrm>
              <a:off x="1269" y="3077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67" name="Line 27"/>
            <p:cNvSpPr>
              <a:spLocks noChangeShapeType="1"/>
            </p:cNvSpPr>
            <p:nvPr/>
          </p:nvSpPr>
          <p:spPr bwMode="auto">
            <a:xfrm>
              <a:off x="1221" y="3461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862138" y="4427538"/>
            <a:ext cx="3352800" cy="1219200"/>
            <a:chOff x="1269" y="2885"/>
            <a:chExt cx="2112" cy="768"/>
          </a:xfrm>
        </p:grpSpPr>
        <p:sp>
          <p:nvSpPr>
            <p:cNvPr id="163869" name="Line 29"/>
            <p:cNvSpPr>
              <a:spLocks noChangeShapeType="1"/>
            </p:cNvSpPr>
            <p:nvPr/>
          </p:nvSpPr>
          <p:spPr bwMode="auto">
            <a:xfrm>
              <a:off x="1317" y="2885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3870" name="Line 30"/>
            <p:cNvSpPr>
              <a:spLocks noChangeShapeType="1"/>
            </p:cNvSpPr>
            <p:nvPr/>
          </p:nvSpPr>
          <p:spPr bwMode="auto">
            <a:xfrm>
              <a:off x="1269" y="3653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4452938" y="4427538"/>
            <a:ext cx="2665412" cy="1219200"/>
            <a:chOff x="2901" y="2885"/>
            <a:chExt cx="1679" cy="768"/>
          </a:xfrm>
        </p:grpSpPr>
        <p:sp>
          <p:nvSpPr>
            <p:cNvPr id="163872" name="AutoShape 32"/>
            <p:cNvSpPr>
              <a:spLocks noChangeArrowheads="1"/>
            </p:cNvSpPr>
            <p:nvPr/>
          </p:nvSpPr>
          <p:spPr bwMode="auto">
            <a:xfrm rot="16200000" flipH="1">
              <a:off x="3453" y="2525"/>
              <a:ext cx="768" cy="1487"/>
            </a:xfrm>
            <a:prstGeom prst="can">
              <a:avLst>
                <a:gd name="adj" fmla="val 31338"/>
              </a:avLst>
            </a:prstGeom>
            <a:noFill/>
            <a:ln w="28575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873" name="AutoShape 33"/>
            <p:cNvSpPr>
              <a:spLocks noChangeArrowheads="1"/>
            </p:cNvSpPr>
            <p:nvPr/>
          </p:nvSpPr>
          <p:spPr bwMode="auto">
            <a:xfrm rot="16200000" flipH="1">
              <a:off x="2891" y="3082"/>
              <a:ext cx="384" cy="363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63874" name="AutoShape 34"/>
          <p:cNvSpPr>
            <a:spLocks noChangeArrowheads="1"/>
          </p:cNvSpPr>
          <p:nvPr/>
        </p:nvSpPr>
        <p:spPr bwMode="auto">
          <a:xfrm rot="16200000" flipH="1">
            <a:off x="5219700" y="2705100"/>
            <a:ext cx="1524000" cy="4648200"/>
          </a:xfrm>
          <a:prstGeom prst="can">
            <a:avLst>
              <a:gd name="adj" fmla="val 49365"/>
            </a:avLst>
          </a:prstGeom>
          <a:solidFill>
            <a:srgbClr val="DDDDDD">
              <a:alpha val="50000"/>
            </a:srgbClr>
          </a:solidFill>
          <a:ln w="28575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7119938" y="3962400"/>
            <a:ext cx="1066800" cy="1463675"/>
            <a:chOff x="4581" y="2592"/>
            <a:chExt cx="672" cy="922"/>
          </a:xfrm>
        </p:grpSpPr>
        <p:graphicFrame>
          <p:nvGraphicFramePr>
            <p:cNvPr id="163876" name="Object 36"/>
            <p:cNvGraphicFramePr>
              <a:graphicFrameLocks noChangeAspect="1"/>
            </p:cNvGraphicFramePr>
            <p:nvPr/>
          </p:nvGraphicFramePr>
          <p:xfrm>
            <a:off x="4629" y="3077"/>
            <a:ext cx="624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8" name="Equation" r:id="rId19" imgW="253800" imgH="177480" progId="Equation.3">
                    <p:embed/>
                  </p:oleObj>
                </mc:Choice>
                <mc:Fallback>
                  <p:oleObj name="Equation" r:id="rId19" imgW="253800" imgH="17748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9" y="3077"/>
                          <a:ext cx="624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7" name="Object 37"/>
            <p:cNvGraphicFramePr>
              <a:graphicFrameLocks noChangeAspect="1"/>
            </p:cNvGraphicFramePr>
            <p:nvPr/>
          </p:nvGraphicFramePr>
          <p:xfrm>
            <a:off x="4581" y="2592"/>
            <a:ext cx="624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29" name="Equation" r:id="rId21" imgW="253800" imgH="177480" progId="Equation.3">
                    <p:embed/>
                  </p:oleObj>
                </mc:Choice>
                <mc:Fallback>
                  <p:oleObj name="Equation" r:id="rId21" imgW="253800" imgH="17748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592"/>
                          <a:ext cx="624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animBg="1"/>
      <p:bldP spid="16387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66" name="Object 2"/>
          <p:cNvGraphicFramePr>
            <a:graphicFrameLocks noChangeAspect="1"/>
          </p:cNvGraphicFramePr>
          <p:nvPr/>
        </p:nvGraphicFramePr>
        <p:xfrm>
          <a:off x="2995613" y="2300288"/>
          <a:ext cx="25669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4" name="Equation" r:id="rId3" imgW="787320" imgH="291960" progId="Equation.3">
                  <p:embed/>
                </p:oleObj>
              </mc:Choice>
              <mc:Fallback>
                <p:oleObj name="Equation" r:id="rId3" imgW="787320" imgH="291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300288"/>
                        <a:ext cx="2566987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762000" y="2390775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解（1）</a:t>
            </a:r>
          </a:p>
        </p:txBody>
      </p:sp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3048000" y="3238500"/>
          <a:ext cx="2438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5" name="Equation" r:id="rId5" imgW="761760" imgH="177480" progId="Equation.3">
                  <p:embed/>
                </p:oleObj>
              </mc:Choice>
              <mc:Fallback>
                <p:oleObj name="Equation" r:id="rId5" imgW="76176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38500"/>
                        <a:ext cx="2438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3313113" y="3886200"/>
          <a:ext cx="171608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6" name="Equation" r:id="rId7" imgW="609480" imgH="393480" progId="Equation.3">
                  <p:embed/>
                </p:oleObj>
              </mc:Choice>
              <mc:Fallback>
                <p:oleObj name="Equation" r:id="rId7" imgW="6094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3886200"/>
                        <a:ext cx="1716087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6"/>
          <p:cNvGraphicFramePr>
            <a:graphicFrameLocks noChangeAspect="1"/>
          </p:cNvGraphicFramePr>
          <p:nvPr/>
        </p:nvGraphicFramePr>
        <p:xfrm>
          <a:off x="1676400" y="4951413"/>
          <a:ext cx="358140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7" name="Equation" r:id="rId9" imgW="1269720" imgH="431640" progId="Equation.3">
                  <p:embed/>
                </p:oleObj>
              </mc:Choice>
              <mc:Fallback>
                <p:oleObj name="Equation" r:id="rId9" imgW="12697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951413"/>
                        <a:ext cx="3581400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5867400" y="5356225"/>
          <a:ext cx="2209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8" name="Equation" r:id="rId11" imgW="812520" imgH="215640" progId="Equation.3">
                  <p:embed/>
                </p:oleObj>
              </mc:Choice>
              <mc:Fallback>
                <p:oleObj name="Equation" r:id="rId11" imgW="81252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356225"/>
                        <a:ext cx="2209800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90600" y="304800"/>
            <a:ext cx="7239000" cy="1905000"/>
            <a:chOff x="912" y="480"/>
            <a:chExt cx="4032" cy="1104"/>
          </a:xfrm>
        </p:grpSpPr>
        <p:sp>
          <p:nvSpPr>
            <p:cNvPr id="164873" name="Rectangle 9"/>
            <p:cNvSpPr>
              <a:spLocks noChangeArrowheads="1"/>
            </p:cNvSpPr>
            <p:nvPr/>
          </p:nvSpPr>
          <p:spPr bwMode="auto">
            <a:xfrm>
              <a:off x="912" y="480"/>
              <a:ext cx="4032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4" name="AutoShape 10"/>
            <p:cNvSpPr>
              <a:spLocks noChangeArrowheads="1"/>
            </p:cNvSpPr>
            <p:nvPr/>
          </p:nvSpPr>
          <p:spPr bwMode="auto">
            <a:xfrm rot="16200000" flipH="1">
              <a:off x="3475" y="28"/>
              <a:ext cx="294" cy="2016"/>
            </a:xfrm>
            <a:prstGeom prst="can">
              <a:avLst>
                <a:gd name="adj" fmla="val 44667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5" name="AutoShape 11"/>
            <p:cNvSpPr>
              <a:spLocks noChangeArrowheads="1"/>
            </p:cNvSpPr>
            <p:nvPr/>
          </p:nvSpPr>
          <p:spPr bwMode="auto">
            <a:xfrm rot="16200000" flipH="1">
              <a:off x="3290" y="468"/>
              <a:ext cx="589" cy="1136"/>
            </a:xfrm>
            <a:prstGeom prst="can">
              <a:avLst>
                <a:gd name="adj" fmla="val 31216"/>
              </a:avLst>
            </a:prstGeom>
            <a:noFill/>
            <a:ln w="28575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6" name="Oval 12"/>
            <p:cNvSpPr>
              <a:spLocks noChangeArrowheads="1"/>
            </p:cNvSpPr>
            <p:nvPr/>
          </p:nvSpPr>
          <p:spPr bwMode="auto">
            <a:xfrm>
              <a:off x="2614" y="889"/>
              <a:ext cx="130" cy="2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7" name="AutoShape 13"/>
            <p:cNvSpPr>
              <a:spLocks noChangeArrowheads="1"/>
            </p:cNvSpPr>
            <p:nvPr/>
          </p:nvSpPr>
          <p:spPr bwMode="auto">
            <a:xfrm>
              <a:off x="1258" y="668"/>
              <a:ext cx="733" cy="736"/>
            </a:xfrm>
            <a:custGeom>
              <a:avLst/>
              <a:gdLst>
                <a:gd name="G0" fmla="+- 6593 0 0"/>
                <a:gd name="G1" fmla="+- 21600 0 6593"/>
                <a:gd name="G2" fmla="+- 21600 0 6593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8" name="Oval 14"/>
            <p:cNvSpPr>
              <a:spLocks noChangeArrowheads="1"/>
            </p:cNvSpPr>
            <p:nvPr/>
          </p:nvSpPr>
          <p:spPr bwMode="auto">
            <a:xfrm>
              <a:off x="1347" y="760"/>
              <a:ext cx="550" cy="552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79" name="Line 15"/>
            <p:cNvSpPr>
              <a:spLocks noChangeShapeType="1"/>
            </p:cNvSpPr>
            <p:nvPr/>
          </p:nvSpPr>
          <p:spPr bwMode="auto">
            <a:xfrm flipV="1">
              <a:off x="1624" y="1036"/>
              <a:ext cx="1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0" name="Line 16"/>
            <p:cNvSpPr>
              <a:spLocks noChangeShapeType="1"/>
            </p:cNvSpPr>
            <p:nvPr/>
          </p:nvSpPr>
          <p:spPr bwMode="auto">
            <a:xfrm flipH="1">
              <a:off x="1258" y="1036"/>
              <a:ext cx="366" cy="1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1" name="Freeform 17"/>
            <p:cNvSpPr>
              <a:spLocks/>
            </p:cNvSpPr>
            <p:nvPr/>
          </p:nvSpPr>
          <p:spPr bwMode="auto">
            <a:xfrm>
              <a:off x="1405" y="852"/>
              <a:ext cx="219" cy="184"/>
            </a:xfrm>
            <a:custGeom>
              <a:avLst/>
              <a:gdLst/>
              <a:ahLst/>
              <a:cxnLst>
                <a:cxn ang="0">
                  <a:pos x="286" y="204"/>
                </a:cxn>
                <a:cxn ang="0">
                  <a:pos x="0" y="0"/>
                </a:cxn>
              </a:cxnLst>
              <a:rect l="0" t="0" r="r" b="b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4882" name="Object 18"/>
            <p:cNvGraphicFramePr>
              <a:graphicFrameLocks noChangeAspect="1"/>
            </p:cNvGraphicFramePr>
            <p:nvPr/>
          </p:nvGraphicFramePr>
          <p:xfrm>
            <a:off x="1718" y="811"/>
            <a:ext cx="31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5649" name="Equation" r:id="rId13" imgW="177480" imgH="215640" progId="Equation.3">
                    <p:embed/>
                  </p:oleObj>
                </mc:Choice>
                <mc:Fallback>
                  <p:oleObj name="Equation" r:id="rId13" imgW="177480" imgH="2156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811"/>
                          <a:ext cx="31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3" name="Object 19"/>
            <p:cNvGraphicFramePr>
              <a:graphicFrameLocks noChangeAspect="1"/>
            </p:cNvGraphicFramePr>
            <p:nvPr/>
          </p:nvGraphicFramePr>
          <p:xfrm>
            <a:off x="1059" y="1057"/>
            <a:ext cx="27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5650" name="Equation" r:id="rId15" imgW="190440" imgH="215640" progId="Equation.3">
                    <p:embed/>
                  </p:oleObj>
                </mc:Choice>
                <mc:Fallback>
                  <p:oleObj name="Equation" r:id="rId15" imgW="19044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9" y="1057"/>
                          <a:ext cx="272" cy="3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4" name="Object 20"/>
            <p:cNvGraphicFramePr>
              <a:graphicFrameLocks noChangeAspect="1"/>
            </p:cNvGraphicFramePr>
            <p:nvPr/>
          </p:nvGraphicFramePr>
          <p:xfrm>
            <a:off x="1148" y="637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5651" name="Equation" r:id="rId17" imgW="114120" imgH="126720" progId="Equation.3">
                    <p:embed/>
                  </p:oleObj>
                </mc:Choice>
                <mc:Fallback>
                  <p:oleObj name="Equation" r:id="rId17" imgW="114120" imgH="12672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8" y="637"/>
                          <a:ext cx="25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85" name="Line 21"/>
            <p:cNvSpPr>
              <a:spLocks noChangeShapeType="1"/>
            </p:cNvSpPr>
            <p:nvPr/>
          </p:nvSpPr>
          <p:spPr bwMode="auto">
            <a:xfrm>
              <a:off x="1588" y="668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6" name="Line 22"/>
            <p:cNvSpPr>
              <a:spLocks noChangeShapeType="1"/>
            </p:cNvSpPr>
            <p:nvPr/>
          </p:nvSpPr>
          <p:spPr bwMode="auto">
            <a:xfrm>
              <a:off x="1588" y="1404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7" name="Line 23"/>
            <p:cNvSpPr>
              <a:spLocks noChangeShapeType="1"/>
            </p:cNvSpPr>
            <p:nvPr/>
          </p:nvSpPr>
          <p:spPr bwMode="auto">
            <a:xfrm>
              <a:off x="1624" y="889"/>
              <a:ext cx="1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8" name="Line 24"/>
            <p:cNvSpPr>
              <a:spLocks noChangeShapeType="1"/>
            </p:cNvSpPr>
            <p:nvPr/>
          </p:nvSpPr>
          <p:spPr bwMode="auto">
            <a:xfrm>
              <a:off x="1588" y="1183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89" name="Line 25"/>
            <p:cNvSpPr>
              <a:spLocks noChangeShapeType="1"/>
            </p:cNvSpPr>
            <p:nvPr/>
          </p:nvSpPr>
          <p:spPr bwMode="auto">
            <a:xfrm>
              <a:off x="1661" y="741"/>
              <a:ext cx="1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90" name="Line 26"/>
            <p:cNvSpPr>
              <a:spLocks noChangeShapeType="1"/>
            </p:cNvSpPr>
            <p:nvPr/>
          </p:nvSpPr>
          <p:spPr bwMode="auto">
            <a:xfrm>
              <a:off x="1624" y="1330"/>
              <a:ext cx="15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4891" name="AutoShape 27"/>
            <p:cNvSpPr>
              <a:spLocks noChangeArrowheads="1"/>
            </p:cNvSpPr>
            <p:nvPr/>
          </p:nvSpPr>
          <p:spPr bwMode="auto">
            <a:xfrm rot="16200000" flipH="1">
              <a:off x="2863" y="893"/>
              <a:ext cx="294" cy="277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4892" name="AutoShape 28"/>
            <p:cNvSpPr>
              <a:spLocks noChangeArrowheads="1"/>
            </p:cNvSpPr>
            <p:nvPr/>
          </p:nvSpPr>
          <p:spPr bwMode="auto">
            <a:xfrm rot="16200000" flipH="1">
              <a:off x="3238" y="-86"/>
              <a:ext cx="736" cy="2236"/>
            </a:xfrm>
            <a:prstGeom prst="can">
              <a:avLst>
                <a:gd name="adj" fmla="val 49171"/>
              </a:avLst>
            </a:prstGeom>
            <a:solidFill>
              <a:srgbClr val="DDDDDD">
                <a:alpha val="50000"/>
              </a:srgbClr>
            </a:soli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4893" name="Object 29"/>
            <p:cNvGraphicFramePr>
              <a:graphicFrameLocks noChangeAspect="1"/>
            </p:cNvGraphicFramePr>
            <p:nvPr/>
          </p:nvGraphicFramePr>
          <p:xfrm>
            <a:off x="4190" y="889"/>
            <a:ext cx="477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5652" name="Equation" r:id="rId19" imgW="253800" imgH="177480" progId="Equation.3">
                    <p:embed/>
                  </p:oleObj>
                </mc:Choice>
                <mc:Fallback>
                  <p:oleObj name="Equation" r:id="rId19" imgW="253800" imgH="1774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0" y="889"/>
                          <a:ext cx="477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94" name="Object 30"/>
            <p:cNvGraphicFramePr>
              <a:graphicFrameLocks noChangeAspect="1"/>
            </p:cNvGraphicFramePr>
            <p:nvPr/>
          </p:nvGraphicFramePr>
          <p:xfrm>
            <a:off x="4154" y="517"/>
            <a:ext cx="47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5653" name="Equation" r:id="rId21" imgW="253800" imgH="177480" progId="Equation.3">
                    <p:embed/>
                  </p:oleObj>
                </mc:Choice>
                <mc:Fallback>
                  <p:oleObj name="Equation" r:id="rId21" imgW="253800" imgH="177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" y="517"/>
                          <a:ext cx="476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457200" y="2362200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（２）</a:t>
            </a:r>
            <a:r>
              <a:rPr lang="zh-CN" altLang="en-US" sz="2800">
                <a:solidFill>
                  <a:schemeClr val="tx1"/>
                </a:solidFill>
              </a:rPr>
              <a:t>由上题可知</a:t>
            </a: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1276350" y="4187825"/>
          <a:ext cx="6440488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670" name="Equation" r:id="rId3" imgW="2095200" imgH="431640" progId="Equation.3">
                  <p:embed/>
                </p:oleObj>
              </mc:Choice>
              <mc:Fallback>
                <p:oleObj name="Equation" r:id="rId3" imgW="20952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4187825"/>
                        <a:ext cx="6440488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1276350" y="5181600"/>
          <a:ext cx="637222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671" name="Equation" r:id="rId5" imgW="2145960" imgH="431640" progId="Equation.3">
                  <p:embed/>
                </p:oleObj>
              </mc:Choice>
              <mc:Fallback>
                <p:oleObj name="Equation" r:id="rId5" imgW="21459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5181600"/>
                        <a:ext cx="637222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114800" y="2209800"/>
            <a:ext cx="4495800" cy="2133600"/>
            <a:chOff x="2688" y="1536"/>
            <a:chExt cx="2832" cy="1344"/>
          </a:xfrm>
        </p:grpSpPr>
        <p:graphicFrame>
          <p:nvGraphicFramePr>
            <p:cNvPr id="165894" name="Object 6"/>
            <p:cNvGraphicFramePr>
              <a:graphicFrameLocks noChangeAspect="1"/>
            </p:cNvGraphicFramePr>
            <p:nvPr/>
          </p:nvGraphicFramePr>
          <p:xfrm>
            <a:off x="2844" y="1536"/>
            <a:ext cx="1572" cy="7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2" name="Equation" r:id="rId7" imgW="952200" imgH="431640" progId="Equation.3">
                    <p:embed/>
                  </p:oleObj>
                </mc:Choice>
                <mc:Fallback>
                  <p:oleObj name="Equation" r:id="rId7" imgW="952200" imgH="431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1536"/>
                          <a:ext cx="1572" cy="7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5" name="Object 7"/>
            <p:cNvGraphicFramePr>
              <a:graphicFrameLocks noChangeAspect="1"/>
            </p:cNvGraphicFramePr>
            <p:nvPr/>
          </p:nvGraphicFramePr>
          <p:xfrm>
            <a:off x="4608" y="1697"/>
            <a:ext cx="86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3" name="Equation" r:id="rId9" imgW="507960" imgH="215640" progId="Equation.3">
                    <p:embed/>
                  </p:oleObj>
                </mc:Choice>
                <mc:Fallback>
                  <p:oleObj name="Equation" r:id="rId9" imgW="50796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697"/>
                          <a:ext cx="864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6" name="Object 8"/>
            <p:cNvGraphicFramePr>
              <a:graphicFrameLocks noChangeAspect="1"/>
            </p:cNvGraphicFramePr>
            <p:nvPr/>
          </p:nvGraphicFramePr>
          <p:xfrm>
            <a:off x="2880" y="2199"/>
            <a:ext cx="1536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4" name="Equation" r:id="rId11" imgW="977760" imgH="431640" progId="Equation.3">
                    <p:embed/>
                  </p:oleObj>
                </mc:Choice>
                <mc:Fallback>
                  <p:oleObj name="Equation" r:id="rId11" imgW="977760" imgH="431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199"/>
                          <a:ext cx="1536" cy="6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897" name="Object 9"/>
            <p:cNvGraphicFramePr>
              <a:graphicFrameLocks noChangeAspect="1"/>
            </p:cNvGraphicFramePr>
            <p:nvPr/>
          </p:nvGraphicFramePr>
          <p:xfrm>
            <a:off x="4656" y="2290"/>
            <a:ext cx="864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5" name="Equation" r:id="rId13" imgW="533160" imgH="215640" progId="Equation.3">
                    <p:embed/>
                  </p:oleObj>
                </mc:Choice>
                <mc:Fallback>
                  <p:oleObj name="Equation" r:id="rId13" imgW="533160" imgH="215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290"/>
                          <a:ext cx="864" cy="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898" name="AutoShape 10"/>
            <p:cNvSpPr>
              <a:spLocks/>
            </p:cNvSpPr>
            <p:nvPr/>
          </p:nvSpPr>
          <p:spPr bwMode="auto">
            <a:xfrm>
              <a:off x="2688" y="1824"/>
              <a:ext cx="144" cy="624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65899" name="AutoShape 11"/>
          <p:cNvSpPr>
            <a:spLocks/>
          </p:cNvSpPr>
          <p:nvPr/>
        </p:nvSpPr>
        <p:spPr bwMode="auto">
          <a:xfrm>
            <a:off x="914400" y="47244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165900" name="Object 12"/>
          <p:cNvGraphicFramePr>
            <a:graphicFrameLocks noChangeAspect="1"/>
          </p:cNvGraphicFramePr>
          <p:nvPr/>
        </p:nvGraphicFramePr>
        <p:xfrm>
          <a:off x="533400" y="3046413"/>
          <a:ext cx="358140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676" name="Equation" r:id="rId15" imgW="1269720" imgH="431640" progId="Equation.3">
                  <p:embed/>
                </p:oleObj>
              </mc:Choice>
              <mc:Fallback>
                <p:oleObj name="Equation" r:id="rId15" imgW="126972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6413"/>
                        <a:ext cx="3581400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066800" y="304800"/>
            <a:ext cx="7239000" cy="1905000"/>
            <a:chOff x="912" y="480"/>
            <a:chExt cx="4032" cy="1104"/>
          </a:xfrm>
        </p:grpSpPr>
        <p:sp>
          <p:nvSpPr>
            <p:cNvPr id="165902" name="Rectangle 14"/>
            <p:cNvSpPr>
              <a:spLocks noChangeArrowheads="1"/>
            </p:cNvSpPr>
            <p:nvPr/>
          </p:nvSpPr>
          <p:spPr bwMode="auto">
            <a:xfrm>
              <a:off x="912" y="480"/>
              <a:ext cx="4032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3" name="AutoShape 15"/>
            <p:cNvSpPr>
              <a:spLocks noChangeArrowheads="1"/>
            </p:cNvSpPr>
            <p:nvPr/>
          </p:nvSpPr>
          <p:spPr bwMode="auto">
            <a:xfrm rot="16200000" flipH="1">
              <a:off x="3475" y="28"/>
              <a:ext cx="294" cy="2016"/>
            </a:xfrm>
            <a:prstGeom prst="can">
              <a:avLst>
                <a:gd name="adj" fmla="val 44667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4" name="AutoShape 16"/>
            <p:cNvSpPr>
              <a:spLocks noChangeArrowheads="1"/>
            </p:cNvSpPr>
            <p:nvPr/>
          </p:nvSpPr>
          <p:spPr bwMode="auto">
            <a:xfrm rot="16200000" flipH="1">
              <a:off x="3290" y="468"/>
              <a:ext cx="589" cy="1136"/>
            </a:xfrm>
            <a:prstGeom prst="can">
              <a:avLst>
                <a:gd name="adj" fmla="val 31216"/>
              </a:avLst>
            </a:prstGeom>
            <a:noFill/>
            <a:ln w="28575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5" name="Oval 17"/>
            <p:cNvSpPr>
              <a:spLocks noChangeArrowheads="1"/>
            </p:cNvSpPr>
            <p:nvPr/>
          </p:nvSpPr>
          <p:spPr bwMode="auto">
            <a:xfrm>
              <a:off x="2614" y="889"/>
              <a:ext cx="130" cy="2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6" name="AutoShape 18"/>
            <p:cNvSpPr>
              <a:spLocks noChangeArrowheads="1"/>
            </p:cNvSpPr>
            <p:nvPr/>
          </p:nvSpPr>
          <p:spPr bwMode="auto">
            <a:xfrm>
              <a:off x="1258" y="668"/>
              <a:ext cx="733" cy="736"/>
            </a:xfrm>
            <a:custGeom>
              <a:avLst/>
              <a:gdLst>
                <a:gd name="G0" fmla="+- 6593 0 0"/>
                <a:gd name="G1" fmla="+- 21600 0 6593"/>
                <a:gd name="G2" fmla="+- 21600 0 6593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7" name="Oval 19"/>
            <p:cNvSpPr>
              <a:spLocks noChangeArrowheads="1"/>
            </p:cNvSpPr>
            <p:nvPr/>
          </p:nvSpPr>
          <p:spPr bwMode="auto">
            <a:xfrm>
              <a:off x="1347" y="760"/>
              <a:ext cx="550" cy="552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08" name="Line 20"/>
            <p:cNvSpPr>
              <a:spLocks noChangeShapeType="1"/>
            </p:cNvSpPr>
            <p:nvPr/>
          </p:nvSpPr>
          <p:spPr bwMode="auto">
            <a:xfrm flipV="1">
              <a:off x="1624" y="1036"/>
              <a:ext cx="1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09" name="Line 21"/>
            <p:cNvSpPr>
              <a:spLocks noChangeShapeType="1"/>
            </p:cNvSpPr>
            <p:nvPr/>
          </p:nvSpPr>
          <p:spPr bwMode="auto">
            <a:xfrm flipH="1">
              <a:off x="1258" y="1036"/>
              <a:ext cx="366" cy="1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0" name="Freeform 22"/>
            <p:cNvSpPr>
              <a:spLocks/>
            </p:cNvSpPr>
            <p:nvPr/>
          </p:nvSpPr>
          <p:spPr bwMode="auto">
            <a:xfrm>
              <a:off x="1405" y="852"/>
              <a:ext cx="219" cy="184"/>
            </a:xfrm>
            <a:custGeom>
              <a:avLst/>
              <a:gdLst/>
              <a:ahLst/>
              <a:cxnLst>
                <a:cxn ang="0">
                  <a:pos x="286" y="204"/>
                </a:cxn>
                <a:cxn ang="0">
                  <a:pos x="0" y="0"/>
                </a:cxn>
              </a:cxnLst>
              <a:rect l="0" t="0" r="r" b="b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65911" name="Object 23"/>
            <p:cNvGraphicFramePr>
              <a:graphicFrameLocks noChangeAspect="1"/>
            </p:cNvGraphicFramePr>
            <p:nvPr/>
          </p:nvGraphicFramePr>
          <p:xfrm>
            <a:off x="1718" y="811"/>
            <a:ext cx="31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7" name="Equation" r:id="rId17" imgW="177480" imgH="215640" progId="Equation.3">
                    <p:embed/>
                  </p:oleObj>
                </mc:Choice>
                <mc:Fallback>
                  <p:oleObj name="Equation" r:id="rId17" imgW="177480" imgH="21564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811"/>
                          <a:ext cx="31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12" name="Object 24"/>
            <p:cNvGraphicFramePr>
              <a:graphicFrameLocks noChangeAspect="1"/>
            </p:cNvGraphicFramePr>
            <p:nvPr/>
          </p:nvGraphicFramePr>
          <p:xfrm>
            <a:off x="1059" y="1057"/>
            <a:ext cx="27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8" name="Equation" r:id="rId19" imgW="190440" imgH="215640" progId="Equation.3">
                    <p:embed/>
                  </p:oleObj>
                </mc:Choice>
                <mc:Fallback>
                  <p:oleObj name="Equation" r:id="rId19" imgW="190440" imgH="2156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9" y="1057"/>
                          <a:ext cx="272" cy="3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13" name="Object 25"/>
            <p:cNvGraphicFramePr>
              <a:graphicFrameLocks noChangeAspect="1"/>
            </p:cNvGraphicFramePr>
            <p:nvPr/>
          </p:nvGraphicFramePr>
          <p:xfrm>
            <a:off x="1148" y="637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79" name="Equation" r:id="rId21" imgW="114120" imgH="126720" progId="Equation.3">
                    <p:embed/>
                  </p:oleObj>
                </mc:Choice>
                <mc:Fallback>
                  <p:oleObj name="Equation" r:id="rId21" imgW="114120" imgH="12672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8" y="637"/>
                          <a:ext cx="25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14" name="Line 26"/>
            <p:cNvSpPr>
              <a:spLocks noChangeShapeType="1"/>
            </p:cNvSpPr>
            <p:nvPr/>
          </p:nvSpPr>
          <p:spPr bwMode="auto">
            <a:xfrm>
              <a:off x="1588" y="668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5" name="Line 27"/>
            <p:cNvSpPr>
              <a:spLocks noChangeShapeType="1"/>
            </p:cNvSpPr>
            <p:nvPr/>
          </p:nvSpPr>
          <p:spPr bwMode="auto">
            <a:xfrm>
              <a:off x="1588" y="1404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6" name="Line 28"/>
            <p:cNvSpPr>
              <a:spLocks noChangeShapeType="1"/>
            </p:cNvSpPr>
            <p:nvPr/>
          </p:nvSpPr>
          <p:spPr bwMode="auto">
            <a:xfrm>
              <a:off x="1624" y="889"/>
              <a:ext cx="1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7" name="Line 29"/>
            <p:cNvSpPr>
              <a:spLocks noChangeShapeType="1"/>
            </p:cNvSpPr>
            <p:nvPr/>
          </p:nvSpPr>
          <p:spPr bwMode="auto">
            <a:xfrm>
              <a:off x="1588" y="1183"/>
              <a:ext cx="1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8" name="Line 30"/>
            <p:cNvSpPr>
              <a:spLocks noChangeShapeType="1"/>
            </p:cNvSpPr>
            <p:nvPr/>
          </p:nvSpPr>
          <p:spPr bwMode="auto">
            <a:xfrm>
              <a:off x="1661" y="741"/>
              <a:ext cx="1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19" name="Line 31"/>
            <p:cNvSpPr>
              <a:spLocks noChangeShapeType="1"/>
            </p:cNvSpPr>
            <p:nvPr/>
          </p:nvSpPr>
          <p:spPr bwMode="auto">
            <a:xfrm>
              <a:off x="1624" y="1330"/>
              <a:ext cx="15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65920" name="AutoShape 32"/>
            <p:cNvSpPr>
              <a:spLocks noChangeArrowheads="1"/>
            </p:cNvSpPr>
            <p:nvPr/>
          </p:nvSpPr>
          <p:spPr bwMode="auto">
            <a:xfrm rot="16200000" flipH="1">
              <a:off x="2863" y="893"/>
              <a:ext cx="294" cy="277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5921" name="AutoShape 33"/>
            <p:cNvSpPr>
              <a:spLocks noChangeArrowheads="1"/>
            </p:cNvSpPr>
            <p:nvPr/>
          </p:nvSpPr>
          <p:spPr bwMode="auto">
            <a:xfrm rot="16200000" flipH="1">
              <a:off x="3238" y="-86"/>
              <a:ext cx="736" cy="2236"/>
            </a:xfrm>
            <a:prstGeom prst="can">
              <a:avLst>
                <a:gd name="adj" fmla="val 49171"/>
              </a:avLst>
            </a:prstGeom>
            <a:solidFill>
              <a:srgbClr val="DDDDDD">
                <a:alpha val="50000"/>
              </a:srgbClr>
            </a:soli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65922" name="Object 34"/>
            <p:cNvGraphicFramePr>
              <a:graphicFrameLocks noChangeAspect="1"/>
            </p:cNvGraphicFramePr>
            <p:nvPr/>
          </p:nvGraphicFramePr>
          <p:xfrm>
            <a:off x="4190" y="889"/>
            <a:ext cx="477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80" name="Equation" r:id="rId23" imgW="253800" imgH="177480" progId="Equation.3">
                    <p:embed/>
                  </p:oleObj>
                </mc:Choice>
                <mc:Fallback>
                  <p:oleObj name="Equation" r:id="rId23" imgW="253800" imgH="1774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0" y="889"/>
                          <a:ext cx="477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23" name="Object 35"/>
            <p:cNvGraphicFramePr>
              <a:graphicFrameLocks noChangeAspect="1"/>
            </p:cNvGraphicFramePr>
            <p:nvPr/>
          </p:nvGraphicFramePr>
          <p:xfrm>
            <a:off x="4154" y="517"/>
            <a:ext cx="47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6681" name="Equation" r:id="rId25" imgW="253800" imgH="177480" progId="Equation.3">
                    <p:embed/>
                  </p:oleObj>
                </mc:Choice>
                <mc:Fallback>
                  <p:oleObj name="Equation" r:id="rId25" imgW="253800" imgH="1774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" y="517"/>
                          <a:ext cx="476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utoUpdateAnimBg="0"/>
      <p:bldP spid="1658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381000" y="776288"/>
            <a:ext cx="3352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一  电容器 电容</a:t>
            </a: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1066800" y="1309687"/>
            <a:ext cx="2449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</a:rPr>
              <a:t>电容器电容</a:t>
            </a:r>
          </a:p>
        </p:txBody>
      </p:sp>
      <p:graphicFrame>
        <p:nvGraphicFramePr>
          <p:cNvPr id="166916" name="Object 4"/>
          <p:cNvGraphicFramePr>
            <a:graphicFrameLocks noChangeAspect="1"/>
          </p:cNvGraphicFramePr>
          <p:nvPr/>
        </p:nvGraphicFramePr>
        <p:xfrm>
          <a:off x="609600" y="1895475"/>
          <a:ext cx="2982913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691" name="公式" r:id="rId3" imgW="1066680" imgH="431640" progId="Equation.3">
                  <p:embed/>
                </p:oleObj>
              </mc:Choice>
              <mc:Fallback>
                <p:oleObj name="公式" r:id="rId3" imgW="10666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95475"/>
                        <a:ext cx="2982913" cy="12049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accent1">
                              <a:gamma/>
                              <a:tint val="0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304800" y="5105400"/>
            <a:ext cx="8534400" cy="11271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宋体" charset="-122"/>
              </a:rPr>
              <a:t>电容的大小仅与导体的</a:t>
            </a:r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形状</a:t>
            </a:r>
            <a:r>
              <a:rPr lang="zh-CN" altLang="en-US" sz="2800" dirty="0">
                <a:solidFill>
                  <a:schemeClr val="tx1"/>
                </a:solidFill>
                <a:latin typeface="宋体" charset="-122"/>
              </a:rPr>
              <a:t>、</a:t>
            </a:r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相对位置</a:t>
            </a:r>
            <a:r>
              <a:rPr lang="zh-CN" altLang="en-US" sz="2800" dirty="0">
                <a:solidFill>
                  <a:schemeClr val="tx1"/>
                </a:solidFill>
                <a:latin typeface="宋体" charset="-122"/>
              </a:rPr>
              <a:t>、其间的电</a:t>
            </a:r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介质</a:t>
            </a:r>
            <a:r>
              <a:rPr lang="zh-CN" altLang="en-US" sz="2800" dirty="0">
                <a:solidFill>
                  <a:schemeClr val="tx1"/>
                </a:solidFill>
                <a:latin typeface="宋体" charset="-122"/>
              </a:rPr>
              <a:t>有关. 与所带电荷量</a:t>
            </a:r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无关</a:t>
            </a:r>
            <a:r>
              <a:rPr lang="zh-CN" altLang="en-US" sz="2800" dirty="0">
                <a:solidFill>
                  <a:schemeClr val="tx1"/>
                </a:solidFill>
                <a:latin typeface="宋体" charset="-122"/>
              </a:rPr>
              <a:t>.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962400" y="838200"/>
            <a:ext cx="4876800" cy="2895600"/>
            <a:chOff x="2496" y="528"/>
            <a:chExt cx="3072" cy="1824"/>
          </a:xfrm>
        </p:grpSpPr>
        <p:sp>
          <p:nvSpPr>
            <p:cNvPr id="166919" name="Rectangle 7"/>
            <p:cNvSpPr>
              <a:spLocks noChangeArrowheads="1"/>
            </p:cNvSpPr>
            <p:nvPr/>
          </p:nvSpPr>
          <p:spPr bwMode="auto">
            <a:xfrm>
              <a:off x="2496" y="528"/>
              <a:ext cx="3072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592" y="611"/>
              <a:ext cx="2880" cy="1597"/>
              <a:chOff x="2736" y="672"/>
              <a:chExt cx="2880" cy="1597"/>
            </a:xfrm>
          </p:grpSpPr>
          <p:sp>
            <p:nvSpPr>
              <p:cNvPr id="166921" name="Freeform 9"/>
              <p:cNvSpPr>
                <a:spLocks/>
              </p:cNvSpPr>
              <p:nvPr/>
            </p:nvSpPr>
            <p:spPr bwMode="auto">
              <a:xfrm>
                <a:off x="3714" y="1340"/>
                <a:ext cx="960" cy="76"/>
              </a:xfrm>
              <a:custGeom>
                <a:avLst/>
                <a:gdLst/>
                <a:ahLst/>
                <a:cxnLst>
                  <a:cxn ang="0">
                    <a:pos x="960" y="76"/>
                  </a:cxn>
                  <a:cxn ang="0">
                    <a:pos x="470" y="0"/>
                  </a:cxn>
                  <a:cxn ang="0">
                    <a:pos x="0" y="76"/>
                  </a:cxn>
                </a:cxnLst>
                <a:rect l="0" t="0" r="r" b="b"/>
                <a:pathLst>
                  <a:path w="960" h="76">
                    <a:moveTo>
                      <a:pt x="960" y="76"/>
                    </a:moveTo>
                    <a:cubicBezTo>
                      <a:pt x="878" y="63"/>
                      <a:pt x="630" y="0"/>
                      <a:pt x="470" y="0"/>
                    </a:cubicBezTo>
                    <a:cubicBezTo>
                      <a:pt x="310" y="0"/>
                      <a:pt x="98" y="60"/>
                      <a:pt x="0" y="76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2" name="Freeform 10"/>
              <p:cNvSpPr>
                <a:spLocks/>
              </p:cNvSpPr>
              <p:nvPr/>
            </p:nvSpPr>
            <p:spPr bwMode="auto">
              <a:xfrm>
                <a:off x="3696" y="1048"/>
                <a:ext cx="1122" cy="128"/>
              </a:xfrm>
              <a:custGeom>
                <a:avLst/>
                <a:gdLst/>
                <a:ahLst/>
                <a:cxnLst>
                  <a:cxn ang="0">
                    <a:pos x="1122" y="128"/>
                  </a:cxn>
                  <a:cxn ang="0">
                    <a:pos x="592" y="8"/>
                  </a:cxn>
                  <a:cxn ang="0">
                    <a:pos x="0" y="80"/>
                  </a:cxn>
                </a:cxnLst>
                <a:rect l="0" t="0" r="r" b="b"/>
                <a:pathLst>
                  <a:path w="1122" h="128">
                    <a:moveTo>
                      <a:pt x="1122" y="128"/>
                    </a:moveTo>
                    <a:cubicBezTo>
                      <a:pt x="1034" y="108"/>
                      <a:pt x="779" y="16"/>
                      <a:pt x="592" y="8"/>
                    </a:cubicBezTo>
                    <a:cubicBezTo>
                      <a:pt x="405" y="0"/>
                      <a:pt x="123" y="65"/>
                      <a:pt x="0" y="8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3" name="Freeform 11"/>
              <p:cNvSpPr>
                <a:spLocks/>
              </p:cNvSpPr>
              <p:nvPr/>
            </p:nvSpPr>
            <p:spPr bwMode="auto">
              <a:xfrm>
                <a:off x="3666" y="760"/>
                <a:ext cx="1440" cy="200"/>
              </a:xfrm>
              <a:custGeom>
                <a:avLst/>
                <a:gdLst/>
                <a:ahLst/>
                <a:cxnLst>
                  <a:cxn ang="0">
                    <a:pos x="1440" y="152"/>
                  </a:cxn>
                  <a:cxn ang="0">
                    <a:pos x="720" y="8"/>
                  </a:cxn>
                  <a:cxn ang="0">
                    <a:pos x="0" y="200"/>
                  </a:cxn>
                </a:cxnLst>
                <a:rect l="0" t="0" r="r" b="b"/>
                <a:pathLst>
                  <a:path w="1440" h="200">
                    <a:moveTo>
                      <a:pt x="1440" y="152"/>
                    </a:moveTo>
                    <a:cubicBezTo>
                      <a:pt x="1200" y="76"/>
                      <a:pt x="960" y="0"/>
                      <a:pt x="720" y="8"/>
                    </a:cubicBezTo>
                    <a:cubicBezTo>
                      <a:pt x="480" y="16"/>
                      <a:pt x="240" y="108"/>
                      <a:pt x="0" y="20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4" name="Freeform 12"/>
              <p:cNvSpPr>
                <a:spLocks/>
              </p:cNvSpPr>
              <p:nvPr/>
            </p:nvSpPr>
            <p:spPr bwMode="auto">
              <a:xfrm>
                <a:off x="3762" y="1608"/>
                <a:ext cx="894" cy="40"/>
              </a:xfrm>
              <a:custGeom>
                <a:avLst/>
                <a:gdLst/>
                <a:ahLst/>
                <a:cxnLst>
                  <a:cxn ang="0">
                    <a:pos x="894" y="0"/>
                  </a:cxn>
                  <a:cxn ang="0">
                    <a:pos x="406" y="24"/>
                  </a:cxn>
                  <a:cxn ang="0">
                    <a:pos x="0" y="40"/>
                  </a:cxn>
                </a:cxnLst>
                <a:rect l="0" t="0" r="r" b="b"/>
                <a:pathLst>
                  <a:path w="894" h="40">
                    <a:moveTo>
                      <a:pt x="894" y="0"/>
                    </a:moveTo>
                    <a:cubicBezTo>
                      <a:pt x="813" y="4"/>
                      <a:pt x="555" y="17"/>
                      <a:pt x="406" y="24"/>
                    </a:cubicBezTo>
                    <a:cubicBezTo>
                      <a:pt x="257" y="31"/>
                      <a:pt x="85" y="37"/>
                      <a:pt x="0" y="4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5" name="Freeform 13"/>
              <p:cNvSpPr>
                <a:spLocks/>
              </p:cNvSpPr>
              <p:nvPr/>
            </p:nvSpPr>
            <p:spPr bwMode="auto">
              <a:xfrm>
                <a:off x="3906" y="1848"/>
                <a:ext cx="846" cy="132"/>
              </a:xfrm>
              <a:custGeom>
                <a:avLst/>
                <a:gdLst/>
                <a:ahLst/>
                <a:cxnLst>
                  <a:cxn ang="0">
                    <a:pos x="846" y="0"/>
                  </a:cxn>
                  <a:cxn ang="0">
                    <a:pos x="402" y="124"/>
                  </a:cxn>
                  <a:cxn ang="0">
                    <a:pos x="0" y="48"/>
                  </a:cxn>
                </a:cxnLst>
                <a:rect l="0" t="0" r="r" b="b"/>
                <a:pathLst>
                  <a:path w="846" h="132">
                    <a:moveTo>
                      <a:pt x="846" y="0"/>
                    </a:moveTo>
                    <a:cubicBezTo>
                      <a:pt x="772" y="21"/>
                      <a:pt x="543" y="116"/>
                      <a:pt x="402" y="124"/>
                    </a:cubicBezTo>
                    <a:cubicBezTo>
                      <a:pt x="261" y="132"/>
                      <a:pt x="84" y="64"/>
                      <a:pt x="0" y="48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6" name="Freeform 14"/>
              <p:cNvSpPr>
                <a:spLocks/>
              </p:cNvSpPr>
              <p:nvPr/>
            </p:nvSpPr>
            <p:spPr bwMode="auto">
              <a:xfrm>
                <a:off x="3570" y="1944"/>
                <a:ext cx="1344" cy="325"/>
              </a:xfrm>
              <a:custGeom>
                <a:avLst/>
                <a:gdLst/>
                <a:ahLst/>
                <a:cxnLst>
                  <a:cxn ang="0">
                    <a:pos x="1344" y="0"/>
                  </a:cxn>
                  <a:cxn ang="0">
                    <a:pos x="1102" y="268"/>
                  </a:cxn>
                  <a:cxn ang="0">
                    <a:pos x="386" y="296"/>
                  </a:cxn>
                  <a:cxn ang="0">
                    <a:pos x="0" y="96"/>
                  </a:cxn>
                </a:cxnLst>
                <a:rect l="0" t="0" r="r" b="b"/>
                <a:pathLst>
                  <a:path w="1344" h="325">
                    <a:moveTo>
                      <a:pt x="1344" y="0"/>
                    </a:moveTo>
                    <a:cubicBezTo>
                      <a:pt x="1304" y="45"/>
                      <a:pt x="1262" y="219"/>
                      <a:pt x="1102" y="268"/>
                    </a:cubicBezTo>
                    <a:cubicBezTo>
                      <a:pt x="942" y="317"/>
                      <a:pt x="570" y="325"/>
                      <a:pt x="386" y="296"/>
                    </a:cubicBezTo>
                    <a:cubicBezTo>
                      <a:pt x="202" y="267"/>
                      <a:pt x="80" y="138"/>
                      <a:pt x="0" y="96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7" name="Freeform 15"/>
              <p:cNvSpPr>
                <a:spLocks/>
              </p:cNvSpPr>
              <p:nvPr/>
            </p:nvSpPr>
            <p:spPr bwMode="auto">
              <a:xfrm>
                <a:off x="5184" y="672"/>
                <a:ext cx="192" cy="336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144" y="192"/>
                  </a:cxn>
                  <a:cxn ang="0">
                    <a:pos x="192" y="0"/>
                  </a:cxn>
                </a:cxnLst>
                <a:rect l="0" t="0" r="r" b="b"/>
                <a:pathLst>
                  <a:path w="192" h="336">
                    <a:moveTo>
                      <a:pt x="0" y="336"/>
                    </a:moveTo>
                    <a:cubicBezTo>
                      <a:pt x="56" y="292"/>
                      <a:pt x="112" y="248"/>
                      <a:pt x="144" y="192"/>
                    </a:cubicBezTo>
                    <a:cubicBezTo>
                      <a:pt x="176" y="136"/>
                      <a:pt x="184" y="68"/>
                      <a:pt x="192" y="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8" name="Freeform 16"/>
              <p:cNvSpPr>
                <a:spLocks/>
              </p:cNvSpPr>
              <p:nvPr/>
            </p:nvSpPr>
            <p:spPr bwMode="auto">
              <a:xfrm>
                <a:off x="5184" y="1008"/>
                <a:ext cx="432" cy="144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88" y="96"/>
                  </a:cxn>
                  <a:cxn ang="0">
                    <a:pos x="432" y="0"/>
                  </a:cxn>
                </a:cxnLst>
                <a:rect l="0" t="0" r="r" b="b"/>
                <a:pathLst>
                  <a:path w="432" h="144">
                    <a:moveTo>
                      <a:pt x="0" y="144"/>
                    </a:moveTo>
                    <a:cubicBezTo>
                      <a:pt x="108" y="132"/>
                      <a:pt x="216" y="120"/>
                      <a:pt x="288" y="96"/>
                    </a:cubicBezTo>
                    <a:cubicBezTo>
                      <a:pt x="360" y="72"/>
                      <a:pt x="396" y="36"/>
                      <a:pt x="432" y="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29" name="Freeform 17"/>
              <p:cNvSpPr>
                <a:spLocks/>
              </p:cNvSpPr>
              <p:nvPr/>
            </p:nvSpPr>
            <p:spPr bwMode="auto">
              <a:xfrm>
                <a:off x="5136" y="1344"/>
                <a:ext cx="480" cy="33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8" y="96"/>
                  </a:cxn>
                  <a:cxn ang="0">
                    <a:pos x="480" y="336"/>
                  </a:cxn>
                </a:cxnLst>
                <a:rect l="0" t="0" r="r" b="b"/>
                <a:pathLst>
                  <a:path w="480" h="336">
                    <a:moveTo>
                      <a:pt x="0" y="0"/>
                    </a:moveTo>
                    <a:cubicBezTo>
                      <a:pt x="104" y="20"/>
                      <a:pt x="208" y="40"/>
                      <a:pt x="288" y="96"/>
                    </a:cubicBezTo>
                    <a:cubicBezTo>
                      <a:pt x="368" y="152"/>
                      <a:pt x="424" y="244"/>
                      <a:pt x="480" y="336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0" name="Freeform 18"/>
              <p:cNvSpPr>
                <a:spLocks/>
              </p:cNvSpPr>
              <p:nvPr/>
            </p:nvSpPr>
            <p:spPr bwMode="auto">
              <a:xfrm>
                <a:off x="5136" y="1680"/>
                <a:ext cx="356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8" y="124"/>
                  </a:cxn>
                  <a:cxn ang="0">
                    <a:pos x="356" y="288"/>
                  </a:cxn>
                </a:cxnLst>
                <a:rect l="0" t="0" r="r" b="b"/>
                <a:pathLst>
                  <a:path w="356" h="288">
                    <a:moveTo>
                      <a:pt x="0" y="0"/>
                    </a:moveTo>
                    <a:cubicBezTo>
                      <a:pt x="38" y="21"/>
                      <a:pt x="169" y="76"/>
                      <a:pt x="228" y="124"/>
                    </a:cubicBezTo>
                    <a:cubicBezTo>
                      <a:pt x="287" y="172"/>
                      <a:pt x="329" y="254"/>
                      <a:pt x="356" y="288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1" name="Freeform 19"/>
              <p:cNvSpPr>
                <a:spLocks/>
              </p:cNvSpPr>
              <p:nvPr/>
            </p:nvSpPr>
            <p:spPr bwMode="auto">
              <a:xfrm>
                <a:off x="3340" y="708"/>
                <a:ext cx="68" cy="396"/>
              </a:xfrm>
              <a:custGeom>
                <a:avLst/>
                <a:gdLst/>
                <a:ahLst/>
                <a:cxnLst>
                  <a:cxn ang="0">
                    <a:pos x="68" y="396"/>
                  </a:cxn>
                  <a:cxn ang="0">
                    <a:pos x="20" y="204"/>
                  </a:cxn>
                  <a:cxn ang="0">
                    <a:pos x="0" y="0"/>
                  </a:cxn>
                </a:cxnLst>
                <a:rect l="0" t="0" r="r" b="b"/>
                <a:pathLst>
                  <a:path w="68" h="396">
                    <a:moveTo>
                      <a:pt x="68" y="396"/>
                    </a:moveTo>
                    <a:cubicBezTo>
                      <a:pt x="48" y="332"/>
                      <a:pt x="31" y="270"/>
                      <a:pt x="20" y="204"/>
                    </a:cubicBezTo>
                    <a:cubicBezTo>
                      <a:pt x="9" y="138"/>
                      <a:pt x="4" y="42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2" name="Freeform 20"/>
              <p:cNvSpPr>
                <a:spLocks/>
              </p:cNvSpPr>
              <p:nvPr/>
            </p:nvSpPr>
            <p:spPr bwMode="auto">
              <a:xfrm>
                <a:off x="2880" y="672"/>
                <a:ext cx="384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336"/>
                  </a:cxn>
                  <a:cxn ang="0">
                    <a:pos x="384" y="528"/>
                  </a:cxn>
                </a:cxnLst>
                <a:rect l="0" t="0" r="r" b="b"/>
                <a:pathLst>
                  <a:path w="384" h="528">
                    <a:moveTo>
                      <a:pt x="0" y="0"/>
                    </a:moveTo>
                    <a:cubicBezTo>
                      <a:pt x="64" y="124"/>
                      <a:pt x="128" y="248"/>
                      <a:pt x="192" y="336"/>
                    </a:cubicBezTo>
                    <a:cubicBezTo>
                      <a:pt x="256" y="424"/>
                      <a:pt x="320" y="476"/>
                      <a:pt x="384" y="528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3" name="Freeform 21"/>
              <p:cNvSpPr>
                <a:spLocks/>
              </p:cNvSpPr>
              <p:nvPr/>
            </p:nvSpPr>
            <p:spPr bwMode="auto">
              <a:xfrm>
                <a:off x="2736" y="1336"/>
                <a:ext cx="432" cy="56"/>
              </a:xfrm>
              <a:custGeom>
                <a:avLst/>
                <a:gdLst/>
                <a:ahLst/>
                <a:cxnLst>
                  <a:cxn ang="0">
                    <a:pos x="0" y="56"/>
                  </a:cxn>
                  <a:cxn ang="0">
                    <a:pos x="192" y="8"/>
                  </a:cxn>
                  <a:cxn ang="0">
                    <a:pos x="432" y="8"/>
                  </a:cxn>
                </a:cxnLst>
                <a:rect l="0" t="0" r="r" b="b"/>
                <a:pathLst>
                  <a:path w="432" h="56">
                    <a:moveTo>
                      <a:pt x="0" y="56"/>
                    </a:moveTo>
                    <a:cubicBezTo>
                      <a:pt x="60" y="36"/>
                      <a:pt x="120" y="16"/>
                      <a:pt x="192" y="8"/>
                    </a:cubicBezTo>
                    <a:cubicBezTo>
                      <a:pt x="264" y="0"/>
                      <a:pt x="348" y="4"/>
                      <a:pt x="432" y="8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4" name="Freeform 22"/>
              <p:cNvSpPr>
                <a:spLocks/>
              </p:cNvSpPr>
              <p:nvPr/>
            </p:nvSpPr>
            <p:spPr bwMode="auto">
              <a:xfrm>
                <a:off x="2880" y="1536"/>
                <a:ext cx="432" cy="432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68" y="328"/>
                  </a:cxn>
                  <a:cxn ang="0">
                    <a:pos x="240" y="144"/>
                  </a:cxn>
                  <a:cxn ang="0">
                    <a:pos x="432" y="0"/>
                  </a:cxn>
                </a:cxnLst>
                <a:rect l="0" t="0" r="r" b="b"/>
                <a:pathLst>
                  <a:path w="432" h="432">
                    <a:moveTo>
                      <a:pt x="0" y="432"/>
                    </a:moveTo>
                    <a:cubicBezTo>
                      <a:pt x="11" y="415"/>
                      <a:pt x="28" y="376"/>
                      <a:pt x="68" y="328"/>
                    </a:cubicBezTo>
                    <a:cubicBezTo>
                      <a:pt x="108" y="280"/>
                      <a:pt x="179" y="199"/>
                      <a:pt x="240" y="144"/>
                    </a:cubicBezTo>
                    <a:cubicBezTo>
                      <a:pt x="301" y="89"/>
                      <a:pt x="368" y="40"/>
                      <a:pt x="432" y="0"/>
                    </a:cubicBezTo>
                  </a:path>
                </a:pathLst>
              </a:custGeom>
              <a:noFill/>
              <a:ln w="12700" cmpd="sng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5" name="Line 23"/>
              <p:cNvSpPr>
                <a:spLocks noChangeShapeType="1"/>
              </p:cNvSpPr>
              <p:nvPr/>
            </p:nvSpPr>
            <p:spPr bwMode="auto">
              <a:xfrm flipH="1">
                <a:off x="4320" y="76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6" name="Line 24"/>
              <p:cNvSpPr>
                <a:spLocks noChangeShapeType="1"/>
              </p:cNvSpPr>
              <p:nvPr/>
            </p:nvSpPr>
            <p:spPr bwMode="auto">
              <a:xfrm flipH="1">
                <a:off x="4224" y="1056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7" name="Line 25"/>
              <p:cNvSpPr>
                <a:spLocks noChangeShapeType="1"/>
              </p:cNvSpPr>
              <p:nvPr/>
            </p:nvSpPr>
            <p:spPr bwMode="auto">
              <a:xfrm flipH="1">
                <a:off x="4176" y="134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8" name="Line 26"/>
              <p:cNvSpPr>
                <a:spLocks noChangeShapeType="1"/>
              </p:cNvSpPr>
              <p:nvPr/>
            </p:nvSpPr>
            <p:spPr bwMode="auto">
              <a:xfrm flipH="1">
                <a:off x="4176" y="1632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39" name="Line 27"/>
              <p:cNvSpPr>
                <a:spLocks noChangeShapeType="1"/>
              </p:cNvSpPr>
              <p:nvPr/>
            </p:nvSpPr>
            <p:spPr bwMode="auto">
              <a:xfrm flipH="1">
                <a:off x="4224" y="196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0" name="Line 28"/>
              <p:cNvSpPr>
                <a:spLocks noChangeShapeType="1"/>
              </p:cNvSpPr>
              <p:nvPr/>
            </p:nvSpPr>
            <p:spPr bwMode="auto">
              <a:xfrm flipH="1">
                <a:off x="4224" y="2256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1" name="Line 29"/>
              <p:cNvSpPr>
                <a:spLocks noChangeShapeType="1"/>
              </p:cNvSpPr>
              <p:nvPr/>
            </p:nvSpPr>
            <p:spPr bwMode="auto">
              <a:xfrm rot="7184693" flipH="1">
                <a:off x="5281" y="863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2" name="Line 30"/>
              <p:cNvSpPr>
                <a:spLocks noChangeShapeType="1"/>
              </p:cNvSpPr>
              <p:nvPr/>
            </p:nvSpPr>
            <p:spPr bwMode="auto">
              <a:xfrm rot="9625613" flipH="1">
                <a:off x="5424" y="1104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3" name="Line 31"/>
              <p:cNvSpPr>
                <a:spLocks noChangeShapeType="1"/>
              </p:cNvSpPr>
              <p:nvPr/>
            </p:nvSpPr>
            <p:spPr bwMode="auto">
              <a:xfrm rot="13260118" flipH="1">
                <a:off x="5376" y="1439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4" name="Line 32"/>
              <p:cNvSpPr>
                <a:spLocks noChangeShapeType="1"/>
              </p:cNvSpPr>
              <p:nvPr/>
            </p:nvSpPr>
            <p:spPr bwMode="auto">
              <a:xfrm rot="12915092" flipH="1">
                <a:off x="5280" y="1775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5" name="Line 33"/>
              <p:cNvSpPr>
                <a:spLocks noChangeShapeType="1"/>
              </p:cNvSpPr>
              <p:nvPr/>
            </p:nvSpPr>
            <p:spPr bwMode="auto">
              <a:xfrm rot="15511933" flipH="1">
                <a:off x="3312" y="912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6" name="Line 34"/>
              <p:cNvSpPr>
                <a:spLocks noChangeShapeType="1"/>
              </p:cNvSpPr>
              <p:nvPr/>
            </p:nvSpPr>
            <p:spPr bwMode="auto">
              <a:xfrm rot="13857870" flipH="1">
                <a:off x="3024" y="1008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7" name="Line 35"/>
              <p:cNvSpPr>
                <a:spLocks noChangeShapeType="1"/>
              </p:cNvSpPr>
              <p:nvPr/>
            </p:nvSpPr>
            <p:spPr bwMode="auto">
              <a:xfrm rot="10220406" flipH="1">
                <a:off x="2880" y="1344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48" name="Line 36"/>
              <p:cNvSpPr>
                <a:spLocks noChangeShapeType="1"/>
              </p:cNvSpPr>
              <p:nvPr/>
            </p:nvSpPr>
            <p:spPr bwMode="auto">
              <a:xfrm rot="8338778" flipH="1">
                <a:off x="3024" y="1727"/>
                <a:ext cx="96" cy="1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  <p:graphicFrame>
          <p:nvGraphicFramePr>
            <p:cNvPr id="166949" name="Object 37"/>
            <p:cNvGraphicFramePr>
              <a:graphicFrameLocks noChangeAspect="1"/>
            </p:cNvGraphicFramePr>
            <p:nvPr/>
          </p:nvGraphicFramePr>
          <p:xfrm>
            <a:off x="4803" y="1691"/>
            <a:ext cx="399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692" name="Equation" r:id="rId5" imgW="190440" imgH="215640" progId="Equation.3">
                    <p:embed/>
                  </p:oleObj>
                </mc:Choice>
                <mc:Fallback>
                  <p:oleObj name="Equation" r:id="rId5" imgW="190440" imgH="21564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1691"/>
                          <a:ext cx="399" cy="4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6950" name="Object 38"/>
            <p:cNvGraphicFramePr>
              <a:graphicFrameLocks noChangeAspect="1"/>
            </p:cNvGraphicFramePr>
            <p:nvPr/>
          </p:nvGraphicFramePr>
          <p:xfrm>
            <a:off x="3024" y="1691"/>
            <a:ext cx="399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693" name="Equation" r:id="rId7" imgW="190440" imgH="215640" progId="Equation.3">
                    <p:embed/>
                  </p:oleObj>
                </mc:Choice>
                <mc:Fallback>
                  <p:oleObj name="Equation" r:id="rId7" imgW="190440" imgH="2156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691"/>
                          <a:ext cx="399" cy="4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39"/>
            <p:cNvGrpSpPr>
              <a:grpSpLocks/>
            </p:cNvGrpSpPr>
            <p:nvPr/>
          </p:nvGrpSpPr>
          <p:grpSpPr bwMode="auto">
            <a:xfrm>
              <a:off x="2976" y="801"/>
              <a:ext cx="2130" cy="1236"/>
              <a:chOff x="3120" y="862"/>
              <a:chExt cx="2130" cy="1236"/>
            </a:xfrm>
          </p:grpSpPr>
          <p:sp>
            <p:nvSpPr>
              <p:cNvPr id="166952" name="Freeform 40"/>
              <p:cNvSpPr>
                <a:spLocks/>
              </p:cNvSpPr>
              <p:nvPr/>
            </p:nvSpPr>
            <p:spPr bwMode="auto">
              <a:xfrm>
                <a:off x="3120" y="940"/>
                <a:ext cx="837" cy="1158"/>
              </a:xfrm>
              <a:custGeom>
                <a:avLst/>
                <a:gdLst/>
                <a:ahLst/>
                <a:cxnLst>
                  <a:cxn ang="0">
                    <a:pos x="640" y="690"/>
                  </a:cxn>
                  <a:cxn ang="0">
                    <a:pos x="573" y="338"/>
                  </a:cxn>
                  <a:cxn ang="0">
                    <a:pos x="528" y="9"/>
                  </a:cxn>
                  <a:cxn ang="0">
                    <a:pos x="49" y="391"/>
                  </a:cxn>
                  <a:cxn ang="0">
                    <a:pos x="233" y="716"/>
                  </a:cxn>
                  <a:cxn ang="0">
                    <a:pos x="446" y="1109"/>
                  </a:cxn>
                  <a:cxn ang="0">
                    <a:pos x="805" y="1011"/>
                  </a:cxn>
                  <a:cxn ang="0">
                    <a:pos x="640" y="690"/>
                  </a:cxn>
                </a:cxnLst>
                <a:rect l="0" t="0" r="r" b="b"/>
                <a:pathLst>
                  <a:path w="837" h="1158">
                    <a:moveTo>
                      <a:pt x="640" y="690"/>
                    </a:moveTo>
                    <a:cubicBezTo>
                      <a:pt x="601" y="578"/>
                      <a:pt x="592" y="451"/>
                      <a:pt x="573" y="338"/>
                    </a:cubicBezTo>
                    <a:cubicBezTo>
                      <a:pt x="554" y="225"/>
                      <a:pt x="615" y="0"/>
                      <a:pt x="528" y="9"/>
                    </a:cubicBezTo>
                    <a:cubicBezTo>
                      <a:pt x="441" y="18"/>
                      <a:pt x="98" y="273"/>
                      <a:pt x="49" y="391"/>
                    </a:cubicBezTo>
                    <a:cubicBezTo>
                      <a:pt x="0" y="509"/>
                      <a:pt x="167" y="596"/>
                      <a:pt x="233" y="716"/>
                    </a:cubicBezTo>
                    <a:cubicBezTo>
                      <a:pt x="299" y="836"/>
                      <a:pt x="351" y="1060"/>
                      <a:pt x="446" y="1109"/>
                    </a:cubicBezTo>
                    <a:cubicBezTo>
                      <a:pt x="541" y="1158"/>
                      <a:pt x="773" y="1081"/>
                      <a:pt x="805" y="1011"/>
                    </a:cubicBezTo>
                    <a:cubicBezTo>
                      <a:pt x="837" y="941"/>
                      <a:pt x="671" y="811"/>
                      <a:pt x="640" y="6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46275"/>
                      <a:invGamma/>
                    </a:schemeClr>
                  </a:gs>
                  <a:gs pos="100000">
                    <a:schemeClr val="bg1"/>
                  </a:gs>
                </a:gsLst>
                <a:lin ang="18900000" scaled="1"/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6953" name="Freeform 41"/>
              <p:cNvSpPr>
                <a:spLocks/>
              </p:cNvSpPr>
              <p:nvPr/>
            </p:nvSpPr>
            <p:spPr bwMode="auto">
              <a:xfrm>
                <a:off x="4597" y="862"/>
                <a:ext cx="653" cy="1178"/>
              </a:xfrm>
              <a:custGeom>
                <a:avLst/>
                <a:gdLst/>
                <a:ahLst/>
                <a:cxnLst>
                  <a:cxn ang="0">
                    <a:pos x="595" y="786"/>
                  </a:cxn>
                  <a:cxn ang="0">
                    <a:pos x="550" y="584"/>
                  </a:cxn>
                  <a:cxn ang="0">
                    <a:pos x="617" y="75"/>
                  </a:cxn>
                  <a:cxn ang="0">
                    <a:pos x="333" y="135"/>
                  </a:cxn>
                  <a:cxn ang="0">
                    <a:pos x="34" y="629"/>
                  </a:cxn>
                  <a:cxn ang="0">
                    <a:pos x="131" y="906"/>
                  </a:cxn>
                  <a:cxn ang="0">
                    <a:pos x="176" y="1167"/>
                  </a:cxn>
                  <a:cxn ang="0">
                    <a:pos x="408" y="973"/>
                  </a:cxn>
                  <a:cxn ang="0">
                    <a:pos x="595" y="786"/>
                  </a:cxn>
                </a:cxnLst>
                <a:rect l="0" t="0" r="r" b="b"/>
                <a:pathLst>
                  <a:path w="653" h="1178">
                    <a:moveTo>
                      <a:pt x="595" y="786"/>
                    </a:moveTo>
                    <a:cubicBezTo>
                      <a:pt x="619" y="721"/>
                      <a:pt x="546" y="702"/>
                      <a:pt x="550" y="584"/>
                    </a:cubicBezTo>
                    <a:cubicBezTo>
                      <a:pt x="554" y="466"/>
                      <a:pt x="653" y="150"/>
                      <a:pt x="617" y="75"/>
                    </a:cubicBezTo>
                    <a:cubicBezTo>
                      <a:pt x="581" y="0"/>
                      <a:pt x="430" y="43"/>
                      <a:pt x="333" y="135"/>
                    </a:cubicBezTo>
                    <a:cubicBezTo>
                      <a:pt x="236" y="227"/>
                      <a:pt x="68" y="501"/>
                      <a:pt x="34" y="629"/>
                    </a:cubicBezTo>
                    <a:cubicBezTo>
                      <a:pt x="0" y="757"/>
                      <a:pt x="107" y="816"/>
                      <a:pt x="131" y="906"/>
                    </a:cubicBezTo>
                    <a:cubicBezTo>
                      <a:pt x="155" y="996"/>
                      <a:pt x="130" y="1156"/>
                      <a:pt x="176" y="1167"/>
                    </a:cubicBezTo>
                    <a:cubicBezTo>
                      <a:pt x="222" y="1178"/>
                      <a:pt x="338" y="1036"/>
                      <a:pt x="408" y="973"/>
                    </a:cubicBezTo>
                    <a:cubicBezTo>
                      <a:pt x="478" y="910"/>
                      <a:pt x="559" y="856"/>
                      <a:pt x="595" y="7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66954" name="Object 42"/>
              <p:cNvGraphicFramePr>
                <a:graphicFrameLocks noChangeAspect="1"/>
              </p:cNvGraphicFramePr>
              <p:nvPr/>
            </p:nvGraphicFramePr>
            <p:xfrm>
              <a:off x="3234" y="1272"/>
              <a:ext cx="516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7694" name="Equation" r:id="rId9" imgW="266400" imgH="203040" progId="Equation.3">
                      <p:embed/>
                    </p:oleObj>
                  </mc:Choice>
                  <mc:Fallback>
                    <p:oleObj name="Equation" r:id="rId9" imgW="266400" imgH="20304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1272"/>
                            <a:ext cx="516" cy="3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6955" name="Object 43"/>
              <p:cNvGraphicFramePr>
                <a:graphicFrameLocks noChangeAspect="1"/>
              </p:cNvGraphicFramePr>
              <p:nvPr/>
            </p:nvGraphicFramePr>
            <p:xfrm>
              <a:off x="4656" y="1296"/>
              <a:ext cx="516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7695" name="Equation" r:id="rId11" imgW="266400" imgH="203040" progId="Equation.3">
                      <p:embed/>
                    </p:oleObj>
                  </mc:Choice>
                  <mc:Fallback>
                    <p:oleObj name="Equation" r:id="rId11" imgW="266400" imgH="20304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296"/>
                            <a:ext cx="516" cy="3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66956" name="Object 44"/>
          <p:cNvGraphicFramePr>
            <a:graphicFrameLocks noChangeAspect="1"/>
          </p:cNvGraphicFramePr>
          <p:nvPr/>
        </p:nvGraphicFramePr>
        <p:xfrm>
          <a:off x="5181600" y="4232275"/>
          <a:ext cx="28956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696" name="Equation" r:id="rId13" imgW="1028520" imgH="291960" progId="Equation.3">
                  <p:embed/>
                </p:oleObj>
              </mc:Choice>
              <mc:Fallback>
                <p:oleObj name="Equation" r:id="rId13" imgW="1028520" imgH="29196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232275"/>
                        <a:ext cx="289560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152400" y="3330575"/>
            <a:ext cx="3657600" cy="1774825"/>
            <a:chOff x="2640" y="809"/>
            <a:chExt cx="2304" cy="1118"/>
          </a:xfrm>
        </p:grpSpPr>
        <p:sp>
          <p:nvSpPr>
            <p:cNvPr id="166958" name="Rectangle 46"/>
            <p:cNvSpPr>
              <a:spLocks noChangeArrowheads="1"/>
            </p:cNvSpPr>
            <p:nvPr/>
          </p:nvSpPr>
          <p:spPr bwMode="auto">
            <a:xfrm>
              <a:off x="2688" y="857"/>
              <a:ext cx="1872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6959" name="Text Box 47"/>
            <p:cNvSpPr txBox="1">
              <a:spLocks noChangeArrowheads="1"/>
            </p:cNvSpPr>
            <p:nvPr/>
          </p:nvSpPr>
          <p:spPr bwMode="auto">
            <a:xfrm>
              <a:off x="2640" y="809"/>
              <a:ext cx="9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单位</a:t>
              </a:r>
              <a:r>
                <a:rPr lang="zh-CN" altLang="en-US" sz="2800">
                  <a:solidFill>
                    <a:schemeClr val="tx1"/>
                  </a:solidFill>
                </a:rPr>
                <a:t>     </a:t>
              </a:r>
            </a:p>
          </p:txBody>
        </p:sp>
        <p:graphicFrame>
          <p:nvGraphicFramePr>
            <p:cNvPr id="166960" name="Object 48"/>
            <p:cNvGraphicFramePr>
              <a:graphicFrameLocks noChangeAspect="1"/>
            </p:cNvGraphicFramePr>
            <p:nvPr/>
          </p:nvGraphicFramePr>
          <p:xfrm>
            <a:off x="3408" y="816"/>
            <a:ext cx="148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697" name="Equation" r:id="rId15" imgW="1028520" imgH="253800" progId="Equation.3">
                    <p:embed/>
                  </p:oleObj>
                </mc:Choice>
                <mc:Fallback>
                  <p:oleObj name="Equation" r:id="rId15" imgW="1028520" imgH="2538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816"/>
                          <a:ext cx="1488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6961" name="Object 49"/>
            <p:cNvGraphicFramePr>
              <a:graphicFrameLocks noChangeAspect="1"/>
            </p:cNvGraphicFramePr>
            <p:nvPr/>
          </p:nvGraphicFramePr>
          <p:xfrm>
            <a:off x="3408" y="1512"/>
            <a:ext cx="1536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698" name="Equation" r:id="rId17" imgW="787320" imgH="228600" progId="Equation.3">
                    <p:embed/>
                  </p:oleObj>
                </mc:Choice>
                <mc:Fallback>
                  <p:oleObj name="Equation" r:id="rId17" imgW="787320" imgH="2286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512"/>
                          <a:ext cx="1536" cy="4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6962" name="Object 50"/>
            <p:cNvGraphicFramePr>
              <a:graphicFrameLocks noChangeAspect="1"/>
            </p:cNvGraphicFramePr>
            <p:nvPr/>
          </p:nvGraphicFramePr>
          <p:xfrm>
            <a:off x="3408" y="1104"/>
            <a:ext cx="1488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699" name="Equation" r:id="rId19" imgW="1434960" imgH="406080" progId="Equation.3">
                    <p:embed/>
                  </p:oleObj>
                </mc:Choice>
                <mc:Fallback>
                  <p:oleObj name="Equation" r:id="rId19" imgW="1434960" imgH="40608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104"/>
                          <a:ext cx="1488" cy="3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152400" y="0"/>
            <a:ext cx="3429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-4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电容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autoUpdateAnimBg="0"/>
      <p:bldP spid="16691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2"/>
          <p:cNvSpPr txBox="1">
            <a:spLocks noChangeArrowheads="1"/>
          </p:cNvSpPr>
          <p:nvPr/>
        </p:nvSpPr>
        <p:spPr bwMode="auto">
          <a:xfrm>
            <a:off x="457200" y="2909888"/>
            <a:ext cx="426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 电容器电容的计算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85800" y="3505201"/>
            <a:ext cx="7010400" cy="2465388"/>
            <a:chOff x="336" y="2880"/>
            <a:chExt cx="4416" cy="1553"/>
          </a:xfrm>
        </p:grpSpPr>
        <p:sp>
          <p:nvSpPr>
            <p:cNvPr id="167940" name="Text Box 4"/>
            <p:cNvSpPr txBox="1">
              <a:spLocks noChangeArrowheads="1"/>
            </p:cNvSpPr>
            <p:nvPr/>
          </p:nvSpPr>
          <p:spPr bwMode="auto">
            <a:xfrm>
              <a:off x="1152" y="2880"/>
              <a:ext cx="3600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宋体" charset="-122"/>
                </a:rPr>
                <a:t> 1）</a:t>
              </a:r>
              <a:r>
                <a:rPr lang="zh-CN" altLang="en-US" sz="2800" dirty="0">
                  <a:solidFill>
                    <a:schemeClr val="tx1"/>
                  </a:solidFill>
                  <a:latin typeface="宋体" charset="-122"/>
                </a:rPr>
                <a:t>设两极板分别带电      ；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latin typeface="宋体" charset="-122"/>
                </a:rPr>
                <a:t> </a:t>
              </a:r>
              <a:r>
                <a:rPr lang="zh-CN" altLang="en-US" sz="2800" dirty="0">
                  <a:solidFill>
                    <a:srgbClr val="CC0000"/>
                  </a:solidFill>
                  <a:latin typeface="宋体" charset="-122"/>
                </a:rPr>
                <a:t>2）</a:t>
              </a:r>
              <a:r>
                <a:rPr lang="zh-CN" altLang="en-US" sz="2800" dirty="0">
                  <a:solidFill>
                    <a:schemeClr val="tx1"/>
                  </a:solidFill>
                  <a:latin typeface="宋体" charset="-122"/>
                </a:rPr>
                <a:t>求</a:t>
              </a:r>
              <a:r>
                <a:rPr lang="zh-CN" altLang="zh-CN" sz="2800" dirty="0">
                  <a:solidFill>
                    <a:schemeClr val="tx1"/>
                  </a:solidFill>
                  <a:latin typeface="宋体" charset="-122"/>
                </a:rPr>
                <a:t> </a:t>
              </a:r>
              <a:r>
                <a:rPr lang="zh-CN" altLang="en-US" sz="2800" dirty="0">
                  <a:solidFill>
                    <a:schemeClr val="tx1"/>
                  </a:solidFill>
                  <a:latin typeface="宋体" charset="-122"/>
                </a:rPr>
                <a:t>  ； </a:t>
              </a:r>
            </a:p>
          </p:txBody>
        </p:sp>
        <p:graphicFrame>
          <p:nvGraphicFramePr>
            <p:cNvPr id="167941" name="Object 5"/>
            <p:cNvGraphicFramePr>
              <a:graphicFrameLocks noChangeAspect="1"/>
            </p:cNvGraphicFramePr>
            <p:nvPr/>
          </p:nvGraphicFramePr>
          <p:xfrm>
            <a:off x="3552" y="2919"/>
            <a:ext cx="48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13" name="Equation" r:id="rId3" imgW="406080" imgH="291960" progId="Equation.3">
                    <p:embed/>
                  </p:oleObj>
                </mc:Choice>
                <mc:Fallback>
                  <p:oleObj name="Equation" r:id="rId3" imgW="406080" imgH="2919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919"/>
                          <a:ext cx="480" cy="3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2" name="Object 6"/>
            <p:cNvGraphicFramePr>
              <a:graphicFrameLocks noChangeAspect="1"/>
            </p:cNvGraphicFramePr>
            <p:nvPr/>
          </p:nvGraphicFramePr>
          <p:xfrm>
            <a:off x="1968" y="3312"/>
            <a:ext cx="2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14" name="Equation" r:id="rId5" imgW="215640" imgH="266400" progId="Equation.3">
                    <p:embed/>
                  </p:oleObj>
                </mc:Choice>
                <mc:Fallback>
                  <p:oleObj name="Equation" r:id="rId5" imgW="215640" imgH="266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3312"/>
                          <a:ext cx="23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1248" y="3696"/>
              <a:ext cx="2592" cy="737"/>
              <a:chOff x="1056" y="3696"/>
              <a:chExt cx="2592" cy="737"/>
            </a:xfrm>
          </p:grpSpPr>
          <p:sp>
            <p:nvSpPr>
              <p:cNvPr id="167945" name="Rectangle 9"/>
              <p:cNvSpPr>
                <a:spLocks noChangeArrowheads="1"/>
              </p:cNvSpPr>
              <p:nvPr/>
            </p:nvSpPr>
            <p:spPr bwMode="auto">
              <a:xfrm>
                <a:off x="1056" y="3696"/>
                <a:ext cx="2592" cy="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CC0000"/>
                    </a:solidFill>
                    <a:latin typeface="宋体" charset="-122"/>
                  </a:rPr>
                  <a:t>3）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宋体" charset="-122"/>
                  </a:rPr>
                  <a:t>求   ；  </a:t>
                </a:r>
                <a:endParaRPr lang="en-US" altLang="zh-CN" sz="2800" dirty="0">
                  <a:solidFill>
                    <a:schemeClr val="tx1"/>
                  </a:solidFill>
                  <a:latin typeface="宋体" charset="-122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CC0000"/>
                    </a:solidFill>
                    <a:latin typeface="宋体" charset="-122"/>
                  </a:rPr>
                  <a:t>4）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宋体" charset="-122"/>
                  </a:rPr>
                  <a:t>求    .</a:t>
                </a:r>
              </a:p>
            </p:txBody>
          </p:sp>
          <p:graphicFrame>
            <p:nvGraphicFramePr>
              <p:cNvPr id="167943" name="Object 7"/>
              <p:cNvGraphicFramePr>
                <a:graphicFrameLocks noChangeAspect="1"/>
              </p:cNvGraphicFramePr>
              <p:nvPr/>
            </p:nvGraphicFramePr>
            <p:xfrm>
              <a:off x="1776" y="3744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8715" name="Equation" r:id="rId7" imgW="241200" imgH="241200" progId="Equation.3">
                      <p:embed/>
                    </p:oleObj>
                  </mc:Choice>
                  <mc:Fallback>
                    <p:oleObj name="Equation" r:id="rId7" imgW="241200" imgH="2412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3744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7944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9336654"/>
                  </p:ext>
                </p:extLst>
              </p:nvPr>
            </p:nvGraphicFramePr>
            <p:xfrm>
              <a:off x="1750" y="4145"/>
              <a:ext cx="25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8716" name="Equation" r:id="rId9" imgW="215640" imgH="241200" progId="Equation.3">
                      <p:embed/>
                    </p:oleObj>
                  </mc:Choice>
                  <mc:Fallback>
                    <p:oleObj name="Equation" r:id="rId9" imgW="215640" imgH="2412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0" y="4145"/>
                            <a:ext cx="25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7946" name="Text Box 10"/>
            <p:cNvSpPr txBox="1">
              <a:spLocks noChangeArrowheads="1"/>
            </p:cNvSpPr>
            <p:nvPr/>
          </p:nvSpPr>
          <p:spPr bwMode="auto">
            <a:xfrm>
              <a:off x="336" y="2928"/>
              <a:ext cx="816" cy="335"/>
            </a:xfrm>
            <a:prstGeom prst="rect">
              <a:avLst/>
            </a:prstGeom>
            <a:gradFill rotWithShape="0">
              <a:gsLst>
                <a:gs pos="0">
                  <a:srgbClr val="FFE1FF"/>
                </a:gs>
                <a:gs pos="50000">
                  <a:srgbClr val="FFE1FF">
                    <a:gamma/>
                    <a:tint val="20000"/>
                    <a:invGamma/>
                  </a:srgbClr>
                </a:gs>
                <a:gs pos="100000">
                  <a:srgbClr val="FFE1FF"/>
                </a:gs>
              </a:gsLst>
              <a:lin ang="5400000" scaled="1"/>
            </a:gradFill>
            <a:ln w="12700">
              <a:solidFill>
                <a:srgbClr val="CC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步骤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57200" y="533400"/>
            <a:ext cx="8458200" cy="1160462"/>
            <a:chOff x="288" y="528"/>
            <a:chExt cx="5328" cy="731"/>
          </a:xfrm>
        </p:grpSpPr>
        <p:sp>
          <p:nvSpPr>
            <p:cNvPr id="167947" name="Text Box 11"/>
            <p:cNvSpPr txBox="1">
              <a:spLocks noChangeArrowheads="1"/>
            </p:cNvSpPr>
            <p:nvPr/>
          </p:nvSpPr>
          <p:spPr bwMode="auto">
            <a:xfrm>
              <a:off x="288" y="528"/>
              <a:ext cx="5328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 击穿场强       </a:t>
              </a:r>
              <a:r>
                <a:rPr lang="zh-CN" altLang="en-US" sz="2800" dirty="0">
                  <a:solidFill>
                    <a:srgbClr val="CC0000"/>
                  </a:solidFill>
                </a:rPr>
                <a:t>：</a:t>
              </a:r>
              <a:r>
                <a:rPr lang="zh-CN" altLang="en-US" sz="2800" dirty="0">
                  <a:solidFill>
                    <a:schemeClr val="tx1"/>
                  </a:solidFill>
                </a:rPr>
                <a:t>电容器中的电介质能承受的最大电</a:t>
              </a:r>
            </a:p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dirty="0">
                  <a:solidFill>
                    <a:schemeClr val="tx1"/>
                  </a:solidFill>
                </a:rPr>
                <a:t>                                 场强度.</a:t>
              </a:r>
            </a:p>
          </p:txBody>
        </p:sp>
        <p:graphicFrame>
          <p:nvGraphicFramePr>
            <p:cNvPr id="167948" name="Object 12"/>
            <p:cNvGraphicFramePr>
              <a:graphicFrameLocks noChangeAspect="1"/>
            </p:cNvGraphicFramePr>
            <p:nvPr/>
          </p:nvGraphicFramePr>
          <p:xfrm>
            <a:off x="1607" y="528"/>
            <a:ext cx="36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17" name="Equation" r:id="rId11" imgW="190440" imgH="228600" progId="">
                    <p:embed/>
                  </p:oleObj>
                </mc:Choice>
                <mc:Fallback>
                  <p:oleObj name="Equation" r:id="rId11" imgW="190440" imgH="22860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7" y="528"/>
                          <a:ext cx="36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accent1">
                                      <a:gamma/>
                                      <a:tint val="0"/>
                                      <a:invGamma/>
                                    </a:schemeClr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57200" y="1600200"/>
            <a:ext cx="8077200" cy="1211262"/>
            <a:chOff x="288" y="1392"/>
            <a:chExt cx="5088" cy="763"/>
          </a:xfrm>
        </p:grpSpPr>
        <p:sp>
          <p:nvSpPr>
            <p:cNvPr id="167949" name="Text Box 13"/>
            <p:cNvSpPr txBox="1">
              <a:spLocks noChangeArrowheads="1"/>
            </p:cNvSpPr>
            <p:nvPr/>
          </p:nvSpPr>
          <p:spPr bwMode="auto">
            <a:xfrm>
              <a:off x="288" y="1584"/>
              <a:ext cx="19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 击穿电压        </a:t>
              </a:r>
              <a:r>
                <a:rPr lang="zh-CN" altLang="en-US" sz="2800" dirty="0">
                  <a:solidFill>
                    <a:srgbClr val="CC0000"/>
                  </a:solidFill>
                </a:rPr>
                <a:t>：</a:t>
              </a:r>
              <a:endParaRPr lang="zh-CN" altLang="en-US" sz="28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67950" name="Object 14"/>
            <p:cNvGraphicFramePr>
              <a:graphicFrameLocks noChangeAspect="1"/>
            </p:cNvGraphicFramePr>
            <p:nvPr/>
          </p:nvGraphicFramePr>
          <p:xfrm>
            <a:off x="1600" y="1584"/>
            <a:ext cx="38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18" name="Equation" r:id="rId13" imgW="203040" imgH="228600" progId="">
                    <p:embed/>
                  </p:oleObj>
                </mc:Choice>
                <mc:Fallback>
                  <p:oleObj name="Equation" r:id="rId13" imgW="203040" imgH="228600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" y="1584"/>
                          <a:ext cx="385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accent1">
                                      <a:gamma/>
                                      <a:tint val="0"/>
                                      <a:invGamma/>
                                    </a:schemeClr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1" name="Object 15"/>
            <p:cNvGraphicFramePr>
              <a:graphicFrameLocks noChangeAspect="1"/>
            </p:cNvGraphicFramePr>
            <p:nvPr/>
          </p:nvGraphicFramePr>
          <p:xfrm>
            <a:off x="2260" y="1392"/>
            <a:ext cx="1148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19" name="Equation" r:id="rId15" imgW="545760" imgH="393480" progId="">
                    <p:embed/>
                  </p:oleObj>
                </mc:Choice>
                <mc:Fallback>
                  <p:oleObj name="Equation" r:id="rId15" imgW="545760" imgH="393480" progId="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0" y="1392"/>
                          <a:ext cx="1148" cy="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accent1">
                                      <a:gamma/>
                                      <a:tint val="0"/>
                                      <a:invGamma/>
                                    </a:schemeClr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52" name="Text Box 16"/>
            <p:cNvSpPr txBox="1">
              <a:spLocks noChangeArrowheads="1"/>
            </p:cNvSpPr>
            <p:nvPr/>
          </p:nvSpPr>
          <p:spPr bwMode="auto">
            <a:xfrm>
              <a:off x="3360" y="1584"/>
              <a:ext cx="20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（平行板电容器）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715000" y="2057400"/>
            <a:ext cx="3124200" cy="3124200"/>
            <a:chOff x="3600" y="1392"/>
            <a:chExt cx="1968" cy="1968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600" y="1392"/>
              <a:ext cx="1968" cy="1968"/>
              <a:chOff x="3600" y="1392"/>
              <a:chExt cx="1968" cy="1968"/>
            </a:xfrm>
          </p:grpSpPr>
          <p:sp>
            <p:nvSpPr>
              <p:cNvPr id="168964" name="Rectangle 4"/>
              <p:cNvSpPr>
                <a:spLocks noChangeArrowheads="1"/>
              </p:cNvSpPr>
              <p:nvPr/>
            </p:nvSpPr>
            <p:spPr bwMode="auto">
              <a:xfrm>
                <a:off x="3600" y="1392"/>
                <a:ext cx="1968" cy="19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8965" name="Rectangle 5"/>
              <p:cNvSpPr>
                <a:spLocks noChangeArrowheads="1"/>
              </p:cNvSpPr>
              <p:nvPr/>
            </p:nvSpPr>
            <p:spPr bwMode="auto">
              <a:xfrm>
                <a:off x="4056" y="1896"/>
                <a:ext cx="120" cy="1368"/>
              </a:xfrm>
              <a:prstGeom prst="rect">
                <a:avLst/>
              </a:prstGeom>
              <a:gradFill rotWithShape="0">
                <a:gsLst>
                  <a:gs pos="0">
                    <a:schemeClr val="bg1">
                      <a:gamma/>
                      <a:shade val="46275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8966" name="Rectangle 6"/>
              <p:cNvSpPr>
                <a:spLocks noChangeArrowheads="1"/>
              </p:cNvSpPr>
              <p:nvPr/>
            </p:nvSpPr>
            <p:spPr bwMode="auto">
              <a:xfrm>
                <a:off x="5040" y="1896"/>
                <a:ext cx="120" cy="1368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68967" name="Line 7"/>
              <p:cNvSpPr>
                <a:spLocks noChangeShapeType="1"/>
              </p:cNvSpPr>
              <p:nvPr/>
            </p:nvSpPr>
            <p:spPr bwMode="auto">
              <a:xfrm>
                <a:off x="4176" y="1776"/>
                <a:ext cx="864" cy="0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68968" name="Object 8"/>
              <p:cNvGraphicFramePr>
                <a:graphicFrameLocks noChangeAspect="1"/>
              </p:cNvGraphicFramePr>
              <p:nvPr/>
            </p:nvGraphicFramePr>
            <p:xfrm>
              <a:off x="4512" y="1429"/>
              <a:ext cx="240" cy="3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9739" name="Equation" r:id="rId3" imgW="190440" imgH="253800" progId="Equation.3">
                      <p:embed/>
                    </p:oleObj>
                  </mc:Choice>
                  <mc:Fallback>
                    <p:oleObj name="Equation" r:id="rId3" imgW="190440" imgH="2538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1429"/>
                            <a:ext cx="240" cy="3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969" name="Object 9"/>
              <p:cNvGraphicFramePr>
                <a:graphicFrameLocks noChangeAspect="1"/>
              </p:cNvGraphicFramePr>
              <p:nvPr/>
            </p:nvGraphicFramePr>
            <p:xfrm>
              <a:off x="3792" y="2448"/>
              <a:ext cx="220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9740" name="Equation" r:id="rId5" imgW="190440" imgH="241200" progId="Equation.3">
                      <p:embed/>
                    </p:oleObj>
                  </mc:Choice>
                  <mc:Fallback>
                    <p:oleObj name="Equation" r:id="rId5" imgW="190440" imgH="241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2448"/>
                            <a:ext cx="220" cy="3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8970" name="Line 10"/>
              <p:cNvSpPr>
                <a:spLocks noChangeShapeType="1"/>
              </p:cNvSpPr>
              <p:nvPr/>
            </p:nvSpPr>
            <p:spPr bwMode="auto">
              <a:xfrm flipV="1">
                <a:off x="4176" y="1632"/>
                <a:ext cx="0" cy="288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68971" name="Line 11"/>
              <p:cNvSpPr>
                <a:spLocks noChangeShapeType="1"/>
              </p:cNvSpPr>
              <p:nvPr/>
            </p:nvSpPr>
            <p:spPr bwMode="auto">
              <a:xfrm flipV="1">
                <a:off x="5040" y="1632"/>
                <a:ext cx="0" cy="288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  <p:sp>
          <p:nvSpPr>
            <p:cNvPr id="168972" name="Rectangle 12"/>
            <p:cNvSpPr>
              <a:spLocks noChangeArrowheads="1"/>
            </p:cNvSpPr>
            <p:nvPr/>
          </p:nvSpPr>
          <p:spPr bwMode="auto">
            <a:xfrm>
              <a:off x="3792" y="2928"/>
              <a:ext cx="24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68973" name="Rectangle 13"/>
            <p:cNvSpPr>
              <a:spLocks noChangeArrowheads="1"/>
            </p:cNvSpPr>
            <p:nvPr/>
          </p:nvSpPr>
          <p:spPr bwMode="auto">
            <a:xfrm>
              <a:off x="5136" y="2985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858000" y="3048000"/>
            <a:ext cx="942975" cy="1905000"/>
            <a:chOff x="4368" y="1344"/>
            <a:chExt cx="594" cy="1200"/>
          </a:xfrm>
        </p:grpSpPr>
        <p:sp>
          <p:nvSpPr>
            <p:cNvPr id="168975" name="Line 15"/>
            <p:cNvSpPr>
              <a:spLocks noChangeShapeType="1"/>
            </p:cNvSpPr>
            <p:nvPr/>
          </p:nvSpPr>
          <p:spPr bwMode="auto">
            <a:xfrm>
              <a:off x="4368" y="134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8976" name="Line 16"/>
            <p:cNvSpPr>
              <a:spLocks noChangeShapeType="1"/>
            </p:cNvSpPr>
            <p:nvPr/>
          </p:nvSpPr>
          <p:spPr bwMode="auto">
            <a:xfrm>
              <a:off x="4368" y="206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8977" name="Line 17"/>
            <p:cNvSpPr>
              <a:spLocks noChangeShapeType="1"/>
            </p:cNvSpPr>
            <p:nvPr/>
          </p:nvSpPr>
          <p:spPr bwMode="auto">
            <a:xfrm>
              <a:off x="4368" y="182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8978" name="Line 18"/>
            <p:cNvSpPr>
              <a:spLocks noChangeShapeType="1"/>
            </p:cNvSpPr>
            <p:nvPr/>
          </p:nvSpPr>
          <p:spPr bwMode="auto">
            <a:xfrm>
              <a:off x="4368" y="158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8979" name="Line 19"/>
            <p:cNvSpPr>
              <a:spLocks noChangeShapeType="1"/>
            </p:cNvSpPr>
            <p:nvPr/>
          </p:nvSpPr>
          <p:spPr bwMode="auto">
            <a:xfrm>
              <a:off x="4368" y="230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8980" name="Line 20"/>
            <p:cNvSpPr>
              <a:spLocks noChangeShapeType="1"/>
            </p:cNvSpPr>
            <p:nvPr/>
          </p:nvSpPr>
          <p:spPr bwMode="auto">
            <a:xfrm>
              <a:off x="4368" y="2544"/>
              <a:ext cx="5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6096000" y="2514600"/>
            <a:ext cx="2590800" cy="2630488"/>
            <a:chOff x="3840" y="1669"/>
            <a:chExt cx="1632" cy="1657"/>
          </a:xfrm>
        </p:grpSpPr>
        <p:sp>
          <p:nvSpPr>
            <p:cNvPr id="168982" name="Text Box 22"/>
            <p:cNvSpPr txBox="1">
              <a:spLocks noChangeArrowheads="1"/>
            </p:cNvSpPr>
            <p:nvPr/>
          </p:nvSpPr>
          <p:spPr bwMode="auto">
            <a:xfrm>
              <a:off x="4128" y="1872"/>
              <a:ext cx="300" cy="1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</a:rPr>
                <a:t>+ + + +++</a:t>
              </a:r>
            </a:p>
          </p:txBody>
        </p:sp>
        <p:grpSp>
          <p:nvGrpSpPr>
            <p:cNvPr id="6" name="Group 23"/>
            <p:cNvGrpSpPr>
              <a:grpSpLocks/>
            </p:cNvGrpSpPr>
            <p:nvPr/>
          </p:nvGrpSpPr>
          <p:grpSpPr bwMode="auto">
            <a:xfrm>
              <a:off x="3840" y="1669"/>
              <a:ext cx="1632" cy="299"/>
              <a:chOff x="3840" y="1669"/>
              <a:chExt cx="1632" cy="299"/>
            </a:xfrm>
          </p:grpSpPr>
          <p:graphicFrame>
            <p:nvGraphicFramePr>
              <p:cNvPr id="168984" name="Object 24"/>
              <p:cNvGraphicFramePr>
                <a:graphicFrameLocks noChangeAspect="1"/>
              </p:cNvGraphicFramePr>
              <p:nvPr/>
            </p:nvGraphicFramePr>
            <p:xfrm>
              <a:off x="3840" y="1680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9741" name="Equation" r:id="rId7" imgW="228600" imgH="291960" progId="Equation.3">
                      <p:embed/>
                    </p:oleObj>
                  </mc:Choice>
                  <mc:Fallback>
                    <p:oleObj name="Equation" r:id="rId7" imgW="228600" imgH="29196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680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985" name="Object 25"/>
              <p:cNvGraphicFramePr>
                <a:graphicFrameLocks noChangeAspect="1"/>
              </p:cNvGraphicFramePr>
              <p:nvPr/>
            </p:nvGraphicFramePr>
            <p:xfrm>
              <a:off x="5088" y="1669"/>
              <a:ext cx="384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9742" name="Equation" r:id="rId9" imgW="406080" imgH="291960" progId="Equation.3">
                      <p:embed/>
                    </p:oleObj>
                  </mc:Choice>
                  <mc:Fallback>
                    <p:oleObj name="Equation" r:id="rId9" imgW="406080" imgH="29196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1669"/>
                            <a:ext cx="384" cy="2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8986" name="Text Box 26"/>
            <p:cNvSpPr txBox="1">
              <a:spLocks noChangeArrowheads="1"/>
            </p:cNvSpPr>
            <p:nvPr/>
          </p:nvSpPr>
          <p:spPr bwMode="auto">
            <a:xfrm>
              <a:off x="4896" y="1931"/>
              <a:ext cx="288" cy="1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</a:rPr>
                <a:t>-</a:t>
              </a:r>
            </a:p>
          </p:txBody>
        </p:sp>
      </p:grpSp>
      <p:graphicFrame>
        <p:nvGraphicFramePr>
          <p:cNvPr id="168987" name="Object 27"/>
          <p:cNvGraphicFramePr>
            <a:graphicFrameLocks noChangeAspect="1"/>
          </p:cNvGraphicFramePr>
          <p:nvPr/>
        </p:nvGraphicFramePr>
        <p:xfrm>
          <a:off x="1609725" y="3276600"/>
          <a:ext cx="29527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43" name="Equation" r:id="rId11" imgW="1079280" imgH="431640" progId="">
                  <p:embed/>
                </p:oleObj>
              </mc:Choice>
              <mc:Fallback>
                <p:oleObj name="Equation" r:id="rId11" imgW="1079280" imgH="43164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3276600"/>
                        <a:ext cx="295275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8" name="Text Box 28"/>
          <p:cNvSpPr txBox="1">
            <a:spLocks noChangeArrowheads="1"/>
          </p:cNvSpPr>
          <p:nvPr/>
        </p:nvSpPr>
        <p:spPr bwMode="auto">
          <a:xfrm>
            <a:off x="381000" y="2809875"/>
            <a:ext cx="533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>
                <a:solidFill>
                  <a:srgbClr val="CC0000"/>
                </a:solidFill>
              </a:rPr>
              <a:t>（2）</a:t>
            </a:r>
            <a:r>
              <a:rPr lang="zh-CN" altLang="en-US" sz="2800">
                <a:solidFill>
                  <a:srgbClr val="1C1C1C"/>
                </a:solidFill>
              </a:rPr>
              <a:t>两带电平板间的电场强度</a:t>
            </a: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381000" y="2200275"/>
            <a:ext cx="5105400" cy="519113"/>
            <a:chOff x="96" y="969"/>
            <a:chExt cx="3216" cy="327"/>
          </a:xfrm>
        </p:grpSpPr>
        <p:sp>
          <p:nvSpPr>
            <p:cNvPr id="168990" name="Text Box 30"/>
            <p:cNvSpPr txBox="1">
              <a:spLocks noChangeArrowheads="1"/>
            </p:cNvSpPr>
            <p:nvPr/>
          </p:nvSpPr>
          <p:spPr bwMode="auto">
            <a:xfrm>
              <a:off x="96" y="969"/>
              <a:ext cx="28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>
                  <a:solidFill>
                    <a:srgbClr val="CC0000"/>
                  </a:solidFill>
                </a:rPr>
                <a:t>（1）</a:t>
              </a:r>
              <a:r>
                <a:rPr lang="zh-CN" altLang="en-US" sz="2800">
                  <a:solidFill>
                    <a:schemeClr val="tx1"/>
                  </a:solidFill>
                </a:rPr>
                <a:t>设</a:t>
              </a:r>
              <a:r>
                <a:rPr lang="zh-CN" altLang="en-US" sz="2800">
                  <a:solidFill>
                    <a:srgbClr val="1C1C1C"/>
                  </a:solidFill>
                </a:rPr>
                <a:t>两导体板分别带电</a:t>
              </a:r>
            </a:p>
          </p:txBody>
        </p:sp>
        <p:graphicFrame>
          <p:nvGraphicFramePr>
            <p:cNvPr id="168991" name="Object 31"/>
            <p:cNvGraphicFramePr>
              <a:graphicFrameLocks noChangeAspect="1"/>
            </p:cNvGraphicFramePr>
            <p:nvPr/>
          </p:nvGraphicFramePr>
          <p:xfrm>
            <a:off x="2880" y="982"/>
            <a:ext cx="43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9744" name="Equation" r:id="rId13" imgW="406080" imgH="291960" progId="Equation.3">
                    <p:embed/>
                  </p:oleObj>
                </mc:Choice>
                <mc:Fallback>
                  <p:oleObj name="Equation" r:id="rId13" imgW="406080" imgH="2919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982"/>
                          <a:ext cx="432" cy="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8992" name="Object 32"/>
          <p:cNvGraphicFramePr>
            <a:graphicFrameLocks noChangeAspect="1"/>
          </p:cNvGraphicFramePr>
          <p:nvPr/>
        </p:nvGraphicFramePr>
        <p:xfrm>
          <a:off x="1600200" y="4852988"/>
          <a:ext cx="317658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45" name="Equation" r:id="rId15" imgW="1015920" imgH="431640" progId="">
                  <p:embed/>
                </p:oleObj>
              </mc:Choice>
              <mc:Fallback>
                <p:oleObj name="Equation" r:id="rId15" imgW="1015920" imgH="43164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852988"/>
                        <a:ext cx="3176588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93" name="Rectangle 33"/>
          <p:cNvSpPr>
            <a:spLocks noChangeArrowheads="1"/>
          </p:cNvSpPr>
          <p:nvPr/>
        </p:nvSpPr>
        <p:spPr bwMode="auto">
          <a:xfrm>
            <a:off x="381000" y="4395788"/>
            <a:ext cx="533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2800">
                <a:solidFill>
                  <a:srgbClr val="CC0000"/>
                </a:solidFill>
              </a:rPr>
              <a:t>（3）</a:t>
            </a:r>
            <a:r>
              <a:rPr lang="zh-CN" altLang="en-US" sz="2800">
                <a:solidFill>
                  <a:srgbClr val="1C1C1C"/>
                </a:solidFill>
              </a:rPr>
              <a:t>两带电平板间的电势差</a:t>
            </a:r>
          </a:p>
        </p:txBody>
      </p: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381000" y="5334000"/>
            <a:ext cx="8208963" cy="1128713"/>
            <a:chOff x="240" y="3456"/>
            <a:chExt cx="5171" cy="711"/>
          </a:xfrm>
        </p:grpSpPr>
        <p:graphicFrame>
          <p:nvGraphicFramePr>
            <p:cNvPr id="168995" name="Object 35"/>
            <p:cNvGraphicFramePr>
              <a:graphicFrameLocks noChangeAspect="1"/>
            </p:cNvGraphicFramePr>
            <p:nvPr/>
          </p:nvGraphicFramePr>
          <p:xfrm>
            <a:off x="3696" y="3456"/>
            <a:ext cx="1715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9746" name="Equation" r:id="rId17" imgW="977760" imgH="393480" progId="">
                    <p:embed/>
                  </p:oleObj>
                </mc:Choice>
                <mc:Fallback>
                  <p:oleObj name="Equation" r:id="rId17" imgW="977760" imgH="393480" progId="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456"/>
                          <a:ext cx="1715" cy="68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chemeClr val="accent1">
                                <a:gamma/>
                                <a:tint val="0"/>
                                <a:invGamma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1270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96" name="Rectangle 36"/>
            <p:cNvSpPr>
              <a:spLocks noChangeArrowheads="1"/>
            </p:cNvSpPr>
            <p:nvPr/>
          </p:nvSpPr>
          <p:spPr bwMode="auto">
            <a:xfrm>
              <a:off x="240" y="3840"/>
              <a:ext cx="25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zh-CN" altLang="zh-CN" sz="2800">
                  <a:solidFill>
                    <a:srgbClr val="CC0000"/>
                  </a:solidFill>
                </a:rPr>
                <a:t>（</a:t>
              </a:r>
              <a:r>
                <a:rPr lang="zh-CN" altLang="en-US" sz="2800">
                  <a:solidFill>
                    <a:srgbClr val="CC0000"/>
                  </a:solidFill>
                </a:rPr>
                <a:t>4）</a:t>
              </a:r>
              <a:r>
                <a:rPr lang="zh-CN" altLang="zh-CN" sz="2800"/>
                <a:t>平板电容器电容</a:t>
              </a:r>
              <a:endParaRPr lang="zh-CN" altLang="en-US" sz="2800"/>
            </a:p>
          </p:txBody>
        </p: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228600" y="457200"/>
            <a:ext cx="8686800" cy="1800225"/>
            <a:chOff x="144" y="384"/>
            <a:chExt cx="5472" cy="1134"/>
          </a:xfrm>
        </p:grpSpPr>
        <p:sp>
          <p:nvSpPr>
            <p:cNvPr id="168998" name="Text Box 38"/>
            <p:cNvSpPr txBox="1">
              <a:spLocks noChangeArrowheads="1"/>
            </p:cNvSpPr>
            <p:nvPr/>
          </p:nvSpPr>
          <p:spPr bwMode="auto">
            <a:xfrm>
              <a:off x="144" y="384"/>
              <a:ext cx="5472" cy="1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        例1   </a:t>
              </a:r>
              <a:r>
                <a:rPr lang="zh-CN" altLang="zh-CN" sz="2800" b="1" dirty="0">
                  <a:solidFill>
                    <a:srgbClr val="C00000"/>
                  </a:solidFill>
                </a:rPr>
                <a:t>平板电容器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. </a:t>
              </a:r>
              <a:r>
                <a:rPr lang="zh-CN" altLang="en-US" sz="2800" dirty="0">
                  <a:solidFill>
                    <a:schemeClr val="tx1"/>
                  </a:solidFill>
                </a:rPr>
                <a:t>如图所示，平板电容器由两个彼此靠得很近的平行极板</a:t>
              </a:r>
              <a:r>
                <a:rPr lang="en-US" altLang="zh-CN" sz="2800" dirty="0">
                  <a:solidFill>
                    <a:schemeClr val="tx1"/>
                  </a:solidFill>
                </a:rPr>
                <a:t>A、B </a:t>
              </a:r>
              <a:r>
                <a:rPr lang="zh-CN" altLang="en-US" sz="2800" dirty="0">
                  <a:solidFill>
                    <a:schemeClr val="tx1"/>
                  </a:solidFill>
                </a:rPr>
                <a:t>所组成，两极板的面积均为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S</a:t>
              </a:r>
              <a:r>
                <a:rPr lang="en-US" altLang="zh-CN" sz="2800" dirty="0">
                  <a:solidFill>
                    <a:schemeClr val="tx1"/>
                  </a:solidFill>
                </a:rPr>
                <a:t>，</a:t>
              </a:r>
              <a:r>
                <a:rPr lang="zh-CN" altLang="en-US" sz="2800" dirty="0">
                  <a:solidFill>
                    <a:schemeClr val="tx1"/>
                  </a:solidFill>
                </a:rPr>
                <a:t>两极板间距为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d</a:t>
              </a:r>
              <a:r>
                <a:rPr lang="en-US" altLang="zh-CN" sz="2800" dirty="0">
                  <a:solidFill>
                    <a:schemeClr val="tx1"/>
                  </a:solidFill>
                </a:rPr>
                <a:t>. </a:t>
              </a:r>
              <a:r>
                <a:rPr lang="zh-CN" altLang="en-US" sz="2800" dirty="0">
                  <a:solidFill>
                    <a:schemeClr val="tx1"/>
                  </a:solidFill>
                </a:rPr>
                <a:t>极板间充满相对电容率为     的电介质.求此平板电容器的电容.</a:t>
              </a:r>
              <a:endParaRPr lang="zh-CN" altLang="zh-CN" sz="28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68999" name="Object 39"/>
            <p:cNvGraphicFramePr>
              <a:graphicFrameLocks noChangeAspect="1"/>
            </p:cNvGraphicFramePr>
            <p:nvPr/>
          </p:nvGraphicFramePr>
          <p:xfrm>
            <a:off x="4800" y="864"/>
            <a:ext cx="301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9747" name="Equation" r:id="rId19" imgW="152280" imgH="228600" progId="">
                    <p:embed/>
                  </p:oleObj>
                </mc:Choice>
                <mc:Fallback>
                  <p:oleObj name="Equation" r:id="rId19" imgW="152280" imgH="228600" progId="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864"/>
                          <a:ext cx="301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8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16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88" grpId="0" autoUpdateAnimBg="0"/>
      <p:bldP spid="16899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76200" y="381000"/>
            <a:ext cx="9013825" cy="2219325"/>
            <a:chOff x="82" y="330"/>
            <a:chExt cx="5678" cy="1398"/>
          </a:xfrm>
        </p:grpSpPr>
        <p:sp>
          <p:nvSpPr>
            <p:cNvPr id="169987" name="Rectangle 3"/>
            <p:cNvSpPr>
              <a:spLocks noChangeArrowheads="1"/>
            </p:cNvSpPr>
            <p:nvPr/>
          </p:nvSpPr>
          <p:spPr bwMode="auto">
            <a:xfrm>
              <a:off x="82" y="330"/>
              <a:ext cx="5678" cy="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       例2   圆柱形电容器.    </a:t>
              </a:r>
              <a:r>
                <a:rPr lang="zh-CN" altLang="en-US" sz="2800" dirty="0">
                  <a:solidFill>
                    <a:schemeClr val="tx1"/>
                  </a:solidFill>
                </a:rPr>
                <a:t>如图所示，圆柱形电容器是由</a:t>
              </a:r>
              <a:r>
                <a:rPr lang="zh-CN" altLang="en-US" sz="2800" dirty="0">
                  <a:solidFill>
                    <a:srgbClr val="1C1C1C"/>
                  </a:solidFill>
                </a:rPr>
                <a:t>半径分别为      和       的两同轴圆柱面 </a:t>
              </a:r>
              <a:r>
                <a:rPr lang="en-US" altLang="zh-CN" sz="2800" dirty="0">
                  <a:solidFill>
                    <a:schemeClr val="tx1"/>
                  </a:solidFill>
                </a:rPr>
                <a:t>A </a:t>
              </a:r>
              <a:r>
                <a:rPr lang="zh-CN" altLang="en-US" sz="2800" dirty="0">
                  <a:solidFill>
                    <a:schemeClr val="tx1"/>
                  </a:solidFill>
                </a:rPr>
                <a:t>和 </a:t>
              </a:r>
              <a:r>
                <a:rPr lang="en-US" altLang="zh-CN" sz="2800" dirty="0">
                  <a:solidFill>
                    <a:schemeClr val="tx1"/>
                  </a:solidFill>
                </a:rPr>
                <a:t>B </a:t>
              </a:r>
              <a:r>
                <a:rPr lang="zh-CN" altLang="en-US" sz="2800" dirty="0">
                  <a:solidFill>
                    <a:schemeClr val="tx1"/>
                  </a:solidFill>
                </a:rPr>
                <a:t>所构成，且圆柱体的长度 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l </a:t>
              </a:r>
              <a:r>
                <a:rPr lang="zh-CN" altLang="en-US" sz="2800" dirty="0">
                  <a:solidFill>
                    <a:schemeClr val="tx1"/>
                  </a:solidFill>
                </a:rPr>
                <a:t>比半径     大的多. 两圆柱面之间充以相对电容率为     的电介质. 求此圆柱形电容器的电容.</a:t>
              </a:r>
            </a:p>
          </p:txBody>
        </p:sp>
        <p:graphicFrame>
          <p:nvGraphicFramePr>
            <p:cNvPr id="169988" name="Object 4"/>
            <p:cNvGraphicFramePr>
              <a:graphicFrameLocks noChangeAspect="1"/>
            </p:cNvGraphicFramePr>
            <p:nvPr/>
          </p:nvGraphicFramePr>
          <p:xfrm>
            <a:off x="1248" y="688"/>
            <a:ext cx="32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65" name="Equation" r:id="rId3" imgW="203040" imgH="228600" progId="">
                    <p:embed/>
                  </p:oleObj>
                </mc:Choice>
                <mc:Fallback>
                  <p:oleObj name="Equation" r:id="rId3" imgW="203040" imgH="2286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688"/>
                          <a:ext cx="328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89" name="Object 5"/>
            <p:cNvGraphicFramePr>
              <a:graphicFrameLocks noChangeAspect="1"/>
            </p:cNvGraphicFramePr>
            <p:nvPr/>
          </p:nvGraphicFramePr>
          <p:xfrm>
            <a:off x="1832" y="672"/>
            <a:ext cx="42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66" name="Equation" r:id="rId5" imgW="203040" imgH="228600" progId="">
                    <p:embed/>
                  </p:oleObj>
                </mc:Choice>
                <mc:Fallback>
                  <p:oleObj name="Equation" r:id="rId5" imgW="203040" imgH="22860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" y="672"/>
                          <a:ext cx="424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0" name="Object 6"/>
            <p:cNvGraphicFramePr>
              <a:graphicFrameLocks noChangeAspect="1"/>
            </p:cNvGraphicFramePr>
            <p:nvPr/>
          </p:nvGraphicFramePr>
          <p:xfrm>
            <a:off x="2352" y="1008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67" name="Equation" r:id="rId7" imgW="203040" imgH="228600" progId="">
                    <p:embed/>
                  </p:oleObj>
                </mc:Choice>
                <mc:Fallback>
                  <p:oleObj name="Equation" r:id="rId7" imgW="203040" imgH="228600" progId="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008"/>
                          <a:ext cx="342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1" name="Object 7"/>
            <p:cNvGraphicFramePr>
              <a:graphicFrameLocks noChangeAspect="1"/>
            </p:cNvGraphicFramePr>
            <p:nvPr/>
          </p:nvGraphicFramePr>
          <p:xfrm>
            <a:off x="1050" y="1312"/>
            <a:ext cx="29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68" name="Equation" r:id="rId9" imgW="152280" imgH="215640" progId="Equation.3">
                    <p:embed/>
                  </p:oleObj>
                </mc:Choice>
                <mc:Fallback>
                  <p:oleObj name="Equation" r:id="rId9" imgW="15228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0" y="1312"/>
                          <a:ext cx="294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806450" y="3876675"/>
            <a:ext cx="5213350" cy="1162050"/>
            <a:chOff x="48" y="2256"/>
            <a:chExt cx="3284" cy="732"/>
          </a:xfrm>
        </p:grpSpPr>
        <p:graphicFrame>
          <p:nvGraphicFramePr>
            <p:cNvPr id="170012" name="Object 28"/>
            <p:cNvGraphicFramePr>
              <a:graphicFrameLocks noChangeAspect="1"/>
            </p:cNvGraphicFramePr>
            <p:nvPr/>
          </p:nvGraphicFramePr>
          <p:xfrm>
            <a:off x="624" y="2256"/>
            <a:ext cx="2708" cy="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69" name="Equation" r:id="rId11" imgW="1600200" imgH="431640" progId="">
                    <p:embed/>
                  </p:oleObj>
                </mc:Choice>
                <mc:Fallback>
                  <p:oleObj name="Equation" r:id="rId11" imgW="1600200" imgH="431640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256"/>
                          <a:ext cx="2708" cy="7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13" name="Text Box 29"/>
            <p:cNvSpPr txBox="1">
              <a:spLocks noChangeArrowheads="1"/>
            </p:cNvSpPr>
            <p:nvPr/>
          </p:nvSpPr>
          <p:spPr bwMode="auto">
            <a:xfrm>
              <a:off x="48" y="2457"/>
              <a:ext cx="158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>
                  <a:solidFill>
                    <a:srgbClr val="CC0000"/>
                  </a:solidFill>
                </a:rPr>
                <a:t>（2）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838200" y="2600325"/>
            <a:ext cx="5562600" cy="1128713"/>
            <a:chOff x="624" y="1728"/>
            <a:chExt cx="3504" cy="711"/>
          </a:xfrm>
        </p:grpSpPr>
        <p:sp>
          <p:nvSpPr>
            <p:cNvPr id="170015" name="Rectangle 31"/>
            <p:cNvSpPr>
              <a:spLocks noChangeArrowheads="1"/>
            </p:cNvSpPr>
            <p:nvPr/>
          </p:nvSpPr>
          <p:spPr bwMode="auto">
            <a:xfrm>
              <a:off x="624" y="1728"/>
              <a:ext cx="35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zh-CN" altLang="en-US" sz="2800">
                  <a:solidFill>
                    <a:srgbClr val="CC0000"/>
                  </a:solidFill>
                  <a:latin typeface="宋体" charset="-122"/>
                </a:rPr>
                <a:t>（1）</a:t>
              </a:r>
              <a:r>
                <a:rPr lang="zh-CN" altLang="en-US" sz="2800">
                  <a:solidFill>
                    <a:schemeClr val="tx1"/>
                  </a:solidFill>
                  <a:latin typeface="宋体" charset="-122"/>
                </a:rPr>
                <a:t>设</a:t>
              </a:r>
              <a:r>
                <a:rPr lang="zh-CN" altLang="en-US" sz="2800">
                  <a:solidFill>
                    <a:srgbClr val="1C1C1C"/>
                  </a:solidFill>
                  <a:latin typeface="宋体" charset="-122"/>
                </a:rPr>
                <a:t>两导体圆</a:t>
              </a:r>
              <a:r>
                <a:rPr lang="zh-CN" altLang="en-US" sz="2800">
                  <a:solidFill>
                    <a:schemeClr val="tx1"/>
                  </a:solidFill>
                  <a:latin typeface="宋体" charset="-122"/>
                </a:rPr>
                <a:t>柱</a:t>
              </a:r>
              <a:r>
                <a:rPr lang="zh-CN" altLang="en-US" sz="2800">
                  <a:solidFill>
                    <a:srgbClr val="1C1C1C"/>
                  </a:solidFill>
                  <a:latin typeface="宋体" charset="-122"/>
                </a:rPr>
                <a:t>面单位长度上</a:t>
              </a:r>
            </a:p>
          </p:txBody>
        </p:sp>
        <p:graphicFrame>
          <p:nvGraphicFramePr>
            <p:cNvPr id="170016" name="Object 32"/>
            <p:cNvGraphicFramePr>
              <a:graphicFrameLocks noChangeAspect="1"/>
            </p:cNvGraphicFramePr>
            <p:nvPr/>
          </p:nvGraphicFramePr>
          <p:xfrm>
            <a:off x="2208" y="2135"/>
            <a:ext cx="48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70" name="Equation" r:id="rId13" imgW="380880" imgH="241200" progId="Equation.3">
                    <p:embed/>
                  </p:oleObj>
                </mc:Choice>
                <mc:Fallback>
                  <p:oleObj name="Equation" r:id="rId13" imgW="380880" imgH="241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135"/>
                          <a:ext cx="480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17" name="Rectangle 33"/>
            <p:cNvSpPr>
              <a:spLocks noChangeArrowheads="1"/>
            </p:cNvSpPr>
            <p:nvPr/>
          </p:nvSpPr>
          <p:spPr bwMode="auto">
            <a:xfrm>
              <a:off x="1188" y="2112"/>
              <a:ext cx="17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rgbClr val="1C1C1C"/>
                  </a:solidFill>
                  <a:latin typeface="宋体" charset="-122"/>
                </a:rPr>
                <a:t>分别带电</a:t>
              </a:r>
            </a:p>
          </p:txBody>
        </p:sp>
      </p:grpSp>
      <p:sp>
        <p:nvSpPr>
          <p:cNvPr id="170026" name="Text Box 42"/>
          <p:cNvSpPr txBox="1">
            <a:spLocks noChangeArrowheads="1"/>
          </p:cNvSpPr>
          <p:nvPr/>
        </p:nvSpPr>
        <p:spPr bwMode="auto">
          <a:xfrm>
            <a:off x="457200" y="2600325"/>
            <a:ext cx="106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</a:rPr>
              <a:t>解：</a:t>
            </a: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0" y="5173663"/>
            <a:ext cx="6400800" cy="1160462"/>
            <a:chOff x="0" y="3349"/>
            <a:chExt cx="4032" cy="731"/>
          </a:xfrm>
        </p:grpSpPr>
        <p:sp>
          <p:nvSpPr>
            <p:cNvPr id="170030" name="Text Box 46"/>
            <p:cNvSpPr txBox="1">
              <a:spLocks noChangeArrowheads="1"/>
            </p:cNvSpPr>
            <p:nvPr/>
          </p:nvSpPr>
          <p:spPr bwMode="auto">
            <a:xfrm>
              <a:off x="0" y="3493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>
                  <a:solidFill>
                    <a:srgbClr val="CC0000"/>
                  </a:solidFill>
                </a:rPr>
                <a:t>（3） </a:t>
              </a:r>
            </a:p>
          </p:txBody>
        </p:sp>
        <p:graphicFrame>
          <p:nvGraphicFramePr>
            <p:cNvPr id="170031" name="Object 47"/>
            <p:cNvGraphicFramePr>
              <a:graphicFrameLocks noChangeAspect="1"/>
            </p:cNvGraphicFramePr>
            <p:nvPr/>
          </p:nvGraphicFramePr>
          <p:xfrm>
            <a:off x="624" y="3349"/>
            <a:ext cx="3408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71" name="Equation" r:id="rId15" imgW="2031840" imgH="431640" progId="Equation.3">
                    <p:embed/>
                  </p:oleObj>
                </mc:Choice>
                <mc:Fallback>
                  <p:oleObj name="Equation" r:id="rId15" imgW="2031840" imgH="43164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349"/>
                          <a:ext cx="3408" cy="7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0"/>
          <p:cNvGrpSpPr>
            <a:grpSpLocks/>
          </p:cNvGrpSpPr>
          <p:nvPr/>
        </p:nvGrpSpPr>
        <p:grpSpPr bwMode="auto">
          <a:xfrm>
            <a:off x="6400800" y="2600325"/>
            <a:ext cx="2514600" cy="3657600"/>
            <a:chOff x="4032" y="1584"/>
            <a:chExt cx="1584" cy="2304"/>
          </a:xfrm>
        </p:grpSpPr>
        <p:sp>
          <p:nvSpPr>
            <p:cNvPr id="170035" name="Rectangle 51"/>
            <p:cNvSpPr>
              <a:spLocks noChangeArrowheads="1"/>
            </p:cNvSpPr>
            <p:nvPr/>
          </p:nvSpPr>
          <p:spPr bwMode="auto">
            <a:xfrm>
              <a:off x="4032" y="1584"/>
              <a:ext cx="1584" cy="23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" name="Group 69"/>
            <p:cNvGrpSpPr>
              <a:grpSpLocks/>
            </p:cNvGrpSpPr>
            <p:nvPr/>
          </p:nvGrpSpPr>
          <p:grpSpPr bwMode="auto">
            <a:xfrm>
              <a:off x="4128" y="1824"/>
              <a:ext cx="1344" cy="2064"/>
              <a:chOff x="4128" y="1824"/>
              <a:chExt cx="1344" cy="2064"/>
            </a:xfrm>
          </p:grpSpPr>
          <p:sp>
            <p:nvSpPr>
              <p:cNvPr id="170037" name="AutoShape 53"/>
              <p:cNvSpPr>
                <a:spLocks noChangeArrowheads="1"/>
              </p:cNvSpPr>
              <p:nvPr/>
            </p:nvSpPr>
            <p:spPr bwMode="auto">
              <a:xfrm>
                <a:off x="4656" y="2160"/>
                <a:ext cx="672" cy="1488"/>
              </a:xfrm>
              <a:prstGeom prst="can">
                <a:avLst>
                  <a:gd name="adj" fmla="val 41364"/>
                </a:avLst>
              </a:prstGeom>
              <a:gradFill rotWithShape="0">
                <a:gsLst>
                  <a:gs pos="0">
                    <a:srgbClr val="0066FF"/>
                  </a:gs>
                  <a:gs pos="50000">
                    <a:schemeClr val="bg1"/>
                  </a:gs>
                  <a:gs pos="100000">
                    <a:srgbClr val="0066FF"/>
                  </a:gs>
                </a:gsLst>
                <a:lin ang="0" scaled="1"/>
              </a:gradFill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38" name="Line 54"/>
              <p:cNvSpPr>
                <a:spLocks noChangeShapeType="1"/>
              </p:cNvSpPr>
              <p:nvPr/>
            </p:nvSpPr>
            <p:spPr bwMode="auto">
              <a:xfrm flipH="1">
                <a:off x="4992" y="1824"/>
                <a:ext cx="0" cy="20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39" name="AutoShape 55"/>
              <p:cNvSpPr>
                <a:spLocks noChangeArrowheads="1"/>
              </p:cNvSpPr>
              <p:nvPr/>
            </p:nvSpPr>
            <p:spPr bwMode="auto">
              <a:xfrm>
                <a:off x="4512" y="2064"/>
                <a:ext cx="960" cy="1680"/>
              </a:xfrm>
              <a:prstGeom prst="can">
                <a:avLst>
                  <a:gd name="adj" fmla="val 50312"/>
                </a:avLst>
              </a:prstGeom>
              <a:solidFill>
                <a:srgbClr val="CCECFF">
                  <a:alpha val="50000"/>
                </a:srgbClr>
              </a:solidFill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40" name="Line 56"/>
              <p:cNvSpPr>
                <a:spLocks noChangeShapeType="1"/>
              </p:cNvSpPr>
              <p:nvPr/>
            </p:nvSpPr>
            <p:spPr bwMode="auto">
              <a:xfrm>
                <a:off x="4992" y="2976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 type="non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0041" name="Object 57"/>
              <p:cNvGraphicFramePr>
                <a:graphicFrameLocks noChangeAspect="1"/>
              </p:cNvGraphicFramePr>
              <p:nvPr/>
            </p:nvGraphicFramePr>
            <p:xfrm>
              <a:off x="5052" y="2592"/>
              <a:ext cx="342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0772" name="Equation" r:id="rId17" imgW="203040" imgH="228600" progId="">
                      <p:embed/>
                    </p:oleObj>
                  </mc:Choice>
                  <mc:Fallback>
                    <p:oleObj name="Equation" r:id="rId17" imgW="203040" imgH="228600" progId="">
                      <p:embed/>
                      <p:pic>
                        <p:nvPicPr>
                          <p:cNvPr id="0" name="Object 5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2" y="2592"/>
                            <a:ext cx="342" cy="3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0042" name="Line 58"/>
              <p:cNvSpPr>
                <a:spLocks noChangeShapeType="1"/>
              </p:cNvSpPr>
              <p:nvPr/>
            </p:nvSpPr>
            <p:spPr bwMode="auto">
              <a:xfrm>
                <a:off x="4992" y="3408"/>
                <a:ext cx="480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 type="non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0043" name="Object 59"/>
              <p:cNvGraphicFramePr>
                <a:graphicFrameLocks noChangeAspect="1"/>
              </p:cNvGraphicFramePr>
              <p:nvPr/>
            </p:nvGraphicFramePr>
            <p:xfrm>
              <a:off x="5082" y="3024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0773" name="Equation" r:id="rId19" imgW="203040" imgH="228600" progId="">
                      <p:embed/>
                    </p:oleObj>
                  </mc:Choice>
                  <mc:Fallback>
                    <p:oleObj name="Equation" r:id="rId19" imgW="203040" imgH="228600" progId="">
                      <p:embed/>
                      <p:pic>
                        <p:nvPicPr>
                          <p:cNvPr id="0" name="Object 59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3024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" name="Group 60"/>
              <p:cNvGrpSpPr>
                <a:grpSpLocks/>
              </p:cNvGrpSpPr>
              <p:nvPr/>
            </p:nvGrpSpPr>
            <p:grpSpPr bwMode="auto">
              <a:xfrm>
                <a:off x="4128" y="2304"/>
                <a:ext cx="384" cy="1200"/>
                <a:chOff x="4080" y="1392"/>
                <a:chExt cx="384" cy="1200"/>
              </a:xfrm>
            </p:grpSpPr>
            <p:sp>
              <p:nvSpPr>
                <p:cNvPr id="170045" name="Line 61"/>
                <p:cNvSpPr>
                  <a:spLocks noChangeShapeType="1"/>
                </p:cNvSpPr>
                <p:nvPr/>
              </p:nvSpPr>
              <p:spPr bwMode="auto">
                <a:xfrm>
                  <a:off x="4224" y="1392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none" w="sm" len="lg"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0046" name="Line 62"/>
                <p:cNvSpPr>
                  <a:spLocks noChangeShapeType="1"/>
                </p:cNvSpPr>
                <p:nvPr/>
              </p:nvSpPr>
              <p:spPr bwMode="auto">
                <a:xfrm>
                  <a:off x="4224" y="2592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none" w="sm" len="lg"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0047" name="Object 63"/>
                <p:cNvGraphicFramePr>
                  <a:graphicFrameLocks noChangeAspect="1"/>
                </p:cNvGraphicFramePr>
                <p:nvPr/>
              </p:nvGraphicFramePr>
              <p:xfrm>
                <a:off x="4080" y="1872"/>
                <a:ext cx="191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0774" name="公式" r:id="rId21" imgW="88560" imgH="177480" progId="Equation.3">
                        <p:embed/>
                      </p:oleObj>
                    </mc:Choice>
                    <mc:Fallback>
                      <p:oleObj name="公式" r:id="rId21" imgW="88560" imgH="177480" progId="Equation.3">
                        <p:embed/>
                        <p:pic>
                          <p:nvPicPr>
                            <p:cNvPr id="0" name="Object 63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80" y="1872"/>
                              <a:ext cx="191" cy="38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0048" name="Line 64"/>
                <p:cNvSpPr>
                  <a:spLocks noChangeShapeType="1"/>
                </p:cNvSpPr>
                <p:nvPr/>
              </p:nvSpPr>
              <p:spPr bwMode="auto">
                <a:xfrm>
                  <a:off x="4320" y="1392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triangle" w="sm" len="lg"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70049" name="Object 65"/>
            <p:cNvGraphicFramePr>
              <a:graphicFrameLocks noChangeAspect="1"/>
            </p:cNvGraphicFramePr>
            <p:nvPr/>
          </p:nvGraphicFramePr>
          <p:xfrm>
            <a:off x="4416" y="1584"/>
            <a:ext cx="960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775" name="Equation" r:id="rId23" imgW="482400" imgH="228600" progId="">
                    <p:embed/>
                  </p:oleObj>
                </mc:Choice>
                <mc:Fallback>
                  <p:oleObj name="Equation" r:id="rId23" imgW="482400" imgH="228600" progId="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584"/>
                          <a:ext cx="960" cy="4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71"/>
          <p:cNvGrpSpPr>
            <a:grpSpLocks/>
          </p:cNvGrpSpPr>
          <p:nvPr/>
        </p:nvGrpSpPr>
        <p:grpSpPr bwMode="auto">
          <a:xfrm>
            <a:off x="7086600" y="3819525"/>
            <a:ext cx="533400" cy="2117725"/>
            <a:chOff x="4464" y="2352"/>
            <a:chExt cx="336" cy="1334"/>
          </a:xfrm>
        </p:grpSpPr>
        <p:sp>
          <p:nvSpPr>
            <p:cNvPr id="170051" name="Rectangle 67"/>
            <p:cNvSpPr>
              <a:spLocks noChangeArrowheads="1"/>
            </p:cNvSpPr>
            <p:nvPr/>
          </p:nvSpPr>
          <p:spPr bwMode="auto">
            <a:xfrm>
              <a:off x="4608" y="2400"/>
              <a:ext cx="192" cy="1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rgbClr val="FF0000"/>
                  </a:solidFill>
                </a:rPr>
                <a:t>++++</a:t>
              </a:r>
            </a:p>
          </p:txBody>
        </p:sp>
        <p:sp>
          <p:nvSpPr>
            <p:cNvPr id="170052" name="Rectangle 68"/>
            <p:cNvSpPr>
              <a:spLocks noChangeArrowheads="1"/>
            </p:cNvSpPr>
            <p:nvPr/>
          </p:nvSpPr>
          <p:spPr bwMode="auto">
            <a:xfrm>
              <a:off x="4464" y="2352"/>
              <a:ext cx="192" cy="1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rgbClr val="0000FF"/>
                  </a:solidFill>
                </a:rPr>
                <a:t>----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AutoShape 2"/>
          <p:cNvSpPr>
            <a:spLocks noChangeArrowheads="1"/>
          </p:cNvSpPr>
          <p:nvPr/>
        </p:nvSpPr>
        <p:spPr bwMode="auto">
          <a:xfrm>
            <a:off x="6096000" y="4953000"/>
            <a:ext cx="1828800" cy="990600"/>
          </a:xfrm>
          <a:prstGeom prst="wedgeRectCallout">
            <a:avLst>
              <a:gd name="adj1" fmla="val -81079"/>
              <a:gd name="adj2" fmla="val -3204"/>
            </a:avLst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zh-CN" sz="2800"/>
              <a:t>平行板电容器电容</a:t>
            </a:r>
            <a:endParaRPr lang="zh-CN" altLang="en-US" sz="2800"/>
          </a:p>
        </p:txBody>
      </p:sp>
      <p:graphicFrame>
        <p:nvGraphicFramePr>
          <p:cNvPr id="177155" name="Object 3"/>
          <p:cNvGraphicFramePr>
            <a:graphicFrameLocks noChangeAspect="1"/>
          </p:cNvGraphicFramePr>
          <p:nvPr/>
        </p:nvGraphicFramePr>
        <p:xfrm>
          <a:off x="914400" y="4913313"/>
          <a:ext cx="46450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86" name="Equation" r:id="rId3" imgW="1473120" imgH="393480" progId="">
                  <p:embed/>
                </p:oleObj>
              </mc:Choice>
              <mc:Fallback>
                <p:oleObj name="Equation" r:id="rId3" imgW="1473120" imgH="3934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913313"/>
                        <a:ext cx="4645025" cy="1062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0" y="928688"/>
            <a:ext cx="2209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800" dirty="0">
                <a:solidFill>
                  <a:srgbClr val="CC0000"/>
                </a:solidFill>
              </a:rPr>
              <a:t>（</a:t>
            </a:r>
            <a:r>
              <a:rPr lang="zh-CN" altLang="en-US" sz="2800" dirty="0">
                <a:solidFill>
                  <a:srgbClr val="CC0000"/>
                </a:solidFill>
              </a:rPr>
              <a:t>4）</a:t>
            </a:r>
            <a:r>
              <a:rPr lang="zh-CN" altLang="zh-CN" sz="2800" dirty="0"/>
              <a:t>电容</a:t>
            </a:r>
            <a:endParaRPr lang="zh-CN" altLang="en-US" sz="2800" dirty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1000" y="2286000"/>
            <a:ext cx="5715000" cy="636588"/>
            <a:chOff x="240" y="1680"/>
            <a:chExt cx="3600" cy="401"/>
          </a:xfrm>
        </p:grpSpPr>
        <p:sp>
          <p:nvSpPr>
            <p:cNvPr id="177159" name="Text Box 7"/>
            <p:cNvSpPr txBox="1">
              <a:spLocks noChangeArrowheads="1"/>
            </p:cNvSpPr>
            <p:nvPr/>
          </p:nvSpPr>
          <p:spPr bwMode="auto">
            <a:xfrm>
              <a:off x="240" y="1711"/>
              <a:ext cx="36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讨论</a:t>
              </a:r>
              <a:r>
                <a:rPr lang="zh-CN" altLang="en-US" sz="2800">
                  <a:solidFill>
                    <a:srgbClr val="1C1C1C"/>
                  </a:solidFill>
                </a:rPr>
                <a:t>：当                                       时</a:t>
              </a:r>
            </a:p>
          </p:txBody>
        </p:sp>
        <p:graphicFrame>
          <p:nvGraphicFramePr>
            <p:cNvPr id="177158" name="Object 6"/>
            <p:cNvGraphicFramePr>
              <a:graphicFrameLocks noChangeAspect="1"/>
            </p:cNvGraphicFramePr>
            <p:nvPr/>
          </p:nvGraphicFramePr>
          <p:xfrm>
            <a:off x="1200" y="1680"/>
            <a:ext cx="211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87" name="Equation" r:id="rId5" imgW="1168200" imgH="228600" progId="">
                    <p:embed/>
                  </p:oleObj>
                </mc:Choice>
                <mc:Fallback>
                  <p:oleObj name="Equation" r:id="rId5" imgW="1168200" imgH="228600" progId="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680"/>
                          <a:ext cx="2112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7160" name="Object 8"/>
          <p:cNvGraphicFramePr>
            <a:graphicFrameLocks noChangeAspect="1"/>
          </p:cNvGraphicFramePr>
          <p:nvPr/>
        </p:nvGraphicFramePr>
        <p:xfrm>
          <a:off x="914400" y="3294063"/>
          <a:ext cx="46482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88" name="Equation" r:id="rId7" imgW="1460160" imgH="431640" progId="">
                  <p:embed/>
                </p:oleObj>
              </mc:Choice>
              <mc:Fallback>
                <p:oleObj name="Equation" r:id="rId7" imgW="1460160" imgH="43164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94063"/>
                        <a:ext cx="4648200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accent1">
                                    <a:gamma/>
                                    <a:tint val="0"/>
                                    <a:invGamma/>
                                  </a:schemeClr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324600" y="533400"/>
            <a:ext cx="2514600" cy="4191000"/>
            <a:chOff x="4032" y="1488"/>
            <a:chExt cx="1584" cy="2640"/>
          </a:xfrm>
        </p:grpSpPr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4032" y="1488"/>
              <a:ext cx="1584" cy="2640"/>
              <a:chOff x="4032" y="1488"/>
              <a:chExt cx="1584" cy="2640"/>
            </a:xfrm>
          </p:grpSpPr>
          <p:sp>
            <p:nvSpPr>
              <p:cNvPr id="177163" name="Rectangle 11"/>
              <p:cNvSpPr>
                <a:spLocks noChangeArrowheads="1"/>
              </p:cNvSpPr>
              <p:nvPr/>
            </p:nvSpPr>
            <p:spPr bwMode="auto">
              <a:xfrm>
                <a:off x="4032" y="1488"/>
                <a:ext cx="1584" cy="26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4128" y="1920"/>
                <a:ext cx="1344" cy="2208"/>
                <a:chOff x="4128" y="1920"/>
                <a:chExt cx="1344" cy="2208"/>
              </a:xfrm>
            </p:grpSpPr>
            <p:sp>
              <p:nvSpPr>
                <p:cNvPr id="177165" name="AutoShape 13"/>
                <p:cNvSpPr>
                  <a:spLocks noChangeArrowheads="1"/>
                </p:cNvSpPr>
                <p:nvPr/>
              </p:nvSpPr>
              <p:spPr bwMode="auto">
                <a:xfrm>
                  <a:off x="4656" y="2256"/>
                  <a:ext cx="672" cy="1488"/>
                </a:xfrm>
                <a:prstGeom prst="can">
                  <a:avLst>
                    <a:gd name="adj" fmla="val 41364"/>
                  </a:avLst>
                </a:prstGeom>
                <a:gradFill rotWithShape="0">
                  <a:gsLst>
                    <a:gs pos="0">
                      <a:srgbClr val="0066FF"/>
                    </a:gs>
                    <a:gs pos="50000">
                      <a:schemeClr val="bg1"/>
                    </a:gs>
                    <a:gs pos="100000">
                      <a:srgbClr val="0066FF"/>
                    </a:gs>
                  </a:gsLst>
                  <a:lin ang="0" scaled="1"/>
                </a:gradFill>
                <a:ln w="19050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16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992" y="1920"/>
                  <a:ext cx="0" cy="220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 type="none" w="sm" len="lg"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167" name="AutoShape 15"/>
                <p:cNvSpPr>
                  <a:spLocks noChangeArrowheads="1"/>
                </p:cNvSpPr>
                <p:nvPr/>
              </p:nvSpPr>
              <p:spPr bwMode="auto">
                <a:xfrm>
                  <a:off x="4512" y="2160"/>
                  <a:ext cx="960" cy="1680"/>
                </a:xfrm>
                <a:prstGeom prst="can">
                  <a:avLst>
                    <a:gd name="adj" fmla="val 50312"/>
                  </a:avLst>
                </a:prstGeom>
                <a:solidFill>
                  <a:srgbClr val="CCECFF">
                    <a:alpha val="50000"/>
                  </a:srgbClr>
                </a:solidFill>
                <a:ln w="19050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168" name="Line 16"/>
                <p:cNvSpPr>
                  <a:spLocks noChangeShapeType="1"/>
                </p:cNvSpPr>
                <p:nvPr/>
              </p:nvSpPr>
              <p:spPr bwMode="auto">
                <a:xfrm>
                  <a:off x="4992" y="3072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CC00CC"/>
                  </a:solidFill>
                  <a:round/>
                  <a:headEnd type="none" w="sm" len="lg"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7169" name="Object 17"/>
                <p:cNvGraphicFramePr>
                  <a:graphicFrameLocks noChangeAspect="1"/>
                </p:cNvGraphicFramePr>
                <p:nvPr/>
              </p:nvGraphicFramePr>
              <p:xfrm>
                <a:off x="5052" y="2688"/>
                <a:ext cx="342" cy="3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1789" name="Equation" r:id="rId9" imgW="203040" imgH="228600" progId="">
                        <p:embed/>
                      </p:oleObj>
                    </mc:Choice>
                    <mc:Fallback>
                      <p:oleObj name="Equation" r:id="rId9" imgW="203040" imgH="228600" progId="">
                        <p:embed/>
                        <p:pic>
                          <p:nvPicPr>
                            <p:cNvPr id="0" name="Object 17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52" y="2688"/>
                              <a:ext cx="342" cy="38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7170" name="Line 18"/>
                <p:cNvSpPr>
                  <a:spLocks noChangeShapeType="1"/>
                </p:cNvSpPr>
                <p:nvPr/>
              </p:nvSpPr>
              <p:spPr bwMode="auto">
                <a:xfrm>
                  <a:off x="4992" y="3504"/>
                  <a:ext cx="480" cy="0"/>
                </a:xfrm>
                <a:prstGeom prst="line">
                  <a:avLst/>
                </a:prstGeom>
                <a:noFill/>
                <a:ln w="19050">
                  <a:solidFill>
                    <a:srgbClr val="CC00CC"/>
                  </a:solidFill>
                  <a:round/>
                  <a:headEnd type="none" w="sm" len="lg"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7171" name="Object 19"/>
                <p:cNvGraphicFramePr>
                  <a:graphicFrameLocks noChangeAspect="1"/>
                </p:cNvGraphicFramePr>
                <p:nvPr/>
              </p:nvGraphicFramePr>
              <p:xfrm>
                <a:off x="5082" y="3120"/>
                <a:ext cx="342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1790" name="Equation" r:id="rId11" imgW="203040" imgH="228600" progId="">
                        <p:embed/>
                      </p:oleObj>
                    </mc:Choice>
                    <mc:Fallback>
                      <p:oleObj name="Equation" r:id="rId11" imgW="203040" imgH="228600" progId="">
                        <p:embed/>
                        <p:pic>
                          <p:nvPicPr>
                            <p:cNvPr id="0" name="Object 19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2" y="3120"/>
                              <a:ext cx="342" cy="38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6" name="Group 20"/>
                <p:cNvGrpSpPr>
                  <a:grpSpLocks/>
                </p:cNvGrpSpPr>
                <p:nvPr/>
              </p:nvGrpSpPr>
              <p:grpSpPr bwMode="auto">
                <a:xfrm>
                  <a:off x="4128" y="2400"/>
                  <a:ext cx="384" cy="1200"/>
                  <a:chOff x="4080" y="1392"/>
                  <a:chExt cx="384" cy="1200"/>
                </a:xfrm>
              </p:grpSpPr>
              <p:sp>
                <p:nvSpPr>
                  <p:cNvPr id="17717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392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CC00CC"/>
                    </a:solidFill>
                    <a:round/>
                    <a:headEnd type="none" w="sm" len="lg"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2592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CC00CC"/>
                    </a:solidFill>
                    <a:round/>
                    <a:headEnd type="none" w="sm" len="lg"/>
                    <a:tailEnd type="non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77175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4080" y="1872"/>
                  <a:ext cx="191" cy="3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971791" name="公式" r:id="rId13" imgW="88560" imgH="177480" progId="Equation.3">
                          <p:embed/>
                        </p:oleObj>
                      </mc:Choice>
                      <mc:Fallback>
                        <p:oleObj name="公式" r:id="rId13" imgW="88560" imgH="177480" progId="Equation.3">
                          <p:embed/>
                          <p:pic>
                            <p:nvPicPr>
                              <p:cNvPr id="0" name="Object 23"/>
                              <p:cNvPicPr preferRelativeResize="0"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0" y="1872"/>
                                <a:ext cx="191" cy="3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77176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4320" y="1392"/>
                    <a:ext cx="0" cy="1200"/>
                  </a:xfrm>
                  <a:prstGeom prst="line">
                    <a:avLst/>
                  </a:prstGeom>
                  <a:noFill/>
                  <a:ln w="12700">
                    <a:solidFill>
                      <a:srgbClr val="CC00CC"/>
                    </a:solidFill>
                    <a:round/>
                    <a:headEnd type="triangle" w="sm" len="lg"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177177" name="Object 25"/>
              <p:cNvGraphicFramePr>
                <a:graphicFrameLocks noChangeAspect="1"/>
              </p:cNvGraphicFramePr>
              <p:nvPr/>
            </p:nvGraphicFramePr>
            <p:xfrm>
              <a:off x="4416" y="1523"/>
              <a:ext cx="960" cy="4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1792" name="Equation" r:id="rId15" imgW="482400" imgH="228600" progId="">
                      <p:embed/>
                    </p:oleObj>
                  </mc:Choice>
                  <mc:Fallback>
                    <p:oleObj name="Equation" r:id="rId15" imgW="482400" imgH="228600" progId="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1523"/>
                            <a:ext cx="960" cy="4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26"/>
            <p:cNvGrpSpPr>
              <a:grpSpLocks/>
            </p:cNvGrpSpPr>
            <p:nvPr/>
          </p:nvGrpSpPr>
          <p:grpSpPr bwMode="auto">
            <a:xfrm>
              <a:off x="4464" y="2448"/>
              <a:ext cx="336" cy="1334"/>
              <a:chOff x="4416" y="1440"/>
              <a:chExt cx="336" cy="1334"/>
            </a:xfrm>
          </p:grpSpPr>
          <p:sp>
            <p:nvSpPr>
              <p:cNvPr id="177179" name="Rectangle 27"/>
              <p:cNvSpPr>
                <a:spLocks noChangeArrowheads="1"/>
              </p:cNvSpPr>
              <p:nvPr/>
            </p:nvSpPr>
            <p:spPr bwMode="auto">
              <a:xfrm>
                <a:off x="4560" y="1488"/>
                <a:ext cx="192" cy="1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solidFill>
                      <a:srgbClr val="FF0000"/>
                    </a:solidFill>
                  </a:rPr>
                  <a:t>++++</a:t>
                </a:r>
              </a:p>
            </p:txBody>
          </p:sp>
          <p:sp>
            <p:nvSpPr>
              <p:cNvPr id="177180" name="Rectangle 28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192" cy="1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solidFill>
                      <a:srgbClr val="0000FF"/>
                    </a:solidFill>
                  </a:rPr>
                  <a:t>----</a:t>
                </a:r>
              </a:p>
            </p:txBody>
          </p:sp>
        </p:grpSp>
      </p:grpSp>
      <p:graphicFrame>
        <p:nvGraphicFramePr>
          <p:cNvPr id="177183" name="Object 31"/>
          <p:cNvGraphicFramePr>
            <a:graphicFrameLocks noChangeAspect="1"/>
          </p:cNvGraphicFramePr>
          <p:nvPr/>
        </p:nvGraphicFramePr>
        <p:xfrm>
          <a:off x="1905000" y="652463"/>
          <a:ext cx="434340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3" name="Equation" r:id="rId17" imgW="1511280" imgH="431640" progId="Equation.3">
                  <p:embed/>
                </p:oleObj>
              </mc:Choice>
              <mc:Fallback>
                <p:oleObj name="Equation" r:id="rId17" imgW="1511280" imgH="4316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652463"/>
                        <a:ext cx="4343400" cy="12525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34000" y="1638300"/>
            <a:ext cx="3505200" cy="3352800"/>
            <a:chOff x="3360" y="1584"/>
            <a:chExt cx="2208" cy="2112"/>
          </a:xfrm>
        </p:grpSpPr>
        <p:sp>
          <p:nvSpPr>
            <p:cNvPr id="172035" name="Rectangle 3"/>
            <p:cNvSpPr>
              <a:spLocks noChangeArrowheads="1"/>
            </p:cNvSpPr>
            <p:nvPr/>
          </p:nvSpPr>
          <p:spPr bwMode="auto">
            <a:xfrm>
              <a:off x="3360" y="1584"/>
              <a:ext cx="2208" cy="2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6" name="Oval 4"/>
            <p:cNvSpPr>
              <a:spLocks noChangeArrowheads="1"/>
            </p:cNvSpPr>
            <p:nvPr/>
          </p:nvSpPr>
          <p:spPr bwMode="auto">
            <a:xfrm>
              <a:off x="3600" y="1728"/>
              <a:ext cx="1824" cy="1824"/>
            </a:xfrm>
            <a:prstGeom prst="ellips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7" name="Oval 5"/>
            <p:cNvSpPr>
              <a:spLocks noChangeArrowheads="1"/>
            </p:cNvSpPr>
            <p:nvPr/>
          </p:nvSpPr>
          <p:spPr bwMode="auto">
            <a:xfrm>
              <a:off x="4080" y="2208"/>
              <a:ext cx="912" cy="912"/>
            </a:xfrm>
            <a:prstGeom prst="ellips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8" name="AutoShape 6" descr="浅色上对角线"/>
            <p:cNvSpPr>
              <a:spLocks noChangeArrowheads="1"/>
            </p:cNvSpPr>
            <p:nvPr/>
          </p:nvSpPr>
          <p:spPr bwMode="auto">
            <a:xfrm>
              <a:off x="4057" y="2185"/>
              <a:ext cx="960" cy="960"/>
            </a:xfrm>
            <a:custGeom>
              <a:avLst/>
              <a:gdLst>
                <a:gd name="G0" fmla="+- 775 0 0"/>
                <a:gd name="G1" fmla="+- 21600 0 775"/>
                <a:gd name="G2" fmla="+- 21600 0 775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775" y="10800"/>
                  </a:moveTo>
                  <a:cubicBezTo>
                    <a:pt x="775" y="16337"/>
                    <a:pt x="5263" y="20825"/>
                    <a:pt x="10800" y="20825"/>
                  </a:cubicBezTo>
                  <a:cubicBezTo>
                    <a:pt x="16337" y="20825"/>
                    <a:pt x="20825" y="16337"/>
                    <a:pt x="20825" y="10800"/>
                  </a:cubicBezTo>
                  <a:cubicBezTo>
                    <a:pt x="20825" y="5263"/>
                    <a:pt x="16337" y="775"/>
                    <a:pt x="10800" y="775"/>
                  </a:cubicBezTo>
                  <a:cubicBezTo>
                    <a:pt x="5263" y="775"/>
                    <a:pt x="775" y="5263"/>
                    <a:pt x="775" y="10800"/>
                  </a:cubicBezTo>
                  <a:close/>
                </a:path>
              </a:pathLst>
            </a:custGeom>
            <a:pattFill prst="ltUpDiag">
              <a:fgClr>
                <a:srgbClr val="5F5F5F"/>
              </a:fgClr>
              <a:bgClr>
                <a:srgbClr val="DDDDDD"/>
              </a:bgClr>
            </a:pattFill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9" name="AutoShape 7" descr="浅色上对角线"/>
            <p:cNvSpPr>
              <a:spLocks noChangeArrowheads="1"/>
            </p:cNvSpPr>
            <p:nvPr/>
          </p:nvSpPr>
          <p:spPr bwMode="auto">
            <a:xfrm>
              <a:off x="3575" y="1702"/>
              <a:ext cx="1872" cy="1872"/>
            </a:xfrm>
            <a:custGeom>
              <a:avLst/>
              <a:gdLst>
                <a:gd name="G0" fmla="+- 646 0 0"/>
                <a:gd name="G1" fmla="+- 21600 0 646"/>
                <a:gd name="G2" fmla="+- 21600 0 646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46" y="10800"/>
                  </a:moveTo>
                  <a:cubicBezTo>
                    <a:pt x="646" y="16408"/>
                    <a:pt x="5192" y="20954"/>
                    <a:pt x="10800" y="20954"/>
                  </a:cubicBezTo>
                  <a:cubicBezTo>
                    <a:pt x="16408" y="20954"/>
                    <a:pt x="20954" y="16408"/>
                    <a:pt x="20954" y="10800"/>
                  </a:cubicBezTo>
                  <a:cubicBezTo>
                    <a:pt x="20954" y="5192"/>
                    <a:pt x="16408" y="646"/>
                    <a:pt x="10800" y="646"/>
                  </a:cubicBezTo>
                  <a:cubicBezTo>
                    <a:pt x="5192" y="646"/>
                    <a:pt x="646" y="5192"/>
                    <a:pt x="646" y="10800"/>
                  </a:cubicBezTo>
                  <a:close/>
                </a:path>
              </a:pathLst>
            </a:custGeom>
            <a:pattFill prst="ltUpDiag">
              <a:fgClr>
                <a:srgbClr val="808080"/>
              </a:fgClr>
              <a:bgClr>
                <a:srgbClr val="DDDDDD"/>
              </a:bgClr>
            </a:pattFill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408" y="2256"/>
              <a:ext cx="1584" cy="1104"/>
              <a:chOff x="3408" y="2256"/>
              <a:chExt cx="1584" cy="1104"/>
            </a:xfrm>
          </p:grpSpPr>
          <p:sp>
            <p:nvSpPr>
              <p:cNvPr id="172041" name="Line 9"/>
              <p:cNvSpPr>
                <a:spLocks noChangeShapeType="1"/>
              </p:cNvSpPr>
              <p:nvPr/>
            </p:nvSpPr>
            <p:spPr bwMode="auto">
              <a:xfrm flipV="1">
                <a:off x="4511" y="2640"/>
                <a:ext cx="4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72042" name="Object 10"/>
              <p:cNvGraphicFramePr>
                <a:graphicFrameLocks noChangeAspect="1"/>
              </p:cNvGraphicFramePr>
              <p:nvPr/>
            </p:nvGraphicFramePr>
            <p:xfrm>
              <a:off x="4540" y="2256"/>
              <a:ext cx="35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3" name="Equation" r:id="rId3" imgW="177480" imgH="215640" progId="Equation.3">
                      <p:embed/>
                    </p:oleObj>
                  </mc:Choice>
                  <mc:Fallback>
                    <p:oleObj name="Equation" r:id="rId3" imgW="177480" imgH="21564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256"/>
                            <a:ext cx="356" cy="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2043" name="Line 11"/>
              <p:cNvSpPr>
                <a:spLocks noChangeShapeType="1"/>
              </p:cNvSpPr>
              <p:nvPr/>
            </p:nvSpPr>
            <p:spPr bwMode="auto">
              <a:xfrm flipH="1">
                <a:off x="3696" y="2640"/>
                <a:ext cx="816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72044" name="Object 12"/>
              <p:cNvGraphicFramePr>
                <a:graphicFrameLocks noChangeAspect="1"/>
              </p:cNvGraphicFramePr>
              <p:nvPr/>
            </p:nvGraphicFramePr>
            <p:xfrm>
              <a:off x="3408" y="2928"/>
              <a:ext cx="381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4" name="Equation" r:id="rId5" imgW="190440" imgH="215640" progId="Equation.3">
                      <p:embed/>
                    </p:oleObj>
                  </mc:Choice>
                  <mc:Fallback>
                    <p:oleObj name="Equation" r:id="rId5" imgW="190440" imgH="21564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2928"/>
                            <a:ext cx="381" cy="4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753100" y="1838325"/>
            <a:ext cx="2819400" cy="2982913"/>
            <a:chOff x="3624" y="1710"/>
            <a:chExt cx="1776" cy="1879"/>
          </a:xfrm>
        </p:grpSpPr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3840" y="1968"/>
              <a:ext cx="1440" cy="1406"/>
              <a:chOff x="3840" y="1968"/>
              <a:chExt cx="1440" cy="1406"/>
            </a:xfrm>
          </p:grpSpPr>
          <p:sp>
            <p:nvSpPr>
              <p:cNvPr id="172047" name="Text Box 15"/>
              <p:cNvSpPr txBox="1">
                <a:spLocks noChangeArrowheads="1"/>
              </p:cNvSpPr>
              <p:nvPr/>
            </p:nvSpPr>
            <p:spPr bwMode="auto">
              <a:xfrm>
                <a:off x="4368" y="3044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48" name="Text Box 16"/>
              <p:cNvSpPr txBox="1">
                <a:spLocks noChangeArrowheads="1"/>
              </p:cNvSpPr>
              <p:nvPr/>
            </p:nvSpPr>
            <p:spPr bwMode="auto">
              <a:xfrm>
                <a:off x="4800" y="2832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49" name="Text Box 17"/>
              <p:cNvSpPr txBox="1">
                <a:spLocks noChangeArrowheads="1"/>
              </p:cNvSpPr>
              <p:nvPr/>
            </p:nvSpPr>
            <p:spPr bwMode="auto">
              <a:xfrm>
                <a:off x="3984" y="2852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50" name="Text Box 18"/>
              <p:cNvSpPr txBox="1">
                <a:spLocks noChangeArrowheads="1"/>
              </p:cNvSpPr>
              <p:nvPr/>
            </p:nvSpPr>
            <p:spPr bwMode="auto">
              <a:xfrm>
                <a:off x="3840" y="2507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51" name="Text Box 19"/>
              <p:cNvSpPr txBox="1">
                <a:spLocks noChangeArrowheads="1"/>
              </p:cNvSpPr>
              <p:nvPr/>
            </p:nvSpPr>
            <p:spPr bwMode="auto">
              <a:xfrm>
                <a:off x="3984" y="2171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52" name="Text Box 20"/>
              <p:cNvSpPr txBox="1">
                <a:spLocks noChangeArrowheads="1"/>
              </p:cNvSpPr>
              <p:nvPr/>
            </p:nvSpPr>
            <p:spPr bwMode="auto">
              <a:xfrm>
                <a:off x="4368" y="1968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53" name="Text Box 21"/>
              <p:cNvSpPr txBox="1">
                <a:spLocks noChangeArrowheads="1"/>
              </p:cNvSpPr>
              <p:nvPr/>
            </p:nvSpPr>
            <p:spPr bwMode="auto">
              <a:xfrm>
                <a:off x="4800" y="2180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  <p:sp>
            <p:nvSpPr>
              <p:cNvPr id="172054" name="Text Box 22"/>
              <p:cNvSpPr txBox="1">
                <a:spLocks noChangeArrowheads="1"/>
              </p:cNvSpPr>
              <p:nvPr/>
            </p:nvSpPr>
            <p:spPr bwMode="auto">
              <a:xfrm>
                <a:off x="4944" y="2507"/>
                <a:ext cx="3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＋</a:t>
                </a:r>
              </a:p>
            </p:txBody>
          </p:sp>
        </p:grpSp>
        <p:grpSp>
          <p:nvGrpSpPr>
            <p:cNvPr id="6" name="Group 23"/>
            <p:cNvGrpSpPr>
              <a:grpSpLocks/>
            </p:cNvGrpSpPr>
            <p:nvPr/>
          </p:nvGrpSpPr>
          <p:grpSpPr bwMode="auto">
            <a:xfrm>
              <a:off x="3624" y="1710"/>
              <a:ext cx="1776" cy="1879"/>
              <a:chOff x="3624" y="1710"/>
              <a:chExt cx="1776" cy="1879"/>
            </a:xfrm>
          </p:grpSpPr>
          <p:graphicFrame>
            <p:nvGraphicFramePr>
              <p:cNvPr id="172056" name="Object 24"/>
              <p:cNvGraphicFramePr>
                <a:graphicFrameLocks/>
              </p:cNvGraphicFramePr>
              <p:nvPr/>
            </p:nvGraphicFramePr>
            <p:xfrm>
              <a:off x="4392" y="1710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5" name="Equation" r:id="rId7" imgW="126720" imgH="75960" progId="Equation.3">
                      <p:embed/>
                    </p:oleObj>
                  </mc:Choice>
                  <mc:Fallback>
                    <p:oleObj name="Equation" r:id="rId7" imgW="126720" imgH="75960" progId="Equation.3">
                      <p:embed/>
                      <p:pic>
                        <p:nvPicPr>
                          <p:cNvPr id="0" name="Object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2" y="1710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7" name="Object 25"/>
              <p:cNvGraphicFramePr>
                <a:graphicFrameLocks/>
              </p:cNvGraphicFramePr>
              <p:nvPr/>
            </p:nvGraphicFramePr>
            <p:xfrm>
              <a:off x="4416" y="3408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6" name="Equation" r:id="rId9" imgW="126720" imgH="75960" progId="Equation.3">
                      <p:embed/>
                    </p:oleObj>
                  </mc:Choice>
                  <mc:Fallback>
                    <p:oleObj name="Equation" r:id="rId9" imgW="126720" imgH="75960" progId="Equation.3">
                      <p:embed/>
                      <p:pic>
                        <p:nvPicPr>
                          <p:cNvPr id="0" name="Object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408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8" name="Object 26"/>
              <p:cNvGraphicFramePr>
                <a:graphicFrameLocks/>
              </p:cNvGraphicFramePr>
              <p:nvPr/>
            </p:nvGraphicFramePr>
            <p:xfrm>
              <a:off x="5232" y="2574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7" name="Equation" r:id="rId11" imgW="126720" imgH="75960" progId="Equation.3">
                      <p:embed/>
                    </p:oleObj>
                  </mc:Choice>
                  <mc:Fallback>
                    <p:oleObj name="Equation" r:id="rId11" imgW="126720" imgH="75960" progId="Equation.3">
                      <p:embed/>
                      <p:pic>
                        <p:nvPicPr>
                          <p:cNvPr id="0" name="Object 2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574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59" name="Object 27"/>
              <p:cNvGraphicFramePr>
                <a:graphicFrameLocks/>
              </p:cNvGraphicFramePr>
              <p:nvPr/>
            </p:nvGraphicFramePr>
            <p:xfrm>
              <a:off x="3624" y="2603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8" name="Equation" r:id="rId13" imgW="126720" imgH="75960" progId="Equation.3">
                      <p:embed/>
                    </p:oleObj>
                  </mc:Choice>
                  <mc:Fallback>
                    <p:oleObj name="Equation" r:id="rId13" imgW="126720" imgH="75960" progId="Equation.3">
                      <p:embed/>
                      <p:pic>
                        <p:nvPicPr>
                          <p:cNvPr id="0" name="Object 2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24" y="2603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60" name="Object 28"/>
              <p:cNvGraphicFramePr>
                <a:graphicFrameLocks/>
              </p:cNvGraphicFramePr>
              <p:nvPr/>
            </p:nvGraphicFramePr>
            <p:xfrm>
              <a:off x="5040" y="1998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29" name="Equation" r:id="rId15" imgW="126720" imgH="75960" progId="Equation.3">
                      <p:embed/>
                    </p:oleObj>
                  </mc:Choice>
                  <mc:Fallback>
                    <p:oleObj name="Equation" r:id="rId15" imgW="126720" imgH="75960" progId="Equation.3">
                      <p:embed/>
                      <p:pic>
                        <p:nvPicPr>
                          <p:cNvPr id="0" name="Object 2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1998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61" name="Object 29"/>
              <p:cNvGraphicFramePr>
                <a:graphicFrameLocks/>
              </p:cNvGraphicFramePr>
              <p:nvPr/>
            </p:nvGraphicFramePr>
            <p:xfrm>
              <a:off x="3792" y="2027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30" name="Equation" r:id="rId17" imgW="126720" imgH="75960" progId="Equation.3">
                      <p:embed/>
                    </p:oleObj>
                  </mc:Choice>
                  <mc:Fallback>
                    <p:oleObj name="Equation" r:id="rId17" imgW="126720" imgH="75960" progId="Equation.3">
                      <p:embed/>
                      <p:pic>
                        <p:nvPicPr>
                          <p:cNvPr id="0" name="Object 2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2027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62" name="Object 30"/>
              <p:cNvGraphicFramePr>
                <a:graphicFrameLocks/>
              </p:cNvGraphicFramePr>
              <p:nvPr/>
            </p:nvGraphicFramePr>
            <p:xfrm>
              <a:off x="4992" y="3190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31" name="Equation" r:id="rId19" imgW="126720" imgH="75960" progId="Equation.3">
                      <p:embed/>
                    </p:oleObj>
                  </mc:Choice>
                  <mc:Fallback>
                    <p:oleObj name="Equation" r:id="rId19" imgW="126720" imgH="75960" progId="Equation.3">
                      <p:embed/>
                      <p:pic>
                        <p:nvPicPr>
                          <p:cNvPr id="0" name="Object 3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3190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063" name="Object 31"/>
              <p:cNvGraphicFramePr>
                <a:graphicFrameLocks/>
              </p:cNvGraphicFramePr>
              <p:nvPr/>
            </p:nvGraphicFramePr>
            <p:xfrm>
              <a:off x="3912" y="3227"/>
              <a:ext cx="16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2832" name="Equation" r:id="rId21" imgW="126720" imgH="75960" progId="Equation.3">
                      <p:embed/>
                    </p:oleObj>
                  </mc:Choice>
                  <mc:Fallback>
                    <p:oleObj name="Equation" r:id="rId21" imgW="126720" imgH="75960" progId="Equation.3">
                      <p:embed/>
                      <p:pic>
                        <p:nvPicPr>
                          <p:cNvPr id="0" name="Object 3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2" y="3227"/>
                            <a:ext cx="168" cy="1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96000" y="2247900"/>
            <a:ext cx="2209800" cy="2209800"/>
            <a:chOff x="3840" y="1968"/>
            <a:chExt cx="1392" cy="1392"/>
          </a:xfrm>
        </p:grpSpPr>
        <p:sp>
          <p:nvSpPr>
            <p:cNvPr id="172065" name="Oval 33"/>
            <p:cNvSpPr>
              <a:spLocks noChangeArrowheads="1"/>
            </p:cNvSpPr>
            <p:nvPr/>
          </p:nvSpPr>
          <p:spPr bwMode="auto">
            <a:xfrm>
              <a:off x="3840" y="1968"/>
              <a:ext cx="1392" cy="1392"/>
            </a:xfrm>
            <a:prstGeom prst="ellips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6" name="Line 34"/>
            <p:cNvSpPr>
              <a:spLocks noChangeShapeType="1"/>
            </p:cNvSpPr>
            <p:nvPr/>
          </p:nvSpPr>
          <p:spPr bwMode="auto">
            <a:xfrm>
              <a:off x="4512" y="2640"/>
              <a:ext cx="288" cy="67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72067" name="Object 35"/>
            <p:cNvGraphicFramePr>
              <a:graphicFrameLocks noChangeAspect="1"/>
            </p:cNvGraphicFramePr>
            <p:nvPr/>
          </p:nvGraphicFramePr>
          <p:xfrm>
            <a:off x="4272" y="2736"/>
            <a:ext cx="382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3" name="Equation" r:id="rId23" imgW="114120" imgH="126720" progId="Equation.3">
                    <p:embed/>
                  </p:oleObj>
                </mc:Choice>
                <mc:Fallback>
                  <p:oleObj name="Equation" r:id="rId23" imgW="114120" imgH="12672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736"/>
                          <a:ext cx="382" cy="4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304800" y="3314700"/>
            <a:ext cx="4495800" cy="1784350"/>
            <a:chOff x="192" y="2160"/>
            <a:chExt cx="2832" cy="1124"/>
          </a:xfrm>
        </p:grpSpPr>
        <p:graphicFrame>
          <p:nvGraphicFramePr>
            <p:cNvPr id="172068" name="Object 36"/>
            <p:cNvGraphicFramePr>
              <a:graphicFrameLocks noChangeAspect="1"/>
            </p:cNvGraphicFramePr>
            <p:nvPr/>
          </p:nvGraphicFramePr>
          <p:xfrm>
            <a:off x="1056" y="2448"/>
            <a:ext cx="1968" cy="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4" name="Equation" r:id="rId25" imgW="1015920" imgH="431640" progId="">
                    <p:embed/>
                  </p:oleObj>
                </mc:Choice>
                <mc:Fallback>
                  <p:oleObj name="Equation" r:id="rId25" imgW="1015920" imgH="431640" progId="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448"/>
                          <a:ext cx="1968" cy="8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69" name="Object 37"/>
            <p:cNvGraphicFramePr>
              <a:graphicFrameLocks noChangeAspect="1"/>
            </p:cNvGraphicFramePr>
            <p:nvPr/>
          </p:nvGraphicFramePr>
          <p:xfrm>
            <a:off x="192" y="2160"/>
            <a:ext cx="153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5" name="Equation" r:id="rId27" imgW="812520" imgH="215640" progId="">
                    <p:embed/>
                  </p:oleObj>
                </mc:Choice>
                <mc:Fallback>
                  <p:oleObj name="Equation" r:id="rId27" imgW="812520" imgH="215640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2160"/>
                          <a:ext cx="1536" cy="4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2070" name="Object 38"/>
          <p:cNvGraphicFramePr>
            <a:graphicFrameLocks noChangeAspect="1"/>
          </p:cNvGraphicFramePr>
          <p:nvPr/>
        </p:nvGraphicFramePr>
        <p:xfrm>
          <a:off x="152400" y="5076825"/>
          <a:ext cx="51816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6" name="Equation" r:id="rId29" imgW="1765080" imgH="431640" progId="">
                  <p:embed/>
                </p:oleObj>
              </mc:Choice>
              <mc:Fallback>
                <p:oleObj name="Equation" r:id="rId29" imgW="1765080" imgH="431640" progId="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076825"/>
                        <a:ext cx="5181600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71" name="Object 39"/>
          <p:cNvGraphicFramePr>
            <a:graphicFrameLocks noChangeAspect="1"/>
          </p:cNvGraphicFramePr>
          <p:nvPr/>
        </p:nvGraphicFramePr>
        <p:xfrm>
          <a:off x="5257800" y="5153025"/>
          <a:ext cx="37338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7" name="Equation" r:id="rId31" imgW="1231560" imgH="431640" progId="">
                  <p:embed/>
                </p:oleObj>
              </mc:Choice>
              <mc:Fallback>
                <p:oleObj name="Equation" r:id="rId31" imgW="1231560" imgH="431640" progId="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153025"/>
                        <a:ext cx="37338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7391400" y="4076700"/>
            <a:ext cx="914400" cy="762000"/>
            <a:chOff x="4656" y="3120"/>
            <a:chExt cx="576" cy="480"/>
          </a:xfrm>
        </p:grpSpPr>
        <p:graphicFrame>
          <p:nvGraphicFramePr>
            <p:cNvPr id="172075" name="Object 43"/>
            <p:cNvGraphicFramePr>
              <a:graphicFrameLocks noChangeAspect="1"/>
            </p:cNvGraphicFramePr>
            <p:nvPr/>
          </p:nvGraphicFramePr>
          <p:xfrm>
            <a:off x="4752" y="3216"/>
            <a:ext cx="35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8" name="Equation" r:id="rId33" imgW="152280" imgH="164880" progId="Equation.3">
                    <p:embed/>
                  </p:oleObj>
                </mc:Choice>
                <mc:Fallback>
                  <p:oleObj name="Equation" r:id="rId33" imgW="152280" imgH="16488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216"/>
                          <a:ext cx="35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076" name="Text Box 44"/>
            <p:cNvSpPr txBox="1">
              <a:spLocks noChangeArrowheads="1"/>
            </p:cNvSpPr>
            <p:nvPr/>
          </p:nvSpPr>
          <p:spPr bwMode="auto">
            <a:xfrm>
              <a:off x="4656" y="3120"/>
              <a:ext cx="57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>
                  <a:solidFill>
                    <a:srgbClr val="CC00CC"/>
                  </a:solidFill>
                </a:rPr>
                <a:t>*</a:t>
              </a:r>
            </a:p>
          </p:txBody>
        </p:sp>
      </p:grp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0" y="381000"/>
            <a:ext cx="8915400" cy="1866900"/>
            <a:chOff x="0" y="360"/>
            <a:chExt cx="5616" cy="1176"/>
          </a:xfrm>
        </p:grpSpPr>
        <p:sp>
          <p:nvSpPr>
            <p:cNvPr id="172078" name="Text Box 46"/>
            <p:cNvSpPr txBox="1">
              <a:spLocks noChangeArrowheads="1"/>
            </p:cNvSpPr>
            <p:nvPr/>
          </p:nvSpPr>
          <p:spPr bwMode="auto">
            <a:xfrm>
              <a:off x="0" y="360"/>
              <a:ext cx="5616" cy="1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1C1C1C"/>
                  </a:solidFill>
                </a:rPr>
                <a:t>　</a:t>
              </a:r>
              <a:r>
                <a:rPr lang="zh-CN" altLang="en-US" sz="2800" b="1" dirty="0">
                  <a:solidFill>
                    <a:srgbClr val="C00000"/>
                  </a:solidFill>
                </a:rPr>
                <a:t>　例 3　球形电容器. </a:t>
              </a:r>
              <a:r>
                <a:rPr lang="zh-CN" altLang="en-US" sz="2800" dirty="0">
                  <a:solidFill>
                    <a:srgbClr val="1C1C1C"/>
                  </a:solidFill>
                </a:rPr>
                <a:t>球形电容器是由半径分别为　 和    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1C1C1C"/>
                  </a:solidFill>
                </a:rPr>
                <a:t>        的两同心金属球壳所组成，两球壳间</a:t>
              </a:r>
              <a:r>
                <a:rPr lang="zh-CN" altLang="en-US" sz="2800" dirty="0">
                  <a:solidFill>
                    <a:schemeClr val="tx1"/>
                  </a:solidFill>
                </a:rPr>
                <a:t>充以相对电容率为       的电介质. </a:t>
              </a:r>
              <a:endParaRPr lang="zh-CN" altLang="en-US" sz="2800" dirty="0">
                <a:solidFill>
                  <a:srgbClr val="1C1C1C"/>
                </a:solidFill>
              </a:endParaRPr>
            </a:p>
          </p:txBody>
        </p:sp>
        <p:graphicFrame>
          <p:nvGraphicFramePr>
            <p:cNvPr id="172079" name="Object 47"/>
            <p:cNvGraphicFramePr>
              <a:graphicFrameLocks noChangeAspect="1"/>
            </p:cNvGraphicFramePr>
            <p:nvPr/>
          </p:nvGraphicFramePr>
          <p:xfrm>
            <a:off x="5040" y="43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9" name="Equation" r:id="rId35" imgW="177480" imgH="215640" progId="Equation.3">
                    <p:embed/>
                  </p:oleObj>
                </mc:Choice>
                <mc:Fallback>
                  <p:oleObj name="Equation" r:id="rId35" imgW="177480" imgH="21564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432"/>
                          <a:ext cx="33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80" name="Object 48"/>
            <p:cNvGraphicFramePr>
              <a:graphicFrameLocks noChangeAspect="1"/>
            </p:cNvGraphicFramePr>
            <p:nvPr/>
          </p:nvGraphicFramePr>
          <p:xfrm>
            <a:off x="96" y="864"/>
            <a:ext cx="3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0" name="Equation" r:id="rId37" imgW="190440" imgH="215640" progId="Equation.3">
                    <p:embed/>
                  </p:oleObj>
                </mc:Choice>
                <mc:Fallback>
                  <p:oleObj name="Equation" r:id="rId37" imgW="190440" imgH="21564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864"/>
                          <a:ext cx="38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81" name="Object 49"/>
            <p:cNvGraphicFramePr>
              <a:graphicFrameLocks noChangeAspect="1"/>
            </p:cNvGraphicFramePr>
            <p:nvPr/>
          </p:nvGraphicFramePr>
          <p:xfrm>
            <a:off x="576" y="1080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1" name="Equation" r:id="rId39" imgW="152280" imgH="228600" progId="">
                    <p:embed/>
                  </p:oleObj>
                </mc:Choice>
                <mc:Fallback>
                  <p:oleObj name="Equation" r:id="rId39" imgW="152280" imgH="228600" progId="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080"/>
                          <a:ext cx="304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60"/>
          <p:cNvGrpSpPr>
            <a:grpSpLocks/>
          </p:cNvGrpSpPr>
          <p:nvPr/>
        </p:nvGrpSpPr>
        <p:grpSpPr bwMode="auto">
          <a:xfrm>
            <a:off x="762000" y="2087563"/>
            <a:ext cx="4648200" cy="1150937"/>
            <a:chOff x="384" y="1344"/>
            <a:chExt cx="2928" cy="725"/>
          </a:xfrm>
        </p:grpSpPr>
        <p:sp>
          <p:nvSpPr>
            <p:cNvPr id="172087" name="Rectangle 55"/>
            <p:cNvSpPr>
              <a:spLocks noChangeArrowheads="1"/>
            </p:cNvSpPr>
            <p:nvPr/>
          </p:nvSpPr>
          <p:spPr bwMode="auto">
            <a:xfrm>
              <a:off x="864" y="1742"/>
              <a:ext cx="240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rgbClr val="1C1C1C"/>
                  </a:solidFill>
                </a:rPr>
                <a:t>外球带负电（ 　　）</a:t>
              </a:r>
            </a:p>
          </p:txBody>
        </p:sp>
        <p:sp>
          <p:nvSpPr>
            <p:cNvPr id="172084" name="Rectangle 52"/>
            <p:cNvSpPr>
              <a:spLocks noChangeArrowheads="1"/>
            </p:cNvSpPr>
            <p:nvPr/>
          </p:nvSpPr>
          <p:spPr bwMode="auto">
            <a:xfrm>
              <a:off x="384" y="1352"/>
              <a:ext cx="29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解</a:t>
              </a:r>
              <a:r>
                <a:rPr lang="zh-CN" altLang="en-US" sz="2800">
                  <a:solidFill>
                    <a:srgbClr val="1C1C1C"/>
                  </a:solidFill>
                </a:rPr>
                <a:t>　设内球带正电（ 　　）</a:t>
              </a:r>
            </a:p>
          </p:txBody>
        </p:sp>
        <p:graphicFrame>
          <p:nvGraphicFramePr>
            <p:cNvPr id="172085" name="Object 53"/>
            <p:cNvGraphicFramePr>
              <a:graphicFrameLocks noChangeAspect="1"/>
            </p:cNvGraphicFramePr>
            <p:nvPr/>
          </p:nvGraphicFramePr>
          <p:xfrm>
            <a:off x="2496" y="1344"/>
            <a:ext cx="468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2" name="Equation" r:id="rId41" imgW="266400" imgH="203040" progId="Equation.3">
                    <p:embed/>
                  </p:oleObj>
                </mc:Choice>
                <mc:Fallback>
                  <p:oleObj name="Equation" r:id="rId41" imgW="266400" imgH="20304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44"/>
                          <a:ext cx="468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086" name="Object 54"/>
            <p:cNvGraphicFramePr>
              <a:graphicFrameLocks noChangeAspect="1"/>
            </p:cNvGraphicFramePr>
            <p:nvPr/>
          </p:nvGraphicFramePr>
          <p:xfrm>
            <a:off x="2304" y="1728"/>
            <a:ext cx="432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3" name="Equation" r:id="rId43" imgW="266400" imgH="203040" progId="Equation.3">
                    <p:embed/>
                  </p:oleObj>
                </mc:Choice>
                <mc:Fallback>
                  <p:oleObj name="Equation" r:id="rId43" imgW="266400" imgH="20304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28"/>
                          <a:ext cx="432" cy="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762000" y="304800"/>
            <a:ext cx="6248400" cy="1358900"/>
            <a:chOff x="480" y="384"/>
            <a:chExt cx="3936" cy="856"/>
          </a:xfrm>
        </p:grpSpPr>
        <p:graphicFrame>
          <p:nvGraphicFramePr>
            <p:cNvPr id="178212" name="Object 36"/>
            <p:cNvGraphicFramePr>
              <a:graphicFrameLocks noChangeAspect="1"/>
            </p:cNvGraphicFramePr>
            <p:nvPr/>
          </p:nvGraphicFramePr>
          <p:xfrm>
            <a:off x="480" y="384"/>
            <a:ext cx="2160" cy="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844" name="Equation" r:id="rId3" imgW="1015920" imgH="431640" progId="">
                    <p:embed/>
                  </p:oleObj>
                </mc:Choice>
                <mc:Fallback>
                  <p:oleObj name="Equation" r:id="rId3" imgW="1015920" imgH="431640" progId="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84"/>
                          <a:ext cx="2160" cy="8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213" name="Object 37"/>
            <p:cNvGraphicFramePr>
              <a:graphicFrameLocks noChangeAspect="1"/>
            </p:cNvGraphicFramePr>
            <p:nvPr/>
          </p:nvGraphicFramePr>
          <p:xfrm>
            <a:off x="2976" y="624"/>
            <a:ext cx="1440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845" name="Equation" r:id="rId5" imgW="812520" imgH="215640" progId="">
                    <p:embed/>
                  </p:oleObj>
                </mc:Choice>
                <mc:Fallback>
                  <p:oleObj name="Equation" r:id="rId5" imgW="812520" imgH="215640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624"/>
                          <a:ext cx="1440" cy="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8216" name="Object 40"/>
          <p:cNvGraphicFramePr>
            <a:graphicFrameLocks noChangeAspect="1"/>
          </p:cNvGraphicFramePr>
          <p:nvPr/>
        </p:nvGraphicFramePr>
        <p:xfrm>
          <a:off x="1066800" y="4495800"/>
          <a:ext cx="3276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46" name="Equation" r:id="rId7" imgW="939600" imgH="228600" progId="">
                  <p:embed/>
                </p:oleObj>
              </mc:Choice>
              <mc:Fallback>
                <p:oleObj name="Equation" r:id="rId7" imgW="939600" imgH="228600" progId="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95800"/>
                        <a:ext cx="32766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5257800" y="1447800"/>
            <a:ext cx="3505200" cy="3352800"/>
            <a:chOff x="3312" y="1104"/>
            <a:chExt cx="2208" cy="2112"/>
          </a:xfrm>
        </p:grpSpPr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3312" y="1104"/>
              <a:ext cx="2208" cy="2112"/>
              <a:chOff x="3360" y="1584"/>
              <a:chExt cx="2208" cy="2112"/>
            </a:xfrm>
          </p:grpSpPr>
          <p:sp>
            <p:nvSpPr>
              <p:cNvPr id="178179" name="Rectangle 3"/>
              <p:cNvSpPr>
                <a:spLocks noChangeArrowheads="1"/>
              </p:cNvSpPr>
              <p:nvPr/>
            </p:nvSpPr>
            <p:spPr bwMode="auto">
              <a:xfrm>
                <a:off x="3360" y="1584"/>
                <a:ext cx="2208" cy="21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180" name="Oval 4"/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1824" cy="1824"/>
              </a:xfrm>
              <a:prstGeom prst="ellipse">
                <a:avLst/>
              </a:prstGeom>
              <a:noFill/>
              <a:ln w="76200" cmpd="tri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181" name="Oval 5"/>
              <p:cNvSpPr>
                <a:spLocks noChangeArrowheads="1"/>
              </p:cNvSpPr>
              <p:nvPr/>
            </p:nvSpPr>
            <p:spPr bwMode="auto">
              <a:xfrm>
                <a:off x="4080" y="2208"/>
                <a:ext cx="912" cy="912"/>
              </a:xfrm>
              <a:prstGeom prst="ellipse">
                <a:avLst/>
              </a:prstGeom>
              <a:noFill/>
              <a:ln w="76200" cmpd="tri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182" name="AutoShape 6" descr="浅色上对角线"/>
              <p:cNvSpPr>
                <a:spLocks noChangeArrowheads="1"/>
              </p:cNvSpPr>
              <p:nvPr/>
            </p:nvSpPr>
            <p:spPr bwMode="auto">
              <a:xfrm>
                <a:off x="4057" y="2185"/>
                <a:ext cx="960" cy="960"/>
              </a:xfrm>
              <a:custGeom>
                <a:avLst/>
                <a:gdLst>
                  <a:gd name="G0" fmla="+- 775 0 0"/>
                  <a:gd name="G1" fmla="+- 21600 0 775"/>
                  <a:gd name="G2" fmla="+- 21600 0 775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775" y="10800"/>
                    </a:moveTo>
                    <a:cubicBezTo>
                      <a:pt x="775" y="16337"/>
                      <a:pt x="5263" y="20825"/>
                      <a:pt x="10800" y="20825"/>
                    </a:cubicBezTo>
                    <a:cubicBezTo>
                      <a:pt x="16337" y="20825"/>
                      <a:pt x="20825" y="16337"/>
                      <a:pt x="20825" y="10800"/>
                    </a:cubicBezTo>
                    <a:cubicBezTo>
                      <a:pt x="20825" y="5263"/>
                      <a:pt x="16337" y="775"/>
                      <a:pt x="10800" y="775"/>
                    </a:cubicBezTo>
                    <a:cubicBezTo>
                      <a:pt x="5263" y="775"/>
                      <a:pt x="775" y="5263"/>
                      <a:pt x="775" y="10800"/>
                    </a:cubicBezTo>
                    <a:close/>
                  </a:path>
                </a:pathLst>
              </a:custGeom>
              <a:pattFill prst="ltUpDiag">
                <a:fgClr>
                  <a:srgbClr val="5F5F5F"/>
                </a:fgClr>
                <a:bgClr>
                  <a:srgbClr val="DDDDDD"/>
                </a:bgClr>
              </a:pattFill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183" name="AutoShape 7" descr="浅色上对角线"/>
              <p:cNvSpPr>
                <a:spLocks noChangeArrowheads="1"/>
              </p:cNvSpPr>
              <p:nvPr/>
            </p:nvSpPr>
            <p:spPr bwMode="auto">
              <a:xfrm>
                <a:off x="3575" y="1702"/>
                <a:ext cx="1872" cy="1872"/>
              </a:xfrm>
              <a:custGeom>
                <a:avLst/>
                <a:gdLst>
                  <a:gd name="G0" fmla="+- 646 0 0"/>
                  <a:gd name="G1" fmla="+- 21600 0 646"/>
                  <a:gd name="G2" fmla="+- 21600 0 646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646" y="10800"/>
                    </a:moveTo>
                    <a:cubicBezTo>
                      <a:pt x="646" y="16408"/>
                      <a:pt x="5192" y="20954"/>
                      <a:pt x="10800" y="20954"/>
                    </a:cubicBezTo>
                    <a:cubicBezTo>
                      <a:pt x="16408" y="20954"/>
                      <a:pt x="20954" y="16408"/>
                      <a:pt x="20954" y="10800"/>
                    </a:cubicBezTo>
                    <a:cubicBezTo>
                      <a:pt x="20954" y="5192"/>
                      <a:pt x="16408" y="646"/>
                      <a:pt x="10800" y="646"/>
                    </a:cubicBezTo>
                    <a:cubicBezTo>
                      <a:pt x="5192" y="646"/>
                      <a:pt x="646" y="5192"/>
                      <a:pt x="646" y="10800"/>
                    </a:cubicBezTo>
                    <a:close/>
                  </a:path>
                </a:pathLst>
              </a:custGeom>
              <a:pattFill prst="ltUpDiag">
                <a:fgClr>
                  <a:srgbClr val="808080"/>
                </a:fgClr>
                <a:bgClr>
                  <a:srgbClr val="DDDDDD"/>
                </a:bgClr>
              </a:pattFill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408" y="2256"/>
                <a:ext cx="1584" cy="1104"/>
                <a:chOff x="3408" y="2256"/>
                <a:chExt cx="1584" cy="1104"/>
              </a:xfrm>
            </p:grpSpPr>
            <p:sp>
              <p:nvSpPr>
                <p:cNvPr id="178185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511" y="2640"/>
                  <a:ext cx="48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8186" name="Object 10"/>
                <p:cNvGraphicFramePr>
                  <a:graphicFrameLocks noChangeAspect="1"/>
                </p:cNvGraphicFramePr>
                <p:nvPr/>
              </p:nvGraphicFramePr>
              <p:xfrm>
                <a:off x="4540" y="2256"/>
                <a:ext cx="356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47" name="Equation" r:id="rId9" imgW="177480" imgH="215640" progId="Equation.3">
                        <p:embed/>
                      </p:oleObj>
                    </mc:Choice>
                    <mc:Fallback>
                      <p:oleObj name="Equation" r:id="rId9" imgW="177480" imgH="215640" progId="Equation.3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40" y="2256"/>
                              <a:ext cx="356" cy="43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818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696" y="2640"/>
                  <a:ext cx="816" cy="3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8188" name="Object 12"/>
                <p:cNvGraphicFramePr>
                  <a:graphicFrameLocks noChangeAspect="1"/>
                </p:cNvGraphicFramePr>
                <p:nvPr/>
              </p:nvGraphicFramePr>
              <p:xfrm>
                <a:off x="3408" y="2928"/>
                <a:ext cx="381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48" name="Equation" r:id="rId11" imgW="190440" imgH="215640" progId="Equation.3">
                        <p:embed/>
                      </p:oleObj>
                    </mc:Choice>
                    <mc:Fallback>
                      <p:oleObj name="Equation" r:id="rId11" imgW="190440" imgH="215640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8" y="2928"/>
                              <a:ext cx="381" cy="43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3576" y="1230"/>
              <a:ext cx="1776" cy="1879"/>
              <a:chOff x="3624" y="1710"/>
              <a:chExt cx="1776" cy="1879"/>
            </a:xfrm>
          </p:grpSpPr>
          <p:grpSp>
            <p:nvGrpSpPr>
              <p:cNvPr id="7" name="Group 14"/>
              <p:cNvGrpSpPr>
                <a:grpSpLocks/>
              </p:cNvGrpSpPr>
              <p:nvPr/>
            </p:nvGrpSpPr>
            <p:grpSpPr bwMode="auto">
              <a:xfrm>
                <a:off x="3840" y="1968"/>
                <a:ext cx="1440" cy="1364"/>
                <a:chOff x="3840" y="1968"/>
                <a:chExt cx="1440" cy="1364"/>
              </a:xfrm>
            </p:grpSpPr>
            <p:sp>
              <p:nvSpPr>
                <p:cNvPr id="17819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368" y="3044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800" y="2832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3984" y="2852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840" y="2507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984" y="2171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8" y="1968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800" y="218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  <p:sp>
              <p:nvSpPr>
                <p:cNvPr id="17819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944" y="2507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sm" len="lg"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FF0000"/>
                      </a:solidFill>
                    </a:rPr>
                    <a:t>＋</a:t>
                  </a:r>
                </a:p>
              </p:txBody>
            </p:sp>
          </p:grpSp>
          <p:grpSp>
            <p:nvGrpSpPr>
              <p:cNvPr id="8" name="Group 23"/>
              <p:cNvGrpSpPr>
                <a:grpSpLocks/>
              </p:cNvGrpSpPr>
              <p:nvPr/>
            </p:nvGrpSpPr>
            <p:grpSpPr bwMode="auto">
              <a:xfrm>
                <a:off x="3624" y="1710"/>
                <a:ext cx="1776" cy="1879"/>
                <a:chOff x="3624" y="1710"/>
                <a:chExt cx="1776" cy="1879"/>
              </a:xfrm>
            </p:grpSpPr>
            <p:graphicFrame>
              <p:nvGraphicFramePr>
                <p:cNvPr id="178200" name="Object 24"/>
                <p:cNvGraphicFramePr>
                  <a:graphicFrameLocks/>
                </p:cNvGraphicFramePr>
                <p:nvPr/>
              </p:nvGraphicFramePr>
              <p:xfrm>
                <a:off x="4392" y="1710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49" name="Equation" r:id="rId13" imgW="126720" imgH="75960" progId="Equation.3">
                        <p:embed/>
                      </p:oleObj>
                    </mc:Choice>
                    <mc:Fallback>
                      <p:oleObj name="Equation" r:id="rId13" imgW="126720" imgH="75960" progId="Equation.3">
                        <p:embed/>
                        <p:pic>
                          <p:nvPicPr>
                            <p:cNvPr id="0" name="Object 2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2" y="1710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1" name="Object 25"/>
                <p:cNvGraphicFramePr>
                  <a:graphicFrameLocks/>
                </p:cNvGraphicFramePr>
                <p:nvPr/>
              </p:nvGraphicFramePr>
              <p:xfrm>
                <a:off x="4416" y="3408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0" name="Equation" r:id="rId15" imgW="126720" imgH="75960" progId="Equation.3">
                        <p:embed/>
                      </p:oleObj>
                    </mc:Choice>
                    <mc:Fallback>
                      <p:oleObj name="Equation" r:id="rId15" imgW="126720" imgH="7596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6" y="3408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2" name="Object 26"/>
                <p:cNvGraphicFramePr>
                  <a:graphicFrameLocks/>
                </p:cNvGraphicFramePr>
                <p:nvPr/>
              </p:nvGraphicFramePr>
              <p:xfrm>
                <a:off x="5232" y="2574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1" name="Equation" r:id="rId17" imgW="126720" imgH="75960" progId="Equation.3">
                        <p:embed/>
                      </p:oleObj>
                    </mc:Choice>
                    <mc:Fallback>
                      <p:oleObj name="Equation" r:id="rId17" imgW="126720" imgH="75960" progId="Equation.3">
                        <p:embed/>
                        <p:pic>
                          <p:nvPicPr>
                            <p:cNvPr id="0" name="Object 2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32" y="2574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3" name="Object 27"/>
                <p:cNvGraphicFramePr>
                  <a:graphicFrameLocks/>
                </p:cNvGraphicFramePr>
                <p:nvPr/>
              </p:nvGraphicFramePr>
              <p:xfrm>
                <a:off x="3624" y="2603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2" name="Equation" r:id="rId19" imgW="126720" imgH="75960" progId="Equation.3">
                        <p:embed/>
                      </p:oleObj>
                    </mc:Choice>
                    <mc:Fallback>
                      <p:oleObj name="Equation" r:id="rId19" imgW="126720" imgH="75960" progId="Equation.3">
                        <p:embed/>
                        <p:pic>
                          <p:nvPicPr>
                            <p:cNvPr id="0" name="Object 27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24" y="2603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4" name="Object 28"/>
                <p:cNvGraphicFramePr>
                  <a:graphicFrameLocks/>
                </p:cNvGraphicFramePr>
                <p:nvPr/>
              </p:nvGraphicFramePr>
              <p:xfrm>
                <a:off x="5040" y="1998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3" name="Equation" r:id="rId21" imgW="126720" imgH="75960" progId="Equation.3">
                        <p:embed/>
                      </p:oleObj>
                    </mc:Choice>
                    <mc:Fallback>
                      <p:oleObj name="Equation" r:id="rId21" imgW="126720" imgH="75960" progId="Equation.3">
                        <p:embed/>
                        <p:pic>
                          <p:nvPicPr>
                            <p:cNvPr id="0" name="Object 28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0" y="1998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5" name="Object 29"/>
                <p:cNvGraphicFramePr>
                  <a:graphicFrameLocks/>
                </p:cNvGraphicFramePr>
                <p:nvPr/>
              </p:nvGraphicFramePr>
              <p:xfrm>
                <a:off x="3792" y="2027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4" name="Equation" r:id="rId23" imgW="126720" imgH="75960" progId="Equation.3">
                        <p:embed/>
                      </p:oleObj>
                    </mc:Choice>
                    <mc:Fallback>
                      <p:oleObj name="Equation" r:id="rId23" imgW="126720" imgH="75960" progId="Equation.3">
                        <p:embed/>
                        <p:pic>
                          <p:nvPicPr>
                            <p:cNvPr id="0" name="Object 29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027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6" name="Object 30"/>
                <p:cNvGraphicFramePr>
                  <a:graphicFrameLocks/>
                </p:cNvGraphicFramePr>
                <p:nvPr/>
              </p:nvGraphicFramePr>
              <p:xfrm>
                <a:off x="4992" y="3190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5" name="Equation" r:id="rId25" imgW="126720" imgH="75960" progId="Equation.3">
                        <p:embed/>
                      </p:oleObj>
                    </mc:Choice>
                    <mc:Fallback>
                      <p:oleObj name="Equation" r:id="rId25" imgW="126720" imgH="75960" progId="Equation.3">
                        <p:embed/>
                        <p:pic>
                          <p:nvPicPr>
                            <p:cNvPr id="0" name="Object 30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2" y="3190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8207" name="Object 31"/>
                <p:cNvGraphicFramePr>
                  <a:graphicFrameLocks/>
                </p:cNvGraphicFramePr>
                <p:nvPr/>
              </p:nvGraphicFramePr>
              <p:xfrm>
                <a:off x="3912" y="3227"/>
                <a:ext cx="168" cy="1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73856" name="Equation" r:id="rId27" imgW="126720" imgH="75960" progId="Equation.3">
                        <p:embed/>
                      </p:oleObj>
                    </mc:Choice>
                    <mc:Fallback>
                      <p:oleObj name="Equation" r:id="rId27" imgW="126720" imgH="75960" progId="Equation.3">
                        <p:embed/>
                        <p:pic>
                          <p:nvPicPr>
                            <p:cNvPr id="0" name="Object 31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12" y="3227"/>
                              <a:ext cx="168" cy="18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9" name="Group 32"/>
            <p:cNvGrpSpPr>
              <a:grpSpLocks/>
            </p:cNvGrpSpPr>
            <p:nvPr/>
          </p:nvGrpSpPr>
          <p:grpSpPr bwMode="auto">
            <a:xfrm>
              <a:off x="3792" y="1488"/>
              <a:ext cx="1392" cy="1392"/>
              <a:chOff x="3840" y="1968"/>
              <a:chExt cx="1392" cy="1392"/>
            </a:xfrm>
          </p:grpSpPr>
          <p:sp>
            <p:nvSpPr>
              <p:cNvPr id="178209" name="Oval 33"/>
              <p:cNvSpPr>
                <a:spLocks noChangeArrowheads="1"/>
              </p:cNvSpPr>
              <p:nvPr/>
            </p:nvSpPr>
            <p:spPr bwMode="auto">
              <a:xfrm>
                <a:off x="3840" y="1968"/>
                <a:ext cx="1392" cy="1392"/>
              </a:xfrm>
              <a:prstGeom prst="ellipse">
                <a:avLst/>
              </a:pr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10" name="Line 34"/>
              <p:cNvSpPr>
                <a:spLocks noChangeShapeType="1"/>
              </p:cNvSpPr>
              <p:nvPr/>
            </p:nvSpPr>
            <p:spPr bwMode="auto">
              <a:xfrm>
                <a:off x="4512" y="2640"/>
                <a:ext cx="288" cy="672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78211" name="Object 35"/>
              <p:cNvGraphicFramePr>
                <a:graphicFrameLocks noChangeAspect="1"/>
              </p:cNvGraphicFramePr>
              <p:nvPr/>
            </p:nvGraphicFramePr>
            <p:xfrm>
              <a:off x="4272" y="2736"/>
              <a:ext cx="382" cy="4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3857" name="Equation" r:id="rId29" imgW="114120" imgH="126720" progId="Equation.3">
                      <p:embed/>
                    </p:oleObj>
                  </mc:Choice>
                  <mc:Fallback>
                    <p:oleObj name="Equation" r:id="rId29" imgW="114120" imgH="12672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736"/>
                            <a:ext cx="382" cy="4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42"/>
            <p:cNvGrpSpPr>
              <a:grpSpLocks/>
            </p:cNvGrpSpPr>
            <p:nvPr/>
          </p:nvGrpSpPr>
          <p:grpSpPr bwMode="auto">
            <a:xfrm>
              <a:off x="4608" y="2640"/>
              <a:ext cx="576" cy="480"/>
              <a:chOff x="4656" y="3120"/>
              <a:chExt cx="576" cy="480"/>
            </a:xfrm>
          </p:grpSpPr>
          <p:graphicFrame>
            <p:nvGraphicFramePr>
              <p:cNvPr id="178219" name="Object 43"/>
              <p:cNvGraphicFramePr>
                <a:graphicFrameLocks noChangeAspect="1"/>
              </p:cNvGraphicFramePr>
              <p:nvPr/>
            </p:nvGraphicFramePr>
            <p:xfrm>
              <a:off x="4752" y="3216"/>
              <a:ext cx="355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3858" name="Equation" r:id="rId31" imgW="152280" imgH="164880" progId="Equation.3">
                      <p:embed/>
                    </p:oleObj>
                  </mc:Choice>
                  <mc:Fallback>
                    <p:oleObj name="Equation" r:id="rId31" imgW="152280" imgH="16488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3216"/>
                            <a:ext cx="355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8220" name="Text Box 44"/>
              <p:cNvSpPr txBox="1">
                <a:spLocks noChangeArrowheads="1"/>
              </p:cNvSpPr>
              <p:nvPr/>
            </p:nvSpPr>
            <p:spPr bwMode="auto">
              <a:xfrm>
                <a:off x="4656" y="3120"/>
                <a:ext cx="57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600">
                    <a:solidFill>
                      <a:srgbClr val="CC00CC"/>
                    </a:solidFill>
                  </a:rPr>
                  <a:t>*</a:t>
                </a:r>
              </a:p>
            </p:txBody>
          </p:sp>
        </p:grpSp>
      </p:grpSp>
      <p:graphicFrame>
        <p:nvGraphicFramePr>
          <p:cNvPr id="178226" name="Object 50"/>
          <p:cNvGraphicFramePr>
            <a:graphicFrameLocks noChangeAspect="1"/>
          </p:cNvGraphicFramePr>
          <p:nvPr/>
        </p:nvGraphicFramePr>
        <p:xfrm>
          <a:off x="381000" y="3200400"/>
          <a:ext cx="472440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9" name="Equation" r:id="rId33" imgW="1473120" imgH="431640" progId="">
                  <p:embed/>
                </p:oleObj>
              </mc:Choice>
              <mc:Fallback>
                <p:oleObj name="Equation" r:id="rId33" imgW="1473120" imgH="431640" progId="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00400"/>
                        <a:ext cx="4724400" cy="1252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1219200" y="5407025"/>
            <a:ext cx="6523038" cy="692150"/>
            <a:chOff x="768" y="3598"/>
            <a:chExt cx="4109" cy="436"/>
          </a:xfrm>
        </p:grpSpPr>
        <p:graphicFrame>
          <p:nvGraphicFramePr>
            <p:cNvPr id="178217" name="Object 41"/>
            <p:cNvGraphicFramePr>
              <a:graphicFrameLocks noChangeAspect="1"/>
            </p:cNvGraphicFramePr>
            <p:nvPr/>
          </p:nvGraphicFramePr>
          <p:xfrm>
            <a:off x="768" y="3598"/>
            <a:ext cx="1680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860" name="Equation" r:id="rId35" imgW="736560" imgH="228600" progId="">
                    <p:embed/>
                  </p:oleObj>
                </mc:Choice>
                <mc:Fallback>
                  <p:oleObj name="Equation" r:id="rId35" imgW="736560" imgH="228600" progId="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598"/>
                          <a:ext cx="1680" cy="4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232" name="Rectangle 56"/>
            <p:cNvSpPr>
              <a:spLocks noChangeArrowheads="1"/>
            </p:cNvSpPr>
            <p:nvPr/>
          </p:nvSpPr>
          <p:spPr bwMode="auto">
            <a:xfrm>
              <a:off x="2736" y="3648"/>
              <a:ext cx="21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（</a:t>
              </a:r>
              <a:r>
                <a:rPr lang="zh-CN" altLang="zh-CN" sz="2800" dirty="0"/>
                <a:t>孤立导体球电容）</a:t>
              </a:r>
              <a:endParaRPr lang="zh-CN" altLang="en-US" sz="2800" dirty="0"/>
            </a:p>
          </p:txBody>
        </p:sp>
      </p:grpSp>
      <p:graphicFrame>
        <p:nvGraphicFramePr>
          <p:cNvPr id="178235" name="Object 59"/>
          <p:cNvGraphicFramePr>
            <a:graphicFrameLocks noChangeAspect="1"/>
          </p:cNvGraphicFramePr>
          <p:nvPr/>
        </p:nvGraphicFramePr>
        <p:xfrm>
          <a:off x="685800" y="1828800"/>
          <a:ext cx="426720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61" name="Equation" r:id="rId37" imgW="1384200" imgH="431640" progId="Equation.3">
                  <p:embed/>
                </p:oleObj>
              </mc:Choice>
              <mc:Fallback>
                <p:oleObj name="Equation" r:id="rId37" imgW="1384200" imgH="43164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828800"/>
                        <a:ext cx="4267200" cy="1236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52400" y="533400"/>
            <a:ext cx="9220200" cy="5410200"/>
            <a:chOff x="144" y="384"/>
            <a:chExt cx="5808" cy="3408"/>
          </a:xfrm>
        </p:grpSpPr>
        <p:sp>
          <p:nvSpPr>
            <p:cNvPr id="173059" name="Rectangle 3"/>
            <p:cNvSpPr>
              <a:spLocks noChangeArrowheads="1"/>
            </p:cNvSpPr>
            <p:nvPr/>
          </p:nvSpPr>
          <p:spPr bwMode="auto">
            <a:xfrm>
              <a:off x="144" y="384"/>
              <a:ext cx="5808" cy="3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       例4   两球形电极间的击穿电压.  </a:t>
              </a:r>
              <a:r>
                <a:rPr lang="zh-CN" altLang="en-US" sz="2800" dirty="0">
                  <a:solidFill>
                    <a:schemeClr val="tx1"/>
                  </a:solidFill>
                </a:rPr>
                <a:t>为了防止两极间的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空气被击穿，通常避免采用尖端电极，而采用球形电极.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然而，若两球形电极间存在高电压的情况下，球形电极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间的空气也会被击穿而放电.   如图所示，由两个半径均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为 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r </a:t>
              </a:r>
              <a:r>
                <a:rPr lang="en-US" altLang="zh-CN" sz="2800" dirty="0">
                  <a:solidFill>
                    <a:schemeClr val="tx1"/>
                  </a:solidFill>
                </a:rPr>
                <a:t>= 2cm </a:t>
              </a:r>
              <a:r>
                <a:rPr lang="zh-CN" altLang="en-US" sz="2800" dirty="0">
                  <a:solidFill>
                    <a:schemeClr val="tx1"/>
                  </a:solidFill>
                </a:rPr>
                <a:t>的球形电极放在击穿场强                                 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的空气中，两球的中心距为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2800" i="1" dirty="0">
                  <a:solidFill>
                    <a:schemeClr val="tx1"/>
                  </a:solidFill>
                </a:rPr>
                <a:t> d </a:t>
              </a:r>
              <a:r>
                <a:rPr lang="en-US" altLang="zh-CN" sz="2800" dirty="0">
                  <a:solidFill>
                    <a:schemeClr val="tx1"/>
                  </a:solidFill>
                </a:rPr>
                <a:t>= 10cm.  </a:t>
              </a:r>
              <a:r>
                <a:rPr lang="zh-CN" altLang="en-US" sz="2800" dirty="0">
                  <a:solidFill>
                    <a:schemeClr val="tx1"/>
                  </a:solidFill>
                </a:rPr>
                <a:t>试粗略估算在上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述条件下，两球形电极间的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击穿电压大约是多少？</a:t>
              </a:r>
            </a:p>
          </p:txBody>
        </p:sp>
        <p:graphicFrame>
          <p:nvGraphicFramePr>
            <p:cNvPr id="173060" name="Object 4"/>
            <p:cNvGraphicFramePr>
              <a:graphicFrameLocks noChangeAspect="1"/>
            </p:cNvGraphicFramePr>
            <p:nvPr/>
          </p:nvGraphicFramePr>
          <p:xfrm>
            <a:off x="3840" y="1824"/>
            <a:ext cx="1776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4855" name="Equation" r:id="rId3" imgW="1054080" imgH="241200" progId="">
                    <p:embed/>
                  </p:oleObj>
                </mc:Choice>
                <mc:Fallback>
                  <p:oleObj name="Equation" r:id="rId3" imgW="1054080" imgH="2412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824"/>
                          <a:ext cx="1776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29"/>
            <p:cNvGrpSpPr>
              <a:grpSpLocks/>
            </p:cNvGrpSpPr>
            <p:nvPr/>
          </p:nvGrpSpPr>
          <p:grpSpPr bwMode="auto">
            <a:xfrm>
              <a:off x="3408" y="2304"/>
              <a:ext cx="1968" cy="1488"/>
              <a:chOff x="3600" y="2592"/>
              <a:chExt cx="1968" cy="1488"/>
            </a:xfrm>
          </p:grpSpPr>
          <p:sp>
            <p:nvSpPr>
              <p:cNvPr id="173061" name="Rectangle 5"/>
              <p:cNvSpPr>
                <a:spLocks noChangeArrowheads="1"/>
              </p:cNvSpPr>
              <p:nvPr/>
            </p:nvSpPr>
            <p:spPr bwMode="auto">
              <a:xfrm>
                <a:off x="3744" y="3600"/>
                <a:ext cx="38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2" name="Rectangle 6"/>
              <p:cNvSpPr>
                <a:spLocks noChangeArrowheads="1"/>
              </p:cNvSpPr>
              <p:nvPr/>
            </p:nvSpPr>
            <p:spPr bwMode="auto">
              <a:xfrm>
                <a:off x="3888" y="3264"/>
                <a:ext cx="96" cy="336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3" name="Oval 7"/>
              <p:cNvSpPr>
                <a:spLocks noChangeArrowheads="1"/>
              </p:cNvSpPr>
              <p:nvPr/>
            </p:nvSpPr>
            <p:spPr bwMode="auto">
              <a:xfrm>
                <a:off x="3696" y="2880"/>
                <a:ext cx="480" cy="480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4" name="Rectangle 8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38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5" name="Rectangle 9"/>
              <p:cNvSpPr>
                <a:spLocks noChangeArrowheads="1"/>
              </p:cNvSpPr>
              <p:nvPr/>
            </p:nvSpPr>
            <p:spPr bwMode="auto">
              <a:xfrm>
                <a:off x="5136" y="3264"/>
                <a:ext cx="96" cy="336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6" name="Oval 10"/>
              <p:cNvSpPr>
                <a:spLocks noChangeArrowheads="1"/>
              </p:cNvSpPr>
              <p:nvPr/>
            </p:nvSpPr>
            <p:spPr bwMode="auto">
              <a:xfrm>
                <a:off x="4944" y="2880"/>
                <a:ext cx="480" cy="480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3067" name="Rectangle 11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1920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3068" name="Object 12"/>
              <p:cNvGraphicFramePr>
                <a:graphicFrameLocks noChangeAspect="1"/>
              </p:cNvGraphicFramePr>
              <p:nvPr/>
            </p:nvGraphicFramePr>
            <p:xfrm>
              <a:off x="3837" y="2592"/>
              <a:ext cx="243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4856" name="Equation" r:id="rId5" imgW="152280" imgH="164880" progId="">
                      <p:embed/>
                    </p:oleObj>
                  </mc:Choice>
                  <mc:Fallback>
                    <p:oleObj name="Equation" r:id="rId5" imgW="152280" imgH="164880" progId="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7" y="2592"/>
                            <a:ext cx="243" cy="26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069" name="Object 13"/>
              <p:cNvGraphicFramePr>
                <a:graphicFrameLocks noChangeAspect="1"/>
              </p:cNvGraphicFramePr>
              <p:nvPr/>
            </p:nvGraphicFramePr>
            <p:xfrm>
              <a:off x="5088" y="2592"/>
              <a:ext cx="244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4857" name="Equation" r:id="rId7" imgW="152280" imgH="164880" progId="">
                      <p:embed/>
                    </p:oleObj>
                  </mc:Choice>
                  <mc:Fallback>
                    <p:oleObj name="Equation" r:id="rId7" imgW="152280" imgH="164880" progId="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2592"/>
                            <a:ext cx="244" cy="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3070" name="Text Box 14"/>
              <p:cNvSpPr txBox="1">
                <a:spLocks noChangeArrowheads="1"/>
              </p:cNvSpPr>
              <p:nvPr/>
            </p:nvSpPr>
            <p:spPr bwMode="auto">
              <a:xfrm>
                <a:off x="3696" y="2880"/>
                <a:ext cx="5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+  +</a:t>
                </a:r>
              </a:p>
            </p:txBody>
          </p:sp>
          <p:sp>
            <p:nvSpPr>
              <p:cNvPr id="173071" name="Text Box 15"/>
              <p:cNvSpPr txBox="1">
                <a:spLocks noChangeArrowheads="1"/>
              </p:cNvSpPr>
              <p:nvPr/>
            </p:nvSpPr>
            <p:spPr bwMode="auto">
              <a:xfrm>
                <a:off x="3696" y="3033"/>
                <a:ext cx="5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+  +</a:t>
                </a:r>
              </a:p>
            </p:txBody>
          </p:sp>
          <p:sp>
            <p:nvSpPr>
              <p:cNvPr id="173072" name="Text Box 16"/>
              <p:cNvSpPr txBox="1">
                <a:spLocks noChangeArrowheads="1"/>
              </p:cNvSpPr>
              <p:nvPr/>
            </p:nvSpPr>
            <p:spPr bwMode="auto">
              <a:xfrm>
                <a:off x="4992" y="2809"/>
                <a:ext cx="576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>
                    <a:solidFill>
                      <a:srgbClr val="0000FF"/>
                    </a:solidFill>
                  </a:rPr>
                  <a:t>  -</a:t>
                </a:r>
              </a:p>
            </p:txBody>
          </p:sp>
          <p:sp>
            <p:nvSpPr>
              <p:cNvPr id="173073" name="Text Box 17"/>
              <p:cNvSpPr txBox="1">
                <a:spLocks noChangeArrowheads="1"/>
              </p:cNvSpPr>
              <p:nvPr/>
            </p:nvSpPr>
            <p:spPr bwMode="auto">
              <a:xfrm>
                <a:off x="4992" y="3001"/>
                <a:ext cx="576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 dirty="0">
                    <a:solidFill>
                      <a:srgbClr val="0000FF"/>
                    </a:solidFill>
                  </a:rPr>
                  <a:t>  -</a:t>
                </a:r>
              </a:p>
            </p:txBody>
          </p:sp>
          <p:sp>
            <p:nvSpPr>
              <p:cNvPr id="173074" name="Line 18"/>
              <p:cNvSpPr>
                <a:spLocks noChangeShapeType="1"/>
              </p:cNvSpPr>
              <p:nvPr/>
            </p:nvSpPr>
            <p:spPr bwMode="auto">
              <a:xfrm>
                <a:off x="3936" y="36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3075" name="Line 19"/>
              <p:cNvSpPr>
                <a:spLocks noChangeShapeType="1"/>
              </p:cNvSpPr>
              <p:nvPr/>
            </p:nvSpPr>
            <p:spPr bwMode="auto">
              <a:xfrm>
                <a:off x="5184" y="36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3076" name="Line 20"/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3077" name="Line 21"/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3078" name="Line 22"/>
              <p:cNvSpPr>
                <a:spLocks noChangeShapeType="1"/>
              </p:cNvSpPr>
              <p:nvPr/>
            </p:nvSpPr>
            <p:spPr bwMode="auto">
              <a:xfrm flipH="1">
                <a:off x="4176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3079" name="Line 23"/>
              <p:cNvSpPr>
                <a:spLocks noChangeShapeType="1"/>
              </p:cNvSpPr>
              <p:nvPr/>
            </p:nvSpPr>
            <p:spPr bwMode="auto">
              <a:xfrm>
                <a:off x="3936" y="3936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73080" name="Object 24"/>
              <p:cNvGraphicFramePr>
                <a:graphicFrameLocks noChangeAspect="1"/>
              </p:cNvGraphicFramePr>
              <p:nvPr/>
            </p:nvGraphicFramePr>
            <p:xfrm>
              <a:off x="3936" y="3648"/>
              <a:ext cx="182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4858" name="Equation" r:id="rId9" imgW="114120" imgH="126720" progId="">
                      <p:embed/>
                    </p:oleObj>
                  </mc:Choice>
                  <mc:Fallback>
                    <p:oleObj name="Equation" r:id="rId9" imgW="114120" imgH="126720" progId="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3648"/>
                            <a:ext cx="182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081" name="Object 25"/>
              <p:cNvGraphicFramePr>
                <a:graphicFrameLocks noChangeAspect="1"/>
              </p:cNvGraphicFramePr>
              <p:nvPr/>
            </p:nvGraphicFramePr>
            <p:xfrm>
              <a:off x="4444" y="3696"/>
              <a:ext cx="22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4859" name="Equation" r:id="rId11" imgW="139680" imgH="177480" progId="">
                      <p:embed/>
                    </p:oleObj>
                  </mc:Choice>
                  <mc:Fallback>
                    <p:oleObj name="Equation" r:id="rId11" imgW="139680" imgH="177480" progId="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" y="3696"/>
                            <a:ext cx="223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28600" y="152400"/>
            <a:ext cx="8610600" cy="3124200"/>
            <a:chOff x="144" y="384"/>
            <a:chExt cx="5424" cy="1968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auto">
            <a:xfrm>
              <a:off x="144" y="384"/>
              <a:ext cx="3792" cy="1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 例4  两球形电极间的击穿电压. 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rgbClr val="CC0000"/>
                  </a:solidFill>
                </a:rPr>
                <a:t>已知</a:t>
              </a:r>
              <a:r>
                <a:rPr lang="zh-CN" altLang="en-US" sz="2800" dirty="0">
                  <a:solidFill>
                    <a:schemeClr val="tx1"/>
                  </a:solidFill>
                </a:rPr>
                <a:t>：半径为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r </a:t>
              </a:r>
              <a:r>
                <a:rPr lang="en-US" altLang="zh-CN" sz="2800" dirty="0">
                  <a:solidFill>
                    <a:schemeClr val="tx1"/>
                  </a:solidFill>
                </a:rPr>
                <a:t>= 2cm </a:t>
              </a:r>
              <a:r>
                <a:rPr lang="zh-CN" altLang="en-US" sz="2800" dirty="0">
                  <a:solidFill>
                    <a:schemeClr val="tx1"/>
                  </a:solidFill>
                </a:rPr>
                <a:t>的球形电极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击穿场强                               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tx1"/>
                  </a:solidFill>
                </a:rPr>
                <a:t>两球的中心距为 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d </a:t>
              </a:r>
              <a:r>
                <a:rPr lang="en-US" altLang="zh-CN" sz="2800" dirty="0">
                  <a:solidFill>
                    <a:schemeClr val="tx1"/>
                  </a:solidFill>
                </a:rPr>
                <a:t>= 10cm. 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rgbClr val="CC0000"/>
                  </a:solidFill>
                </a:rPr>
                <a:t>求</a:t>
              </a:r>
              <a:r>
                <a:rPr lang="zh-CN" altLang="en-US" sz="2800" dirty="0">
                  <a:solidFill>
                    <a:schemeClr val="tx1"/>
                  </a:solidFill>
                </a:rPr>
                <a:t>：两球形电极间的击穿电压</a:t>
              </a:r>
            </a:p>
          </p:txBody>
        </p:sp>
        <p:graphicFrame>
          <p:nvGraphicFramePr>
            <p:cNvPr id="179204" name="Object 4"/>
            <p:cNvGraphicFramePr>
              <a:graphicFrameLocks noChangeAspect="1"/>
            </p:cNvGraphicFramePr>
            <p:nvPr/>
          </p:nvGraphicFramePr>
          <p:xfrm>
            <a:off x="1200" y="1104"/>
            <a:ext cx="1872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5880" name="Equation" r:id="rId3" imgW="1054080" imgH="241200" progId="">
                    <p:embed/>
                  </p:oleObj>
                </mc:Choice>
                <mc:Fallback>
                  <p:oleObj name="Equation" r:id="rId3" imgW="1054080" imgH="2412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04"/>
                          <a:ext cx="1872" cy="4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600" y="864"/>
              <a:ext cx="1968" cy="1488"/>
              <a:chOff x="3600" y="2592"/>
              <a:chExt cx="1968" cy="1488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744" y="3600"/>
                <a:ext cx="38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3888" y="3264"/>
                <a:ext cx="96" cy="336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08" name="Oval 8"/>
              <p:cNvSpPr>
                <a:spLocks noChangeArrowheads="1"/>
              </p:cNvSpPr>
              <p:nvPr/>
            </p:nvSpPr>
            <p:spPr bwMode="auto">
              <a:xfrm>
                <a:off x="3696" y="2880"/>
                <a:ext cx="480" cy="480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38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5136" y="3264"/>
                <a:ext cx="96" cy="336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11" name="Oval 11"/>
              <p:cNvSpPr>
                <a:spLocks noChangeArrowheads="1"/>
              </p:cNvSpPr>
              <p:nvPr/>
            </p:nvSpPr>
            <p:spPr bwMode="auto">
              <a:xfrm>
                <a:off x="4944" y="2880"/>
                <a:ext cx="480" cy="480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1920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179213" name="Object 13"/>
              <p:cNvGraphicFramePr>
                <a:graphicFrameLocks noChangeAspect="1"/>
              </p:cNvGraphicFramePr>
              <p:nvPr/>
            </p:nvGraphicFramePr>
            <p:xfrm>
              <a:off x="3837" y="2592"/>
              <a:ext cx="243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5881" name="Equation" r:id="rId5" imgW="152280" imgH="164880" progId="">
                      <p:embed/>
                    </p:oleObj>
                  </mc:Choice>
                  <mc:Fallback>
                    <p:oleObj name="Equation" r:id="rId5" imgW="152280" imgH="164880" progId="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7" y="2592"/>
                            <a:ext cx="243" cy="26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9214" name="Object 14"/>
              <p:cNvGraphicFramePr>
                <a:graphicFrameLocks noChangeAspect="1"/>
              </p:cNvGraphicFramePr>
              <p:nvPr/>
            </p:nvGraphicFramePr>
            <p:xfrm>
              <a:off x="5088" y="2592"/>
              <a:ext cx="244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5882" name="Equation" r:id="rId7" imgW="152280" imgH="164880" progId="">
                      <p:embed/>
                    </p:oleObj>
                  </mc:Choice>
                  <mc:Fallback>
                    <p:oleObj name="Equation" r:id="rId7" imgW="152280" imgH="164880" progId="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2592"/>
                            <a:ext cx="244" cy="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9215" name="Text Box 15"/>
              <p:cNvSpPr txBox="1">
                <a:spLocks noChangeArrowheads="1"/>
              </p:cNvSpPr>
              <p:nvPr/>
            </p:nvSpPr>
            <p:spPr bwMode="auto">
              <a:xfrm>
                <a:off x="3696" y="2880"/>
                <a:ext cx="5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+  +</a:t>
                </a:r>
              </a:p>
            </p:txBody>
          </p:sp>
          <p:sp>
            <p:nvSpPr>
              <p:cNvPr id="179216" name="Text Box 16"/>
              <p:cNvSpPr txBox="1">
                <a:spLocks noChangeArrowheads="1"/>
              </p:cNvSpPr>
              <p:nvPr/>
            </p:nvSpPr>
            <p:spPr bwMode="auto">
              <a:xfrm>
                <a:off x="3696" y="3033"/>
                <a:ext cx="5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0000"/>
                    </a:solidFill>
                  </a:rPr>
                  <a:t>+  +</a:t>
                </a:r>
              </a:p>
            </p:txBody>
          </p:sp>
          <p:sp>
            <p:nvSpPr>
              <p:cNvPr id="179217" name="Text Box 17"/>
              <p:cNvSpPr txBox="1">
                <a:spLocks noChangeArrowheads="1"/>
              </p:cNvSpPr>
              <p:nvPr/>
            </p:nvSpPr>
            <p:spPr bwMode="auto">
              <a:xfrm>
                <a:off x="4992" y="2809"/>
                <a:ext cx="576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 dirty="0">
                    <a:solidFill>
                      <a:srgbClr val="0000FF"/>
                    </a:solidFill>
                  </a:rPr>
                  <a:t>  -</a:t>
                </a:r>
              </a:p>
            </p:txBody>
          </p:sp>
          <p:sp>
            <p:nvSpPr>
              <p:cNvPr id="179218" name="Text Box 18"/>
              <p:cNvSpPr txBox="1">
                <a:spLocks noChangeArrowheads="1"/>
              </p:cNvSpPr>
              <p:nvPr/>
            </p:nvSpPr>
            <p:spPr bwMode="auto">
              <a:xfrm>
                <a:off x="4992" y="3001"/>
                <a:ext cx="576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 dirty="0">
                    <a:solidFill>
                      <a:srgbClr val="0000FF"/>
                    </a:solidFill>
                  </a:rPr>
                  <a:t>  -</a:t>
                </a:r>
              </a:p>
            </p:txBody>
          </p:sp>
          <p:sp>
            <p:nvSpPr>
              <p:cNvPr id="179219" name="Line 19"/>
              <p:cNvSpPr>
                <a:spLocks noChangeShapeType="1"/>
              </p:cNvSpPr>
              <p:nvPr/>
            </p:nvSpPr>
            <p:spPr bwMode="auto">
              <a:xfrm>
                <a:off x="3936" y="36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9220" name="Line 20"/>
              <p:cNvSpPr>
                <a:spLocks noChangeShapeType="1"/>
              </p:cNvSpPr>
              <p:nvPr/>
            </p:nvSpPr>
            <p:spPr bwMode="auto">
              <a:xfrm>
                <a:off x="5184" y="36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9221" name="Line 21"/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9222" name="Line 22"/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9223" name="Line 23"/>
              <p:cNvSpPr>
                <a:spLocks noChangeShapeType="1"/>
              </p:cNvSpPr>
              <p:nvPr/>
            </p:nvSpPr>
            <p:spPr bwMode="auto">
              <a:xfrm flipH="1">
                <a:off x="4176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179224" name="Line 24"/>
              <p:cNvSpPr>
                <a:spLocks noChangeShapeType="1"/>
              </p:cNvSpPr>
              <p:nvPr/>
            </p:nvSpPr>
            <p:spPr bwMode="auto">
              <a:xfrm>
                <a:off x="3936" y="3936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graphicFrame>
            <p:nvGraphicFramePr>
              <p:cNvPr id="179225" name="Object 25"/>
              <p:cNvGraphicFramePr>
                <a:graphicFrameLocks noChangeAspect="1"/>
              </p:cNvGraphicFramePr>
              <p:nvPr/>
            </p:nvGraphicFramePr>
            <p:xfrm>
              <a:off x="3936" y="3648"/>
              <a:ext cx="182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5883" name="Equation" r:id="rId9" imgW="114120" imgH="126720" progId="">
                      <p:embed/>
                    </p:oleObj>
                  </mc:Choice>
                  <mc:Fallback>
                    <p:oleObj name="Equation" r:id="rId9" imgW="114120" imgH="126720" progId="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3648"/>
                            <a:ext cx="182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9226" name="Object 26"/>
              <p:cNvGraphicFramePr>
                <a:graphicFrameLocks noChangeAspect="1"/>
              </p:cNvGraphicFramePr>
              <p:nvPr/>
            </p:nvGraphicFramePr>
            <p:xfrm>
              <a:off x="4444" y="3696"/>
              <a:ext cx="22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5884" name="Equation" r:id="rId11" imgW="139680" imgH="177480" progId="">
                      <p:embed/>
                    </p:oleObj>
                  </mc:Choice>
                  <mc:Fallback>
                    <p:oleObj name="Equation" r:id="rId11" imgW="139680" imgH="177480" progId="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" y="3696"/>
                            <a:ext cx="223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9227" name="Text Box 27"/>
          <p:cNvSpPr txBox="1">
            <a:spLocks noChangeArrowheads="1"/>
          </p:cNvSpPr>
          <p:nvPr/>
        </p:nvSpPr>
        <p:spPr bwMode="auto">
          <a:xfrm>
            <a:off x="228600" y="3276600"/>
            <a:ext cx="8382000" cy="175895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        </a:t>
            </a:r>
            <a:r>
              <a:rPr lang="zh-CN" altLang="en-US" sz="2800">
                <a:solidFill>
                  <a:srgbClr val="CC0000"/>
                </a:solidFill>
              </a:rPr>
              <a:t>解</a:t>
            </a:r>
            <a:r>
              <a:rPr lang="zh-CN" altLang="en-US" sz="2800">
                <a:solidFill>
                  <a:srgbClr val="1C1C1C"/>
                </a:solidFill>
              </a:rPr>
              <a:t>  设球形电极 </a:t>
            </a:r>
            <a:r>
              <a:rPr lang="en-US" altLang="zh-CN" sz="2800" i="1">
                <a:solidFill>
                  <a:srgbClr val="1C1C1C"/>
                </a:solidFill>
              </a:rPr>
              <a:t>A </a:t>
            </a:r>
            <a:r>
              <a:rPr lang="zh-CN" altLang="en-US" sz="2800">
                <a:solidFill>
                  <a:srgbClr val="1C1C1C"/>
                </a:solidFill>
              </a:rPr>
              <a:t>和 </a:t>
            </a:r>
            <a:r>
              <a:rPr lang="en-US" altLang="zh-CN" sz="2800" i="1">
                <a:solidFill>
                  <a:srgbClr val="1C1C1C"/>
                </a:solidFill>
              </a:rPr>
              <a:t>B </a:t>
            </a:r>
            <a:r>
              <a:rPr lang="zh-CN" altLang="en-US" sz="2800">
                <a:solidFill>
                  <a:srgbClr val="1C1C1C"/>
                </a:solidFill>
              </a:rPr>
              <a:t>各有 + </a:t>
            </a:r>
            <a:r>
              <a:rPr lang="en-US" altLang="zh-CN" sz="2800" i="1">
                <a:solidFill>
                  <a:srgbClr val="1C1C1C"/>
                </a:solidFill>
              </a:rPr>
              <a:t>Q </a:t>
            </a:r>
            <a:r>
              <a:rPr lang="zh-CN" altLang="en-US" sz="2800">
                <a:solidFill>
                  <a:srgbClr val="1C1C1C"/>
                </a:solidFill>
              </a:rPr>
              <a:t>和 – </a:t>
            </a:r>
            <a:r>
              <a:rPr lang="en-US" altLang="zh-CN" sz="2800" i="1">
                <a:solidFill>
                  <a:srgbClr val="1C1C1C"/>
                </a:solidFill>
              </a:rPr>
              <a:t>Q </a:t>
            </a:r>
            <a:r>
              <a:rPr lang="zh-CN" altLang="en-US" sz="2800">
                <a:solidFill>
                  <a:srgbClr val="1C1C1C"/>
                </a:solidFill>
              </a:rPr>
              <a:t>的电荷，忽略电极间的静电感应导致的电荷重新分布，且把球形电极表面上的电荷视为集中于球心.  则可得：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685800" y="4953000"/>
            <a:ext cx="7696200" cy="1219200"/>
            <a:chOff x="192" y="336"/>
            <a:chExt cx="4560" cy="691"/>
          </a:xfrm>
        </p:grpSpPr>
        <p:graphicFrame>
          <p:nvGraphicFramePr>
            <p:cNvPr id="179229" name="Object 29"/>
            <p:cNvGraphicFramePr>
              <a:graphicFrameLocks noChangeAspect="1"/>
            </p:cNvGraphicFramePr>
            <p:nvPr/>
          </p:nvGraphicFramePr>
          <p:xfrm>
            <a:off x="2504" y="336"/>
            <a:ext cx="2248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5885" name="Equation" r:id="rId13" imgW="1409400" imgH="431640" progId="">
                    <p:embed/>
                  </p:oleObj>
                </mc:Choice>
                <mc:Fallback>
                  <p:oleObj name="Equation" r:id="rId13" imgW="1409400" imgH="431640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336"/>
                          <a:ext cx="2248" cy="6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30" name="Rectangle 30"/>
            <p:cNvSpPr>
              <a:spLocks noChangeArrowheads="1"/>
            </p:cNvSpPr>
            <p:nvPr/>
          </p:nvSpPr>
          <p:spPr bwMode="auto">
            <a:xfrm>
              <a:off x="192" y="480"/>
              <a:ext cx="1942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电极</a:t>
              </a:r>
              <a:r>
                <a:rPr lang="en-US" altLang="zh-CN" sz="2800" i="1">
                  <a:solidFill>
                    <a:srgbClr val="1C1C1C"/>
                  </a:solidFill>
                </a:rPr>
                <a:t>A</a:t>
              </a:r>
              <a:r>
                <a:rPr lang="zh-CN" altLang="en-US" sz="2800">
                  <a:solidFill>
                    <a:srgbClr val="1C1C1C"/>
                  </a:solidFill>
                </a:rPr>
                <a:t>表面的电势为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1265238"/>
            <a:ext cx="7543800" cy="1096962"/>
            <a:chOff x="192" y="941"/>
            <a:chExt cx="4752" cy="691"/>
          </a:xfrm>
        </p:grpSpPr>
        <p:graphicFrame>
          <p:nvGraphicFramePr>
            <p:cNvPr id="174082" name="Object 2"/>
            <p:cNvGraphicFramePr>
              <a:graphicFrameLocks noChangeAspect="1"/>
            </p:cNvGraphicFramePr>
            <p:nvPr/>
          </p:nvGraphicFramePr>
          <p:xfrm>
            <a:off x="2554" y="941"/>
            <a:ext cx="2390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09" name="Equation" r:id="rId3" imgW="1498320" imgH="431640" progId="">
                    <p:embed/>
                  </p:oleObj>
                </mc:Choice>
                <mc:Fallback>
                  <p:oleObj name="Equation" r:id="rId3" imgW="1498320" imgH="43164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941"/>
                          <a:ext cx="2390" cy="6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083" name="Rectangle 3"/>
            <p:cNvSpPr>
              <a:spLocks noChangeArrowheads="1"/>
            </p:cNvSpPr>
            <p:nvPr/>
          </p:nvSpPr>
          <p:spPr bwMode="auto">
            <a:xfrm>
              <a:off x="192" y="1085"/>
              <a:ext cx="20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电极</a:t>
              </a:r>
              <a:r>
                <a:rPr lang="en-US" altLang="zh-CN" sz="2800" i="1">
                  <a:solidFill>
                    <a:srgbClr val="1C1C1C"/>
                  </a:solidFill>
                </a:rPr>
                <a:t>B</a:t>
              </a:r>
              <a:r>
                <a:rPr lang="zh-CN" altLang="en-US" sz="2800">
                  <a:solidFill>
                    <a:srgbClr val="1C1C1C"/>
                  </a:solidFill>
                </a:rPr>
                <a:t>表面的电势为</a:t>
              </a:r>
            </a:p>
          </p:txBody>
        </p:sp>
      </p:grp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304800" y="2209800"/>
            <a:ext cx="7620000" cy="1173163"/>
            <a:chOff x="192" y="1536"/>
            <a:chExt cx="4800" cy="739"/>
          </a:xfrm>
        </p:grpSpPr>
        <p:sp>
          <p:nvSpPr>
            <p:cNvPr id="174084" name="Rectangle 4"/>
            <p:cNvSpPr>
              <a:spLocks noChangeArrowheads="1"/>
            </p:cNvSpPr>
            <p:nvPr/>
          </p:nvSpPr>
          <p:spPr bwMode="auto">
            <a:xfrm>
              <a:off x="192" y="1668"/>
              <a:ext cx="213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两极间的电势差为</a:t>
              </a:r>
            </a:p>
          </p:txBody>
        </p:sp>
        <p:graphicFrame>
          <p:nvGraphicFramePr>
            <p:cNvPr id="174085" name="Object 5"/>
            <p:cNvGraphicFramePr>
              <a:graphicFrameLocks noChangeAspect="1"/>
            </p:cNvGraphicFramePr>
            <p:nvPr/>
          </p:nvGraphicFramePr>
          <p:xfrm>
            <a:off x="2680" y="1536"/>
            <a:ext cx="2312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0" name="Equation" r:id="rId5" imgW="1434960" imgH="431640" progId="">
                    <p:embed/>
                  </p:oleObj>
                </mc:Choice>
                <mc:Fallback>
                  <p:oleObj name="Equation" r:id="rId5" imgW="1434960" imgH="43164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0" y="1536"/>
                          <a:ext cx="2312" cy="7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04800" y="304800"/>
            <a:ext cx="7391400" cy="1096963"/>
            <a:chOff x="192" y="336"/>
            <a:chExt cx="4560" cy="691"/>
          </a:xfrm>
        </p:grpSpPr>
        <p:graphicFrame>
          <p:nvGraphicFramePr>
            <p:cNvPr id="174086" name="Object 6"/>
            <p:cNvGraphicFramePr>
              <a:graphicFrameLocks noChangeAspect="1"/>
            </p:cNvGraphicFramePr>
            <p:nvPr/>
          </p:nvGraphicFramePr>
          <p:xfrm>
            <a:off x="2504" y="336"/>
            <a:ext cx="2248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1" name="Equation" r:id="rId7" imgW="1409400" imgH="431640" progId="">
                    <p:embed/>
                  </p:oleObj>
                </mc:Choice>
                <mc:Fallback>
                  <p:oleObj name="Equation" r:id="rId7" imgW="1409400" imgH="431640" progId="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336"/>
                          <a:ext cx="2248" cy="6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087" name="Rectangle 7"/>
            <p:cNvSpPr>
              <a:spLocks noChangeArrowheads="1"/>
            </p:cNvSpPr>
            <p:nvPr/>
          </p:nvSpPr>
          <p:spPr bwMode="auto">
            <a:xfrm>
              <a:off x="192" y="480"/>
              <a:ext cx="20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电极</a:t>
              </a:r>
              <a:r>
                <a:rPr lang="en-US" altLang="zh-CN" sz="2800" i="1">
                  <a:solidFill>
                    <a:srgbClr val="1C1C1C"/>
                  </a:solidFill>
                </a:rPr>
                <a:t>A</a:t>
              </a:r>
              <a:r>
                <a:rPr lang="zh-CN" altLang="en-US" sz="2800">
                  <a:solidFill>
                    <a:srgbClr val="1C1C1C"/>
                  </a:solidFill>
                </a:rPr>
                <a:t>表面的电势为</a:t>
              </a: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304800" y="3200400"/>
            <a:ext cx="5791200" cy="1600200"/>
            <a:chOff x="192" y="2160"/>
            <a:chExt cx="3648" cy="1008"/>
          </a:xfrm>
        </p:grpSpPr>
        <p:sp>
          <p:nvSpPr>
            <p:cNvPr id="174088" name="Text Box 8"/>
            <p:cNvSpPr txBox="1">
              <a:spLocks noChangeArrowheads="1"/>
            </p:cNvSpPr>
            <p:nvPr/>
          </p:nvSpPr>
          <p:spPr bwMode="auto">
            <a:xfrm>
              <a:off x="192" y="2160"/>
              <a:ext cx="36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球形电极表面附近处的电场强度为</a:t>
              </a:r>
            </a:p>
          </p:txBody>
        </p:sp>
        <p:graphicFrame>
          <p:nvGraphicFramePr>
            <p:cNvPr id="174089" name="Object 9"/>
            <p:cNvGraphicFramePr>
              <a:graphicFrameLocks noChangeAspect="1"/>
            </p:cNvGraphicFramePr>
            <p:nvPr/>
          </p:nvGraphicFramePr>
          <p:xfrm>
            <a:off x="864" y="2477"/>
            <a:ext cx="2491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2" name="Equation" r:id="rId9" imgW="1562040" imgH="431640" progId="">
                    <p:embed/>
                  </p:oleObj>
                </mc:Choice>
                <mc:Fallback>
                  <p:oleObj name="Equation" r:id="rId9" imgW="1562040" imgH="431640" progId="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77"/>
                          <a:ext cx="2491" cy="6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228600" y="4699000"/>
            <a:ext cx="5867400" cy="669925"/>
            <a:chOff x="144" y="3104"/>
            <a:chExt cx="3696" cy="422"/>
          </a:xfrm>
        </p:grpSpPr>
        <p:sp>
          <p:nvSpPr>
            <p:cNvPr id="174090" name="Text Box 10"/>
            <p:cNvSpPr txBox="1">
              <a:spLocks noChangeArrowheads="1"/>
            </p:cNvSpPr>
            <p:nvPr/>
          </p:nvSpPr>
          <p:spPr bwMode="auto">
            <a:xfrm>
              <a:off x="144" y="3129"/>
              <a:ext cx="369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</a:rPr>
                <a:t>击穿场强                ，此时                    </a:t>
              </a:r>
            </a:p>
          </p:txBody>
        </p:sp>
        <p:graphicFrame>
          <p:nvGraphicFramePr>
            <p:cNvPr id="174091" name="Object 11"/>
            <p:cNvGraphicFramePr>
              <a:graphicFrameLocks noChangeAspect="1"/>
            </p:cNvGraphicFramePr>
            <p:nvPr/>
          </p:nvGraphicFramePr>
          <p:xfrm>
            <a:off x="1152" y="3104"/>
            <a:ext cx="864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3" name="Equation" r:id="rId11" imgW="495000" imgH="228600" progId="">
                    <p:embed/>
                  </p:oleObj>
                </mc:Choice>
                <mc:Fallback>
                  <p:oleObj name="Equation" r:id="rId11" imgW="495000" imgH="228600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104"/>
                          <a:ext cx="864" cy="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092" name="Object 12"/>
            <p:cNvGraphicFramePr>
              <a:graphicFrameLocks noChangeAspect="1"/>
            </p:cNvGraphicFramePr>
            <p:nvPr/>
          </p:nvGraphicFramePr>
          <p:xfrm>
            <a:off x="2688" y="3120"/>
            <a:ext cx="1056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4" name="Equation" r:id="rId13" imgW="596880" imgH="228600" progId="">
                    <p:embed/>
                  </p:oleObj>
                </mc:Choice>
                <mc:Fallback>
                  <p:oleObj name="Equation" r:id="rId13" imgW="596880" imgH="22860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120"/>
                          <a:ext cx="1056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6248400" y="3352800"/>
            <a:ext cx="2667000" cy="1905000"/>
            <a:chOff x="3936" y="2208"/>
            <a:chExt cx="1680" cy="1200"/>
          </a:xfrm>
        </p:grpSpPr>
        <p:sp>
          <p:nvSpPr>
            <p:cNvPr id="174101" name="Rectangle 21"/>
            <p:cNvSpPr>
              <a:spLocks noChangeArrowheads="1"/>
            </p:cNvSpPr>
            <p:nvPr/>
          </p:nvSpPr>
          <p:spPr bwMode="auto">
            <a:xfrm>
              <a:off x="4058" y="3021"/>
              <a:ext cx="327" cy="39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2" name="Rectangle 22"/>
            <p:cNvSpPr>
              <a:spLocks noChangeArrowheads="1"/>
            </p:cNvSpPr>
            <p:nvPr/>
          </p:nvSpPr>
          <p:spPr bwMode="auto">
            <a:xfrm>
              <a:off x="4181" y="2750"/>
              <a:ext cx="81" cy="271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3" name="Oval 23"/>
            <p:cNvSpPr>
              <a:spLocks noChangeArrowheads="1"/>
            </p:cNvSpPr>
            <p:nvPr/>
          </p:nvSpPr>
          <p:spPr bwMode="auto">
            <a:xfrm>
              <a:off x="4018" y="2440"/>
              <a:ext cx="408" cy="38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4" name="Rectangle 24"/>
            <p:cNvSpPr>
              <a:spLocks noChangeArrowheads="1"/>
            </p:cNvSpPr>
            <p:nvPr/>
          </p:nvSpPr>
          <p:spPr bwMode="auto">
            <a:xfrm>
              <a:off x="5119" y="3021"/>
              <a:ext cx="327" cy="39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5" name="Rectangle 25"/>
            <p:cNvSpPr>
              <a:spLocks noChangeArrowheads="1"/>
            </p:cNvSpPr>
            <p:nvPr/>
          </p:nvSpPr>
          <p:spPr bwMode="auto">
            <a:xfrm>
              <a:off x="5242" y="2750"/>
              <a:ext cx="81" cy="271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6" name="Oval 26"/>
            <p:cNvSpPr>
              <a:spLocks noChangeArrowheads="1"/>
            </p:cNvSpPr>
            <p:nvPr/>
          </p:nvSpPr>
          <p:spPr bwMode="auto">
            <a:xfrm>
              <a:off x="5078" y="2440"/>
              <a:ext cx="408" cy="38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4107" name="Rectangle 27"/>
            <p:cNvSpPr>
              <a:spLocks noChangeArrowheads="1"/>
            </p:cNvSpPr>
            <p:nvPr/>
          </p:nvSpPr>
          <p:spPr bwMode="auto">
            <a:xfrm>
              <a:off x="3936" y="2208"/>
              <a:ext cx="1632" cy="1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4108" name="Object 28"/>
            <p:cNvGraphicFramePr>
              <a:graphicFrameLocks noChangeAspect="1"/>
            </p:cNvGraphicFramePr>
            <p:nvPr/>
          </p:nvGraphicFramePr>
          <p:xfrm>
            <a:off x="4137" y="2208"/>
            <a:ext cx="207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5" name="Equation" r:id="rId15" imgW="152280" imgH="164880" progId="">
                    <p:embed/>
                  </p:oleObj>
                </mc:Choice>
                <mc:Fallback>
                  <p:oleObj name="Equation" r:id="rId15" imgW="152280" imgH="164880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7" y="2208"/>
                          <a:ext cx="207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09" name="Object 29"/>
            <p:cNvGraphicFramePr>
              <a:graphicFrameLocks noChangeAspect="1"/>
            </p:cNvGraphicFramePr>
            <p:nvPr/>
          </p:nvGraphicFramePr>
          <p:xfrm>
            <a:off x="5201" y="2208"/>
            <a:ext cx="20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6" name="Equation" r:id="rId17" imgW="152280" imgH="164880" progId="">
                    <p:embed/>
                  </p:oleObj>
                </mc:Choice>
                <mc:Fallback>
                  <p:oleObj name="Equation" r:id="rId17" imgW="152280" imgH="164880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1" y="2208"/>
                          <a:ext cx="207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10" name="Text Box 30"/>
            <p:cNvSpPr txBox="1">
              <a:spLocks noChangeArrowheads="1"/>
            </p:cNvSpPr>
            <p:nvPr/>
          </p:nvSpPr>
          <p:spPr bwMode="auto">
            <a:xfrm>
              <a:off x="4018" y="2400"/>
              <a:ext cx="4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 +</a:t>
              </a:r>
            </a:p>
          </p:txBody>
        </p:sp>
        <p:sp>
          <p:nvSpPr>
            <p:cNvPr id="174111" name="Text Box 31"/>
            <p:cNvSpPr txBox="1">
              <a:spLocks noChangeArrowheads="1"/>
            </p:cNvSpPr>
            <p:nvPr/>
          </p:nvSpPr>
          <p:spPr bwMode="auto">
            <a:xfrm>
              <a:off x="4023" y="2544"/>
              <a:ext cx="4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+ +</a:t>
              </a:r>
            </a:p>
          </p:txBody>
        </p:sp>
        <p:grpSp>
          <p:nvGrpSpPr>
            <p:cNvPr id="8" name="Group 47"/>
            <p:cNvGrpSpPr>
              <a:grpSpLocks/>
            </p:cNvGrpSpPr>
            <p:nvPr/>
          </p:nvGrpSpPr>
          <p:grpSpPr bwMode="auto">
            <a:xfrm>
              <a:off x="5126" y="2352"/>
              <a:ext cx="490" cy="576"/>
              <a:chOff x="5308" y="1008"/>
              <a:chExt cx="490" cy="576"/>
            </a:xfrm>
          </p:grpSpPr>
          <p:sp>
            <p:nvSpPr>
              <p:cNvPr id="174112" name="Text Box 32"/>
              <p:cNvSpPr txBox="1">
                <a:spLocks noChangeArrowheads="1"/>
              </p:cNvSpPr>
              <p:nvPr/>
            </p:nvSpPr>
            <p:spPr bwMode="auto">
              <a:xfrm>
                <a:off x="5308" y="1177"/>
                <a:ext cx="49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 dirty="0">
                    <a:solidFill>
                      <a:srgbClr val="0000FF"/>
                    </a:solidFill>
                  </a:rPr>
                  <a:t> -</a:t>
                </a:r>
              </a:p>
            </p:txBody>
          </p:sp>
          <p:sp>
            <p:nvSpPr>
              <p:cNvPr id="174113" name="Text Box 33"/>
              <p:cNvSpPr txBox="1">
                <a:spLocks noChangeArrowheads="1"/>
              </p:cNvSpPr>
              <p:nvPr/>
            </p:nvSpPr>
            <p:spPr bwMode="auto">
              <a:xfrm>
                <a:off x="5308" y="1008"/>
                <a:ext cx="49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Char char="-"/>
                </a:pPr>
                <a:r>
                  <a:rPr lang="zh-CN" altLang="en-US" sz="3600" dirty="0">
                    <a:solidFill>
                      <a:srgbClr val="0000FF"/>
                    </a:solidFill>
                  </a:rPr>
                  <a:t> -</a:t>
                </a:r>
              </a:p>
            </p:txBody>
          </p:sp>
        </p:grpSp>
        <p:sp>
          <p:nvSpPr>
            <p:cNvPr id="174114" name="Line 34"/>
            <p:cNvSpPr>
              <a:spLocks noChangeShapeType="1"/>
            </p:cNvSpPr>
            <p:nvPr/>
          </p:nvSpPr>
          <p:spPr bwMode="auto">
            <a:xfrm>
              <a:off x="4222" y="3060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4115" name="Line 35"/>
            <p:cNvSpPr>
              <a:spLocks noChangeShapeType="1"/>
            </p:cNvSpPr>
            <p:nvPr/>
          </p:nvSpPr>
          <p:spPr bwMode="auto">
            <a:xfrm>
              <a:off x="5282" y="3060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4116" name="Line 36"/>
            <p:cNvSpPr>
              <a:spLocks noChangeShapeType="1"/>
            </p:cNvSpPr>
            <p:nvPr/>
          </p:nvSpPr>
          <p:spPr bwMode="auto">
            <a:xfrm>
              <a:off x="4426" y="2595"/>
              <a:ext cx="0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4117" name="Line 37"/>
            <p:cNvSpPr>
              <a:spLocks noChangeShapeType="1"/>
            </p:cNvSpPr>
            <p:nvPr/>
          </p:nvSpPr>
          <p:spPr bwMode="auto">
            <a:xfrm>
              <a:off x="4058" y="3137"/>
              <a:ext cx="1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4118" name="Line 38"/>
            <p:cNvSpPr>
              <a:spLocks noChangeShapeType="1"/>
            </p:cNvSpPr>
            <p:nvPr/>
          </p:nvSpPr>
          <p:spPr bwMode="auto">
            <a:xfrm flipH="1">
              <a:off x="4426" y="3137"/>
              <a:ext cx="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4119" name="Line 39"/>
            <p:cNvSpPr>
              <a:spLocks noChangeShapeType="1"/>
            </p:cNvSpPr>
            <p:nvPr/>
          </p:nvSpPr>
          <p:spPr bwMode="auto">
            <a:xfrm>
              <a:off x="4222" y="3292"/>
              <a:ext cx="10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4120" name="Object 40"/>
            <p:cNvGraphicFramePr>
              <a:graphicFrameLocks noChangeAspect="1"/>
            </p:cNvGraphicFramePr>
            <p:nvPr/>
          </p:nvGraphicFramePr>
          <p:xfrm>
            <a:off x="4222" y="3060"/>
            <a:ext cx="15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7" name="Equation" r:id="rId19" imgW="114120" imgH="126720" progId="">
                    <p:embed/>
                  </p:oleObj>
                </mc:Choice>
                <mc:Fallback>
                  <p:oleObj name="Equation" r:id="rId19" imgW="114120" imgH="126720" progId="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2" y="3060"/>
                          <a:ext cx="154" cy="1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21" name="Object 41"/>
            <p:cNvGraphicFramePr>
              <a:graphicFrameLocks noChangeAspect="1"/>
            </p:cNvGraphicFramePr>
            <p:nvPr/>
          </p:nvGraphicFramePr>
          <p:xfrm>
            <a:off x="4653" y="3098"/>
            <a:ext cx="190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8" name="Equation" r:id="rId21" imgW="139680" imgH="177480" progId="">
                    <p:embed/>
                  </p:oleObj>
                </mc:Choice>
                <mc:Fallback>
                  <p:oleObj name="Equation" r:id="rId21" imgW="139680" imgH="177480" progId="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" y="3098"/>
                          <a:ext cx="190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228600" y="5257800"/>
            <a:ext cx="8534400" cy="1143000"/>
            <a:chOff x="144" y="3456"/>
            <a:chExt cx="5280" cy="685"/>
          </a:xfrm>
        </p:grpSpPr>
        <p:graphicFrame>
          <p:nvGraphicFramePr>
            <p:cNvPr id="174099" name="Object 19"/>
            <p:cNvGraphicFramePr>
              <a:graphicFrameLocks noChangeAspect="1"/>
            </p:cNvGraphicFramePr>
            <p:nvPr/>
          </p:nvGraphicFramePr>
          <p:xfrm>
            <a:off x="768" y="3456"/>
            <a:ext cx="4656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19" name="Equation" r:id="rId23" imgW="2933640" imgH="431640" progId="Equation.3">
                    <p:embed/>
                  </p:oleObj>
                </mc:Choice>
                <mc:Fallback>
                  <p:oleObj name="Equation" r:id="rId23" imgW="2933640" imgH="431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456"/>
                          <a:ext cx="4656" cy="6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24" name="Rectangle 44"/>
            <p:cNvSpPr>
              <a:spLocks noChangeArrowheads="1"/>
            </p:cNvSpPr>
            <p:nvPr/>
          </p:nvSpPr>
          <p:spPr bwMode="auto">
            <a:xfrm>
              <a:off x="144" y="3552"/>
              <a:ext cx="91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800">
                  <a:solidFill>
                    <a:srgbClr val="1C1C1C"/>
                  </a:solidFill>
                </a:rPr>
                <a:t>可得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464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solidFill>
                  <a:srgbClr val="C00000"/>
                </a:solidFill>
                <a:latin typeface="宋体" charset="-122"/>
              </a:rPr>
              <a:t>二 　电容器的串联和并联</a:t>
            </a:r>
            <a:endParaRPr lang="zh-CN" altLang="en-US" sz="2800" b="1" dirty="0">
              <a:solidFill>
                <a:srgbClr val="C00000"/>
              </a:solidFill>
              <a:latin typeface="宋体" charset="-122"/>
            </a:endParaRPr>
          </a:p>
        </p:txBody>
      </p:sp>
      <p:sp>
        <p:nvSpPr>
          <p:cNvPr id="175107" name="Rectangle 3"/>
          <p:cNvSpPr>
            <a:spLocks noChangeArrowheads="1"/>
          </p:cNvSpPr>
          <p:nvPr/>
        </p:nvSpPr>
        <p:spPr bwMode="auto">
          <a:xfrm>
            <a:off x="533400" y="1157288"/>
            <a:ext cx="403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>
                <a:solidFill>
                  <a:srgbClr val="CC0000"/>
                </a:solidFill>
              </a:rPr>
              <a:t>１</a:t>
            </a:r>
            <a:r>
              <a:rPr lang="zh-CN" altLang="zh-CN" sz="2800">
                <a:solidFill>
                  <a:schemeClr val="tx1"/>
                </a:solidFill>
              </a:rPr>
              <a:t>　电容器的并联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aphicFrame>
        <p:nvGraphicFramePr>
          <p:cNvPr id="175108" name="Object 4"/>
          <p:cNvGraphicFramePr>
            <a:graphicFrameLocks noChangeAspect="1"/>
          </p:cNvGraphicFramePr>
          <p:nvPr/>
        </p:nvGraphicFramePr>
        <p:xfrm>
          <a:off x="1143000" y="2590800"/>
          <a:ext cx="22860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30" name="公式" r:id="rId3" imgW="736560" imgH="215640" progId="Equation.3">
                  <p:embed/>
                </p:oleObj>
              </mc:Choice>
              <mc:Fallback>
                <p:oleObj name="公式" r:id="rId3" imgW="7365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90800"/>
                        <a:ext cx="2286000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533400" y="3429000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２</a:t>
            </a:r>
            <a:r>
              <a:rPr lang="zh-CN" altLang="en-US" sz="2800">
                <a:solidFill>
                  <a:schemeClr val="tx1"/>
                </a:solidFill>
              </a:rPr>
              <a:t>　电容器的串联</a:t>
            </a:r>
          </a:p>
        </p:txBody>
      </p:sp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914400" y="4876800"/>
          <a:ext cx="27432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31" name="Equation" r:id="rId5" imgW="838080" imgH="431640" progId="Equation.3">
                  <p:embed/>
                </p:oleObj>
              </mc:Choice>
              <mc:Fallback>
                <p:oleObj name="Equation" r:id="rId5" imgW="8380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2743200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191000" y="1066800"/>
            <a:ext cx="4572000" cy="2971800"/>
            <a:chOff x="2640" y="912"/>
            <a:chExt cx="2880" cy="1872"/>
          </a:xfrm>
        </p:grpSpPr>
        <p:sp>
          <p:nvSpPr>
            <p:cNvPr id="175112" name="Rectangle 8"/>
            <p:cNvSpPr>
              <a:spLocks noChangeArrowheads="1"/>
            </p:cNvSpPr>
            <p:nvPr/>
          </p:nvSpPr>
          <p:spPr bwMode="auto">
            <a:xfrm>
              <a:off x="2640" y="912"/>
              <a:ext cx="288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13" name="Line 9"/>
            <p:cNvSpPr>
              <a:spLocks noChangeShapeType="1"/>
            </p:cNvSpPr>
            <p:nvPr/>
          </p:nvSpPr>
          <p:spPr bwMode="auto">
            <a:xfrm>
              <a:off x="4128" y="1248"/>
              <a:ext cx="0" cy="3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14" name="Line 10"/>
            <p:cNvSpPr>
              <a:spLocks noChangeShapeType="1"/>
            </p:cNvSpPr>
            <p:nvPr/>
          </p:nvSpPr>
          <p:spPr bwMode="auto">
            <a:xfrm>
              <a:off x="4495" y="1872"/>
              <a:ext cx="49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5115" name="Object 11"/>
            <p:cNvGraphicFramePr>
              <a:graphicFrameLocks noChangeAspect="1"/>
            </p:cNvGraphicFramePr>
            <p:nvPr/>
          </p:nvGraphicFramePr>
          <p:xfrm>
            <a:off x="4155" y="912"/>
            <a:ext cx="357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2" name="公式" r:id="rId7" imgW="177480" imgH="215640" progId="Equation.3">
                    <p:embed/>
                  </p:oleObj>
                </mc:Choice>
                <mc:Fallback>
                  <p:oleObj name="公式" r:id="rId7" imgW="177480" imgH="215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912"/>
                          <a:ext cx="357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16" name="Object 12"/>
            <p:cNvGraphicFramePr>
              <a:graphicFrameLocks noChangeAspect="1"/>
            </p:cNvGraphicFramePr>
            <p:nvPr/>
          </p:nvGraphicFramePr>
          <p:xfrm>
            <a:off x="4176" y="2256"/>
            <a:ext cx="34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3" name="公式" r:id="rId9" imgW="190440" imgH="215640" progId="Equation.3">
                    <p:embed/>
                  </p:oleObj>
                </mc:Choice>
                <mc:Fallback>
                  <p:oleObj name="公式" r:id="rId9" imgW="19044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256"/>
                          <a:ext cx="344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17" name="Freeform 13"/>
            <p:cNvSpPr>
              <a:spLocks/>
            </p:cNvSpPr>
            <p:nvPr/>
          </p:nvSpPr>
          <p:spPr bwMode="auto">
            <a:xfrm>
              <a:off x="4128" y="1440"/>
              <a:ext cx="38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384" y="768"/>
                </a:cxn>
                <a:cxn ang="0">
                  <a:pos x="0" y="768"/>
                </a:cxn>
              </a:cxnLst>
              <a:rect l="0" t="0" r="r" b="b"/>
              <a:pathLst>
                <a:path w="384" h="768">
                  <a:moveTo>
                    <a:pt x="0" y="0"/>
                  </a:moveTo>
                  <a:lnTo>
                    <a:pt x="384" y="0"/>
                  </a:lnTo>
                  <a:lnTo>
                    <a:pt x="384" y="768"/>
                  </a:lnTo>
                  <a:lnTo>
                    <a:pt x="0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5118" name="Line 14"/>
            <p:cNvSpPr>
              <a:spLocks noChangeShapeType="1"/>
            </p:cNvSpPr>
            <p:nvPr/>
          </p:nvSpPr>
          <p:spPr bwMode="auto">
            <a:xfrm>
              <a:off x="4128" y="2048"/>
              <a:ext cx="0" cy="3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19" name="Line 15"/>
            <p:cNvSpPr>
              <a:spLocks noChangeShapeType="1"/>
            </p:cNvSpPr>
            <p:nvPr/>
          </p:nvSpPr>
          <p:spPr bwMode="auto">
            <a:xfrm>
              <a:off x="3055" y="1872"/>
              <a:ext cx="49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20" name="Freeform 16"/>
            <p:cNvSpPr>
              <a:spLocks/>
            </p:cNvSpPr>
            <p:nvPr/>
          </p:nvSpPr>
          <p:spPr bwMode="auto">
            <a:xfrm flipH="1">
              <a:off x="3552" y="1440"/>
              <a:ext cx="432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384" y="768"/>
                </a:cxn>
                <a:cxn ang="0">
                  <a:pos x="0" y="768"/>
                </a:cxn>
              </a:cxnLst>
              <a:rect l="0" t="0" r="r" b="b"/>
              <a:pathLst>
                <a:path w="384" h="768">
                  <a:moveTo>
                    <a:pt x="0" y="0"/>
                  </a:moveTo>
                  <a:lnTo>
                    <a:pt x="384" y="0"/>
                  </a:lnTo>
                  <a:lnTo>
                    <a:pt x="384" y="768"/>
                  </a:lnTo>
                  <a:lnTo>
                    <a:pt x="0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5121" name="Oval 17"/>
            <p:cNvSpPr>
              <a:spLocks noChangeArrowheads="1"/>
            </p:cNvSpPr>
            <p:nvPr/>
          </p:nvSpPr>
          <p:spPr bwMode="auto">
            <a:xfrm>
              <a:off x="2976" y="18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22" name="Oval 18"/>
            <p:cNvSpPr>
              <a:spLocks noChangeArrowheads="1"/>
            </p:cNvSpPr>
            <p:nvPr/>
          </p:nvSpPr>
          <p:spPr bwMode="auto">
            <a:xfrm>
              <a:off x="4992" y="1824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23" name="Text Box 19"/>
            <p:cNvSpPr txBox="1">
              <a:spLocks noChangeArrowheads="1"/>
            </p:cNvSpPr>
            <p:nvPr/>
          </p:nvSpPr>
          <p:spPr bwMode="auto">
            <a:xfrm>
              <a:off x="2640" y="1680"/>
              <a:ext cx="4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  <a:ea typeface="黑体" pitchFamily="2" charset="-122"/>
                </a:rPr>
                <a:t>＋</a:t>
              </a:r>
            </a:p>
          </p:txBody>
        </p:sp>
        <p:graphicFrame>
          <p:nvGraphicFramePr>
            <p:cNvPr id="175124" name="Object 20"/>
            <p:cNvGraphicFramePr>
              <a:graphicFrameLocks noChangeAspect="1"/>
            </p:cNvGraphicFramePr>
            <p:nvPr/>
          </p:nvGraphicFramePr>
          <p:xfrm>
            <a:off x="5096" y="1772"/>
            <a:ext cx="328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4" name="Equation" r:id="rId11" imgW="126720" imgH="75960" progId="Equation.3">
                    <p:embed/>
                  </p:oleObj>
                </mc:Choice>
                <mc:Fallback>
                  <p:oleObj name="Equation" r:id="rId11" imgW="126720" imgH="759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6" y="1772"/>
                          <a:ext cx="328" cy="1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25" name="Line 21"/>
            <p:cNvSpPr>
              <a:spLocks noChangeShapeType="1"/>
            </p:cNvSpPr>
            <p:nvPr/>
          </p:nvSpPr>
          <p:spPr bwMode="auto">
            <a:xfrm>
              <a:off x="3984" y="1248"/>
              <a:ext cx="0" cy="3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26" name="Line 22"/>
            <p:cNvSpPr>
              <a:spLocks noChangeShapeType="1"/>
            </p:cNvSpPr>
            <p:nvPr/>
          </p:nvSpPr>
          <p:spPr bwMode="auto">
            <a:xfrm>
              <a:off x="3984" y="2048"/>
              <a:ext cx="0" cy="3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4191000" y="4191000"/>
            <a:ext cx="4572000" cy="1828800"/>
            <a:chOff x="2640" y="2880"/>
            <a:chExt cx="2880" cy="1152"/>
          </a:xfrm>
        </p:grpSpPr>
        <p:sp>
          <p:nvSpPr>
            <p:cNvPr id="175128" name="Rectangle 24"/>
            <p:cNvSpPr>
              <a:spLocks noChangeArrowheads="1"/>
            </p:cNvSpPr>
            <p:nvPr/>
          </p:nvSpPr>
          <p:spPr bwMode="auto">
            <a:xfrm>
              <a:off x="2640" y="2880"/>
              <a:ext cx="2880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29" name="Line 25"/>
            <p:cNvSpPr>
              <a:spLocks noChangeShapeType="1"/>
            </p:cNvSpPr>
            <p:nvPr/>
          </p:nvSpPr>
          <p:spPr bwMode="auto">
            <a:xfrm>
              <a:off x="3722" y="3140"/>
              <a:ext cx="0" cy="32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0" name="Line 26"/>
            <p:cNvSpPr>
              <a:spLocks noChangeShapeType="1"/>
            </p:cNvSpPr>
            <p:nvPr/>
          </p:nvSpPr>
          <p:spPr bwMode="auto">
            <a:xfrm>
              <a:off x="3825" y="3140"/>
              <a:ext cx="0" cy="32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1" name="Freeform 27"/>
            <p:cNvSpPr>
              <a:spLocks/>
            </p:cNvSpPr>
            <p:nvPr/>
          </p:nvSpPr>
          <p:spPr bwMode="auto">
            <a:xfrm>
              <a:off x="3120" y="3310"/>
              <a:ext cx="600" cy="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00" y="2"/>
                </a:cxn>
              </a:cxnLst>
              <a:rect l="0" t="0" r="r" b="b"/>
              <a:pathLst>
                <a:path w="600" h="2">
                  <a:moveTo>
                    <a:pt x="0" y="0"/>
                  </a:moveTo>
                  <a:lnTo>
                    <a:pt x="600" y="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5132" name="Object 28"/>
            <p:cNvGraphicFramePr>
              <a:graphicFrameLocks noChangeAspect="1"/>
            </p:cNvGraphicFramePr>
            <p:nvPr/>
          </p:nvGraphicFramePr>
          <p:xfrm>
            <a:off x="3484" y="3452"/>
            <a:ext cx="404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5" name="公式" r:id="rId13" imgW="177480" imgH="215640" progId="Equation.3">
                    <p:embed/>
                  </p:oleObj>
                </mc:Choice>
                <mc:Fallback>
                  <p:oleObj name="公式" r:id="rId13" imgW="177480" imgH="2156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" y="3452"/>
                          <a:ext cx="404" cy="4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33" name="Line 29"/>
            <p:cNvSpPr>
              <a:spLocks noChangeShapeType="1"/>
            </p:cNvSpPr>
            <p:nvPr/>
          </p:nvSpPr>
          <p:spPr bwMode="auto">
            <a:xfrm>
              <a:off x="4409" y="3140"/>
              <a:ext cx="0" cy="32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4" name="Line 30"/>
            <p:cNvSpPr>
              <a:spLocks noChangeShapeType="1"/>
            </p:cNvSpPr>
            <p:nvPr/>
          </p:nvSpPr>
          <p:spPr bwMode="auto">
            <a:xfrm>
              <a:off x="4512" y="3140"/>
              <a:ext cx="0" cy="32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5" name="Line 31"/>
            <p:cNvSpPr>
              <a:spLocks noChangeShapeType="1"/>
            </p:cNvSpPr>
            <p:nvPr/>
          </p:nvSpPr>
          <p:spPr bwMode="auto">
            <a:xfrm>
              <a:off x="4512" y="3302"/>
              <a:ext cx="506" cy="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5136" name="Object 32"/>
            <p:cNvGraphicFramePr>
              <a:graphicFrameLocks noChangeAspect="1"/>
            </p:cNvGraphicFramePr>
            <p:nvPr/>
          </p:nvGraphicFramePr>
          <p:xfrm>
            <a:off x="4410" y="3452"/>
            <a:ext cx="390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6" name="公式" r:id="rId15" imgW="190440" imgH="215640" progId="Equation.3">
                    <p:embed/>
                  </p:oleObj>
                </mc:Choice>
                <mc:Fallback>
                  <p:oleObj name="公式" r:id="rId15" imgW="190440" imgH="21564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" y="3452"/>
                          <a:ext cx="390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37" name="Oval 33"/>
            <p:cNvSpPr>
              <a:spLocks noChangeArrowheads="1"/>
            </p:cNvSpPr>
            <p:nvPr/>
          </p:nvSpPr>
          <p:spPr bwMode="auto">
            <a:xfrm>
              <a:off x="3024" y="326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8" name="Oval 34"/>
            <p:cNvSpPr>
              <a:spLocks noChangeArrowheads="1"/>
            </p:cNvSpPr>
            <p:nvPr/>
          </p:nvSpPr>
          <p:spPr bwMode="auto">
            <a:xfrm>
              <a:off x="5016" y="326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5139" name="Text Box 35"/>
            <p:cNvSpPr txBox="1">
              <a:spLocks noChangeArrowheads="1"/>
            </p:cNvSpPr>
            <p:nvPr/>
          </p:nvSpPr>
          <p:spPr bwMode="auto">
            <a:xfrm>
              <a:off x="2688" y="3116"/>
              <a:ext cx="4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1C1C1C"/>
                  </a:solidFill>
                  <a:ea typeface="黑体" pitchFamily="2" charset="-122"/>
                </a:rPr>
                <a:t>＋</a:t>
              </a:r>
            </a:p>
          </p:txBody>
        </p:sp>
        <p:graphicFrame>
          <p:nvGraphicFramePr>
            <p:cNvPr id="175140" name="Object 36"/>
            <p:cNvGraphicFramePr>
              <a:graphicFrameLocks noChangeAspect="1"/>
            </p:cNvGraphicFramePr>
            <p:nvPr/>
          </p:nvGraphicFramePr>
          <p:xfrm>
            <a:off x="5096" y="3208"/>
            <a:ext cx="328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937" name="Equation" r:id="rId17" imgW="126720" imgH="75960" progId="Equation.3">
                    <p:embed/>
                  </p:oleObj>
                </mc:Choice>
                <mc:Fallback>
                  <p:oleObj name="Equation" r:id="rId17" imgW="126720" imgH="7596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6" y="3208"/>
                          <a:ext cx="328" cy="1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141" name="Freeform 37"/>
            <p:cNvSpPr>
              <a:spLocks/>
            </p:cNvSpPr>
            <p:nvPr/>
          </p:nvSpPr>
          <p:spPr bwMode="auto">
            <a:xfrm>
              <a:off x="3840" y="3312"/>
              <a:ext cx="568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68" y="0"/>
                </a:cxn>
              </a:cxnLst>
              <a:rect l="0" t="0" r="r" b="b"/>
              <a:pathLst>
                <a:path w="568" h="2">
                  <a:moveTo>
                    <a:pt x="0" y="2"/>
                  </a:moveTo>
                  <a:lnTo>
                    <a:pt x="568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75142" name="Text Box 38"/>
          <p:cNvSpPr txBox="1">
            <a:spLocks noChangeArrowheads="1"/>
          </p:cNvSpPr>
          <p:nvPr/>
        </p:nvSpPr>
        <p:spPr bwMode="auto">
          <a:xfrm>
            <a:off x="533400" y="1905000"/>
            <a:ext cx="35052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两电容电位差相同</a:t>
            </a:r>
          </a:p>
        </p:txBody>
      </p:sp>
      <p:sp>
        <p:nvSpPr>
          <p:cNvPr id="175143" name="Text Box 39"/>
          <p:cNvSpPr txBox="1">
            <a:spLocks noChangeArrowheads="1"/>
          </p:cNvSpPr>
          <p:nvPr/>
        </p:nvSpPr>
        <p:spPr bwMode="auto">
          <a:xfrm>
            <a:off x="457200" y="4191000"/>
            <a:ext cx="35052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两电容所带电荷相同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utoUpdateAnimBg="0"/>
      <p:bldP spid="175109" grpId="0" autoUpdateAnimBg="0"/>
      <p:bldP spid="175142" grpId="0" animBg="1" autoUpdateAnimBg="0"/>
      <p:bldP spid="17514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81000" y="953869"/>
            <a:ext cx="3352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endParaRPr lang="en-US" altLang="zh-CN" sz="36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14400" y="2186428"/>
            <a:ext cx="7772400" cy="147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zh-CN" altLang="en-US" sz="2800" dirty="0"/>
              <a:t> </a:t>
            </a:r>
            <a:r>
              <a:rPr kumimoji="1" lang="en-US" altLang="zh-CN" sz="2800" dirty="0"/>
              <a:t>10-4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10-5</a:t>
            </a:r>
            <a:r>
              <a:rPr kumimoji="1" lang="zh-CN" altLang="en-US" sz="2800" dirty="0"/>
              <a:t>；</a:t>
            </a:r>
            <a:endParaRPr kumimoji="1" lang="en-US" altLang="zh-CN" sz="2800" dirty="0"/>
          </a:p>
          <a:p>
            <a:pPr marL="514350" indent="-514350">
              <a:lnSpc>
                <a:spcPct val="135000"/>
              </a:lnSpc>
              <a:spcBef>
                <a:spcPct val="50000"/>
              </a:spcBef>
              <a:buFont typeface="+mj-lt"/>
              <a:buAutoNum type="arabicPeriod"/>
            </a:pPr>
            <a:r>
              <a:rPr kumimoji="1" lang="en-US" altLang="zh-CN" sz="2800" dirty="0"/>
              <a:t> 10-16</a:t>
            </a:r>
            <a:r>
              <a:rPr kumimoji="1" lang="zh-CN" altLang="en-US" sz="2800" dirty="0"/>
              <a:t>。</a:t>
            </a:r>
            <a:endParaRPr kumimoji="1" lang="en-US" altLang="zh-CN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76800" y="1752600"/>
            <a:ext cx="3962400" cy="2743200"/>
            <a:chOff x="3072" y="1104"/>
            <a:chExt cx="2496" cy="1728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072" y="1104"/>
              <a:ext cx="2496" cy="1728"/>
              <a:chOff x="3072" y="1104"/>
              <a:chExt cx="2496" cy="1728"/>
            </a:xfrm>
          </p:grpSpPr>
          <p:sp>
            <p:nvSpPr>
              <p:cNvPr id="176132" name="Rectangle 4"/>
              <p:cNvSpPr>
                <a:spLocks noChangeArrowheads="1"/>
              </p:cNvSpPr>
              <p:nvPr/>
            </p:nvSpPr>
            <p:spPr bwMode="auto">
              <a:xfrm>
                <a:off x="3072" y="1104"/>
                <a:ext cx="2496" cy="172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6133" name="Rectangle 5" descr="20%"/>
              <p:cNvSpPr>
                <a:spLocks noChangeArrowheads="1"/>
              </p:cNvSpPr>
              <p:nvPr/>
            </p:nvSpPr>
            <p:spPr bwMode="auto">
              <a:xfrm>
                <a:off x="3504" y="1632"/>
                <a:ext cx="1507" cy="624"/>
              </a:xfrm>
              <a:prstGeom prst="rect">
                <a:avLst/>
              </a:prstGeom>
              <a:pattFill prst="pct20">
                <a:fgClr>
                  <a:srgbClr val="996633"/>
                </a:fgClr>
                <a:bgClr>
                  <a:srgbClr val="FFFFE1"/>
                </a:bgClr>
              </a:pattFill>
              <a:ln w="19050">
                <a:solidFill>
                  <a:srgbClr val="CCCC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6134" name="Rectangle 6"/>
              <p:cNvSpPr>
                <a:spLocks noChangeArrowheads="1"/>
              </p:cNvSpPr>
              <p:nvPr/>
            </p:nvSpPr>
            <p:spPr bwMode="auto">
              <a:xfrm>
                <a:off x="3504" y="1248"/>
                <a:ext cx="1514" cy="384"/>
              </a:xfrm>
              <a:prstGeom prst="rect">
                <a:avLst/>
              </a:prstGeom>
              <a:gradFill rotWithShape="0">
                <a:gsLst>
                  <a:gs pos="0">
                    <a:schemeClr val="bg1">
                      <a:gamma/>
                      <a:shade val="66275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6135" name="Rectangle 7"/>
              <p:cNvSpPr>
                <a:spLocks noChangeArrowheads="1"/>
              </p:cNvSpPr>
              <p:nvPr/>
            </p:nvSpPr>
            <p:spPr bwMode="auto">
              <a:xfrm>
                <a:off x="3504" y="2256"/>
                <a:ext cx="1507" cy="3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275"/>
                      <a:invGamma/>
                    </a:schemeClr>
                  </a:gs>
                </a:gsLst>
                <a:lin ang="5400000" scaled="1"/>
              </a:gra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6136" name="Rectangle 8"/>
              <p:cNvSpPr>
                <a:spLocks noChangeArrowheads="1"/>
              </p:cNvSpPr>
              <p:nvPr/>
            </p:nvSpPr>
            <p:spPr bwMode="auto">
              <a:xfrm>
                <a:off x="3504" y="1392"/>
                <a:ext cx="159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CC0000"/>
                    </a:solidFill>
                  </a:rPr>
                  <a:t>+ + + + + + + + +</a:t>
                </a:r>
              </a:p>
            </p:txBody>
          </p:sp>
          <p:sp>
            <p:nvSpPr>
              <p:cNvPr id="176137" name="Rectangle 9"/>
              <p:cNvSpPr>
                <a:spLocks noChangeArrowheads="1"/>
              </p:cNvSpPr>
              <p:nvPr/>
            </p:nvSpPr>
            <p:spPr bwMode="auto">
              <a:xfrm>
                <a:off x="3504" y="2064"/>
                <a:ext cx="1589" cy="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4000" dirty="0">
                    <a:solidFill>
                      <a:srgbClr val="0000FF"/>
                    </a:solidFill>
                  </a:rPr>
                  <a:t>- - - - - - - - -</a:t>
                </a:r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3648" y="1776"/>
                <a:ext cx="1248" cy="432"/>
                <a:chOff x="3772" y="1104"/>
                <a:chExt cx="1008" cy="1008"/>
              </a:xfrm>
            </p:grpSpPr>
            <p:sp>
              <p:nvSpPr>
                <p:cNvPr id="176139" name="Line 11"/>
                <p:cNvSpPr>
                  <a:spLocks noChangeShapeType="1"/>
                </p:cNvSpPr>
                <p:nvPr/>
              </p:nvSpPr>
              <p:spPr bwMode="auto">
                <a:xfrm>
                  <a:off x="3772" y="110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76140" name="Line 12"/>
                <p:cNvSpPr>
                  <a:spLocks noChangeShapeType="1"/>
                </p:cNvSpPr>
                <p:nvPr/>
              </p:nvSpPr>
              <p:spPr bwMode="auto">
                <a:xfrm>
                  <a:off x="4108" y="110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76141" name="Line 13"/>
                <p:cNvSpPr>
                  <a:spLocks noChangeShapeType="1"/>
                </p:cNvSpPr>
                <p:nvPr/>
              </p:nvSpPr>
              <p:spPr bwMode="auto">
                <a:xfrm>
                  <a:off x="4444" y="110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  <p:sp>
              <p:nvSpPr>
                <p:cNvPr id="176142" name="Line 14"/>
                <p:cNvSpPr>
                  <a:spLocks noChangeShapeType="1"/>
                </p:cNvSpPr>
                <p:nvPr/>
              </p:nvSpPr>
              <p:spPr bwMode="auto">
                <a:xfrm>
                  <a:off x="4780" y="1104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/>
                <a:lstStyle/>
                <a:p>
                  <a:endParaRPr lang="zh-CN" altLang="en-US" sz="2800"/>
                </a:p>
              </p:txBody>
            </p:sp>
          </p:grpSp>
        </p:grpSp>
        <p:graphicFrame>
          <p:nvGraphicFramePr>
            <p:cNvPr id="176143" name="Object 15"/>
            <p:cNvGraphicFramePr>
              <a:graphicFrameLocks noChangeAspect="1"/>
            </p:cNvGraphicFramePr>
            <p:nvPr/>
          </p:nvGraphicFramePr>
          <p:xfrm>
            <a:off x="4128" y="1728"/>
            <a:ext cx="34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55" name="Equation" r:id="rId3" imgW="152280" imgH="190440" progId="Equation.3">
                    <p:embed/>
                  </p:oleObj>
                </mc:Choice>
                <mc:Fallback>
                  <p:oleObj name="Equation" r:id="rId3" imgW="152280" imgH="1904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728"/>
                          <a:ext cx="34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6144" name="Object 16"/>
          <p:cNvGraphicFramePr>
            <a:graphicFrameLocks noChangeAspect="1"/>
          </p:cNvGraphicFramePr>
          <p:nvPr/>
        </p:nvGraphicFramePr>
        <p:xfrm>
          <a:off x="3644900" y="2209800"/>
          <a:ext cx="10033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56" name="公式" r:id="rId5" imgW="571320" imgH="634680" progId="Equation.3">
                  <p:embed/>
                </p:oleObj>
              </mc:Choice>
              <mc:Fallback>
                <p:oleObj name="公式" r:id="rId5" imgW="571320" imgH="634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2209800"/>
                        <a:ext cx="1003300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5" name="Text Box 17"/>
          <p:cNvSpPr txBox="1">
            <a:spLocks noChangeArrowheads="1"/>
          </p:cNvSpPr>
          <p:nvPr/>
        </p:nvSpPr>
        <p:spPr bwMode="auto">
          <a:xfrm>
            <a:off x="228600" y="990600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一　 电容器的电能</a:t>
            </a:r>
          </a:p>
        </p:txBody>
      </p:sp>
      <p:graphicFrame>
        <p:nvGraphicFramePr>
          <p:cNvPr id="176146" name="Object 18"/>
          <p:cNvGraphicFramePr>
            <a:graphicFrameLocks noChangeAspect="1"/>
          </p:cNvGraphicFramePr>
          <p:nvPr/>
        </p:nvGraphicFramePr>
        <p:xfrm>
          <a:off x="457200" y="1295400"/>
          <a:ext cx="36576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57" name="Equation" r:id="rId7" imgW="1130040" imgH="393480" progId="Equation.3">
                  <p:embed/>
                </p:oleObj>
              </mc:Choice>
              <mc:Fallback>
                <p:oleObj name="Equation" r:id="rId7" imgW="1130040" imgH="393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3657600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1" name="Object 23"/>
          <p:cNvGraphicFramePr>
            <a:graphicFrameLocks noChangeAspect="1"/>
          </p:cNvGraphicFramePr>
          <p:nvPr/>
        </p:nvGraphicFramePr>
        <p:xfrm>
          <a:off x="457200" y="2209800"/>
          <a:ext cx="31242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58" name="Equation" r:id="rId9" imgW="876240" imgH="393480" progId="Equation.3">
                  <p:embed/>
                </p:oleObj>
              </mc:Choice>
              <mc:Fallback>
                <p:oleObj name="Equation" r:id="rId9" imgW="876240" imgH="393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09800"/>
                        <a:ext cx="3124200" cy="1211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2" name="Object 24"/>
          <p:cNvGraphicFramePr>
            <a:graphicFrameLocks noChangeAspect="1"/>
          </p:cNvGraphicFramePr>
          <p:nvPr/>
        </p:nvGraphicFramePr>
        <p:xfrm>
          <a:off x="533400" y="4186238"/>
          <a:ext cx="3481388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59" name="公式" r:id="rId11" imgW="1981080" imgH="609480" progId="Equation.3">
                  <p:embed/>
                </p:oleObj>
              </mc:Choice>
              <mc:Fallback>
                <p:oleObj name="公式" r:id="rId11" imgW="1981080" imgH="609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86238"/>
                        <a:ext cx="3481388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953000" y="2590800"/>
            <a:ext cx="609600" cy="990600"/>
            <a:chOff x="3120" y="1632"/>
            <a:chExt cx="384" cy="624"/>
          </a:xfrm>
        </p:grpSpPr>
        <p:sp>
          <p:nvSpPr>
            <p:cNvPr id="176154" name="Line 26"/>
            <p:cNvSpPr>
              <a:spLocks noChangeShapeType="1"/>
            </p:cNvSpPr>
            <p:nvPr/>
          </p:nvSpPr>
          <p:spPr bwMode="auto">
            <a:xfrm>
              <a:off x="3168" y="1632"/>
              <a:ext cx="336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6155" name="Line 27"/>
            <p:cNvSpPr>
              <a:spLocks noChangeShapeType="1"/>
            </p:cNvSpPr>
            <p:nvPr/>
          </p:nvSpPr>
          <p:spPr bwMode="auto">
            <a:xfrm flipV="1">
              <a:off x="3168" y="2256"/>
              <a:ext cx="336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6156" name="Line 28"/>
            <p:cNvSpPr>
              <a:spLocks noChangeShapeType="1"/>
            </p:cNvSpPr>
            <p:nvPr/>
          </p:nvSpPr>
          <p:spPr bwMode="auto">
            <a:xfrm>
              <a:off x="3408" y="1632"/>
              <a:ext cx="0" cy="624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6157" name="Object 29"/>
            <p:cNvGraphicFramePr>
              <a:graphicFrameLocks noChangeAspect="1"/>
            </p:cNvGraphicFramePr>
            <p:nvPr/>
          </p:nvGraphicFramePr>
          <p:xfrm>
            <a:off x="3120" y="182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60" name="Equation" r:id="rId13" imgW="241200" imgH="241200" progId="Equation.3">
                    <p:embed/>
                  </p:oleObj>
                </mc:Choice>
                <mc:Fallback>
                  <p:oleObj name="Equation" r:id="rId13" imgW="241200" imgH="2412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824"/>
                          <a:ext cx="2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7966075" y="2362200"/>
            <a:ext cx="796925" cy="1447800"/>
            <a:chOff x="5018" y="1488"/>
            <a:chExt cx="502" cy="912"/>
          </a:xfrm>
        </p:grpSpPr>
        <p:sp>
          <p:nvSpPr>
            <p:cNvPr id="176159" name="Freeform 31"/>
            <p:cNvSpPr>
              <a:spLocks/>
            </p:cNvSpPr>
            <p:nvPr/>
          </p:nvSpPr>
          <p:spPr bwMode="auto">
            <a:xfrm>
              <a:off x="5018" y="1488"/>
              <a:ext cx="214" cy="912"/>
            </a:xfrm>
            <a:custGeom>
              <a:avLst/>
              <a:gdLst/>
              <a:ahLst/>
              <a:cxnLst>
                <a:cxn ang="0">
                  <a:pos x="0" y="1008"/>
                </a:cxn>
                <a:cxn ang="0">
                  <a:pos x="176" y="632"/>
                </a:cxn>
                <a:cxn ang="0">
                  <a:pos x="206" y="384"/>
                </a:cxn>
                <a:cxn ang="0">
                  <a:pos x="126" y="186"/>
                </a:cxn>
                <a:cxn ang="0">
                  <a:pos x="0" y="0"/>
                </a:cxn>
              </a:cxnLst>
              <a:rect l="0" t="0" r="r" b="b"/>
              <a:pathLst>
                <a:path w="214" h="1008">
                  <a:moveTo>
                    <a:pt x="0" y="1008"/>
                  </a:moveTo>
                  <a:cubicBezTo>
                    <a:pt x="29" y="945"/>
                    <a:pt x="142" y="736"/>
                    <a:pt x="176" y="632"/>
                  </a:cubicBezTo>
                  <a:cubicBezTo>
                    <a:pt x="210" y="528"/>
                    <a:pt x="214" y="458"/>
                    <a:pt x="206" y="384"/>
                  </a:cubicBezTo>
                  <a:cubicBezTo>
                    <a:pt x="198" y="310"/>
                    <a:pt x="160" y="250"/>
                    <a:pt x="126" y="186"/>
                  </a:cubicBezTo>
                  <a:cubicBezTo>
                    <a:pt x="92" y="122"/>
                    <a:pt x="26" y="39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6160" name="Object 32"/>
            <p:cNvGraphicFramePr>
              <a:graphicFrameLocks noChangeAspect="1"/>
            </p:cNvGraphicFramePr>
            <p:nvPr/>
          </p:nvGraphicFramePr>
          <p:xfrm>
            <a:off x="5184" y="206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61" name="Equation" r:id="rId15" imgW="304560" imgH="304560" progId="Equation.3">
                    <p:embed/>
                  </p:oleObj>
                </mc:Choice>
                <mc:Fallback>
                  <p:oleObj name="Equation" r:id="rId15" imgW="304560" imgH="30456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064"/>
                          <a:ext cx="33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33"/>
            <p:cNvGrpSpPr>
              <a:grpSpLocks/>
            </p:cNvGrpSpPr>
            <p:nvPr/>
          </p:nvGrpSpPr>
          <p:grpSpPr bwMode="auto">
            <a:xfrm>
              <a:off x="5102" y="1680"/>
              <a:ext cx="226" cy="330"/>
              <a:chOff x="5198" y="1200"/>
              <a:chExt cx="226" cy="330"/>
            </a:xfrm>
          </p:grpSpPr>
          <p:sp>
            <p:nvSpPr>
              <p:cNvPr id="176162" name="Oval 34"/>
              <p:cNvSpPr>
                <a:spLocks noChangeArrowheads="1"/>
              </p:cNvSpPr>
              <p:nvPr/>
            </p:nvSpPr>
            <p:spPr bwMode="auto">
              <a:xfrm>
                <a:off x="5232" y="1287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FFCCCC">
                      <a:gamma/>
                      <a:tint val="0"/>
                      <a:invGamma/>
                    </a:srgbClr>
                  </a:gs>
                  <a:gs pos="100000">
                    <a:srgbClr val="FFCCCC"/>
                  </a:gs>
                </a:gsLst>
                <a:path path="shape">
                  <a:fillToRect l="50000" t="50000" r="50000" b="50000"/>
                </a:path>
              </a:gra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176163" name="Text Box 35"/>
              <p:cNvSpPr txBox="1">
                <a:spLocks noChangeArrowheads="1"/>
              </p:cNvSpPr>
              <p:nvPr/>
            </p:nvSpPr>
            <p:spPr bwMode="auto">
              <a:xfrm>
                <a:off x="5198" y="1200"/>
                <a:ext cx="22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+</a:t>
                </a:r>
              </a:p>
            </p:txBody>
          </p:sp>
        </p:grpSp>
      </p:grpSp>
      <p:graphicFrame>
        <p:nvGraphicFramePr>
          <p:cNvPr id="176164" name="Object 36"/>
          <p:cNvGraphicFramePr>
            <a:graphicFrameLocks noChangeAspect="1"/>
          </p:cNvGraphicFramePr>
          <p:nvPr/>
        </p:nvGraphicFramePr>
        <p:xfrm>
          <a:off x="1752600" y="3338513"/>
          <a:ext cx="12192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2" name="Equation" r:id="rId17" imgW="444240" imgH="393480" progId="Equation.3">
                  <p:embed/>
                </p:oleObj>
              </mc:Choice>
              <mc:Fallback>
                <p:oleObj name="Equation" r:id="rId17" imgW="444240" imgH="3934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338513"/>
                        <a:ext cx="1219200" cy="108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33400" y="5257800"/>
            <a:ext cx="8153400" cy="1143000"/>
            <a:chOff x="336" y="3312"/>
            <a:chExt cx="5136" cy="720"/>
          </a:xfrm>
        </p:grpSpPr>
        <p:sp>
          <p:nvSpPr>
            <p:cNvPr id="176148" name="Rectangle 20"/>
            <p:cNvSpPr>
              <a:spLocks noChangeArrowheads="1"/>
            </p:cNvSpPr>
            <p:nvPr/>
          </p:nvSpPr>
          <p:spPr bwMode="auto">
            <a:xfrm>
              <a:off x="336" y="3312"/>
              <a:ext cx="5136" cy="72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graphicFrame>
          <p:nvGraphicFramePr>
            <p:cNvPr id="176149" name="Object 21"/>
            <p:cNvGraphicFramePr>
              <a:graphicFrameLocks noChangeAspect="1"/>
            </p:cNvGraphicFramePr>
            <p:nvPr/>
          </p:nvGraphicFramePr>
          <p:xfrm>
            <a:off x="2561" y="3325"/>
            <a:ext cx="2767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63" name="Equation" r:id="rId19" imgW="1638000" imgH="419040" progId="Equation.3">
                    <p:embed/>
                  </p:oleObj>
                </mc:Choice>
                <mc:Fallback>
                  <p:oleObj name="Equation" r:id="rId19" imgW="1638000" imgH="4190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3325"/>
                          <a:ext cx="2767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150" name="Rectangle 22"/>
            <p:cNvSpPr>
              <a:spLocks noChangeArrowheads="1"/>
            </p:cNvSpPr>
            <p:nvPr/>
          </p:nvSpPr>
          <p:spPr bwMode="auto">
            <a:xfrm>
              <a:off x="480" y="3408"/>
              <a:ext cx="2154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电容器贮存的电能</a:t>
              </a:r>
            </a:p>
          </p:txBody>
        </p:sp>
        <p:sp>
          <p:nvSpPr>
            <p:cNvPr id="176165" name="Text Box 37"/>
            <p:cNvSpPr txBox="1">
              <a:spLocks noChangeArrowheads="1"/>
            </p:cNvSpPr>
            <p:nvPr/>
          </p:nvSpPr>
          <p:spPr bwMode="auto">
            <a:xfrm>
              <a:off x="336" y="3696"/>
              <a:ext cx="22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/>
                <a:t>（任何形状电容器）</a:t>
              </a:r>
            </a:p>
          </p:txBody>
        </p:sp>
      </p:grp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-76200" y="304800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-5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静电场的能量 能量密度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7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7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7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7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609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 charset="-122"/>
              </a:rPr>
              <a:t>二  静电场的能量 　能量密度</a:t>
            </a:r>
          </a:p>
        </p:txBody>
      </p:sp>
      <p:graphicFrame>
        <p:nvGraphicFramePr>
          <p:cNvPr id="177155" name="Object 3"/>
          <p:cNvGraphicFramePr>
            <a:graphicFrameLocks noChangeAspect="1"/>
          </p:cNvGraphicFramePr>
          <p:nvPr/>
        </p:nvGraphicFramePr>
        <p:xfrm>
          <a:off x="1219200" y="1006475"/>
          <a:ext cx="22098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76" name="Equation" r:id="rId3" imgW="761760" imgH="393480" progId="Equation.3">
                  <p:embed/>
                </p:oleObj>
              </mc:Choice>
              <mc:Fallback>
                <p:oleObj name="Equation" r:id="rId3" imgW="76176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006475"/>
                        <a:ext cx="2209800" cy="1089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6" name="Text Box 4"/>
          <p:cNvSpPr txBox="1">
            <a:spLocks noChangeArrowheads="1"/>
          </p:cNvSpPr>
          <p:nvPr/>
        </p:nvSpPr>
        <p:spPr bwMode="auto">
          <a:xfrm>
            <a:off x="1371600" y="3595688"/>
            <a:ext cx="7543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latin typeface="宋体" charset="-122"/>
              </a:rPr>
              <a:t>物理意义　</a:t>
            </a:r>
            <a:r>
              <a:rPr lang="zh-CN" altLang="en-US" sz="2800">
                <a:solidFill>
                  <a:schemeClr val="tx1"/>
                </a:solidFill>
                <a:latin typeface="宋体" charset="-122"/>
              </a:rPr>
              <a:t>电场是一种物质，它具有能量.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19200" y="4343400"/>
            <a:ext cx="6934200" cy="1828800"/>
            <a:chOff x="768" y="2928"/>
            <a:chExt cx="4368" cy="1152"/>
          </a:xfrm>
        </p:grpSpPr>
        <p:sp>
          <p:nvSpPr>
            <p:cNvPr id="177158" name="Rectangle 6"/>
            <p:cNvSpPr>
              <a:spLocks noChangeArrowheads="1"/>
            </p:cNvSpPr>
            <p:nvPr/>
          </p:nvSpPr>
          <p:spPr bwMode="auto">
            <a:xfrm>
              <a:off x="768" y="2928"/>
              <a:ext cx="4368" cy="1152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7159" name="Text Box 7"/>
            <p:cNvSpPr txBox="1">
              <a:spLocks noChangeArrowheads="1"/>
            </p:cNvSpPr>
            <p:nvPr/>
          </p:nvSpPr>
          <p:spPr bwMode="auto">
            <a:xfrm>
              <a:off x="1776" y="2985"/>
              <a:ext cx="312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  <a:latin typeface="宋体" charset="-122"/>
                </a:rPr>
                <a:t>电场空间所存储的能量 </a:t>
              </a:r>
            </a:p>
          </p:txBody>
        </p:sp>
        <p:graphicFrame>
          <p:nvGraphicFramePr>
            <p:cNvPr id="177160" name="Object 8"/>
            <p:cNvGraphicFramePr>
              <a:graphicFrameLocks noChangeAspect="1"/>
            </p:cNvGraphicFramePr>
            <p:nvPr/>
          </p:nvGraphicFramePr>
          <p:xfrm>
            <a:off x="1319" y="3326"/>
            <a:ext cx="3503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977" name="Equation" r:id="rId5" imgW="1650960" imgH="393480" progId="Equation.3">
                    <p:embed/>
                  </p:oleObj>
                </mc:Choice>
                <mc:Fallback>
                  <p:oleObj name="Equation" r:id="rId5" imgW="1650960" imgH="3934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3326"/>
                          <a:ext cx="3503" cy="7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219200" y="2209800"/>
            <a:ext cx="6934200" cy="1219200"/>
            <a:chOff x="768" y="1584"/>
            <a:chExt cx="4368" cy="768"/>
          </a:xfrm>
        </p:grpSpPr>
        <p:sp>
          <p:nvSpPr>
            <p:cNvPr id="177162" name="Rectangle 10"/>
            <p:cNvSpPr>
              <a:spLocks noChangeArrowheads="1"/>
            </p:cNvSpPr>
            <p:nvPr/>
          </p:nvSpPr>
          <p:spPr bwMode="auto">
            <a:xfrm>
              <a:off x="768" y="1584"/>
              <a:ext cx="4368" cy="768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7163" name="Text Box 11"/>
            <p:cNvSpPr txBox="1">
              <a:spLocks noChangeArrowheads="1"/>
            </p:cNvSpPr>
            <p:nvPr/>
          </p:nvSpPr>
          <p:spPr bwMode="auto">
            <a:xfrm>
              <a:off x="816" y="1776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电场能量密度</a:t>
              </a:r>
            </a:p>
          </p:txBody>
        </p:sp>
        <p:graphicFrame>
          <p:nvGraphicFramePr>
            <p:cNvPr id="177164" name="Object 12"/>
            <p:cNvGraphicFramePr>
              <a:graphicFrameLocks noChangeAspect="1"/>
            </p:cNvGraphicFramePr>
            <p:nvPr/>
          </p:nvGraphicFramePr>
          <p:xfrm>
            <a:off x="2304" y="1584"/>
            <a:ext cx="2544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978" name="Equation" r:id="rId7" imgW="1193760" imgH="393480" progId="Equation.3">
                    <p:embed/>
                  </p:oleObj>
                </mc:Choice>
                <mc:Fallback>
                  <p:oleObj name="Equation" r:id="rId7" imgW="1193760" imgH="393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584"/>
                          <a:ext cx="2544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65" name="Object 13"/>
            <p:cNvGraphicFramePr>
              <a:graphicFrameLocks noChangeAspect="1"/>
            </p:cNvGraphicFramePr>
            <p:nvPr/>
          </p:nvGraphicFramePr>
          <p:xfrm>
            <a:off x="3180" y="2140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9979" name="公式" r:id="rId9" imgW="114120" imgH="215640" progId="Equation.3">
                    <p:embed/>
                  </p:oleObj>
                </mc:Choice>
                <mc:Fallback>
                  <p:oleObj name="公式" r:id="rId9" imgW="11412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2140"/>
                          <a:ext cx="71" cy="1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7166" name="Object 14"/>
          <p:cNvGraphicFramePr>
            <a:graphicFrameLocks noChangeAspect="1"/>
          </p:cNvGraphicFramePr>
          <p:nvPr/>
        </p:nvGraphicFramePr>
        <p:xfrm>
          <a:off x="3352800" y="990600"/>
          <a:ext cx="24384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80" name="Equation" r:id="rId11" imgW="1295280" imgH="609480" progId="Equation.3">
                  <p:embed/>
                </p:oleObj>
              </mc:Choice>
              <mc:Fallback>
                <p:oleObj name="Equation" r:id="rId11" imgW="1295280" imgH="609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990600"/>
                        <a:ext cx="2438400" cy="1068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7" name="Object 15"/>
          <p:cNvGraphicFramePr>
            <a:graphicFrameLocks noChangeAspect="1"/>
          </p:cNvGraphicFramePr>
          <p:nvPr/>
        </p:nvGraphicFramePr>
        <p:xfrm>
          <a:off x="5867400" y="990600"/>
          <a:ext cx="20574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81" name="公式" r:id="rId13" imgW="1066680" imgH="609480" progId="Equation.3">
                  <p:embed/>
                </p:oleObj>
              </mc:Choice>
              <mc:Fallback>
                <p:oleObj name="公式" r:id="rId13" imgW="1066680" imgH="609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990600"/>
                        <a:ext cx="2057400" cy="105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638800" y="2133600"/>
            <a:ext cx="3124200" cy="3124200"/>
            <a:chOff x="3600" y="1296"/>
            <a:chExt cx="1968" cy="1968"/>
          </a:xfrm>
        </p:grpSpPr>
        <p:sp>
          <p:nvSpPr>
            <p:cNvPr id="178179" name="Rectangle 3"/>
            <p:cNvSpPr>
              <a:spLocks noChangeArrowheads="1"/>
            </p:cNvSpPr>
            <p:nvPr/>
          </p:nvSpPr>
          <p:spPr bwMode="auto">
            <a:xfrm>
              <a:off x="3600" y="1296"/>
              <a:ext cx="1968" cy="19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8180" name="AutoShape 4" descr="浅色下对角线"/>
            <p:cNvSpPr>
              <a:spLocks noChangeArrowheads="1"/>
            </p:cNvSpPr>
            <p:nvPr/>
          </p:nvSpPr>
          <p:spPr bwMode="auto">
            <a:xfrm>
              <a:off x="3696" y="1392"/>
              <a:ext cx="1776" cy="1776"/>
            </a:xfrm>
            <a:custGeom>
              <a:avLst/>
              <a:gdLst>
                <a:gd name="G0" fmla="+- 792 0 0"/>
                <a:gd name="G1" fmla="+- 21600 0 792"/>
                <a:gd name="G2" fmla="+- 21600 0 792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792" y="10800"/>
                  </a:moveTo>
                  <a:cubicBezTo>
                    <a:pt x="792" y="16327"/>
                    <a:pt x="5273" y="20808"/>
                    <a:pt x="10800" y="20808"/>
                  </a:cubicBezTo>
                  <a:cubicBezTo>
                    <a:pt x="16327" y="20808"/>
                    <a:pt x="20808" y="16327"/>
                    <a:pt x="20808" y="10800"/>
                  </a:cubicBezTo>
                  <a:cubicBezTo>
                    <a:pt x="20808" y="5273"/>
                    <a:pt x="16327" y="792"/>
                    <a:pt x="10800" y="792"/>
                  </a:cubicBezTo>
                  <a:cubicBezTo>
                    <a:pt x="5273" y="792"/>
                    <a:pt x="792" y="5273"/>
                    <a:pt x="792" y="10800"/>
                  </a:cubicBezTo>
                  <a:close/>
                </a:path>
              </a:pathLst>
            </a:custGeom>
            <a:pattFill prst="ltDnDiag">
              <a:fgClr>
                <a:schemeClr val="tx1"/>
              </a:fgClr>
              <a:bgClr>
                <a:srgbClr val="F8F8F8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8181" name="AutoShape 5" descr="浅色下对角线"/>
            <p:cNvSpPr>
              <a:spLocks noChangeArrowheads="1"/>
            </p:cNvSpPr>
            <p:nvPr/>
          </p:nvSpPr>
          <p:spPr bwMode="auto">
            <a:xfrm>
              <a:off x="4272" y="2016"/>
              <a:ext cx="624" cy="624"/>
            </a:xfrm>
            <a:custGeom>
              <a:avLst/>
              <a:gdLst>
                <a:gd name="G0" fmla="+- 1710 0 0"/>
                <a:gd name="G1" fmla="+- 21600 0 1710"/>
                <a:gd name="G2" fmla="+- 21600 0 171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10" y="10800"/>
                  </a:moveTo>
                  <a:cubicBezTo>
                    <a:pt x="1710" y="15820"/>
                    <a:pt x="5780" y="19890"/>
                    <a:pt x="10800" y="19890"/>
                  </a:cubicBezTo>
                  <a:cubicBezTo>
                    <a:pt x="15820" y="19890"/>
                    <a:pt x="19890" y="15820"/>
                    <a:pt x="19890" y="10800"/>
                  </a:cubicBezTo>
                  <a:cubicBezTo>
                    <a:pt x="19890" y="5780"/>
                    <a:pt x="15820" y="1710"/>
                    <a:pt x="10800" y="1710"/>
                  </a:cubicBezTo>
                  <a:cubicBezTo>
                    <a:pt x="5780" y="1710"/>
                    <a:pt x="1710" y="5780"/>
                    <a:pt x="1710" y="10800"/>
                  </a:cubicBezTo>
                  <a:close/>
                </a:path>
              </a:pathLst>
            </a:custGeom>
            <a:pattFill prst="ltDnDiag">
              <a:fgClr>
                <a:schemeClr val="tx1"/>
              </a:fgClr>
              <a:bgClr>
                <a:srgbClr val="FFFFFF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8182" name="Freeform 6"/>
            <p:cNvSpPr>
              <a:spLocks/>
            </p:cNvSpPr>
            <p:nvPr/>
          </p:nvSpPr>
          <p:spPr bwMode="auto">
            <a:xfrm>
              <a:off x="4584" y="2340"/>
              <a:ext cx="696" cy="4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4" y="708"/>
                </a:cxn>
              </a:cxnLst>
              <a:rect l="0" t="0" r="r" b="b"/>
              <a:pathLst>
                <a:path w="414" h="708">
                  <a:moveTo>
                    <a:pt x="0" y="0"/>
                  </a:moveTo>
                  <a:lnTo>
                    <a:pt x="414" y="708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8183" name="Object 7"/>
            <p:cNvGraphicFramePr>
              <a:graphicFrameLocks noChangeAspect="1"/>
            </p:cNvGraphicFramePr>
            <p:nvPr/>
          </p:nvGraphicFramePr>
          <p:xfrm>
            <a:off x="4368" y="1632"/>
            <a:ext cx="33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06" name="Equation" r:id="rId3" imgW="177480" imgH="215640" progId="Equation.3">
                    <p:embed/>
                  </p:oleObj>
                </mc:Choice>
                <mc:Fallback>
                  <p:oleObj name="Equation" r:id="rId3" imgW="17748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632"/>
                          <a:ext cx="333" cy="4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4" name="Object 8"/>
            <p:cNvGraphicFramePr>
              <a:graphicFrameLocks noChangeAspect="1"/>
            </p:cNvGraphicFramePr>
            <p:nvPr/>
          </p:nvGraphicFramePr>
          <p:xfrm>
            <a:off x="5187" y="2784"/>
            <a:ext cx="38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07" name="Equation" r:id="rId5" imgW="190440" imgH="215640" progId="Equation.3">
                    <p:embed/>
                  </p:oleObj>
                </mc:Choice>
                <mc:Fallback>
                  <p:oleObj name="Equation" r:id="rId5" imgW="190440" imgH="215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" y="2784"/>
                          <a:ext cx="381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85" name="Freeform 9"/>
            <p:cNvSpPr>
              <a:spLocks/>
            </p:cNvSpPr>
            <p:nvPr/>
          </p:nvSpPr>
          <p:spPr bwMode="auto">
            <a:xfrm>
              <a:off x="4584" y="2040"/>
              <a:ext cx="1" cy="300"/>
            </a:xfrm>
            <a:custGeom>
              <a:avLst/>
              <a:gdLst/>
              <a:ahLst/>
              <a:cxnLst>
                <a:cxn ang="0">
                  <a:pos x="0" y="300"/>
                </a:cxn>
                <a:cxn ang="0">
                  <a:pos x="0" y="0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6200" y="381000"/>
            <a:ext cx="8991600" cy="1600200"/>
            <a:chOff x="96" y="336"/>
            <a:chExt cx="5664" cy="1008"/>
          </a:xfrm>
        </p:grpSpPr>
        <p:sp>
          <p:nvSpPr>
            <p:cNvPr id="178187" name="Text Box 11"/>
            <p:cNvSpPr txBox="1">
              <a:spLocks noChangeArrowheads="1"/>
            </p:cNvSpPr>
            <p:nvPr/>
          </p:nvSpPr>
          <p:spPr bwMode="auto">
            <a:xfrm>
              <a:off x="96" y="336"/>
              <a:ext cx="5664" cy="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1C1C1C"/>
                  </a:solidFill>
                  <a:latin typeface="宋体" charset="-122"/>
                </a:rPr>
                <a:t>　</a:t>
              </a:r>
              <a:r>
                <a:rPr lang="zh-CN" altLang="en-US" sz="2800" b="1" dirty="0">
                  <a:solidFill>
                    <a:srgbClr val="C00000"/>
                  </a:solidFill>
                  <a:latin typeface="宋体" charset="-122"/>
                </a:rPr>
                <a:t>　例 </a:t>
              </a:r>
              <a:r>
                <a:rPr lang="zh-CN" altLang="en-US" sz="2800" dirty="0">
                  <a:solidFill>
                    <a:srgbClr val="1C1C1C"/>
                  </a:solidFill>
                  <a:latin typeface="宋体" charset="-122"/>
                </a:rPr>
                <a:t>如图所示, 球形电容器的内、外半径分别为              和  　，所带电荷为 　　 ．若在两球壳间充以电容率为　  的电介质，问此电容器贮存的电场能量为多少？　</a:t>
              </a:r>
            </a:p>
          </p:txBody>
        </p:sp>
        <p:graphicFrame>
          <p:nvGraphicFramePr>
            <p:cNvPr id="178188" name="Object 12"/>
            <p:cNvGraphicFramePr>
              <a:graphicFrameLocks noChangeAspect="1"/>
            </p:cNvGraphicFramePr>
            <p:nvPr/>
          </p:nvGraphicFramePr>
          <p:xfrm>
            <a:off x="432" y="672"/>
            <a:ext cx="38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08" name="Equation" r:id="rId7" imgW="190440" imgH="215640" progId="Equation.3">
                    <p:embed/>
                  </p:oleObj>
                </mc:Choice>
                <mc:Fallback>
                  <p:oleObj name="Equation" r:id="rId7" imgW="19044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672"/>
                          <a:ext cx="381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9" name="Object 13"/>
            <p:cNvGraphicFramePr>
              <a:graphicFrameLocks noChangeAspect="1"/>
            </p:cNvGraphicFramePr>
            <p:nvPr/>
          </p:nvGraphicFramePr>
          <p:xfrm>
            <a:off x="5232" y="364"/>
            <a:ext cx="43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09" name="Equation" r:id="rId9" imgW="177480" imgH="215640" progId="Equation.3">
                    <p:embed/>
                  </p:oleObj>
                </mc:Choice>
                <mc:Fallback>
                  <p:oleObj name="Equation" r:id="rId9" imgW="17748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364"/>
                          <a:ext cx="432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0" name="Object 14"/>
            <p:cNvGraphicFramePr>
              <a:graphicFrameLocks noChangeAspect="1"/>
            </p:cNvGraphicFramePr>
            <p:nvPr/>
          </p:nvGraphicFramePr>
          <p:xfrm>
            <a:off x="2304" y="672"/>
            <a:ext cx="46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10" name="Equation" r:id="rId11" imgW="266400" imgH="203040" progId="Equation.3">
                    <p:embed/>
                  </p:oleObj>
                </mc:Choice>
                <mc:Fallback>
                  <p:oleObj name="Equation" r:id="rId11" imgW="26640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672"/>
                          <a:ext cx="468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1" name="Object 15"/>
            <p:cNvGraphicFramePr>
              <a:graphicFrameLocks noChangeAspect="1"/>
            </p:cNvGraphicFramePr>
            <p:nvPr/>
          </p:nvGraphicFramePr>
          <p:xfrm>
            <a:off x="409" y="1008"/>
            <a:ext cx="30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11" name="Equation" r:id="rId13" imgW="126720" imgH="139680" progId="Equation.3">
                    <p:embed/>
                  </p:oleObj>
                </mc:Choice>
                <mc:Fallback>
                  <p:oleObj name="Equation" r:id="rId13" imgW="126720" imgH="1396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" y="1008"/>
                          <a:ext cx="305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8192" name="Text Box 16"/>
          <p:cNvSpPr txBox="1">
            <a:spLocks noChangeArrowheads="1"/>
          </p:cNvSpPr>
          <p:nvPr/>
        </p:nvSpPr>
        <p:spPr bwMode="auto">
          <a:xfrm>
            <a:off x="838200" y="2209800"/>
            <a:ext cx="1066800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解</a:t>
            </a:r>
          </a:p>
        </p:txBody>
      </p:sp>
      <p:graphicFrame>
        <p:nvGraphicFramePr>
          <p:cNvPr id="178193" name="Object 17"/>
          <p:cNvGraphicFramePr>
            <a:graphicFrameLocks noChangeAspect="1"/>
          </p:cNvGraphicFramePr>
          <p:nvPr/>
        </p:nvGraphicFramePr>
        <p:xfrm>
          <a:off x="1600200" y="1981200"/>
          <a:ext cx="2627313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12" name="Equation" r:id="rId15" imgW="914400" imgH="393480" progId="Equation.3">
                  <p:embed/>
                </p:oleObj>
              </mc:Choice>
              <mc:Fallback>
                <p:oleObj name="Equation" r:id="rId15" imgW="914400" imgH="393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81200"/>
                        <a:ext cx="2627313" cy="1131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172200" y="2533650"/>
            <a:ext cx="2190750" cy="2190750"/>
            <a:chOff x="3936" y="1548"/>
            <a:chExt cx="1380" cy="1380"/>
          </a:xfrm>
        </p:grpSpPr>
        <p:sp>
          <p:nvSpPr>
            <p:cNvPr id="178195" name="AutoShape 19"/>
            <p:cNvSpPr>
              <a:spLocks noChangeArrowheads="1"/>
            </p:cNvSpPr>
            <p:nvPr/>
          </p:nvSpPr>
          <p:spPr bwMode="auto">
            <a:xfrm>
              <a:off x="3936" y="1584"/>
              <a:ext cx="1344" cy="1344"/>
            </a:xfrm>
            <a:custGeom>
              <a:avLst/>
              <a:gdLst>
                <a:gd name="G0" fmla="+- 932 0 0"/>
                <a:gd name="G1" fmla="+- 21600 0 932"/>
                <a:gd name="G2" fmla="+- 21600 0 932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932" y="10800"/>
                  </a:moveTo>
                  <a:cubicBezTo>
                    <a:pt x="932" y="16250"/>
                    <a:pt x="5350" y="20668"/>
                    <a:pt x="10800" y="20668"/>
                  </a:cubicBezTo>
                  <a:cubicBezTo>
                    <a:pt x="16250" y="20668"/>
                    <a:pt x="20668" y="16250"/>
                    <a:pt x="20668" y="10800"/>
                  </a:cubicBezTo>
                  <a:cubicBezTo>
                    <a:pt x="20668" y="5350"/>
                    <a:pt x="16250" y="932"/>
                    <a:pt x="10800" y="932"/>
                  </a:cubicBezTo>
                  <a:cubicBezTo>
                    <a:pt x="5350" y="932"/>
                    <a:pt x="932" y="5350"/>
                    <a:pt x="932" y="1080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FFCCCC"/>
                </a:gs>
              </a:gsLst>
              <a:path path="rect">
                <a:fillToRect l="50000" t="50000" r="50000" b="50000"/>
              </a:path>
            </a:gradFill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8196" name="Freeform 20"/>
            <p:cNvSpPr>
              <a:spLocks/>
            </p:cNvSpPr>
            <p:nvPr/>
          </p:nvSpPr>
          <p:spPr bwMode="auto">
            <a:xfrm>
              <a:off x="4164" y="2340"/>
              <a:ext cx="420" cy="396"/>
            </a:xfrm>
            <a:custGeom>
              <a:avLst/>
              <a:gdLst/>
              <a:ahLst/>
              <a:cxnLst>
                <a:cxn ang="0">
                  <a:pos x="420" y="0"/>
                </a:cxn>
                <a:cxn ang="0">
                  <a:pos x="0" y="396"/>
                </a:cxn>
              </a:cxnLst>
              <a:rect l="0" t="0" r="r" b="b"/>
              <a:pathLst>
                <a:path w="420" h="396">
                  <a:moveTo>
                    <a:pt x="420" y="0"/>
                  </a:moveTo>
                  <a:lnTo>
                    <a:pt x="0" y="396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8197" name="Object 21"/>
            <p:cNvGraphicFramePr>
              <a:graphicFrameLocks noChangeAspect="1"/>
            </p:cNvGraphicFramePr>
            <p:nvPr/>
          </p:nvGraphicFramePr>
          <p:xfrm>
            <a:off x="4073" y="2352"/>
            <a:ext cx="29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13" name="Equation" r:id="rId17" imgW="114120" imgH="126720" progId="Equation.3">
                    <p:embed/>
                  </p:oleObj>
                </mc:Choice>
                <mc:Fallback>
                  <p:oleObj name="Equation" r:id="rId17" imgW="114120" imgH="12672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2352"/>
                          <a:ext cx="295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98" name="Freeform 22"/>
            <p:cNvSpPr>
              <a:spLocks/>
            </p:cNvSpPr>
            <p:nvPr/>
          </p:nvSpPr>
          <p:spPr bwMode="auto">
            <a:xfrm>
              <a:off x="4836" y="1842"/>
              <a:ext cx="216" cy="222"/>
            </a:xfrm>
            <a:custGeom>
              <a:avLst/>
              <a:gdLst/>
              <a:ahLst/>
              <a:cxnLst>
                <a:cxn ang="0">
                  <a:pos x="0" y="222"/>
                </a:cxn>
                <a:cxn ang="0">
                  <a:pos x="216" y="0"/>
                </a:cxn>
              </a:cxnLst>
              <a:rect l="0" t="0" r="r" b="b"/>
              <a:pathLst>
                <a:path w="216" h="222">
                  <a:moveTo>
                    <a:pt x="0" y="222"/>
                  </a:moveTo>
                  <a:lnTo>
                    <a:pt x="216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78199" name="Freeform 23"/>
            <p:cNvSpPr>
              <a:spLocks/>
            </p:cNvSpPr>
            <p:nvPr/>
          </p:nvSpPr>
          <p:spPr bwMode="auto">
            <a:xfrm>
              <a:off x="5088" y="1548"/>
              <a:ext cx="228" cy="228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0" y="228"/>
                </a:cxn>
              </a:cxnLst>
              <a:rect l="0" t="0" r="r" b="b"/>
              <a:pathLst>
                <a:path w="228" h="228">
                  <a:moveTo>
                    <a:pt x="228" y="0"/>
                  </a:moveTo>
                  <a:lnTo>
                    <a:pt x="0" y="228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800"/>
            </a:p>
          </p:txBody>
        </p:sp>
        <p:graphicFrame>
          <p:nvGraphicFramePr>
            <p:cNvPr id="178200" name="Object 24"/>
            <p:cNvGraphicFramePr>
              <a:graphicFrameLocks noChangeAspect="1"/>
            </p:cNvGraphicFramePr>
            <p:nvPr/>
          </p:nvGraphicFramePr>
          <p:xfrm>
            <a:off x="4848" y="1898"/>
            <a:ext cx="384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014" name="Equation" r:id="rId19" imgW="190440" imgH="177480" progId="Equation.3">
                    <p:embed/>
                  </p:oleObj>
                </mc:Choice>
                <mc:Fallback>
                  <p:oleObj name="Equation" r:id="rId19" imgW="190440" imgH="1774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898"/>
                          <a:ext cx="384" cy="3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8201" name="Object 25"/>
          <p:cNvGraphicFramePr>
            <a:graphicFrameLocks noChangeAspect="1"/>
          </p:cNvGraphicFramePr>
          <p:nvPr/>
        </p:nvGraphicFramePr>
        <p:xfrm>
          <a:off x="685800" y="2978150"/>
          <a:ext cx="4500563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15" name="Equation" r:id="rId21" imgW="1422360" imgH="419040" progId="Equation.3">
                  <p:embed/>
                </p:oleObj>
              </mc:Choice>
              <mc:Fallback>
                <p:oleObj name="Equation" r:id="rId21" imgW="1422360" imgH="419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978150"/>
                        <a:ext cx="4500563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2" name="Object 26"/>
          <p:cNvGraphicFramePr>
            <a:graphicFrameLocks noChangeAspect="1"/>
          </p:cNvGraphicFramePr>
          <p:nvPr/>
        </p:nvGraphicFramePr>
        <p:xfrm>
          <a:off x="573088" y="4038600"/>
          <a:ext cx="4821237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16" name="Equation" r:id="rId23" imgW="1523880" imgH="444240" progId="Equation.3">
                  <p:embed/>
                </p:oleObj>
              </mc:Choice>
              <mc:Fallback>
                <p:oleObj name="Equation" r:id="rId23" imgW="1523880" imgH="4442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4038600"/>
                        <a:ext cx="4821237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3" name="Object 27"/>
          <p:cNvGraphicFramePr>
            <a:graphicFrameLocks noChangeAspect="1"/>
          </p:cNvGraphicFramePr>
          <p:nvPr/>
        </p:nvGraphicFramePr>
        <p:xfrm>
          <a:off x="533400" y="5235575"/>
          <a:ext cx="8240713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17" name="Equation" r:id="rId25" imgW="2603160" imgH="457200" progId="Equation.3">
                  <p:embed/>
                </p:oleObj>
              </mc:Choice>
              <mc:Fallback>
                <p:oleObj name="Equation" r:id="rId25" imgW="2603160" imgH="457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35575"/>
                        <a:ext cx="8240713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2" name="Object 2"/>
          <p:cNvGraphicFramePr>
            <a:graphicFrameLocks noChangeAspect="1"/>
          </p:cNvGraphicFramePr>
          <p:nvPr/>
        </p:nvGraphicFramePr>
        <p:xfrm>
          <a:off x="1143000" y="461963"/>
          <a:ext cx="6629400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3" name="Equation" r:id="rId3" imgW="2311200" imgH="660240" progId="Equation.3">
                  <p:embed/>
                </p:oleObj>
              </mc:Choice>
              <mc:Fallback>
                <p:oleObj name="Equation" r:id="rId3" imgW="2311200" imgH="660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1963"/>
                        <a:ext cx="6629400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3" name="Object 3"/>
          <p:cNvGraphicFramePr>
            <a:graphicFrameLocks noChangeAspect="1"/>
          </p:cNvGraphicFramePr>
          <p:nvPr/>
        </p:nvGraphicFramePr>
        <p:xfrm>
          <a:off x="1752600" y="2819400"/>
          <a:ext cx="17780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4" name="Equation" r:id="rId5" imgW="634680" imgH="419040" progId="Equation.3">
                  <p:embed/>
                </p:oleObj>
              </mc:Choice>
              <mc:Fallback>
                <p:oleObj name="Equation" r:id="rId5" imgW="63468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17780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4" name="Object 4"/>
          <p:cNvGraphicFramePr>
            <a:graphicFrameLocks noChangeAspect="1"/>
          </p:cNvGraphicFramePr>
          <p:nvPr/>
        </p:nvGraphicFramePr>
        <p:xfrm>
          <a:off x="4343400" y="2813050"/>
          <a:ext cx="30480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5" name="Equation" r:id="rId7" imgW="1054080" imgH="431640" progId="Equation.3">
                  <p:embed/>
                </p:oleObj>
              </mc:Choice>
              <mc:Fallback>
                <p:oleObj name="Equation" r:id="rId7" imgW="10540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813050"/>
                        <a:ext cx="3048000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4038600" y="4052888"/>
            <a:ext cx="4114800" cy="51911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（球形电容器电容）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447800" y="1828800"/>
            <a:ext cx="1371600" cy="914400"/>
            <a:chOff x="912" y="1344"/>
            <a:chExt cx="864" cy="576"/>
          </a:xfrm>
        </p:grpSpPr>
        <p:sp>
          <p:nvSpPr>
            <p:cNvPr id="179207" name="AutoShape 7"/>
            <p:cNvSpPr>
              <a:spLocks noChangeArrowheads="1"/>
            </p:cNvSpPr>
            <p:nvPr/>
          </p:nvSpPr>
          <p:spPr bwMode="auto">
            <a:xfrm>
              <a:off x="912" y="1344"/>
              <a:ext cx="864" cy="576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 type="none" w="sm" len="lg"/>
            </a:ln>
            <a:effectLst>
              <a:outerShdw dist="107763" dir="13500000" algn="ctr" rotWithShape="0">
                <a:schemeClr val="tx2"/>
              </a:outerShdw>
            </a:effec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9208" name="Text Box 8"/>
            <p:cNvSpPr txBox="1">
              <a:spLocks noChangeArrowheads="1"/>
            </p:cNvSpPr>
            <p:nvPr/>
          </p:nvSpPr>
          <p:spPr bwMode="auto">
            <a:xfrm>
              <a:off x="1008" y="1440"/>
              <a:ext cx="76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CC0000"/>
                  </a:solidFill>
                </a:rPr>
                <a:t>讨 论</a:t>
              </a:r>
            </a:p>
          </p:txBody>
        </p:sp>
      </p:grpSp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1752600" y="4852988"/>
          <a:ext cx="17526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6" name="Equation" r:id="rId9" imgW="533160" imgH="215640" progId="Equation.3">
                  <p:embed/>
                </p:oleObj>
              </mc:Choice>
              <mc:Fallback>
                <p:oleObj name="Equation" r:id="rId9" imgW="53316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52988"/>
                        <a:ext cx="1752600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0" name="Object 10"/>
          <p:cNvGraphicFramePr>
            <a:graphicFrameLocks noChangeAspect="1"/>
          </p:cNvGraphicFramePr>
          <p:nvPr/>
        </p:nvGraphicFramePr>
        <p:xfrm>
          <a:off x="4457700" y="4573588"/>
          <a:ext cx="2552700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7" name="Equation" r:id="rId11" imgW="774360" imgH="457200" progId="Equation.3">
                  <p:embed/>
                </p:oleObj>
              </mc:Choice>
              <mc:Fallback>
                <p:oleObj name="Equation" r:id="rId11" imgW="77436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4573588"/>
                        <a:ext cx="2552700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1" name="Text Box 11"/>
          <p:cNvSpPr txBox="1">
            <a:spLocks noChangeArrowheads="1"/>
          </p:cNvSpPr>
          <p:nvPr/>
        </p:nvSpPr>
        <p:spPr bwMode="auto">
          <a:xfrm>
            <a:off x="609600" y="312420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（1）</a:t>
            </a:r>
          </a:p>
        </p:txBody>
      </p:sp>
      <p:sp>
        <p:nvSpPr>
          <p:cNvPr id="179212" name="Text Box 12"/>
          <p:cNvSpPr txBox="1">
            <a:spLocks noChangeArrowheads="1"/>
          </p:cNvSpPr>
          <p:nvPr/>
        </p:nvSpPr>
        <p:spPr bwMode="auto">
          <a:xfrm>
            <a:off x="609600" y="4868863"/>
            <a:ext cx="1447800" cy="51911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</a:rPr>
              <a:t>（2）</a:t>
            </a:r>
          </a:p>
        </p:txBody>
      </p:sp>
      <p:sp>
        <p:nvSpPr>
          <p:cNvPr id="179213" name="Text Box 13"/>
          <p:cNvSpPr txBox="1">
            <a:spLocks noChangeArrowheads="1"/>
          </p:cNvSpPr>
          <p:nvPr/>
        </p:nvSpPr>
        <p:spPr bwMode="auto">
          <a:xfrm>
            <a:off x="3581400" y="5805488"/>
            <a:ext cx="4953000" cy="51911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1C1C1C"/>
                </a:solidFill>
              </a:rPr>
              <a:t>（孤立导体球贮存的能量）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5" grpId="0" autoUpdateAnimBg="0"/>
      <p:bldP spid="179211" grpId="0" autoUpdateAnimBg="0"/>
      <p:bldP spid="179212" grpId="0" autoUpdateAnimBg="0"/>
      <p:bldP spid="17921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228600" y="776287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一　 范德格拉夫静电起电机</a:t>
            </a:r>
          </a:p>
        </p:txBody>
      </p:sp>
      <p:pic>
        <p:nvPicPr>
          <p:cNvPr id="203779" name="Picture 3" descr="G:\二版图片\十章\10-23.jpg"/>
          <p:cNvPicPr>
            <a:picLocks noChangeAspect="1" noChangeArrowheads="1"/>
          </p:cNvPicPr>
          <p:nvPr/>
        </p:nvPicPr>
        <p:blipFill>
          <a:blip r:embed="rId2"/>
          <a:srcRect l="5444"/>
          <a:stretch>
            <a:fillRect/>
          </a:stretch>
        </p:blipFill>
        <p:spPr bwMode="auto">
          <a:xfrm>
            <a:off x="152400" y="1447800"/>
            <a:ext cx="4394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3780" name="Picture 4" descr="..\..\..\w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057400"/>
            <a:ext cx="4267200" cy="338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152400" y="76200"/>
            <a:ext cx="533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600" b="1" dirty="0">
                <a:solidFill>
                  <a:srgbClr val="000066"/>
                </a:solidFill>
                <a:latin typeface="+mn-ea"/>
                <a:cs typeface="Times New Roman"/>
              </a:rPr>
              <a:t>§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10</a:t>
            </a:r>
            <a:r>
              <a:rPr lang="en-US" altLang="zh-CN" sz="3600" b="1" dirty="0">
                <a:solidFill>
                  <a:srgbClr val="000066"/>
                </a:solidFill>
                <a:latin typeface="+mj-ea"/>
                <a:ea typeface="+mj-ea"/>
              </a:rPr>
              <a:t>-6 </a:t>
            </a:r>
            <a:r>
              <a:rPr lang="zh-CN" altLang="en-US" sz="3600" b="1" dirty="0">
                <a:solidFill>
                  <a:srgbClr val="000066"/>
                </a:solidFill>
                <a:latin typeface="+mj-ea"/>
                <a:ea typeface="+mj-ea"/>
                <a:cs typeface="Times New Roman"/>
              </a:rPr>
              <a:t>静电的应用</a:t>
            </a:r>
            <a:endParaRPr lang="en-US" altLang="zh-CN" sz="3600" b="1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二　 静电除尘</a:t>
            </a:r>
          </a:p>
        </p:txBody>
      </p:sp>
      <p:pic>
        <p:nvPicPr>
          <p:cNvPr id="204803" name="Picture 3" descr="G:\二版图片\十章\10-24.jpg"/>
          <p:cNvPicPr>
            <a:picLocks noChangeAspect="1" noChangeArrowheads="1"/>
          </p:cNvPicPr>
          <p:nvPr/>
        </p:nvPicPr>
        <p:blipFill>
          <a:blip r:embed="rId2"/>
          <a:srcRect l="4425" t="6425" r="5310" b="5222"/>
          <a:stretch>
            <a:fillRect/>
          </a:stretch>
        </p:blipFill>
        <p:spPr bwMode="auto">
          <a:xfrm>
            <a:off x="76200" y="1143000"/>
            <a:ext cx="8991600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ChangeArrowheads="1"/>
          </p:cNvSpPr>
          <p:nvPr/>
        </p:nvSpPr>
        <p:spPr bwMode="auto">
          <a:xfrm>
            <a:off x="228600" y="1004888"/>
            <a:ext cx="3124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三　 静电分离</a:t>
            </a:r>
          </a:p>
        </p:txBody>
      </p:sp>
      <p:pic>
        <p:nvPicPr>
          <p:cNvPr id="205827" name="Picture 3" descr="G:\二版图片\十章\10-25.jpg"/>
          <p:cNvPicPr>
            <a:picLocks noChangeAspect="1" noChangeArrowheads="1"/>
          </p:cNvPicPr>
          <p:nvPr/>
        </p:nvPicPr>
        <p:blipFill>
          <a:blip r:embed="rId2"/>
          <a:srcRect t="2985" b="2985"/>
          <a:stretch>
            <a:fillRect/>
          </a:stretch>
        </p:blipFill>
        <p:spPr bwMode="auto">
          <a:xfrm>
            <a:off x="4648200" y="685800"/>
            <a:ext cx="4264025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829" name="Text Box 5"/>
          <p:cNvSpPr txBox="1">
            <a:spLocks noChangeArrowheads="1"/>
          </p:cNvSpPr>
          <p:nvPr/>
        </p:nvSpPr>
        <p:spPr bwMode="auto">
          <a:xfrm>
            <a:off x="4953000" y="669925"/>
            <a:ext cx="3276600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8000"/>
                </a:solidFill>
              </a:rPr>
              <a:t>磷酸盐与石英的混合物</a:t>
            </a:r>
          </a:p>
        </p:txBody>
      </p: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5562600" y="1660525"/>
            <a:ext cx="1143000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振动筛</a:t>
            </a:r>
          </a:p>
        </p:txBody>
      </p:sp>
      <p:sp>
        <p:nvSpPr>
          <p:cNvPr id="205831" name="Rectangle 7"/>
          <p:cNvSpPr>
            <a:spLocks noChangeArrowheads="1"/>
          </p:cNvSpPr>
          <p:nvPr/>
        </p:nvSpPr>
        <p:spPr bwMode="auto">
          <a:xfrm>
            <a:off x="6553200" y="6232525"/>
            <a:ext cx="1107996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00"/>
                </a:solidFill>
              </a:rPr>
              <a:t>磷酸盐</a:t>
            </a:r>
          </a:p>
        </p:txBody>
      </p:sp>
      <p:sp>
        <p:nvSpPr>
          <p:cNvPr id="205832" name="Rectangle 8"/>
          <p:cNvSpPr>
            <a:spLocks noChangeArrowheads="1"/>
          </p:cNvSpPr>
          <p:nvPr/>
        </p:nvSpPr>
        <p:spPr bwMode="auto">
          <a:xfrm>
            <a:off x="7772400" y="6232525"/>
            <a:ext cx="800219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</a:rPr>
              <a:t>石英</a:t>
            </a:r>
          </a:p>
        </p:txBody>
      </p:sp>
      <p:sp>
        <p:nvSpPr>
          <p:cNvPr id="205833" name="Text Box 9"/>
          <p:cNvSpPr txBox="1">
            <a:spLocks noChangeArrowheads="1"/>
          </p:cNvSpPr>
          <p:nvPr/>
        </p:nvSpPr>
        <p:spPr bwMode="auto">
          <a:xfrm>
            <a:off x="381000" y="1989138"/>
            <a:ext cx="3962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        石英与磷酸盐在振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动筛中不断振动，摩擦，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使石英颗粒带负电，磷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酸盐颗粒带正电，在电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场中下落时受到的电场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力相反，使其分离.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10694</TotalTime>
  <Words>1849</Words>
  <Application>Microsoft Office PowerPoint</Application>
  <PresentationFormat>全屏显示(4:3)</PresentationFormat>
  <Paragraphs>344</Paragraphs>
  <Slides>44</Slides>
  <Notes>0</Notes>
  <HiddenSlides>11</HiddenSlides>
  <MMClips>1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华文细黑</vt:lpstr>
      <vt:lpstr>楷体_GB2312</vt:lpstr>
      <vt:lpstr>宋体</vt:lpstr>
      <vt:lpstr>Arial</vt:lpstr>
      <vt:lpstr>Calibri</vt:lpstr>
      <vt:lpstr>Wingdings</vt:lpstr>
      <vt:lpstr>Office Theme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Transmigration_ zhou</cp:lastModifiedBy>
  <cp:revision>5954</cp:revision>
  <dcterms:created xsi:type="dcterms:W3CDTF">2006-08-16T00:00:00Z</dcterms:created>
  <dcterms:modified xsi:type="dcterms:W3CDTF">2020-07-04T01:15:13Z</dcterms:modified>
</cp:coreProperties>
</file>