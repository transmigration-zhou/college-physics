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9"/>
  </p:notesMasterIdLst>
  <p:sldIdLst>
    <p:sldId id="387" r:id="rId2"/>
    <p:sldId id="547" r:id="rId3"/>
    <p:sldId id="548" r:id="rId4"/>
    <p:sldId id="553" r:id="rId5"/>
    <p:sldId id="476" r:id="rId6"/>
    <p:sldId id="554" r:id="rId7"/>
    <p:sldId id="477" r:id="rId8"/>
    <p:sldId id="555" r:id="rId9"/>
    <p:sldId id="478" r:id="rId10"/>
    <p:sldId id="479" r:id="rId11"/>
    <p:sldId id="480" r:id="rId12"/>
    <p:sldId id="481" r:id="rId13"/>
    <p:sldId id="482" r:id="rId14"/>
    <p:sldId id="556" r:id="rId15"/>
    <p:sldId id="558" r:id="rId16"/>
    <p:sldId id="557" r:id="rId17"/>
    <p:sldId id="483" r:id="rId18"/>
    <p:sldId id="484" r:id="rId19"/>
    <p:sldId id="485" r:id="rId20"/>
    <p:sldId id="560" r:id="rId21"/>
    <p:sldId id="559" r:id="rId22"/>
    <p:sldId id="486" r:id="rId23"/>
    <p:sldId id="487" r:id="rId24"/>
    <p:sldId id="488" r:id="rId25"/>
    <p:sldId id="489" r:id="rId26"/>
    <p:sldId id="490" r:id="rId27"/>
    <p:sldId id="562" r:id="rId28"/>
    <p:sldId id="561" r:id="rId29"/>
    <p:sldId id="491" r:id="rId30"/>
    <p:sldId id="492" r:id="rId31"/>
    <p:sldId id="550" r:id="rId32"/>
    <p:sldId id="496" r:id="rId33"/>
    <p:sldId id="549" r:id="rId34"/>
    <p:sldId id="498" r:id="rId35"/>
    <p:sldId id="499" r:id="rId36"/>
    <p:sldId id="563" r:id="rId37"/>
    <p:sldId id="564" r:id="rId38"/>
    <p:sldId id="500" r:id="rId39"/>
    <p:sldId id="501" r:id="rId40"/>
    <p:sldId id="502" r:id="rId41"/>
    <p:sldId id="503" r:id="rId42"/>
    <p:sldId id="504" r:id="rId43"/>
    <p:sldId id="505" r:id="rId44"/>
    <p:sldId id="506" r:id="rId45"/>
    <p:sldId id="507" r:id="rId46"/>
    <p:sldId id="508" r:id="rId47"/>
    <p:sldId id="509" r:id="rId48"/>
    <p:sldId id="510" r:id="rId49"/>
    <p:sldId id="511" r:id="rId50"/>
    <p:sldId id="512" r:id="rId51"/>
    <p:sldId id="513" r:id="rId52"/>
    <p:sldId id="514" r:id="rId53"/>
    <p:sldId id="515" r:id="rId54"/>
    <p:sldId id="565" r:id="rId55"/>
    <p:sldId id="516" r:id="rId56"/>
    <p:sldId id="517" r:id="rId57"/>
    <p:sldId id="518" r:id="rId58"/>
    <p:sldId id="551" r:id="rId59"/>
    <p:sldId id="530" r:id="rId60"/>
    <p:sldId id="531" r:id="rId61"/>
    <p:sldId id="532" r:id="rId62"/>
    <p:sldId id="533" r:id="rId63"/>
    <p:sldId id="534" r:id="rId64"/>
    <p:sldId id="535" r:id="rId65"/>
    <p:sldId id="552" r:id="rId66"/>
    <p:sldId id="536" r:id="rId67"/>
    <p:sldId id="537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01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>
  <ax:ocxPr ax:name="_cx" ax:value="16933"/>
  <ax:ocxPr ax:name="_cy" ax:value="12700"/>
  <ax:ocxPr ax:name="FlashVars" ax:value=""/>
  <ax:ocxPr ax:name="Movie" ax:value="FLASH/TXPZ.SWF"/>
  <ax:ocxPr ax:name="Src" ax:value="FLASH/TXPZ.SWF"/>
  <ax:ocxPr ax:name="WMode" ax:value="Window"/>
  <ax:ocxPr ax:name="Play" ax:value="-1"/>
  <ax:ocxPr ax:name="Loop" ax:value="-1"/>
  <ax:ocxPr ax:name="Quality" ax:value="High"/>
  <ax:ocxPr ax:name="SAlign" ax:value=""/>
  <ax:ocxPr ax:name="Menu" ax:value="-1"/>
  <ax:ocxPr ax:name="Base" ax:value=""/>
  <ax:ocxPr ax:name="AllowScriptAccess" ax:value="always"/>
  <ax:ocxPr ax:name="Scale" ax:value="ShowAll"/>
  <ax:ocxPr ax:name="DeviceFont" ax:value="0"/>
  <ax:ocxPr ax:name="EmbedMovie" ax:value="-1"/>
  <ax:ocxPr ax:name="BGColor" ax:value=""/>
  <ax:ocxPr ax:name="SWRemote" ax:value=""/>
  <ax:ocxPr ax:name="MovieData" ax:value=""/>
  <ax:ocxPr ax:name="SeamlessTabbing" ax:value="1"/>
  <ax:ocxPr ax:name="Profile" ax:value="0"/>
  <ax:ocxPr ax:name="ProfileAddress" ax:value=""/>
  <ax:ocxPr ax:name="ProfilePort" ax:value="0"/>
  <ax:ocxPr ax:name="AllowNetworking" ax:value="all"/>
  <ax:ocxPr ax:name="AllowFullScreen" ax:value="false"/>
</ax:ocx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12" Type="http://schemas.openxmlformats.org/officeDocument/2006/relationships/image" Target="../media/image26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11" Type="http://schemas.openxmlformats.org/officeDocument/2006/relationships/image" Target="../media/image25.wmf"/><Relationship Id="rId5" Type="http://schemas.openxmlformats.org/officeDocument/2006/relationships/image" Target="../media/image19.wmf"/><Relationship Id="rId10" Type="http://schemas.openxmlformats.org/officeDocument/2006/relationships/image" Target="../media/image24.wmf"/><Relationship Id="rId4" Type="http://schemas.openxmlformats.org/officeDocument/2006/relationships/image" Target="../media/image18.wmf"/><Relationship Id="rId9" Type="http://schemas.openxmlformats.org/officeDocument/2006/relationships/image" Target="../media/image23.png"/><Relationship Id="rId1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17" Type="http://schemas.openxmlformats.org/officeDocument/2006/relationships/image" Target="../media/image66.wmf"/><Relationship Id="rId2" Type="http://schemas.openxmlformats.org/officeDocument/2006/relationships/image" Target="../media/image51.wmf"/><Relationship Id="rId16" Type="http://schemas.openxmlformats.org/officeDocument/2006/relationships/image" Target="../media/image65.wmf"/><Relationship Id="rId1" Type="http://schemas.openxmlformats.org/officeDocument/2006/relationships/image" Target="../media/image22.png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5" Type="http://schemas.openxmlformats.org/officeDocument/2006/relationships/image" Target="../media/image64.wmf"/><Relationship Id="rId10" Type="http://schemas.openxmlformats.org/officeDocument/2006/relationships/image" Target="../media/image59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6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80.wmf"/><Relationship Id="rId3" Type="http://schemas.openxmlformats.org/officeDocument/2006/relationships/image" Target="../media/image84.wmf"/><Relationship Id="rId7" Type="http://schemas.openxmlformats.org/officeDocument/2006/relationships/image" Target="../media/image74.wmf"/><Relationship Id="rId12" Type="http://schemas.openxmlformats.org/officeDocument/2006/relationships/image" Target="../media/image79.wmf"/><Relationship Id="rId2" Type="http://schemas.openxmlformats.org/officeDocument/2006/relationships/image" Target="../media/image72.wmf"/><Relationship Id="rId1" Type="http://schemas.openxmlformats.org/officeDocument/2006/relationships/image" Target="../media/image83.wmf"/><Relationship Id="rId6" Type="http://schemas.openxmlformats.org/officeDocument/2006/relationships/image" Target="../media/image73.wmf"/><Relationship Id="rId11" Type="http://schemas.openxmlformats.org/officeDocument/2006/relationships/image" Target="../media/image78.wmf"/><Relationship Id="rId5" Type="http://schemas.openxmlformats.org/officeDocument/2006/relationships/image" Target="../media/image86.wmf"/><Relationship Id="rId15" Type="http://schemas.openxmlformats.org/officeDocument/2006/relationships/image" Target="../media/image82.wmf"/><Relationship Id="rId10" Type="http://schemas.openxmlformats.org/officeDocument/2006/relationships/image" Target="../media/image77.wmf"/><Relationship Id="rId4" Type="http://schemas.openxmlformats.org/officeDocument/2006/relationships/image" Target="../media/image85.wmf"/><Relationship Id="rId9" Type="http://schemas.openxmlformats.org/officeDocument/2006/relationships/image" Target="../media/image76.wmf"/><Relationship Id="rId14" Type="http://schemas.openxmlformats.org/officeDocument/2006/relationships/image" Target="../media/image8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image" Target="../media/image96.emf"/><Relationship Id="rId3" Type="http://schemas.openxmlformats.org/officeDocument/2006/relationships/image" Target="../media/image52.wmf"/><Relationship Id="rId7" Type="http://schemas.openxmlformats.org/officeDocument/2006/relationships/image" Target="../media/image90.emf"/><Relationship Id="rId12" Type="http://schemas.openxmlformats.org/officeDocument/2006/relationships/image" Target="../media/image95.emf"/><Relationship Id="rId2" Type="http://schemas.openxmlformats.org/officeDocument/2006/relationships/image" Target="../media/image51.wmf"/><Relationship Id="rId1" Type="http://schemas.openxmlformats.org/officeDocument/2006/relationships/image" Target="../media/image22.png"/><Relationship Id="rId6" Type="http://schemas.openxmlformats.org/officeDocument/2006/relationships/image" Target="../media/image89.emf"/><Relationship Id="rId11" Type="http://schemas.openxmlformats.org/officeDocument/2006/relationships/image" Target="../media/image94.emf"/><Relationship Id="rId5" Type="http://schemas.openxmlformats.org/officeDocument/2006/relationships/image" Target="../media/image88.wmf"/><Relationship Id="rId10" Type="http://schemas.openxmlformats.org/officeDocument/2006/relationships/image" Target="../media/image93.wmf"/><Relationship Id="rId4" Type="http://schemas.openxmlformats.org/officeDocument/2006/relationships/image" Target="../media/image87.wmf"/><Relationship Id="rId9" Type="http://schemas.openxmlformats.org/officeDocument/2006/relationships/image" Target="../media/image9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103.wmf"/><Relationship Id="rId7" Type="http://schemas.openxmlformats.org/officeDocument/2006/relationships/image" Target="../media/image104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9.wmf"/><Relationship Id="rId7" Type="http://schemas.openxmlformats.org/officeDocument/2006/relationships/image" Target="../media/image114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13.wmf"/><Relationship Id="rId5" Type="http://schemas.openxmlformats.org/officeDocument/2006/relationships/image" Target="../media/image121.wmf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image" Target="../media/image12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8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7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6.wmf"/><Relationship Id="rId5" Type="http://schemas.openxmlformats.org/officeDocument/2006/relationships/image" Target="../media/image12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8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7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6.wmf"/><Relationship Id="rId5" Type="http://schemas.openxmlformats.org/officeDocument/2006/relationships/image" Target="../media/image12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8.wmf"/><Relationship Id="rId18" Type="http://schemas.openxmlformats.org/officeDocument/2006/relationships/image" Target="../media/image143.wmf"/><Relationship Id="rId26" Type="http://schemas.openxmlformats.org/officeDocument/2006/relationships/image" Target="../media/image151.wmf"/><Relationship Id="rId3" Type="http://schemas.openxmlformats.org/officeDocument/2006/relationships/image" Target="../media/image126.wmf"/><Relationship Id="rId21" Type="http://schemas.openxmlformats.org/officeDocument/2006/relationships/image" Target="../media/image146.wmf"/><Relationship Id="rId7" Type="http://schemas.openxmlformats.org/officeDocument/2006/relationships/image" Target="../media/image130.wmf"/><Relationship Id="rId12" Type="http://schemas.openxmlformats.org/officeDocument/2006/relationships/image" Target="../media/image137.wmf"/><Relationship Id="rId17" Type="http://schemas.openxmlformats.org/officeDocument/2006/relationships/image" Target="../media/image142.wmf"/><Relationship Id="rId25" Type="http://schemas.openxmlformats.org/officeDocument/2006/relationships/image" Target="../media/image150.wmf"/><Relationship Id="rId2" Type="http://schemas.openxmlformats.org/officeDocument/2006/relationships/image" Target="../media/image125.wmf"/><Relationship Id="rId16" Type="http://schemas.openxmlformats.org/officeDocument/2006/relationships/image" Target="../media/image141.wmf"/><Relationship Id="rId20" Type="http://schemas.openxmlformats.org/officeDocument/2006/relationships/image" Target="../media/image14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6.wmf"/><Relationship Id="rId24" Type="http://schemas.openxmlformats.org/officeDocument/2006/relationships/image" Target="../media/image149.wmf"/><Relationship Id="rId5" Type="http://schemas.openxmlformats.org/officeDocument/2006/relationships/image" Target="../media/image128.wmf"/><Relationship Id="rId15" Type="http://schemas.openxmlformats.org/officeDocument/2006/relationships/image" Target="../media/image140.wmf"/><Relationship Id="rId23" Type="http://schemas.openxmlformats.org/officeDocument/2006/relationships/image" Target="../media/image148.wmf"/><Relationship Id="rId10" Type="http://schemas.openxmlformats.org/officeDocument/2006/relationships/image" Target="../media/image133.wmf"/><Relationship Id="rId19" Type="http://schemas.openxmlformats.org/officeDocument/2006/relationships/image" Target="../media/image144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9.wmf"/><Relationship Id="rId22" Type="http://schemas.openxmlformats.org/officeDocument/2006/relationships/image" Target="../media/image14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image" Target="../media/image174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12" Type="http://schemas.openxmlformats.org/officeDocument/2006/relationships/image" Target="../media/image173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72.wmf"/><Relationship Id="rId5" Type="http://schemas.openxmlformats.org/officeDocument/2006/relationships/image" Target="../media/image166.wmf"/><Relationship Id="rId10" Type="http://schemas.openxmlformats.org/officeDocument/2006/relationships/image" Target="../media/image171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Relationship Id="rId14" Type="http://schemas.openxmlformats.org/officeDocument/2006/relationships/image" Target="../media/image17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image" Target="../media/image205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12" Type="http://schemas.openxmlformats.org/officeDocument/2006/relationships/image" Target="../media/image204.wmf"/><Relationship Id="rId17" Type="http://schemas.openxmlformats.org/officeDocument/2006/relationships/image" Target="../media/image208.wmf"/><Relationship Id="rId2" Type="http://schemas.openxmlformats.org/officeDocument/2006/relationships/image" Target="../media/image194.wmf"/><Relationship Id="rId16" Type="http://schemas.openxmlformats.org/officeDocument/2006/relationships/image" Target="../media/image207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11" Type="http://schemas.openxmlformats.org/officeDocument/2006/relationships/image" Target="../media/image203.wmf"/><Relationship Id="rId5" Type="http://schemas.openxmlformats.org/officeDocument/2006/relationships/image" Target="../media/image197.wmf"/><Relationship Id="rId15" Type="http://schemas.openxmlformats.org/officeDocument/2006/relationships/image" Target="../media/image22.png"/><Relationship Id="rId10" Type="http://schemas.openxmlformats.org/officeDocument/2006/relationships/image" Target="../media/image202.wmf"/><Relationship Id="rId4" Type="http://schemas.openxmlformats.org/officeDocument/2006/relationships/image" Target="../media/image196.wmf"/><Relationship Id="rId9" Type="http://schemas.openxmlformats.org/officeDocument/2006/relationships/image" Target="../media/image201.wmf"/><Relationship Id="rId14" Type="http://schemas.openxmlformats.org/officeDocument/2006/relationships/image" Target="../media/image206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07.wmf"/><Relationship Id="rId18" Type="http://schemas.openxmlformats.org/officeDocument/2006/relationships/image" Target="../media/image216.wmf"/><Relationship Id="rId3" Type="http://schemas.openxmlformats.org/officeDocument/2006/relationships/image" Target="../media/image211.wmf"/><Relationship Id="rId7" Type="http://schemas.openxmlformats.org/officeDocument/2006/relationships/image" Target="../media/image202.wmf"/><Relationship Id="rId12" Type="http://schemas.openxmlformats.org/officeDocument/2006/relationships/image" Target="../media/image22.png"/><Relationship Id="rId17" Type="http://schemas.openxmlformats.org/officeDocument/2006/relationships/image" Target="../media/image215.wmf"/><Relationship Id="rId2" Type="http://schemas.openxmlformats.org/officeDocument/2006/relationships/image" Target="../media/image210.wmf"/><Relationship Id="rId16" Type="http://schemas.openxmlformats.org/officeDocument/2006/relationships/image" Target="../media/image214.wmf"/><Relationship Id="rId1" Type="http://schemas.openxmlformats.org/officeDocument/2006/relationships/image" Target="../media/image209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193.wmf"/><Relationship Id="rId15" Type="http://schemas.openxmlformats.org/officeDocument/2006/relationships/image" Target="../media/image213.wmf"/><Relationship Id="rId10" Type="http://schemas.openxmlformats.org/officeDocument/2006/relationships/image" Target="../media/image205.wmf"/><Relationship Id="rId4" Type="http://schemas.openxmlformats.org/officeDocument/2006/relationships/image" Target="../media/image212.wmf"/><Relationship Id="rId9" Type="http://schemas.openxmlformats.org/officeDocument/2006/relationships/image" Target="../media/image204.wmf"/><Relationship Id="rId14" Type="http://schemas.openxmlformats.org/officeDocument/2006/relationships/image" Target="../media/image20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image" Target="../media/image228.wmf"/><Relationship Id="rId3" Type="http://schemas.openxmlformats.org/officeDocument/2006/relationships/image" Target="../media/image219.wmf"/><Relationship Id="rId7" Type="http://schemas.openxmlformats.org/officeDocument/2006/relationships/image" Target="../media/image223.wmf"/><Relationship Id="rId12" Type="http://schemas.openxmlformats.org/officeDocument/2006/relationships/image" Target="../media/image227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6" Type="http://schemas.openxmlformats.org/officeDocument/2006/relationships/image" Target="../media/image222.wmf"/><Relationship Id="rId11" Type="http://schemas.openxmlformats.org/officeDocument/2006/relationships/image" Target="../media/image163.wmf"/><Relationship Id="rId5" Type="http://schemas.openxmlformats.org/officeDocument/2006/relationships/image" Target="../media/image221.wmf"/><Relationship Id="rId15" Type="http://schemas.openxmlformats.org/officeDocument/2006/relationships/image" Target="../media/image230.emf"/><Relationship Id="rId10" Type="http://schemas.openxmlformats.org/officeDocument/2006/relationships/image" Target="../media/image226.wmf"/><Relationship Id="rId4" Type="http://schemas.openxmlformats.org/officeDocument/2006/relationships/image" Target="../media/image220.wmf"/><Relationship Id="rId9" Type="http://schemas.openxmlformats.org/officeDocument/2006/relationships/image" Target="../media/image225.wmf"/><Relationship Id="rId14" Type="http://schemas.openxmlformats.org/officeDocument/2006/relationships/image" Target="../media/image229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image" Target="../media/image237.wmf"/><Relationship Id="rId3" Type="http://schemas.openxmlformats.org/officeDocument/2006/relationships/image" Target="../media/image233.wmf"/><Relationship Id="rId7" Type="http://schemas.openxmlformats.org/officeDocument/2006/relationships/image" Target="../media/image163.wmf"/><Relationship Id="rId12" Type="http://schemas.openxmlformats.org/officeDocument/2006/relationships/image" Target="../media/image236.e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26.wmf"/><Relationship Id="rId11" Type="http://schemas.openxmlformats.org/officeDocument/2006/relationships/image" Target="../media/image235.emf"/><Relationship Id="rId5" Type="http://schemas.openxmlformats.org/officeDocument/2006/relationships/image" Target="../media/image225.wmf"/><Relationship Id="rId10" Type="http://schemas.openxmlformats.org/officeDocument/2006/relationships/image" Target="../media/image228.wmf"/><Relationship Id="rId4" Type="http://schemas.openxmlformats.org/officeDocument/2006/relationships/image" Target="../media/image234.wmf"/><Relationship Id="rId9" Type="http://schemas.openxmlformats.org/officeDocument/2006/relationships/image" Target="../media/image227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12" Type="http://schemas.openxmlformats.org/officeDocument/2006/relationships/image" Target="../media/image249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11" Type="http://schemas.openxmlformats.org/officeDocument/2006/relationships/image" Target="../media/image248.wmf"/><Relationship Id="rId5" Type="http://schemas.openxmlformats.org/officeDocument/2006/relationships/image" Target="../media/image242.wmf"/><Relationship Id="rId10" Type="http://schemas.openxmlformats.org/officeDocument/2006/relationships/image" Target="../media/image247.wmf"/><Relationship Id="rId4" Type="http://schemas.openxmlformats.org/officeDocument/2006/relationships/image" Target="../media/image241.wmf"/><Relationship Id="rId9" Type="http://schemas.openxmlformats.org/officeDocument/2006/relationships/image" Target="../media/image246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52.wmf"/><Relationship Id="rId7" Type="http://schemas.openxmlformats.org/officeDocument/2006/relationships/image" Target="../media/image246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Relationship Id="rId9" Type="http://schemas.openxmlformats.org/officeDocument/2006/relationships/image" Target="../media/image25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2" Type="http://schemas.openxmlformats.org/officeDocument/2006/relationships/image" Target="../media/image258.wmf"/><Relationship Id="rId1" Type="http://schemas.openxmlformats.org/officeDocument/2006/relationships/image" Target="../media/image25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7" Type="http://schemas.openxmlformats.org/officeDocument/2006/relationships/image" Target="../media/image265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7" Type="http://schemas.openxmlformats.org/officeDocument/2006/relationships/image" Target="../media/image252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6" Type="http://schemas.openxmlformats.org/officeDocument/2006/relationships/image" Target="../media/image258.wmf"/><Relationship Id="rId5" Type="http://schemas.openxmlformats.org/officeDocument/2006/relationships/image" Target="../media/image231.wmf"/><Relationship Id="rId4" Type="http://schemas.openxmlformats.org/officeDocument/2006/relationships/image" Target="../media/image26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4" Type="http://schemas.openxmlformats.org/officeDocument/2006/relationships/image" Target="../media/image273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3" Type="http://schemas.openxmlformats.org/officeDocument/2006/relationships/image" Target="../media/image276.wmf"/><Relationship Id="rId7" Type="http://schemas.openxmlformats.org/officeDocument/2006/relationships/image" Target="../media/image280.wmf"/><Relationship Id="rId2" Type="http://schemas.openxmlformats.org/officeDocument/2006/relationships/image" Target="../media/image275.wmf"/><Relationship Id="rId1" Type="http://schemas.openxmlformats.org/officeDocument/2006/relationships/image" Target="../media/image274.wmf"/><Relationship Id="rId6" Type="http://schemas.openxmlformats.org/officeDocument/2006/relationships/image" Target="../media/image279.wmf"/><Relationship Id="rId5" Type="http://schemas.openxmlformats.org/officeDocument/2006/relationships/image" Target="../media/image278.wmf"/><Relationship Id="rId10" Type="http://schemas.openxmlformats.org/officeDocument/2006/relationships/image" Target="../media/image282.wmf"/><Relationship Id="rId4" Type="http://schemas.openxmlformats.org/officeDocument/2006/relationships/image" Target="../media/image277.wmf"/><Relationship Id="rId9" Type="http://schemas.openxmlformats.org/officeDocument/2006/relationships/image" Target="../media/image267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85.wmf"/><Relationship Id="rId7" Type="http://schemas.openxmlformats.org/officeDocument/2006/relationships/image" Target="../media/image22.png"/><Relationship Id="rId2" Type="http://schemas.openxmlformats.org/officeDocument/2006/relationships/image" Target="../media/image284.wmf"/><Relationship Id="rId1" Type="http://schemas.openxmlformats.org/officeDocument/2006/relationships/image" Target="../media/image283.wmf"/><Relationship Id="rId6" Type="http://schemas.openxmlformats.org/officeDocument/2006/relationships/image" Target="../media/image288.wmf"/><Relationship Id="rId11" Type="http://schemas.openxmlformats.org/officeDocument/2006/relationships/image" Target="../media/image291.wmf"/><Relationship Id="rId5" Type="http://schemas.openxmlformats.org/officeDocument/2006/relationships/image" Target="../media/image287.wmf"/><Relationship Id="rId10" Type="http://schemas.openxmlformats.org/officeDocument/2006/relationships/image" Target="../media/image290.wmf"/><Relationship Id="rId4" Type="http://schemas.openxmlformats.org/officeDocument/2006/relationships/image" Target="../media/image286.wmf"/><Relationship Id="rId9" Type="http://schemas.openxmlformats.org/officeDocument/2006/relationships/image" Target="../media/image289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image" Target="../media/image319.wmf"/><Relationship Id="rId3" Type="http://schemas.openxmlformats.org/officeDocument/2006/relationships/image" Target="../media/image309.wmf"/><Relationship Id="rId7" Type="http://schemas.openxmlformats.org/officeDocument/2006/relationships/image" Target="../media/image313.wmf"/><Relationship Id="rId12" Type="http://schemas.openxmlformats.org/officeDocument/2006/relationships/image" Target="../media/image318.wmf"/><Relationship Id="rId2" Type="http://schemas.openxmlformats.org/officeDocument/2006/relationships/image" Target="../media/image308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11" Type="http://schemas.openxmlformats.org/officeDocument/2006/relationships/image" Target="../media/image317.wmf"/><Relationship Id="rId5" Type="http://schemas.openxmlformats.org/officeDocument/2006/relationships/image" Target="../media/image311.wmf"/><Relationship Id="rId10" Type="http://schemas.openxmlformats.org/officeDocument/2006/relationships/image" Target="../media/image316.wmf"/><Relationship Id="rId4" Type="http://schemas.openxmlformats.org/officeDocument/2006/relationships/image" Target="../media/image310.wmf"/><Relationship Id="rId9" Type="http://schemas.openxmlformats.org/officeDocument/2006/relationships/image" Target="../media/image315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wmf"/><Relationship Id="rId1" Type="http://schemas.openxmlformats.org/officeDocument/2006/relationships/image" Target="../media/image320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2.png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4" Type="http://schemas.openxmlformats.org/officeDocument/2006/relationships/image" Target="../media/image326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image" Target="../media/image335.wmf"/><Relationship Id="rId3" Type="http://schemas.openxmlformats.org/officeDocument/2006/relationships/image" Target="../media/image138.wmf"/><Relationship Id="rId7" Type="http://schemas.openxmlformats.org/officeDocument/2006/relationships/image" Target="../media/image331.wmf"/><Relationship Id="rId12" Type="http://schemas.openxmlformats.org/officeDocument/2006/relationships/image" Target="../media/image334.wmf"/><Relationship Id="rId2" Type="http://schemas.openxmlformats.org/officeDocument/2006/relationships/image" Target="../media/image139.wmf"/><Relationship Id="rId1" Type="http://schemas.openxmlformats.org/officeDocument/2006/relationships/image" Target="../media/image327.wmf"/><Relationship Id="rId6" Type="http://schemas.openxmlformats.org/officeDocument/2006/relationships/image" Target="../media/image330.wmf"/><Relationship Id="rId11" Type="http://schemas.openxmlformats.org/officeDocument/2006/relationships/image" Target="../media/image23.png"/><Relationship Id="rId5" Type="http://schemas.openxmlformats.org/officeDocument/2006/relationships/image" Target="../media/image329.wmf"/><Relationship Id="rId10" Type="http://schemas.openxmlformats.org/officeDocument/2006/relationships/image" Target="../media/image22.png"/><Relationship Id="rId4" Type="http://schemas.openxmlformats.org/officeDocument/2006/relationships/image" Target="../media/image328.wmf"/><Relationship Id="rId9" Type="http://schemas.openxmlformats.org/officeDocument/2006/relationships/image" Target="../media/image333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334.wmf"/><Relationship Id="rId3" Type="http://schemas.openxmlformats.org/officeDocument/2006/relationships/image" Target="../media/image335.wmf"/><Relationship Id="rId7" Type="http://schemas.openxmlformats.org/officeDocument/2006/relationships/image" Target="../media/image22.png"/><Relationship Id="rId12" Type="http://schemas.openxmlformats.org/officeDocument/2006/relationships/image" Target="../media/image327.wmf"/><Relationship Id="rId2" Type="http://schemas.openxmlformats.org/officeDocument/2006/relationships/image" Target="../media/image336.wmf"/><Relationship Id="rId1" Type="http://schemas.openxmlformats.org/officeDocument/2006/relationships/image" Target="../media/image332.wmf"/><Relationship Id="rId6" Type="http://schemas.openxmlformats.org/officeDocument/2006/relationships/image" Target="../media/image333.wmf"/><Relationship Id="rId11" Type="http://schemas.openxmlformats.org/officeDocument/2006/relationships/image" Target="../media/image328.wmf"/><Relationship Id="rId5" Type="http://schemas.openxmlformats.org/officeDocument/2006/relationships/image" Target="../media/image338.wmf"/><Relationship Id="rId15" Type="http://schemas.openxmlformats.org/officeDocument/2006/relationships/image" Target="../media/image330.wmf"/><Relationship Id="rId10" Type="http://schemas.openxmlformats.org/officeDocument/2006/relationships/image" Target="../media/image139.wmf"/><Relationship Id="rId4" Type="http://schemas.openxmlformats.org/officeDocument/2006/relationships/image" Target="../media/image337.wmf"/><Relationship Id="rId9" Type="http://schemas.openxmlformats.org/officeDocument/2006/relationships/image" Target="../media/image138.wmf"/><Relationship Id="rId14" Type="http://schemas.openxmlformats.org/officeDocument/2006/relationships/image" Target="../media/image329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13" Type="http://schemas.openxmlformats.org/officeDocument/2006/relationships/image" Target="../media/image138.wmf"/><Relationship Id="rId18" Type="http://schemas.openxmlformats.org/officeDocument/2006/relationships/image" Target="../media/image329.wmf"/><Relationship Id="rId3" Type="http://schemas.openxmlformats.org/officeDocument/2006/relationships/image" Target="../media/image341.wmf"/><Relationship Id="rId7" Type="http://schemas.openxmlformats.org/officeDocument/2006/relationships/image" Target="../media/image345.wmf"/><Relationship Id="rId12" Type="http://schemas.openxmlformats.org/officeDocument/2006/relationships/image" Target="../media/image23.png"/><Relationship Id="rId17" Type="http://schemas.openxmlformats.org/officeDocument/2006/relationships/image" Target="../media/image334.wmf"/><Relationship Id="rId2" Type="http://schemas.openxmlformats.org/officeDocument/2006/relationships/image" Target="../media/image340.wmf"/><Relationship Id="rId16" Type="http://schemas.openxmlformats.org/officeDocument/2006/relationships/image" Target="../media/image327.wmf"/><Relationship Id="rId1" Type="http://schemas.openxmlformats.org/officeDocument/2006/relationships/image" Target="../media/image339.wmf"/><Relationship Id="rId6" Type="http://schemas.openxmlformats.org/officeDocument/2006/relationships/image" Target="../media/image344.wmf"/><Relationship Id="rId11" Type="http://schemas.openxmlformats.org/officeDocument/2006/relationships/image" Target="../media/image22.png"/><Relationship Id="rId5" Type="http://schemas.openxmlformats.org/officeDocument/2006/relationships/image" Target="../media/image343.wmf"/><Relationship Id="rId15" Type="http://schemas.openxmlformats.org/officeDocument/2006/relationships/image" Target="../media/image328.wmf"/><Relationship Id="rId10" Type="http://schemas.openxmlformats.org/officeDocument/2006/relationships/image" Target="../media/image333.wmf"/><Relationship Id="rId19" Type="http://schemas.openxmlformats.org/officeDocument/2006/relationships/image" Target="../media/image330.wmf"/><Relationship Id="rId4" Type="http://schemas.openxmlformats.org/officeDocument/2006/relationships/image" Target="../media/image342.wmf"/><Relationship Id="rId9" Type="http://schemas.openxmlformats.org/officeDocument/2006/relationships/image" Target="../media/image338.wmf"/><Relationship Id="rId14" Type="http://schemas.openxmlformats.org/officeDocument/2006/relationships/image" Target="../media/image139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wmf"/><Relationship Id="rId7" Type="http://schemas.openxmlformats.org/officeDocument/2006/relationships/image" Target="../media/image353.wmf"/><Relationship Id="rId2" Type="http://schemas.openxmlformats.org/officeDocument/2006/relationships/image" Target="../media/image348.wmf"/><Relationship Id="rId1" Type="http://schemas.openxmlformats.org/officeDocument/2006/relationships/image" Target="../media/image347.wmf"/><Relationship Id="rId6" Type="http://schemas.openxmlformats.org/officeDocument/2006/relationships/image" Target="../media/image352.wmf"/><Relationship Id="rId5" Type="http://schemas.openxmlformats.org/officeDocument/2006/relationships/image" Target="../media/image351.wmf"/><Relationship Id="rId4" Type="http://schemas.openxmlformats.org/officeDocument/2006/relationships/image" Target="../media/image3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35AEC-04F2-4AF9-A41F-3763FA5CEC82}" type="datetimeFigureOut">
              <a:rPr lang="zh-CN" altLang="en-US" smtClean="0"/>
              <a:pPr/>
              <a:t>2020/4/10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63355-0DDA-4ED8-8CCF-298992E85D9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96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A77E-BE69-4836-AAD8-89E74321E372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25F33-CCF9-474C-9C8E-A91491997BF2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C82-82F8-4AEA-BCC9-3E97196941BA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8736-550E-44CC-A288-E032371A3C4D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73CE-34D2-420A-BC57-765738A1CE8D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C214-C8E6-4B27-A0CC-057D005CA9BE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D454-AECE-4CDD-AFCF-5221F25A6BFC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C99B-06D6-4878-861F-315A00798F4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F1A7-381C-4A43-BB09-CF8734A869FC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D77F-DE49-4911-BDC5-59C445EE8A83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FB90-30A1-4B40-A388-A440C983D4FC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.wmf"/><Relationship Id="rId3" Type="http://schemas.openxmlformats.org/officeDocument/2006/relationships/image" Target="../media/image11.png"/><Relationship Id="rId7" Type="http://schemas.openxmlformats.org/officeDocument/2006/relationships/image" Target="../media/image7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2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7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Relationship Id="rId9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12.tmp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.bin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3.bin"/><Relationship Id="rId39" Type="http://schemas.openxmlformats.org/officeDocument/2006/relationships/image" Target="../media/image28.wmf"/><Relationship Id="rId21" Type="http://schemas.openxmlformats.org/officeDocument/2006/relationships/image" Target="../media/image23.png"/><Relationship Id="rId34" Type="http://schemas.openxmlformats.org/officeDocument/2006/relationships/oleObject" Target="../embeddings/oleObject2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9.wmf"/><Relationship Id="rId17" Type="http://schemas.openxmlformats.org/officeDocument/2006/relationships/image" Target="../media/image21.wmf"/><Relationship Id="rId25" Type="http://schemas.openxmlformats.org/officeDocument/2006/relationships/oleObject" Target="../embeddings/oleObject22.bin"/><Relationship Id="rId33" Type="http://schemas.openxmlformats.org/officeDocument/2006/relationships/image" Target="../media/image25.wmf"/><Relationship Id="rId38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8.bin"/><Relationship Id="rId37" Type="http://schemas.openxmlformats.org/officeDocument/2006/relationships/image" Target="../media/image27.wmf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1.png"/><Relationship Id="rId23" Type="http://schemas.openxmlformats.org/officeDocument/2006/relationships/oleObject" Target="../embeddings/oleObject20.bin"/><Relationship Id="rId28" Type="http://schemas.openxmlformats.org/officeDocument/2006/relationships/oleObject" Target="../embeddings/oleObject25.bin"/><Relationship Id="rId36" Type="http://schemas.openxmlformats.org/officeDocument/2006/relationships/oleObject" Target="../embeddings/oleObject30.bin"/><Relationship Id="rId10" Type="http://schemas.openxmlformats.org/officeDocument/2006/relationships/image" Target="../media/image18.wmf"/><Relationship Id="rId19" Type="http://schemas.openxmlformats.org/officeDocument/2006/relationships/image" Target="../media/image22.png"/><Relationship Id="rId31" Type="http://schemas.openxmlformats.org/officeDocument/2006/relationships/image" Target="../media/image24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0.wmf"/><Relationship Id="rId22" Type="http://schemas.openxmlformats.org/officeDocument/2006/relationships/oleObject" Target="../embeddings/oleObject19.bin"/><Relationship Id="rId27" Type="http://schemas.openxmlformats.org/officeDocument/2006/relationships/oleObject" Target="../embeddings/oleObject24.bin"/><Relationship Id="rId30" Type="http://schemas.openxmlformats.org/officeDocument/2006/relationships/oleObject" Target="../embeddings/oleObject27.bin"/><Relationship Id="rId35" Type="http://schemas.openxmlformats.org/officeDocument/2006/relationships/image" Target="../media/image26.wmf"/><Relationship Id="rId8" Type="http://schemas.openxmlformats.org/officeDocument/2006/relationships/image" Target="../media/image17.wmf"/><Relationship Id="rId3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3.wmf"/><Relationship Id="rId3" Type="http://schemas.openxmlformats.org/officeDocument/2006/relationships/image" Target="../media/image35.jpeg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5.bin"/><Relationship Id="rId26" Type="http://schemas.openxmlformats.org/officeDocument/2006/relationships/oleObject" Target="../embeddings/oleObject49.bin"/><Relationship Id="rId3" Type="http://schemas.openxmlformats.org/officeDocument/2006/relationships/image" Target="../media/image50.gif"/><Relationship Id="rId21" Type="http://schemas.openxmlformats.org/officeDocument/2006/relationships/image" Target="../media/image44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2.wmf"/><Relationship Id="rId25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29" Type="http://schemas.openxmlformats.org/officeDocument/2006/relationships/image" Target="../media/image48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48.bin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28" Type="http://schemas.openxmlformats.org/officeDocument/2006/relationships/oleObject" Target="../embeddings/oleObject50.bin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3.wmf"/><Relationship Id="rId31" Type="http://schemas.openxmlformats.org/officeDocument/2006/relationships/image" Target="../media/image49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Relationship Id="rId27" Type="http://schemas.openxmlformats.org/officeDocument/2006/relationships/image" Target="../media/image47.wmf"/><Relationship Id="rId30" Type="http://schemas.openxmlformats.org/officeDocument/2006/relationships/oleObject" Target="../embeddings/oleObject51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7.bin"/><Relationship Id="rId18" Type="http://schemas.openxmlformats.org/officeDocument/2006/relationships/oleObject" Target="../embeddings/oleObject60.bin"/><Relationship Id="rId26" Type="http://schemas.openxmlformats.org/officeDocument/2006/relationships/oleObject" Target="../embeddings/oleObject64.bin"/><Relationship Id="rId39" Type="http://schemas.openxmlformats.org/officeDocument/2006/relationships/image" Target="../media/image65.wmf"/><Relationship Id="rId21" Type="http://schemas.openxmlformats.org/officeDocument/2006/relationships/image" Target="../media/image56.wmf"/><Relationship Id="rId34" Type="http://schemas.openxmlformats.org/officeDocument/2006/relationships/oleObject" Target="../embeddings/oleObject68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29" Type="http://schemas.openxmlformats.org/officeDocument/2006/relationships/image" Target="../media/image60.wmf"/><Relationship Id="rId41" Type="http://schemas.openxmlformats.org/officeDocument/2006/relationships/image" Target="../media/image6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png"/><Relationship Id="rId11" Type="http://schemas.openxmlformats.org/officeDocument/2006/relationships/oleObject" Target="../embeddings/oleObject55.bin"/><Relationship Id="rId24" Type="http://schemas.openxmlformats.org/officeDocument/2006/relationships/oleObject" Target="../embeddings/oleObject63.bin"/><Relationship Id="rId32" Type="http://schemas.openxmlformats.org/officeDocument/2006/relationships/oleObject" Target="../embeddings/oleObject67.bin"/><Relationship Id="rId37" Type="http://schemas.openxmlformats.org/officeDocument/2006/relationships/image" Target="../media/image64.wmf"/><Relationship Id="rId40" Type="http://schemas.openxmlformats.org/officeDocument/2006/relationships/oleObject" Target="../embeddings/oleObject71.bin"/><Relationship Id="rId5" Type="http://schemas.openxmlformats.org/officeDocument/2006/relationships/oleObject" Target="../embeddings/oleObject52.bin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28" Type="http://schemas.openxmlformats.org/officeDocument/2006/relationships/oleObject" Target="../embeddings/oleObject65.bin"/><Relationship Id="rId36" Type="http://schemas.openxmlformats.org/officeDocument/2006/relationships/oleObject" Target="../embeddings/oleObject69.bin"/><Relationship Id="rId10" Type="http://schemas.openxmlformats.org/officeDocument/2006/relationships/image" Target="../media/image52.wmf"/><Relationship Id="rId19" Type="http://schemas.openxmlformats.org/officeDocument/2006/relationships/image" Target="../media/image55.wmf"/><Relationship Id="rId31" Type="http://schemas.openxmlformats.org/officeDocument/2006/relationships/image" Target="../media/image61.wmf"/><Relationship Id="rId4" Type="http://schemas.openxmlformats.org/officeDocument/2006/relationships/image" Target="../media/image68.jpeg"/><Relationship Id="rId9" Type="http://schemas.openxmlformats.org/officeDocument/2006/relationships/oleObject" Target="../embeddings/oleObject54.bin"/><Relationship Id="rId14" Type="http://schemas.openxmlformats.org/officeDocument/2006/relationships/oleObject" Target="../embeddings/oleObject58.bin"/><Relationship Id="rId22" Type="http://schemas.openxmlformats.org/officeDocument/2006/relationships/oleObject" Target="../embeddings/oleObject62.bin"/><Relationship Id="rId27" Type="http://schemas.openxmlformats.org/officeDocument/2006/relationships/image" Target="../media/image59.wmf"/><Relationship Id="rId30" Type="http://schemas.openxmlformats.org/officeDocument/2006/relationships/oleObject" Target="../embeddings/oleObject66.bin"/><Relationship Id="rId35" Type="http://schemas.openxmlformats.org/officeDocument/2006/relationships/image" Target="../media/image63.wmf"/><Relationship Id="rId8" Type="http://schemas.openxmlformats.org/officeDocument/2006/relationships/image" Target="../media/image51.wmf"/><Relationship Id="rId3" Type="http://schemas.openxmlformats.org/officeDocument/2006/relationships/image" Target="../media/image67.jpeg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54.wmf"/><Relationship Id="rId25" Type="http://schemas.openxmlformats.org/officeDocument/2006/relationships/image" Target="../media/image58.wmf"/><Relationship Id="rId33" Type="http://schemas.openxmlformats.org/officeDocument/2006/relationships/image" Target="../media/image62.wmf"/><Relationship Id="rId38" Type="http://schemas.openxmlformats.org/officeDocument/2006/relationships/oleObject" Target="../embeddings/oleObject7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7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82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75.wmf"/><Relationship Id="rId26" Type="http://schemas.openxmlformats.org/officeDocument/2006/relationships/image" Target="../media/image79.w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78.wmf"/><Relationship Id="rId32" Type="http://schemas.openxmlformats.org/officeDocument/2006/relationships/image" Target="../media/image82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80.wmf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73.wmf"/><Relationship Id="rId22" Type="http://schemas.openxmlformats.org/officeDocument/2006/relationships/image" Target="../media/image77.w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81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wmf"/><Relationship Id="rId18" Type="http://schemas.openxmlformats.org/officeDocument/2006/relationships/oleObject" Target="../embeddings/oleObject109.bin"/><Relationship Id="rId26" Type="http://schemas.openxmlformats.org/officeDocument/2006/relationships/image" Target="../media/image93.wmf"/><Relationship Id="rId3" Type="http://schemas.openxmlformats.org/officeDocument/2006/relationships/oleObject" Target="../embeddings/oleObject100.bin"/><Relationship Id="rId21" Type="http://schemas.openxmlformats.org/officeDocument/2006/relationships/image" Target="../media/image91.emf"/><Relationship Id="rId7" Type="http://schemas.openxmlformats.org/officeDocument/2006/relationships/oleObject" Target="../embeddings/oleObject102.bin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89.emf"/><Relationship Id="rId25" Type="http://schemas.openxmlformats.org/officeDocument/2006/relationships/oleObject" Target="../embeddings/oleObject113.bin"/><Relationship Id="rId33" Type="http://schemas.openxmlformats.org/officeDocument/2006/relationships/image" Target="../media/image9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29" Type="http://schemas.openxmlformats.org/officeDocument/2006/relationships/image" Target="../media/image94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105.bin"/><Relationship Id="rId24" Type="http://schemas.openxmlformats.org/officeDocument/2006/relationships/oleObject" Target="../embeddings/oleObject112.bin"/><Relationship Id="rId32" Type="http://schemas.openxmlformats.org/officeDocument/2006/relationships/oleObject" Target="../embeddings/oleObject117.bin"/><Relationship Id="rId5" Type="http://schemas.openxmlformats.org/officeDocument/2006/relationships/oleObject" Target="../embeddings/oleObject101.bin"/><Relationship Id="rId15" Type="http://schemas.openxmlformats.org/officeDocument/2006/relationships/image" Target="../media/image88.wmf"/><Relationship Id="rId23" Type="http://schemas.openxmlformats.org/officeDocument/2006/relationships/image" Target="../media/image92.emf"/><Relationship Id="rId28" Type="http://schemas.openxmlformats.org/officeDocument/2006/relationships/oleObject" Target="../embeddings/oleObject115.bin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90.emf"/><Relationship Id="rId31" Type="http://schemas.openxmlformats.org/officeDocument/2006/relationships/image" Target="../media/image95.emf"/><Relationship Id="rId4" Type="http://schemas.openxmlformats.org/officeDocument/2006/relationships/image" Target="../media/image22.png"/><Relationship Id="rId9" Type="http://schemas.openxmlformats.org/officeDocument/2006/relationships/oleObject" Target="../embeddings/oleObject103.bin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oleObject" Target="../embeddings/oleObject114.bin"/><Relationship Id="rId30" Type="http://schemas.openxmlformats.org/officeDocument/2006/relationships/oleObject" Target="../embeddings/oleObject116.bin"/><Relationship Id="rId8" Type="http://schemas.openxmlformats.org/officeDocument/2006/relationships/image" Target="../media/image5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2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2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4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97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9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0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0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45.bin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41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1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51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46.bin"/><Relationship Id="rId21" Type="http://schemas.openxmlformats.org/officeDocument/2006/relationships/oleObject" Target="../embeddings/oleObject155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4.wmf"/><Relationship Id="rId20" Type="http://schemas.openxmlformats.org/officeDocument/2006/relationships/image" Target="../media/image122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54.bin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13.wmf"/><Relationship Id="rId22" Type="http://schemas.openxmlformats.org/officeDocument/2006/relationships/image" Target="../media/image12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5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63.bin"/><Relationship Id="rId25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60.bin"/><Relationship Id="rId24" Type="http://schemas.openxmlformats.org/officeDocument/2006/relationships/image" Target="../media/image134.wmf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6.bin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131.wmf"/><Relationship Id="rId26" Type="http://schemas.openxmlformats.org/officeDocument/2006/relationships/image" Target="../media/image137.wmf"/><Relationship Id="rId3" Type="http://schemas.openxmlformats.org/officeDocument/2006/relationships/oleObject" Target="../embeddings/oleObject168.bin"/><Relationship Id="rId21" Type="http://schemas.openxmlformats.org/officeDocument/2006/relationships/oleObject" Target="../embeddings/oleObject177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75.bin"/><Relationship Id="rId25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81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72.bin"/><Relationship Id="rId24" Type="http://schemas.openxmlformats.org/officeDocument/2006/relationships/image" Target="../media/image136.wmf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23" Type="http://schemas.openxmlformats.org/officeDocument/2006/relationships/oleObject" Target="../embeddings/oleObject178.bin"/><Relationship Id="rId28" Type="http://schemas.openxmlformats.org/officeDocument/2006/relationships/image" Target="../media/image138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76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80.bin"/><Relationship Id="rId30" Type="http://schemas.openxmlformats.org/officeDocument/2006/relationships/image" Target="../media/image13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131.wmf"/><Relationship Id="rId26" Type="http://schemas.openxmlformats.org/officeDocument/2006/relationships/image" Target="../media/image137.wmf"/><Relationship Id="rId3" Type="http://schemas.openxmlformats.org/officeDocument/2006/relationships/oleObject" Target="../embeddings/oleObject182.bin"/><Relationship Id="rId21" Type="http://schemas.openxmlformats.org/officeDocument/2006/relationships/oleObject" Target="../embeddings/oleObject191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89.bin"/><Relationship Id="rId25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95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86.bin"/><Relationship Id="rId24" Type="http://schemas.openxmlformats.org/officeDocument/2006/relationships/image" Target="../media/image136.wmf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23" Type="http://schemas.openxmlformats.org/officeDocument/2006/relationships/oleObject" Target="../embeddings/oleObject192.bin"/><Relationship Id="rId28" Type="http://schemas.openxmlformats.org/officeDocument/2006/relationships/image" Target="../media/image138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90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94.bin"/><Relationship Id="rId30" Type="http://schemas.openxmlformats.org/officeDocument/2006/relationships/image" Target="../media/image139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31.wmf"/><Relationship Id="rId26" Type="http://schemas.openxmlformats.org/officeDocument/2006/relationships/image" Target="../media/image137.wmf"/><Relationship Id="rId39" Type="http://schemas.openxmlformats.org/officeDocument/2006/relationships/oleObject" Target="../embeddings/oleObject214.bin"/><Relationship Id="rId21" Type="http://schemas.openxmlformats.org/officeDocument/2006/relationships/oleObject" Target="../embeddings/oleObject205.bin"/><Relationship Id="rId34" Type="http://schemas.openxmlformats.org/officeDocument/2006/relationships/image" Target="../media/image141.wmf"/><Relationship Id="rId42" Type="http://schemas.openxmlformats.org/officeDocument/2006/relationships/image" Target="../media/image145.wmf"/><Relationship Id="rId47" Type="http://schemas.openxmlformats.org/officeDocument/2006/relationships/oleObject" Target="../embeddings/oleObject218.bin"/><Relationship Id="rId50" Type="http://schemas.openxmlformats.org/officeDocument/2006/relationships/image" Target="../media/image149.wmf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9" Type="http://schemas.openxmlformats.org/officeDocument/2006/relationships/oleObject" Target="../embeddings/oleObject209.bin"/><Relationship Id="rId11" Type="http://schemas.openxmlformats.org/officeDocument/2006/relationships/oleObject" Target="../embeddings/oleObject200.bin"/><Relationship Id="rId24" Type="http://schemas.openxmlformats.org/officeDocument/2006/relationships/image" Target="../media/image136.wmf"/><Relationship Id="rId32" Type="http://schemas.openxmlformats.org/officeDocument/2006/relationships/image" Target="../media/image140.wmf"/><Relationship Id="rId37" Type="http://schemas.openxmlformats.org/officeDocument/2006/relationships/oleObject" Target="../embeddings/oleObject213.bin"/><Relationship Id="rId40" Type="http://schemas.openxmlformats.org/officeDocument/2006/relationships/image" Target="../media/image144.wmf"/><Relationship Id="rId45" Type="http://schemas.openxmlformats.org/officeDocument/2006/relationships/oleObject" Target="../embeddings/oleObject217.bin"/><Relationship Id="rId53" Type="http://schemas.openxmlformats.org/officeDocument/2006/relationships/oleObject" Target="../embeddings/oleObject221.bin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204.bin"/><Relationship Id="rId31" Type="http://schemas.openxmlformats.org/officeDocument/2006/relationships/oleObject" Target="../embeddings/oleObject210.bin"/><Relationship Id="rId44" Type="http://schemas.openxmlformats.org/officeDocument/2006/relationships/image" Target="../media/image146.wmf"/><Relationship Id="rId52" Type="http://schemas.openxmlformats.org/officeDocument/2006/relationships/image" Target="../media/image150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208.bin"/><Relationship Id="rId30" Type="http://schemas.openxmlformats.org/officeDocument/2006/relationships/image" Target="../media/image139.wmf"/><Relationship Id="rId35" Type="http://schemas.openxmlformats.org/officeDocument/2006/relationships/oleObject" Target="../embeddings/oleObject212.bin"/><Relationship Id="rId43" Type="http://schemas.openxmlformats.org/officeDocument/2006/relationships/oleObject" Target="../embeddings/oleObject216.bin"/><Relationship Id="rId48" Type="http://schemas.openxmlformats.org/officeDocument/2006/relationships/image" Target="../media/image148.wmf"/><Relationship Id="rId8" Type="http://schemas.openxmlformats.org/officeDocument/2006/relationships/image" Target="../media/image126.wmf"/><Relationship Id="rId51" Type="http://schemas.openxmlformats.org/officeDocument/2006/relationships/oleObject" Target="../embeddings/oleObject220.bin"/><Relationship Id="rId3" Type="http://schemas.openxmlformats.org/officeDocument/2006/relationships/oleObject" Target="../embeddings/oleObject196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203.bin"/><Relationship Id="rId25" Type="http://schemas.openxmlformats.org/officeDocument/2006/relationships/oleObject" Target="../embeddings/oleObject207.bin"/><Relationship Id="rId33" Type="http://schemas.openxmlformats.org/officeDocument/2006/relationships/oleObject" Target="../embeddings/oleObject211.bin"/><Relationship Id="rId38" Type="http://schemas.openxmlformats.org/officeDocument/2006/relationships/image" Target="../media/image143.wmf"/><Relationship Id="rId46" Type="http://schemas.openxmlformats.org/officeDocument/2006/relationships/image" Target="../media/image147.wmf"/><Relationship Id="rId20" Type="http://schemas.openxmlformats.org/officeDocument/2006/relationships/image" Target="../media/image132.wmf"/><Relationship Id="rId41" Type="http://schemas.openxmlformats.org/officeDocument/2006/relationships/oleObject" Target="../embeddings/oleObject215.bin"/><Relationship Id="rId54" Type="http://schemas.openxmlformats.org/officeDocument/2006/relationships/image" Target="../media/image15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5.wmf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6.bin"/><Relationship Id="rId28" Type="http://schemas.openxmlformats.org/officeDocument/2006/relationships/image" Target="../media/image138.wmf"/><Relationship Id="rId36" Type="http://schemas.openxmlformats.org/officeDocument/2006/relationships/image" Target="../media/image142.wmf"/><Relationship Id="rId49" Type="http://schemas.openxmlformats.org/officeDocument/2006/relationships/oleObject" Target="../embeddings/oleObject219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227.bin"/><Relationship Id="rId18" Type="http://schemas.openxmlformats.org/officeDocument/2006/relationships/oleObject" Target="../embeddings/oleObject229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157.wmf"/><Relationship Id="rId17" Type="http://schemas.openxmlformats.org/officeDocument/2006/relationships/image" Target="../media/image15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8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image" Target="../media/image161.jpeg"/><Relationship Id="rId10" Type="http://schemas.openxmlformats.org/officeDocument/2006/relationships/image" Target="../media/image156.wmf"/><Relationship Id="rId19" Type="http://schemas.openxmlformats.org/officeDocument/2006/relationships/image" Target="../media/image160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15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230.bin"/><Relationship Id="rId21" Type="http://schemas.openxmlformats.org/officeDocument/2006/relationships/oleObject" Target="../embeddings/oleObject239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237.bin"/><Relationship Id="rId25" Type="http://schemas.openxmlformats.org/officeDocument/2006/relationships/oleObject" Target="../embeddings/oleObject2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29" Type="http://schemas.openxmlformats.org/officeDocument/2006/relationships/oleObject" Target="../embeddings/oleObject243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234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28" Type="http://schemas.openxmlformats.org/officeDocument/2006/relationships/image" Target="../media/image174.wmf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Relationship Id="rId27" Type="http://schemas.openxmlformats.org/officeDocument/2006/relationships/oleObject" Target="../embeddings/oleObject242.bin"/><Relationship Id="rId30" Type="http://schemas.openxmlformats.org/officeDocument/2006/relationships/image" Target="../media/image17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13" Type="http://schemas.openxmlformats.org/officeDocument/2006/relationships/image" Target="../media/image180.wmf"/><Relationship Id="rId3" Type="http://schemas.openxmlformats.org/officeDocument/2006/relationships/image" Target="../media/image11.png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2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179.wmf"/><Relationship Id="rId5" Type="http://schemas.openxmlformats.org/officeDocument/2006/relationships/image" Target="../media/image176.wmf"/><Relationship Id="rId15" Type="http://schemas.openxmlformats.org/officeDocument/2006/relationships/image" Target="../media/image181.wmf"/><Relationship Id="rId10" Type="http://schemas.openxmlformats.org/officeDocument/2006/relationships/oleObject" Target="../embeddings/oleObject247.bin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24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255.bin"/><Relationship Id="rId3" Type="http://schemas.openxmlformats.org/officeDocument/2006/relationships/oleObject" Target="../embeddings/oleObject250.bin"/><Relationship Id="rId7" Type="http://schemas.openxmlformats.org/officeDocument/2006/relationships/oleObject" Target="../embeddings/oleObject252.bin"/><Relationship Id="rId12" Type="http://schemas.openxmlformats.org/officeDocument/2006/relationships/image" Target="../media/image1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254.bin"/><Relationship Id="rId5" Type="http://schemas.openxmlformats.org/officeDocument/2006/relationships/oleObject" Target="../embeddings/oleObject251.bin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253.bin"/><Relationship Id="rId14" Type="http://schemas.openxmlformats.org/officeDocument/2006/relationships/image" Target="../media/image18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12.tmp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image" Target="../media/image192.wmf"/><Relationship Id="rId3" Type="http://schemas.openxmlformats.org/officeDocument/2006/relationships/oleObject" Target="../embeddings/oleObject256.bin"/><Relationship Id="rId7" Type="http://schemas.openxmlformats.org/officeDocument/2006/relationships/image" Target="../media/image189.wmf"/><Relationship Id="rId12" Type="http://schemas.openxmlformats.org/officeDocument/2006/relationships/oleObject" Target="../embeddings/oleObject2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191.wmf"/><Relationship Id="rId5" Type="http://schemas.openxmlformats.org/officeDocument/2006/relationships/image" Target="../media/image11.png"/><Relationship Id="rId10" Type="http://schemas.openxmlformats.org/officeDocument/2006/relationships/oleObject" Target="../embeddings/oleObject259.bin"/><Relationship Id="rId4" Type="http://schemas.openxmlformats.org/officeDocument/2006/relationships/image" Target="../media/image188.wmf"/><Relationship Id="rId9" Type="http://schemas.openxmlformats.org/officeDocument/2006/relationships/image" Target="../media/image190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00.wmf"/><Relationship Id="rId26" Type="http://schemas.openxmlformats.org/officeDocument/2006/relationships/oleObject" Target="../embeddings/oleObject273.bin"/><Relationship Id="rId21" Type="http://schemas.openxmlformats.org/officeDocument/2006/relationships/oleObject" Target="../embeddings/oleObject270.bin"/><Relationship Id="rId34" Type="http://schemas.openxmlformats.org/officeDocument/2006/relationships/oleObject" Target="../embeddings/oleObject277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68.bin"/><Relationship Id="rId25" Type="http://schemas.openxmlformats.org/officeDocument/2006/relationships/oleObject" Target="../embeddings/oleObject272.bin"/><Relationship Id="rId3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wmf"/><Relationship Id="rId20" Type="http://schemas.openxmlformats.org/officeDocument/2006/relationships/image" Target="../media/image201.wmf"/><Relationship Id="rId29" Type="http://schemas.openxmlformats.org/officeDocument/2006/relationships/image" Target="../media/image205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65.bin"/><Relationship Id="rId24" Type="http://schemas.openxmlformats.org/officeDocument/2006/relationships/image" Target="../media/image203.wmf"/><Relationship Id="rId32" Type="http://schemas.openxmlformats.org/officeDocument/2006/relationships/oleObject" Target="../embeddings/oleObject276.bin"/><Relationship Id="rId37" Type="http://schemas.openxmlformats.org/officeDocument/2006/relationships/image" Target="../media/image208.wmf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23" Type="http://schemas.openxmlformats.org/officeDocument/2006/relationships/oleObject" Target="../embeddings/oleObject271.bin"/><Relationship Id="rId28" Type="http://schemas.openxmlformats.org/officeDocument/2006/relationships/oleObject" Target="../embeddings/oleObject274.bin"/><Relationship Id="rId36" Type="http://schemas.openxmlformats.org/officeDocument/2006/relationships/oleObject" Target="../embeddings/oleObject278.bin"/><Relationship Id="rId10" Type="http://schemas.openxmlformats.org/officeDocument/2006/relationships/image" Target="../media/image196.wmf"/><Relationship Id="rId19" Type="http://schemas.openxmlformats.org/officeDocument/2006/relationships/oleObject" Target="../embeddings/oleObject269.bin"/><Relationship Id="rId31" Type="http://schemas.openxmlformats.org/officeDocument/2006/relationships/image" Target="../media/image206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198.wmf"/><Relationship Id="rId22" Type="http://schemas.openxmlformats.org/officeDocument/2006/relationships/image" Target="../media/image202.wmf"/><Relationship Id="rId27" Type="http://schemas.openxmlformats.org/officeDocument/2006/relationships/image" Target="../media/image204.wmf"/><Relationship Id="rId30" Type="http://schemas.openxmlformats.org/officeDocument/2006/relationships/oleObject" Target="../embeddings/oleObject275.bin"/><Relationship Id="rId35" Type="http://schemas.openxmlformats.org/officeDocument/2006/relationships/image" Target="../media/image207.wmf"/><Relationship Id="rId8" Type="http://schemas.openxmlformats.org/officeDocument/2006/relationships/image" Target="../media/image195.wmf"/><Relationship Id="rId3" Type="http://schemas.openxmlformats.org/officeDocument/2006/relationships/oleObject" Target="../embeddings/oleObject261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4.bin"/><Relationship Id="rId18" Type="http://schemas.openxmlformats.org/officeDocument/2006/relationships/image" Target="../media/image203.wmf"/><Relationship Id="rId26" Type="http://schemas.openxmlformats.org/officeDocument/2006/relationships/oleObject" Target="../embeddings/oleObject291.bin"/><Relationship Id="rId39" Type="http://schemas.openxmlformats.org/officeDocument/2006/relationships/image" Target="../media/image216.wmf"/><Relationship Id="rId21" Type="http://schemas.openxmlformats.org/officeDocument/2006/relationships/image" Target="../media/image204.wmf"/><Relationship Id="rId34" Type="http://schemas.openxmlformats.org/officeDocument/2006/relationships/oleObject" Target="../embeddings/oleObject295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286.bin"/><Relationship Id="rId25" Type="http://schemas.openxmlformats.org/officeDocument/2006/relationships/image" Target="../media/image206.wmf"/><Relationship Id="rId33" Type="http://schemas.openxmlformats.org/officeDocument/2006/relationships/image" Target="../media/image213.wmf"/><Relationship Id="rId38" Type="http://schemas.openxmlformats.org/officeDocument/2006/relationships/oleObject" Target="../embeddings/oleObject2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2.wmf"/><Relationship Id="rId20" Type="http://schemas.openxmlformats.org/officeDocument/2006/relationships/oleObject" Target="../embeddings/oleObject288.bin"/><Relationship Id="rId29" Type="http://schemas.openxmlformats.org/officeDocument/2006/relationships/image" Target="../media/image207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83.bin"/><Relationship Id="rId24" Type="http://schemas.openxmlformats.org/officeDocument/2006/relationships/oleObject" Target="../embeddings/oleObject290.bin"/><Relationship Id="rId32" Type="http://schemas.openxmlformats.org/officeDocument/2006/relationships/oleObject" Target="../embeddings/oleObject294.bin"/><Relationship Id="rId37" Type="http://schemas.openxmlformats.org/officeDocument/2006/relationships/image" Target="../media/image215.wmf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23" Type="http://schemas.openxmlformats.org/officeDocument/2006/relationships/image" Target="../media/image205.wmf"/><Relationship Id="rId28" Type="http://schemas.openxmlformats.org/officeDocument/2006/relationships/oleObject" Target="../embeddings/oleObject292.bin"/><Relationship Id="rId36" Type="http://schemas.openxmlformats.org/officeDocument/2006/relationships/oleObject" Target="../embeddings/oleObject296.bin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287.bin"/><Relationship Id="rId31" Type="http://schemas.openxmlformats.org/officeDocument/2006/relationships/image" Target="../media/image208.wmf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201.wmf"/><Relationship Id="rId22" Type="http://schemas.openxmlformats.org/officeDocument/2006/relationships/oleObject" Target="../embeddings/oleObject289.bin"/><Relationship Id="rId27" Type="http://schemas.openxmlformats.org/officeDocument/2006/relationships/image" Target="../media/image22.png"/><Relationship Id="rId30" Type="http://schemas.openxmlformats.org/officeDocument/2006/relationships/oleObject" Target="../embeddings/oleObject293.bin"/><Relationship Id="rId35" Type="http://schemas.openxmlformats.org/officeDocument/2006/relationships/image" Target="../media/image214.wmf"/><Relationship Id="rId8" Type="http://schemas.openxmlformats.org/officeDocument/2006/relationships/image" Target="../media/image211.wmf"/><Relationship Id="rId3" Type="http://schemas.openxmlformats.org/officeDocument/2006/relationships/oleObject" Target="../embeddings/oleObject279.bin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4.bin"/><Relationship Id="rId18" Type="http://schemas.openxmlformats.org/officeDocument/2006/relationships/oleObject" Target="../embeddings/oleObject307.bin"/><Relationship Id="rId26" Type="http://schemas.openxmlformats.org/officeDocument/2006/relationships/oleObject" Target="../embeddings/oleObject311.bin"/><Relationship Id="rId3" Type="http://schemas.openxmlformats.org/officeDocument/2006/relationships/oleObject" Target="../embeddings/oleObject298.bin"/><Relationship Id="rId21" Type="http://schemas.openxmlformats.org/officeDocument/2006/relationships/image" Target="../media/image224.wmf"/><Relationship Id="rId34" Type="http://schemas.openxmlformats.org/officeDocument/2006/relationships/image" Target="../media/image229.emf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306.bin"/><Relationship Id="rId25" Type="http://schemas.openxmlformats.org/officeDocument/2006/relationships/image" Target="../media/image226.wmf"/><Relationship Id="rId33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wmf"/><Relationship Id="rId20" Type="http://schemas.openxmlformats.org/officeDocument/2006/relationships/oleObject" Target="../embeddings/oleObject308.bin"/><Relationship Id="rId29" Type="http://schemas.openxmlformats.org/officeDocument/2006/relationships/oleObject" Target="../embeddings/oleObject313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303.bin"/><Relationship Id="rId24" Type="http://schemas.openxmlformats.org/officeDocument/2006/relationships/oleObject" Target="../embeddings/oleObject310.bin"/><Relationship Id="rId32" Type="http://schemas.openxmlformats.org/officeDocument/2006/relationships/image" Target="../media/image228.wmf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5.bin"/><Relationship Id="rId23" Type="http://schemas.openxmlformats.org/officeDocument/2006/relationships/image" Target="../media/image225.wmf"/><Relationship Id="rId28" Type="http://schemas.openxmlformats.org/officeDocument/2006/relationships/oleObject" Target="../embeddings/oleObject312.bin"/><Relationship Id="rId36" Type="http://schemas.openxmlformats.org/officeDocument/2006/relationships/image" Target="../media/image230.emf"/><Relationship Id="rId10" Type="http://schemas.openxmlformats.org/officeDocument/2006/relationships/oleObject" Target="../embeddings/oleObject302.bin"/><Relationship Id="rId19" Type="http://schemas.openxmlformats.org/officeDocument/2006/relationships/image" Target="../media/image223.wmf"/><Relationship Id="rId31" Type="http://schemas.openxmlformats.org/officeDocument/2006/relationships/oleObject" Target="../embeddings/oleObject314.bin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21.wmf"/><Relationship Id="rId22" Type="http://schemas.openxmlformats.org/officeDocument/2006/relationships/oleObject" Target="../embeddings/oleObject309.bin"/><Relationship Id="rId27" Type="http://schemas.openxmlformats.org/officeDocument/2006/relationships/image" Target="../media/image163.wmf"/><Relationship Id="rId30" Type="http://schemas.openxmlformats.org/officeDocument/2006/relationships/image" Target="../media/image227.wmf"/><Relationship Id="rId35" Type="http://schemas.openxmlformats.org/officeDocument/2006/relationships/oleObject" Target="../embeddings/oleObject316.bin"/><Relationship Id="rId8" Type="http://schemas.openxmlformats.org/officeDocument/2006/relationships/image" Target="../media/image21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322.bin"/><Relationship Id="rId18" Type="http://schemas.openxmlformats.org/officeDocument/2006/relationships/image" Target="../media/image218.wmf"/><Relationship Id="rId26" Type="http://schemas.openxmlformats.org/officeDocument/2006/relationships/image" Target="../media/image236.emf"/><Relationship Id="rId3" Type="http://schemas.openxmlformats.org/officeDocument/2006/relationships/oleObject" Target="../embeddings/oleObject317.bin"/><Relationship Id="rId21" Type="http://schemas.openxmlformats.org/officeDocument/2006/relationships/oleObject" Target="../embeddings/oleObject326.bin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225.wmf"/><Relationship Id="rId17" Type="http://schemas.openxmlformats.org/officeDocument/2006/relationships/oleObject" Target="../embeddings/oleObject324.bin"/><Relationship Id="rId25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20" Type="http://schemas.openxmlformats.org/officeDocument/2006/relationships/image" Target="../media/image227.wmf"/><Relationship Id="rId29" Type="http://schemas.openxmlformats.org/officeDocument/2006/relationships/oleObject" Target="../embeddings/oleObject331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321.bin"/><Relationship Id="rId24" Type="http://schemas.openxmlformats.org/officeDocument/2006/relationships/image" Target="../media/image235.emf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3.bin"/><Relationship Id="rId23" Type="http://schemas.openxmlformats.org/officeDocument/2006/relationships/oleObject" Target="../embeddings/oleObject327.bin"/><Relationship Id="rId28" Type="http://schemas.openxmlformats.org/officeDocument/2006/relationships/oleObject" Target="../embeddings/oleObject330.bin"/><Relationship Id="rId10" Type="http://schemas.openxmlformats.org/officeDocument/2006/relationships/image" Target="../media/image234.wmf"/><Relationship Id="rId19" Type="http://schemas.openxmlformats.org/officeDocument/2006/relationships/oleObject" Target="../embeddings/oleObject325.bin"/><Relationship Id="rId31" Type="http://schemas.openxmlformats.org/officeDocument/2006/relationships/image" Target="../media/image237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226.wmf"/><Relationship Id="rId22" Type="http://schemas.openxmlformats.org/officeDocument/2006/relationships/image" Target="../media/image228.wmf"/><Relationship Id="rId27" Type="http://schemas.openxmlformats.org/officeDocument/2006/relationships/oleObject" Target="../embeddings/oleObject329.bin"/><Relationship Id="rId30" Type="http://schemas.openxmlformats.org/officeDocument/2006/relationships/oleObject" Target="../embeddings/oleObject33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338.bin"/><Relationship Id="rId18" Type="http://schemas.openxmlformats.org/officeDocument/2006/relationships/image" Target="../media/image245.wmf"/><Relationship Id="rId26" Type="http://schemas.openxmlformats.org/officeDocument/2006/relationships/image" Target="../media/image249.wmf"/><Relationship Id="rId3" Type="http://schemas.openxmlformats.org/officeDocument/2006/relationships/oleObject" Target="../embeddings/oleObject333.bin"/><Relationship Id="rId21" Type="http://schemas.openxmlformats.org/officeDocument/2006/relationships/oleObject" Target="../embeddings/oleObject342.bin"/><Relationship Id="rId7" Type="http://schemas.openxmlformats.org/officeDocument/2006/relationships/oleObject" Target="../embeddings/oleObject335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340.bin"/><Relationship Id="rId25" Type="http://schemas.openxmlformats.org/officeDocument/2006/relationships/oleObject" Target="../embeddings/oleObject3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4.wmf"/><Relationship Id="rId20" Type="http://schemas.openxmlformats.org/officeDocument/2006/relationships/image" Target="../media/image24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337.bin"/><Relationship Id="rId24" Type="http://schemas.openxmlformats.org/officeDocument/2006/relationships/image" Target="../media/image248.wmf"/><Relationship Id="rId5" Type="http://schemas.openxmlformats.org/officeDocument/2006/relationships/oleObject" Target="../embeddings/oleObject334.bin"/><Relationship Id="rId15" Type="http://schemas.openxmlformats.org/officeDocument/2006/relationships/oleObject" Target="../embeddings/oleObject339.bin"/><Relationship Id="rId23" Type="http://schemas.openxmlformats.org/officeDocument/2006/relationships/oleObject" Target="../embeddings/oleObject343.bin"/><Relationship Id="rId10" Type="http://schemas.openxmlformats.org/officeDocument/2006/relationships/image" Target="../media/image241.wmf"/><Relationship Id="rId19" Type="http://schemas.openxmlformats.org/officeDocument/2006/relationships/oleObject" Target="../embeddings/oleObject341.bin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336.bin"/><Relationship Id="rId14" Type="http://schemas.openxmlformats.org/officeDocument/2006/relationships/image" Target="../media/image243.wmf"/><Relationship Id="rId22" Type="http://schemas.openxmlformats.org/officeDocument/2006/relationships/image" Target="../media/image247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13" Type="http://schemas.openxmlformats.org/officeDocument/2006/relationships/image" Target="../media/image254.wmf"/><Relationship Id="rId18" Type="http://schemas.openxmlformats.org/officeDocument/2006/relationships/image" Target="../media/image257.jpeg"/><Relationship Id="rId3" Type="http://schemas.openxmlformats.org/officeDocument/2006/relationships/oleObject" Target="../embeddings/oleObject345.bin"/><Relationship Id="rId21" Type="http://schemas.openxmlformats.org/officeDocument/2006/relationships/oleObject" Target="../embeddings/oleObject353.bin"/><Relationship Id="rId7" Type="http://schemas.openxmlformats.org/officeDocument/2006/relationships/oleObject" Target="../embeddings/oleObject347.bin"/><Relationship Id="rId12" Type="http://schemas.openxmlformats.org/officeDocument/2006/relationships/oleObject" Target="../embeddings/oleObject349.bin"/><Relationship Id="rId17" Type="http://schemas.openxmlformats.org/officeDocument/2006/relationships/image" Target="../media/image2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1.bin"/><Relationship Id="rId20" Type="http://schemas.openxmlformats.org/officeDocument/2006/relationships/image" Target="../media/image245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51.wmf"/><Relationship Id="rId11" Type="http://schemas.openxmlformats.org/officeDocument/2006/relationships/image" Target="../media/image253.wmf"/><Relationship Id="rId5" Type="http://schemas.openxmlformats.org/officeDocument/2006/relationships/oleObject" Target="../embeddings/oleObject346.bin"/><Relationship Id="rId15" Type="http://schemas.openxmlformats.org/officeDocument/2006/relationships/image" Target="../media/image255.wmf"/><Relationship Id="rId10" Type="http://schemas.openxmlformats.org/officeDocument/2006/relationships/oleObject" Target="../embeddings/oleObject348.bin"/><Relationship Id="rId19" Type="http://schemas.openxmlformats.org/officeDocument/2006/relationships/oleObject" Target="../embeddings/oleObject352.bin"/><Relationship Id="rId4" Type="http://schemas.openxmlformats.org/officeDocument/2006/relationships/image" Target="../media/image250.wmf"/><Relationship Id="rId9" Type="http://schemas.openxmlformats.org/officeDocument/2006/relationships/image" Target="../media/image67.jpeg"/><Relationship Id="rId14" Type="http://schemas.openxmlformats.org/officeDocument/2006/relationships/oleObject" Target="../embeddings/oleObject350.bin"/><Relationship Id="rId22" Type="http://schemas.openxmlformats.org/officeDocument/2006/relationships/image" Target="../media/image25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oleObject" Target="../embeddings/oleObject354.bin"/><Relationship Id="rId7" Type="http://schemas.openxmlformats.org/officeDocument/2006/relationships/oleObject" Target="../embeddings/oleObject3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355.bin"/><Relationship Id="rId4" Type="http://schemas.openxmlformats.org/officeDocument/2006/relationships/image" Target="../media/image25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362.bin"/><Relationship Id="rId18" Type="http://schemas.openxmlformats.org/officeDocument/2006/relationships/oleObject" Target="../embeddings/oleObject366.bin"/><Relationship Id="rId3" Type="http://schemas.openxmlformats.org/officeDocument/2006/relationships/oleObject" Target="../embeddings/oleObject357.bin"/><Relationship Id="rId7" Type="http://schemas.openxmlformats.org/officeDocument/2006/relationships/oleObject" Target="../embeddings/oleObject359.bin"/><Relationship Id="rId12" Type="http://schemas.openxmlformats.org/officeDocument/2006/relationships/image" Target="../media/image263.wmf"/><Relationship Id="rId17" Type="http://schemas.openxmlformats.org/officeDocument/2006/relationships/oleObject" Target="../embeddings/oleObject36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4.bin"/><Relationship Id="rId20" Type="http://schemas.openxmlformats.org/officeDocument/2006/relationships/image" Target="../media/image265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361.bin"/><Relationship Id="rId5" Type="http://schemas.openxmlformats.org/officeDocument/2006/relationships/oleObject" Target="../embeddings/oleObject358.bin"/><Relationship Id="rId15" Type="http://schemas.openxmlformats.org/officeDocument/2006/relationships/oleObject" Target="../embeddings/oleObject363.bin"/><Relationship Id="rId10" Type="http://schemas.openxmlformats.org/officeDocument/2006/relationships/image" Target="../media/image262.wmf"/><Relationship Id="rId19" Type="http://schemas.openxmlformats.org/officeDocument/2006/relationships/oleObject" Target="../embeddings/oleObject367.bin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360.bin"/><Relationship Id="rId14" Type="http://schemas.openxmlformats.org/officeDocument/2006/relationships/image" Target="../media/image26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0.bin"/><Relationship Id="rId13" Type="http://schemas.openxmlformats.org/officeDocument/2006/relationships/image" Target="../media/image231.wmf"/><Relationship Id="rId3" Type="http://schemas.openxmlformats.org/officeDocument/2006/relationships/image" Target="../media/image11.png"/><Relationship Id="rId7" Type="http://schemas.openxmlformats.org/officeDocument/2006/relationships/image" Target="../media/image267.wmf"/><Relationship Id="rId12" Type="http://schemas.openxmlformats.org/officeDocument/2006/relationships/oleObject" Target="../embeddings/oleObject372.bin"/><Relationship Id="rId17" Type="http://schemas.openxmlformats.org/officeDocument/2006/relationships/image" Target="../media/image2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4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69.bin"/><Relationship Id="rId11" Type="http://schemas.openxmlformats.org/officeDocument/2006/relationships/image" Target="../media/image269.wmf"/><Relationship Id="rId5" Type="http://schemas.openxmlformats.org/officeDocument/2006/relationships/image" Target="../media/image266.wmf"/><Relationship Id="rId15" Type="http://schemas.openxmlformats.org/officeDocument/2006/relationships/image" Target="../media/image258.wmf"/><Relationship Id="rId10" Type="http://schemas.openxmlformats.org/officeDocument/2006/relationships/oleObject" Target="../embeddings/oleObject371.bin"/><Relationship Id="rId4" Type="http://schemas.openxmlformats.org/officeDocument/2006/relationships/oleObject" Target="../embeddings/oleObject368.bin"/><Relationship Id="rId9" Type="http://schemas.openxmlformats.org/officeDocument/2006/relationships/image" Target="../media/image268.wmf"/><Relationship Id="rId14" Type="http://schemas.openxmlformats.org/officeDocument/2006/relationships/oleObject" Target="../embeddings/oleObject373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7.bin"/><Relationship Id="rId3" Type="http://schemas.openxmlformats.org/officeDocument/2006/relationships/image" Target="../media/image11.png"/><Relationship Id="rId7" Type="http://schemas.openxmlformats.org/officeDocument/2006/relationships/image" Target="../media/image2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76.bin"/><Relationship Id="rId11" Type="http://schemas.openxmlformats.org/officeDocument/2006/relationships/image" Target="../media/image273.wmf"/><Relationship Id="rId5" Type="http://schemas.openxmlformats.org/officeDocument/2006/relationships/image" Target="../media/image270.wmf"/><Relationship Id="rId10" Type="http://schemas.openxmlformats.org/officeDocument/2006/relationships/oleObject" Target="../embeddings/oleObject378.bin"/><Relationship Id="rId4" Type="http://schemas.openxmlformats.org/officeDocument/2006/relationships/oleObject" Target="../embeddings/oleObject375.bin"/><Relationship Id="rId9" Type="http://schemas.openxmlformats.org/officeDocument/2006/relationships/image" Target="../media/image27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13" Type="http://schemas.openxmlformats.org/officeDocument/2006/relationships/oleObject" Target="../embeddings/oleObject384.bin"/><Relationship Id="rId18" Type="http://schemas.openxmlformats.org/officeDocument/2006/relationships/image" Target="../media/image281.wmf"/><Relationship Id="rId26" Type="http://schemas.openxmlformats.org/officeDocument/2006/relationships/oleObject" Target="../embeddings/oleObject393.bin"/><Relationship Id="rId3" Type="http://schemas.openxmlformats.org/officeDocument/2006/relationships/oleObject" Target="../embeddings/oleObject379.bin"/><Relationship Id="rId21" Type="http://schemas.openxmlformats.org/officeDocument/2006/relationships/oleObject" Target="../embeddings/oleObject389.bin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278.wmf"/><Relationship Id="rId17" Type="http://schemas.openxmlformats.org/officeDocument/2006/relationships/oleObject" Target="../embeddings/oleObject386.bin"/><Relationship Id="rId25" Type="http://schemas.openxmlformats.org/officeDocument/2006/relationships/oleObject" Target="../embeddings/oleObject3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0.wmf"/><Relationship Id="rId20" Type="http://schemas.openxmlformats.org/officeDocument/2006/relationships/oleObject" Target="../embeddings/oleObject388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75.wmf"/><Relationship Id="rId11" Type="http://schemas.openxmlformats.org/officeDocument/2006/relationships/oleObject" Target="../embeddings/oleObject383.bin"/><Relationship Id="rId24" Type="http://schemas.openxmlformats.org/officeDocument/2006/relationships/oleObject" Target="../embeddings/oleObject391.bin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23" Type="http://schemas.openxmlformats.org/officeDocument/2006/relationships/oleObject" Target="../embeddings/oleObject390.bin"/><Relationship Id="rId10" Type="http://schemas.openxmlformats.org/officeDocument/2006/relationships/image" Target="../media/image277.wmf"/><Relationship Id="rId19" Type="http://schemas.openxmlformats.org/officeDocument/2006/relationships/oleObject" Target="../embeddings/oleObject387.bin"/><Relationship Id="rId4" Type="http://schemas.openxmlformats.org/officeDocument/2006/relationships/image" Target="../media/image274.w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279.wmf"/><Relationship Id="rId22" Type="http://schemas.openxmlformats.org/officeDocument/2006/relationships/image" Target="../media/image267.wmf"/><Relationship Id="rId27" Type="http://schemas.openxmlformats.org/officeDocument/2006/relationships/image" Target="../media/image28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6.bin"/><Relationship Id="rId13" Type="http://schemas.openxmlformats.org/officeDocument/2006/relationships/image" Target="../media/image287.wmf"/><Relationship Id="rId18" Type="http://schemas.openxmlformats.org/officeDocument/2006/relationships/oleObject" Target="../embeddings/oleObject401.bin"/><Relationship Id="rId26" Type="http://schemas.openxmlformats.org/officeDocument/2006/relationships/oleObject" Target="../embeddings/oleObject408.bin"/><Relationship Id="rId3" Type="http://schemas.openxmlformats.org/officeDocument/2006/relationships/image" Target="../media/image11.png"/><Relationship Id="rId21" Type="http://schemas.openxmlformats.org/officeDocument/2006/relationships/image" Target="../media/image23.png"/><Relationship Id="rId7" Type="http://schemas.openxmlformats.org/officeDocument/2006/relationships/image" Target="../media/image284.wmf"/><Relationship Id="rId12" Type="http://schemas.openxmlformats.org/officeDocument/2006/relationships/oleObject" Target="../embeddings/oleObject398.bin"/><Relationship Id="rId17" Type="http://schemas.openxmlformats.org/officeDocument/2006/relationships/image" Target="../media/image22.png"/><Relationship Id="rId25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0.bin"/><Relationship Id="rId20" Type="http://schemas.openxmlformats.org/officeDocument/2006/relationships/oleObject" Target="../embeddings/oleObject403.bin"/><Relationship Id="rId29" Type="http://schemas.openxmlformats.org/officeDocument/2006/relationships/image" Target="../media/image290.wmf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95.bin"/><Relationship Id="rId11" Type="http://schemas.openxmlformats.org/officeDocument/2006/relationships/image" Target="../media/image286.wmf"/><Relationship Id="rId24" Type="http://schemas.openxmlformats.org/officeDocument/2006/relationships/oleObject" Target="../embeddings/oleObject406.bin"/><Relationship Id="rId5" Type="http://schemas.openxmlformats.org/officeDocument/2006/relationships/image" Target="../media/image283.wmf"/><Relationship Id="rId15" Type="http://schemas.openxmlformats.org/officeDocument/2006/relationships/image" Target="../media/image288.wmf"/><Relationship Id="rId23" Type="http://schemas.openxmlformats.org/officeDocument/2006/relationships/oleObject" Target="../embeddings/oleObject405.bin"/><Relationship Id="rId28" Type="http://schemas.openxmlformats.org/officeDocument/2006/relationships/oleObject" Target="../embeddings/oleObject409.bin"/><Relationship Id="rId10" Type="http://schemas.openxmlformats.org/officeDocument/2006/relationships/oleObject" Target="../embeddings/oleObject397.bin"/><Relationship Id="rId19" Type="http://schemas.openxmlformats.org/officeDocument/2006/relationships/oleObject" Target="../embeddings/oleObject402.bin"/><Relationship Id="rId31" Type="http://schemas.openxmlformats.org/officeDocument/2006/relationships/image" Target="../media/image291.wmf"/><Relationship Id="rId4" Type="http://schemas.openxmlformats.org/officeDocument/2006/relationships/oleObject" Target="../embeddings/oleObject394.bin"/><Relationship Id="rId9" Type="http://schemas.openxmlformats.org/officeDocument/2006/relationships/image" Target="../media/image285.wmf"/><Relationship Id="rId14" Type="http://schemas.openxmlformats.org/officeDocument/2006/relationships/oleObject" Target="../embeddings/oleObject399.bin"/><Relationship Id="rId22" Type="http://schemas.openxmlformats.org/officeDocument/2006/relationships/oleObject" Target="../embeddings/oleObject404.bin"/><Relationship Id="rId27" Type="http://schemas.openxmlformats.org/officeDocument/2006/relationships/image" Target="../media/image289.wmf"/><Relationship Id="rId30" Type="http://schemas.openxmlformats.org/officeDocument/2006/relationships/oleObject" Target="../embeddings/oleObject41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13" Type="http://schemas.openxmlformats.org/officeDocument/2006/relationships/oleObject" Target="../embeddings/oleObject416.bin"/><Relationship Id="rId3" Type="http://schemas.openxmlformats.org/officeDocument/2006/relationships/oleObject" Target="../embeddings/oleObject411.bin"/><Relationship Id="rId7" Type="http://schemas.openxmlformats.org/officeDocument/2006/relationships/oleObject" Target="../embeddings/oleObject413.bin"/><Relationship Id="rId12" Type="http://schemas.openxmlformats.org/officeDocument/2006/relationships/image" Target="../media/image2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93.wmf"/><Relationship Id="rId11" Type="http://schemas.openxmlformats.org/officeDocument/2006/relationships/oleObject" Target="../embeddings/oleObject415.bin"/><Relationship Id="rId5" Type="http://schemas.openxmlformats.org/officeDocument/2006/relationships/oleObject" Target="../embeddings/oleObject412.bin"/><Relationship Id="rId15" Type="http://schemas.openxmlformats.org/officeDocument/2006/relationships/image" Target="../media/image11.png"/><Relationship Id="rId10" Type="http://schemas.openxmlformats.org/officeDocument/2006/relationships/image" Target="../media/image295.wmf"/><Relationship Id="rId4" Type="http://schemas.openxmlformats.org/officeDocument/2006/relationships/image" Target="../media/image292.wmf"/><Relationship Id="rId9" Type="http://schemas.openxmlformats.org/officeDocument/2006/relationships/oleObject" Target="../embeddings/oleObject414.bin"/><Relationship Id="rId14" Type="http://schemas.openxmlformats.org/officeDocument/2006/relationships/image" Target="../media/image297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417.bin"/><Relationship Id="rId7" Type="http://schemas.openxmlformats.org/officeDocument/2006/relationships/oleObject" Target="../embeddings/oleObject419.bin"/><Relationship Id="rId12" Type="http://schemas.openxmlformats.org/officeDocument/2006/relationships/image" Target="../media/image3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421.bin"/><Relationship Id="rId5" Type="http://schemas.openxmlformats.org/officeDocument/2006/relationships/oleObject" Target="../embeddings/oleObject418.bin"/><Relationship Id="rId10" Type="http://schemas.openxmlformats.org/officeDocument/2006/relationships/image" Target="../media/image301.wmf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420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30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5.jpeg"/><Relationship Id="rId4" Type="http://schemas.openxmlformats.org/officeDocument/2006/relationships/image" Target="../media/image304.jpe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2.tmp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305.jpeg"/><Relationship Id="rId2" Type="http://schemas.openxmlformats.org/officeDocument/2006/relationships/tags" Target="../tags/tag47.xml"/><Relationship Id="rId16" Type="http://schemas.openxmlformats.org/officeDocument/2006/relationships/image" Target="../media/image304.jpe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68.jpeg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303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oleObject" Target="../embeddings/oleObject427.bin"/><Relationship Id="rId3" Type="http://schemas.openxmlformats.org/officeDocument/2006/relationships/oleObject" Target="../embeddings/oleObject422.bin"/><Relationship Id="rId7" Type="http://schemas.openxmlformats.org/officeDocument/2006/relationships/oleObject" Target="../embeddings/oleObject424.bin"/><Relationship Id="rId12" Type="http://schemas.openxmlformats.org/officeDocument/2006/relationships/image" Target="../media/image3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426.bin"/><Relationship Id="rId5" Type="http://schemas.openxmlformats.org/officeDocument/2006/relationships/oleObject" Target="../embeddings/oleObject423.bin"/><Relationship Id="rId10" Type="http://schemas.openxmlformats.org/officeDocument/2006/relationships/image" Target="../media/image309.wmf"/><Relationship Id="rId4" Type="http://schemas.openxmlformats.org/officeDocument/2006/relationships/image" Target="../media/image306.wmf"/><Relationship Id="rId9" Type="http://schemas.openxmlformats.org/officeDocument/2006/relationships/oleObject" Target="../embeddings/oleObject425.bin"/><Relationship Id="rId14" Type="http://schemas.openxmlformats.org/officeDocument/2006/relationships/image" Target="../media/image311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13" Type="http://schemas.openxmlformats.org/officeDocument/2006/relationships/oleObject" Target="../embeddings/oleObject433.bin"/><Relationship Id="rId18" Type="http://schemas.openxmlformats.org/officeDocument/2006/relationships/image" Target="../media/image314.wmf"/><Relationship Id="rId26" Type="http://schemas.openxmlformats.org/officeDocument/2006/relationships/image" Target="../media/image318.wmf"/><Relationship Id="rId3" Type="http://schemas.openxmlformats.org/officeDocument/2006/relationships/oleObject" Target="../embeddings/oleObject428.bin"/><Relationship Id="rId21" Type="http://schemas.openxmlformats.org/officeDocument/2006/relationships/oleObject" Target="../embeddings/oleObject437.bin"/><Relationship Id="rId7" Type="http://schemas.openxmlformats.org/officeDocument/2006/relationships/oleObject" Target="../embeddings/oleObject430.bin"/><Relationship Id="rId12" Type="http://schemas.openxmlformats.org/officeDocument/2006/relationships/image" Target="../media/image311.wmf"/><Relationship Id="rId17" Type="http://schemas.openxmlformats.org/officeDocument/2006/relationships/oleObject" Target="../embeddings/oleObject435.bin"/><Relationship Id="rId25" Type="http://schemas.openxmlformats.org/officeDocument/2006/relationships/oleObject" Target="../embeddings/oleObject4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3.wmf"/><Relationship Id="rId20" Type="http://schemas.openxmlformats.org/officeDocument/2006/relationships/image" Target="../media/image315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08.wmf"/><Relationship Id="rId11" Type="http://schemas.openxmlformats.org/officeDocument/2006/relationships/oleObject" Target="../embeddings/oleObject432.bin"/><Relationship Id="rId24" Type="http://schemas.openxmlformats.org/officeDocument/2006/relationships/image" Target="../media/image317.wmf"/><Relationship Id="rId5" Type="http://schemas.openxmlformats.org/officeDocument/2006/relationships/oleObject" Target="../embeddings/oleObject429.bin"/><Relationship Id="rId15" Type="http://schemas.openxmlformats.org/officeDocument/2006/relationships/oleObject" Target="../embeddings/oleObject434.bin"/><Relationship Id="rId23" Type="http://schemas.openxmlformats.org/officeDocument/2006/relationships/oleObject" Target="../embeddings/oleObject438.bin"/><Relationship Id="rId28" Type="http://schemas.openxmlformats.org/officeDocument/2006/relationships/image" Target="../media/image319.wmf"/><Relationship Id="rId10" Type="http://schemas.openxmlformats.org/officeDocument/2006/relationships/image" Target="../media/image310.wmf"/><Relationship Id="rId19" Type="http://schemas.openxmlformats.org/officeDocument/2006/relationships/oleObject" Target="../embeddings/oleObject436.bin"/><Relationship Id="rId4" Type="http://schemas.openxmlformats.org/officeDocument/2006/relationships/image" Target="../media/image307.wmf"/><Relationship Id="rId9" Type="http://schemas.openxmlformats.org/officeDocument/2006/relationships/oleObject" Target="../embeddings/oleObject431.bin"/><Relationship Id="rId14" Type="http://schemas.openxmlformats.org/officeDocument/2006/relationships/image" Target="../media/image312.wmf"/><Relationship Id="rId22" Type="http://schemas.openxmlformats.org/officeDocument/2006/relationships/image" Target="../media/image316.wmf"/><Relationship Id="rId27" Type="http://schemas.openxmlformats.org/officeDocument/2006/relationships/oleObject" Target="../embeddings/oleObject440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21.wmf"/><Relationship Id="rId5" Type="http://schemas.openxmlformats.org/officeDocument/2006/relationships/oleObject" Target="../embeddings/oleObject442.bin"/><Relationship Id="rId4" Type="http://schemas.openxmlformats.org/officeDocument/2006/relationships/image" Target="../media/image320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32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3" Type="http://schemas.openxmlformats.org/officeDocument/2006/relationships/oleObject" Target="../embeddings/oleObject443.bin"/><Relationship Id="rId7" Type="http://schemas.openxmlformats.org/officeDocument/2006/relationships/oleObject" Target="../embeddings/oleObject4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24.wmf"/><Relationship Id="rId5" Type="http://schemas.openxmlformats.org/officeDocument/2006/relationships/oleObject" Target="../embeddings/oleObject444.bin"/><Relationship Id="rId10" Type="http://schemas.openxmlformats.org/officeDocument/2006/relationships/image" Target="../media/image326.wmf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446.bin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2.bin"/><Relationship Id="rId18" Type="http://schemas.openxmlformats.org/officeDocument/2006/relationships/image" Target="../media/image332.wmf"/><Relationship Id="rId26" Type="http://schemas.openxmlformats.org/officeDocument/2006/relationships/oleObject" Target="../embeddings/oleObject459.bin"/><Relationship Id="rId21" Type="http://schemas.openxmlformats.org/officeDocument/2006/relationships/oleObject" Target="../embeddings/oleObject456.bin"/><Relationship Id="rId34" Type="http://schemas.openxmlformats.org/officeDocument/2006/relationships/oleObject" Target="../embeddings/oleObject466.bin"/><Relationship Id="rId7" Type="http://schemas.openxmlformats.org/officeDocument/2006/relationships/oleObject" Target="../embeddings/oleObject449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454.bin"/><Relationship Id="rId25" Type="http://schemas.openxmlformats.org/officeDocument/2006/relationships/oleObject" Target="../embeddings/oleObject458.bin"/><Relationship Id="rId33" Type="http://schemas.openxmlformats.org/officeDocument/2006/relationships/oleObject" Target="../embeddings/oleObject465.bin"/><Relationship Id="rId38" Type="http://schemas.openxmlformats.org/officeDocument/2006/relationships/image" Target="../media/image33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wmf"/><Relationship Id="rId20" Type="http://schemas.openxmlformats.org/officeDocument/2006/relationships/image" Target="../media/image333.wmf"/><Relationship Id="rId29" Type="http://schemas.openxmlformats.org/officeDocument/2006/relationships/oleObject" Target="../embeddings/oleObject462.bin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451.bin"/><Relationship Id="rId24" Type="http://schemas.openxmlformats.org/officeDocument/2006/relationships/image" Target="../media/image23.png"/><Relationship Id="rId32" Type="http://schemas.openxmlformats.org/officeDocument/2006/relationships/oleObject" Target="../embeddings/oleObject464.bin"/><Relationship Id="rId37" Type="http://schemas.openxmlformats.org/officeDocument/2006/relationships/oleObject" Target="../embeddings/oleObject469.bin"/><Relationship Id="rId5" Type="http://schemas.openxmlformats.org/officeDocument/2006/relationships/oleObject" Target="../embeddings/oleObject448.bin"/><Relationship Id="rId15" Type="http://schemas.openxmlformats.org/officeDocument/2006/relationships/oleObject" Target="../embeddings/oleObject453.bin"/><Relationship Id="rId23" Type="http://schemas.openxmlformats.org/officeDocument/2006/relationships/oleObject" Target="../embeddings/oleObject457.bin"/><Relationship Id="rId28" Type="http://schemas.openxmlformats.org/officeDocument/2006/relationships/oleObject" Target="../embeddings/oleObject461.bin"/><Relationship Id="rId36" Type="http://schemas.openxmlformats.org/officeDocument/2006/relationships/oleObject" Target="../embeddings/oleObject468.bin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455.bin"/><Relationship Id="rId31" Type="http://schemas.openxmlformats.org/officeDocument/2006/relationships/oleObject" Target="../embeddings/oleObject463.bin"/><Relationship Id="rId4" Type="http://schemas.openxmlformats.org/officeDocument/2006/relationships/image" Target="../media/image327.wmf"/><Relationship Id="rId9" Type="http://schemas.openxmlformats.org/officeDocument/2006/relationships/oleObject" Target="../embeddings/oleObject450.bin"/><Relationship Id="rId14" Type="http://schemas.openxmlformats.org/officeDocument/2006/relationships/image" Target="../media/image330.wmf"/><Relationship Id="rId22" Type="http://schemas.openxmlformats.org/officeDocument/2006/relationships/image" Target="../media/image22.png"/><Relationship Id="rId27" Type="http://schemas.openxmlformats.org/officeDocument/2006/relationships/oleObject" Target="../embeddings/oleObject460.bin"/><Relationship Id="rId30" Type="http://schemas.openxmlformats.org/officeDocument/2006/relationships/image" Target="../media/image334.wmf"/><Relationship Id="rId35" Type="http://schemas.openxmlformats.org/officeDocument/2006/relationships/oleObject" Target="../embeddings/oleObject467.bin"/><Relationship Id="rId8" Type="http://schemas.openxmlformats.org/officeDocument/2006/relationships/image" Target="../media/image138.wmf"/><Relationship Id="rId3" Type="http://schemas.openxmlformats.org/officeDocument/2006/relationships/oleObject" Target="../embeddings/oleObject447.bin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5.bin"/><Relationship Id="rId18" Type="http://schemas.openxmlformats.org/officeDocument/2006/relationships/image" Target="../media/image23.png"/><Relationship Id="rId26" Type="http://schemas.openxmlformats.org/officeDocument/2006/relationships/image" Target="../media/image327.wmf"/><Relationship Id="rId3" Type="http://schemas.openxmlformats.org/officeDocument/2006/relationships/oleObject" Target="../embeddings/oleObject470.bin"/><Relationship Id="rId21" Type="http://schemas.openxmlformats.org/officeDocument/2006/relationships/oleObject" Target="../embeddings/oleObject479.bin"/><Relationship Id="rId34" Type="http://schemas.openxmlformats.org/officeDocument/2006/relationships/image" Target="../media/image330.wmf"/><Relationship Id="rId7" Type="http://schemas.openxmlformats.org/officeDocument/2006/relationships/oleObject" Target="../embeddings/oleObject472.bin"/><Relationship Id="rId12" Type="http://schemas.openxmlformats.org/officeDocument/2006/relationships/image" Target="../media/image338.wmf"/><Relationship Id="rId17" Type="http://schemas.openxmlformats.org/officeDocument/2006/relationships/oleObject" Target="../embeddings/oleObject477.bin"/><Relationship Id="rId25" Type="http://schemas.openxmlformats.org/officeDocument/2006/relationships/oleObject" Target="../embeddings/oleObject481.bin"/><Relationship Id="rId33" Type="http://schemas.openxmlformats.org/officeDocument/2006/relationships/oleObject" Target="../embeddings/oleObject4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png"/><Relationship Id="rId20" Type="http://schemas.openxmlformats.org/officeDocument/2006/relationships/image" Target="../media/image138.wmf"/><Relationship Id="rId29" Type="http://schemas.openxmlformats.org/officeDocument/2006/relationships/oleObject" Target="../embeddings/oleObject483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36.wmf"/><Relationship Id="rId11" Type="http://schemas.openxmlformats.org/officeDocument/2006/relationships/oleObject" Target="../embeddings/oleObject474.bin"/><Relationship Id="rId24" Type="http://schemas.openxmlformats.org/officeDocument/2006/relationships/image" Target="../media/image328.wmf"/><Relationship Id="rId32" Type="http://schemas.openxmlformats.org/officeDocument/2006/relationships/image" Target="../media/image329.wmf"/><Relationship Id="rId5" Type="http://schemas.openxmlformats.org/officeDocument/2006/relationships/oleObject" Target="../embeddings/oleObject471.bin"/><Relationship Id="rId15" Type="http://schemas.openxmlformats.org/officeDocument/2006/relationships/oleObject" Target="../embeddings/oleObject476.bin"/><Relationship Id="rId23" Type="http://schemas.openxmlformats.org/officeDocument/2006/relationships/oleObject" Target="../embeddings/oleObject480.bin"/><Relationship Id="rId28" Type="http://schemas.openxmlformats.org/officeDocument/2006/relationships/image" Target="../media/image334.wmf"/><Relationship Id="rId36" Type="http://schemas.openxmlformats.org/officeDocument/2006/relationships/oleObject" Target="../embeddings/oleObject488.bin"/><Relationship Id="rId10" Type="http://schemas.openxmlformats.org/officeDocument/2006/relationships/image" Target="../media/image337.wmf"/><Relationship Id="rId19" Type="http://schemas.openxmlformats.org/officeDocument/2006/relationships/oleObject" Target="../embeddings/oleObject478.bin"/><Relationship Id="rId31" Type="http://schemas.openxmlformats.org/officeDocument/2006/relationships/oleObject" Target="../embeddings/oleObject485.bin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473.bin"/><Relationship Id="rId14" Type="http://schemas.openxmlformats.org/officeDocument/2006/relationships/image" Target="../media/image333.wmf"/><Relationship Id="rId22" Type="http://schemas.openxmlformats.org/officeDocument/2006/relationships/image" Target="../media/image139.wmf"/><Relationship Id="rId27" Type="http://schemas.openxmlformats.org/officeDocument/2006/relationships/oleObject" Target="../embeddings/oleObject482.bin"/><Relationship Id="rId30" Type="http://schemas.openxmlformats.org/officeDocument/2006/relationships/oleObject" Target="../embeddings/oleObject484.bin"/><Relationship Id="rId35" Type="http://schemas.openxmlformats.org/officeDocument/2006/relationships/oleObject" Target="../embeddings/oleObject487.bin"/><Relationship Id="rId8" Type="http://schemas.openxmlformats.org/officeDocument/2006/relationships/image" Target="../media/image335.wmf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94.bin"/><Relationship Id="rId18" Type="http://schemas.openxmlformats.org/officeDocument/2006/relationships/oleObject" Target="../embeddings/oleObject497.bin"/><Relationship Id="rId26" Type="http://schemas.openxmlformats.org/officeDocument/2006/relationships/oleObject" Target="../embeddings/oleObject501.bin"/><Relationship Id="rId39" Type="http://schemas.openxmlformats.org/officeDocument/2006/relationships/oleObject" Target="../embeddings/oleObject508.bin"/><Relationship Id="rId21" Type="http://schemas.openxmlformats.org/officeDocument/2006/relationships/image" Target="../media/image338.wmf"/><Relationship Id="rId34" Type="http://schemas.openxmlformats.org/officeDocument/2006/relationships/oleObject" Target="../embeddings/oleObject505.bin"/><Relationship Id="rId42" Type="http://schemas.openxmlformats.org/officeDocument/2006/relationships/oleObject" Target="../embeddings/oleObject510.bin"/><Relationship Id="rId7" Type="http://schemas.openxmlformats.org/officeDocument/2006/relationships/oleObject" Target="../embeddings/oleObject49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96.bin"/><Relationship Id="rId29" Type="http://schemas.openxmlformats.org/officeDocument/2006/relationships/image" Target="../media/image138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40.wmf"/><Relationship Id="rId11" Type="http://schemas.openxmlformats.org/officeDocument/2006/relationships/oleObject" Target="../embeddings/oleObject493.bin"/><Relationship Id="rId24" Type="http://schemas.openxmlformats.org/officeDocument/2006/relationships/oleObject" Target="../embeddings/oleObject500.bin"/><Relationship Id="rId32" Type="http://schemas.openxmlformats.org/officeDocument/2006/relationships/oleObject" Target="../embeddings/oleObject504.bin"/><Relationship Id="rId37" Type="http://schemas.openxmlformats.org/officeDocument/2006/relationships/image" Target="../media/image334.wmf"/><Relationship Id="rId40" Type="http://schemas.openxmlformats.org/officeDocument/2006/relationships/oleObject" Target="../embeddings/oleObject509.bin"/><Relationship Id="rId45" Type="http://schemas.openxmlformats.org/officeDocument/2006/relationships/oleObject" Target="../embeddings/oleObject512.bin"/><Relationship Id="rId5" Type="http://schemas.openxmlformats.org/officeDocument/2006/relationships/oleObject" Target="../embeddings/oleObject490.bin"/><Relationship Id="rId15" Type="http://schemas.openxmlformats.org/officeDocument/2006/relationships/image" Target="../media/image344.wmf"/><Relationship Id="rId23" Type="http://schemas.openxmlformats.org/officeDocument/2006/relationships/image" Target="../media/image333.wmf"/><Relationship Id="rId28" Type="http://schemas.openxmlformats.org/officeDocument/2006/relationships/oleObject" Target="../embeddings/oleObject502.bin"/><Relationship Id="rId36" Type="http://schemas.openxmlformats.org/officeDocument/2006/relationships/oleObject" Target="../embeddings/oleObject506.bin"/><Relationship Id="rId10" Type="http://schemas.openxmlformats.org/officeDocument/2006/relationships/image" Target="../media/image342.wmf"/><Relationship Id="rId19" Type="http://schemas.openxmlformats.org/officeDocument/2006/relationships/image" Target="../media/image346.wmf"/><Relationship Id="rId31" Type="http://schemas.openxmlformats.org/officeDocument/2006/relationships/image" Target="../media/image139.wmf"/><Relationship Id="rId44" Type="http://schemas.openxmlformats.org/officeDocument/2006/relationships/oleObject" Target="../embeddings/oleObject511.bin"/><Relationship Id="rId4" Type="http://schemas.openxmlformats.org/officeDocument/2006/relationships/image" Target="../media/image339.wmf"/><Relationship Id="rId9" Type="http://schemas.openxmlformats.org/officeDocument/2006/relationships/oleObject" Target="../embeddings/oleObject492.bin"/><Relationship Id="rId14" Type="http://schemas.openxmlformats.org/officeDocument/2006/relationships/oleObject" Target="../embeddings/oleObject495.bin"/><Relationship Id="rId22" Type="http://schemas.openxmlformats.org/officeDocument/2006/relationships/oleObject" Target="../embeddings/oleObject499.bin"/><Relationship Id="rId27" Type="http://schemas.openxmlformats.org/officeDocument/2006/relationships/image" Target="../media/image23.png"/><Relationship Id="rId30" Type="http://schemas.openxmlformats.org/officeDocument/2006/relationships/oleObject" Target="../embeddings/oleObject503.bin"/><Relationship Id="rId35" Type="http://schemas.openxmlformats.org/officeDocument/2006/relationships/image" Target="../media/image327.wmf"/><Relationship Id="rId43" Type="http://schemas.openxmlformats.org/officeDocument/2006/relationships/image" Target="../media/image330.wmf"/><Relationship Id="rId8" Type="http://schemas.openxmlformats.org/officeDocument/2006/relationships/image" Target="../media/image341.wmf"/><Relationship Id="rId3" Type="http://schemas.openxmlformats.org/officeDocument/2006/relationships/oleObject" Target="../embeddings/oleObject489.bin"/><Relationship Id="rId12" Type="http://schemas.openxmlformats.org/officeDocument/2006/relationships/image" Target="../media/image343.wmf"/><Relationship Id="rId17" Type="http://schemas.openxmlformats.org/officeDocument/2006/relationships/image" Target="../media/image345.wmf"/><Relationship Id="rId25" Type="http://schemas.openxmlformats.org/officeDocument/2006/relationships/image" Target="../media/image22.png"/><Relationship Id="rId33" Type="http://schemas.openxmlformats.org/officeDocument/2006/relationships/image" Target="../media/image328.wmf"/><Relationship Id="rId38" Type="http://schemas.openxmlformats.org/officeDocument/2006/relationships/oleObject" Target="../embeddings/oleObject507.bin"/><Relationship Id="rId20" Type="http://schemas.openxmlformats.org/officeDocument/2006/relationships/oleObject" Target="../embeddings/oleObject498.bin"/><Relationship Id="rId41" Type="http://schemas.openxmlformats.org/officeDocument/2006/relationships/image" Target="../media/image329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oleObject" Target="../embeddings/oleObject518.bin"/><Relationship Id="rId3" Type="http://schemas.openxmlformats.org/officeDocument/2006/relationships/oleObject" Target="../embeddings/oleObject513.bin"/><Relationship Id="rId7" Type="http://schemas.openxmlformats.org/officeDocument/2006/relationships/oleObject" Target="../embeddings/oleObject515.bin"/><Relationship Id="rId12" Type="http://schemas.openxmlformats.org/officeDocument/2006/relationships/image" Target="../media/image35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3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48.wmf"/><Relationship Id="rId11" Type="http://schemas.openxmlformats.org/officeDocument/2006/relationships/oleObject" Target="../embeddings/oleObject517.bin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19.bin"/><Relationship Id="rId10" Type="http://schemas.openxmlformats.org/officeDocument/2006/relationships/image" Target="../media/image350.wmf"/><Relationship Id="rId4" Type="http://schemas.openxmlformats.org/officeDocument/2006/relationships/image" Target="../media/image347.wmf"/><Relationship Id="rId9" Type="http://schemas.openxmlformats.org/officeDocument/2006/relationships/oleObject" Target="../embeddings/oleObject516.bin"/><Relationship Id="rId14" Type="http://schemas.openxmlformats.org/officeDocument/2006/relationships/image" Target="../media/image352.w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ChangeArrowheads="1"/>
          </p:cNvSpPr>
          <p:nvPr/>
        </p:nvSpPr>
        <p:spPr bwMode="auto">
          <a:xfrm>
            <a:off x="1933575" y="1203325"/>
            <a:ext cx="6650038" cy="290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   十   章</a:t>
            </a:r>
            <a:r>
              <a:rPr kumimoji="1" lang="zh-CN" altLang="en-US" sz="880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880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波      动</a:t>
            </a:r>
          </a:p>
        </p:txBody>
      </p:sp>
      <p:sp>
        <p:nvSpPr>
          <p:cNvPr id="285699" name="Rectangle 3"/>
          <p:cNvSpPr>
            <a:spLocks noChangeArrowheads="1"/>
          </p:cNvSpPr>
          <p:nvPr/>
        </p:nvSpPr>
        <p:spPr bwMode="auto">
          <a:xfrm rot="21571776">
            <a:off x="2062163" y="4929188"/>
            <a:ext cx="5429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360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MECHANICAL   WAVES</a:t>
            </a:r>
          </a:p>
        </p:txBody>
      </p:sp>
      <p:pic>
        <p:nvPicPr>
          <p:cNvPr id="285700" name="Picture 4" descr="moban-4-1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90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</p:pic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1066800" y="2820988"/>
            <a:ext cx="65309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54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 </a:t>
            </a:r>
            <a:r>
              <a:rPr lang="zh-CN" altLang="en-US" sz="54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动量守恒定律和能量守恒定律</a:t>
            </a:r>
            <a:endParaRPr lang="zh-CN" altLang="en-US" sz="5400" b="1" dirty="0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85702" name="Rectangle 6"/>
          <p:cNvSpPr>
            <a:spLocks noChangeArrowheads="1"/>
          </p:cNvSpPr>
          <p:nvPr/>
        </p:nvSpPr>
        <p:spPr bwMode="auto">
          <a:xfrm>
            <a:off x="1220788" y="1482725"/>
            <a:ext cx="65309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48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第  </a:t>
            </a:r>
            <a:r>
              <a:rPr lang="zh-CN" altLang="en-US" sz="48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三  </a:t>
            </a:r>
            <a:r>
              <a:rPr lang="zh-CN" altLang="en-US" sz="48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章</a:t>
            </a:r>
            <a:r>
              <a:rPr lang="zh-CN" altLang="en-US" sz="4800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　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pha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7" y="2743200"/>
            <a:ext cx="4263163" cy="1828800"/>
          </a:xfrm>
          <a:prstGeom prst="rect">
            <a:avLst/>
          </a:prstGeom>
        </p:spPr>
      </p:pic>
      <p:pic>
        <p:nvPicPr>
          <p:cNvPr id="5" name="Picture 4" descr="alpha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52600"/>
            <a:ext cx="4653643" cy="4343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0" y="478315"/>
            <a:ext cx="883920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 dirty="0" smtClean="0"/>
              <a:t>          定性说明为什么</a:t>
            </a:r>
            <a:r>
              <a:rPr lang="en-US" altLang="zh-CN" sz="2800" dirty="0" smtClean="0"/>
              <a:t>α</a:t>
            </a:r>
            <a:r>
              <a:rPr lang="zh-CN" altLang="en-US" sz="2800" dirty="0" smtClean="0"/>
              <a:t>粒子散射实验否定了汤姆孙的枣糕模型，而肯定了卢瑟福的核式模型。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33399" y="1752600"/>
            <a:ext cx="8686801" cy="1479550"/>
            <a:chOff x="432" y="384"/>
            <a:chExt cx="5472" cy="932"/>
          </a:xfrm>
        </p:grpSpPr>
        <p:sp>
          <p:nvSpPr>
            <p:cNvPr id="147461" name="Text Box 5"/>
            <p:cNvSpPr txBox="1">
              <a:spLocks noChangeArrowheads="1"/>
            </p:cNvSpPr>
            <p:nvPr/>
          </p:nvSpPr>
          <p:spPr bwMode="auto">
            <a:xfrm>
              <a:off x="432" y="624"/>
              <a:ext cx="22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Arial" charset="0"/>
                </a:rPr>
                <a:t>力</a:t>
              </a:r>
              <a:r>
                <a:rPr lang="zh-CN" altLang="en-US" sz="2800" dirty="0">
                  <a:latin typeface="Arial" charset="0"/>
                </a:rPr>
                <a:t>的</a:t>
              </a:r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累积</a:t>
              </a:r>
              <a:r>
                <a:rPr lang="zh-CN" altLang="en-US" sz="2800" dirty="0">
                  <a:latin typeface="Arial" charset="0"/>
                </a:rPr>
                <a:t>效应</a:t>
              </a:r>
              <a:endParaRPr lang="zh-CN" altLang="en-US" sz="2800" b="0" dirty="0">
                <a:solidFill>
                  <a:schemeClr val="tx1"/>
                </a:solidFill>
                <a:latin typeface="Arial" charset="0"/>
              </a:endParaRPr>
            </a:p>
          </p:txBody>
        </p:sp>
        <p:graphicFrame>
          <p:nvGraphicFramePr>
            <p:cNvPr id="147462" name="Object 6"/>
            <p:cNvGraphicFramePr>
              <a:graphicFrameLocks noChangeAspect="1"/>
            </p:cNvGraphicFramePr>
            <p:nvPr/>
          </p:nvGraphicFramePr>
          <p:xfrm>
            <a:off x="2256" y="384"/>
            <a:ext cx="2891" cy="9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814" name="Equation" r:id="rId3" imgW="1460160" imgH="482400" progId="Equation.3">
                    <p:embed/>
                  </p:oleObj>
                </mc:Choice>
                <mc:Fallback>
                  <p:oleObj name="Equation" r:id="rId3" imgW="1460160" imgH="482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84"/>
                          <a:ext cx="2891" cy="9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463" name="AutoShape 7"/>
            <p:cNvSpPr>
              <a:spLocks/>
            </p:cNvSpPr>
            <p:nvPr/>
          </p:nvSpPr>
          <p:spPr bwMode="auto">
            <a:xfrm>
              <a:off x="2016" y="576"/>
              <a:ext cx="192" cy="48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7470" name="Text Box 14"/>
            <p:cNvSpPr txBox="1">
              <a:spLocks noChangeArrowheads="1"/>
            </p:cNvSpPr>
            <p:nvPr/>
          </p:nvSpPr>
          <p:spPr bwMode="auto">
            <a:xfrm>
              <a:off x="2585" y="432"/>
              <a:ext cx="331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对</a:t>
              </a:r>
              <a:r>
                <a:rPr lang="zh-CN" altLang="en-US" sz="2800" dirty="0">
                  <a:solidFill>
                    <a:srgbClr val="0000FF"/>
                  </a:solidFill>
                </a:rPr>
                <a:t>时间</a:t>
              </a:r>
              <a:r>
                <a:rPr lang="zh-CN" altLang="en-US" sz="2800" dirty="0"/>
                <a:t>的积</a:t>
              </a:r>
              <a:r>
                <a:rPr lang="zh-CN" altLang="en-US" sz="2800" dirty="0" smtClean="0"/>
                <a:t>累                        </a:t>
              </a:r>
              <a:r>
                <a:rPr lang="zh-CN" altLang="en-US" sz="2800" dirty="0" smtClean="0">
                  <a:solidFill>
                    <a:srgbClr val="C00000"/>
                  </a:solidFill>
                </a:rPr>
                <a:t>动量</a:t>
              </a:r>
              <a:endParaRPr lang="zh-CN" altLang="en-US" sz="2800" dirty="0">
                <a:solidFill>
                  <a:srgbClr val="C00000"/>
                </a:solidFill>
              </a:endParaRPr>
            </a:p>
          </p:txBody>
        </p:sp>
        <p:sp>
          <p:nvSpPr>
            <p:cNvPr id="147471" name="Text Box 15"/>
            <p:cNvSpPr txBox="1">
              <a:spLocks noChangeArrowheads="1"/>
            </p:cNvSpPr>
            <p:nvPr/>
          </p:nvSpPr>
          <p:spPr bwMode="auto">
            <a:xfrm>
              <a:off x="2585" y="921"/>
              <a:ext cx="32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对</a:t>
              </a:r>
              <a:r>
                <a:rPr lang="zh-CN" altLang="en-US" sz="2800" dirty="0">
                  <a:solidFill>
                    <a:srgbClr val="0000FF"/>
                  </a:solidFill>
                </a:rPr>
                <a:t>空</a:t>
              </a:r>
              <a:r>
                <a:rPr lang="zh-CN" altLang="en-US" sz="2800" dirty="0" smtClean="0">
                  <a:solidFill>
                    <a:srgbClr val="0000FF"/>
                  </a:solidFill>
                </a:rPr>
                <a:t>间</a:t>
              </a:r>
              <a:r>
                <a:rPr lang="zh-CN" altLang="en-US" sz="2800" dirty="0" smtClean="0"/>
                <a:t>的</a:t>
              </a:r>
              <a:r>
                <a:rPr lang="zh-CN" altLang="en-US" sz="2800" dirty="0"/>
                <a:t>积</a:t>
              </a:r>
              <a:r>
                <a:rPr lang="zh-CN" altLang="en-US" sz="2800" dirty="0" smtClean="0"/>
                <a:t>累                        </a:t>
              </a:r>
              <a:r>
                <a:rPr lang="zh-CN" altLang="en-US" sz="2800" dirty="0" smtClean="0">
                  <a:solidFill>
                    <a:srgbClr val="C00000"/>
                  </a:solidFill>
                </a:rPr>
                <a:t>能量</a:t>
              </a:r>
              <a:endParaRPr lang="zh-CN" altLang="en-US" sz="2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" y="3442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+mn-ea"/>
              </a:rPr>
              <a:t>主要内容：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" y="718911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课时安排：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1685258"/>
            <a:ext cx="7772400" cy="349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C00000"/>
                </a:solidFill>
              </a:rPr>
              <a:t>第一次课：</a:t>
            </a:r>
            <a:endParaRPr kumimoji="1" lang="en-US" altLang="zh-CN" sz="2800" dirty="0" smtClean="0"/>
          </a:p>
          <a:p>
            <a:pPr marL="514350" indent="-514350">
              <a:lnSpc>
                <a:spcPct val="90000"/>
              </a:lnSpc>
              <a:spcBef>
                <a:spcPct val="50000"/>
              </a:spcBef>
              <a:buFont typeface="+mj-lt"/>
              <a:buAutoNum type="alphaLcPeriod"/>
            </a:pPr>
            <a:r>
              <a:rPr kumimoji="1" lang="zh-CN" altLang="en-US" sz="2800" dirty="0" smtClean="0"/>
              <a:t>动量；</a:t>
            </a:r>
            <a:endParaRPr kumimoji="1" lang="en-US" altLang="zh-CN" sz="2800" dirty="0" smtClean="0"/>
          </a:p>
          <a:p>
            <a:pPr marL="514350" indent="-51435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C00000"/>
                </a:solidFill>
              </a:rPr>
              <a:t>第二次课：</a:t>
            </a:r>
            <a:endParaRPr kumimoji="1" lang="en-US" altLang="zh-CN" sz="2800" b="1" dirty="0" smtClean="0">
              <a:solidFill>
                <a:srgbClr val="C00000"/>
              </a:solidFill>
            </a:endParaRPr>
          </a:p>
          <a:p>
            <a:pPr marL="514350" indent="-514350">
              <a:lnSpc>
                <a:spcPct val="90000"/>
              </a:lnSpc>
              <a:spcBef>
                <a:spcPct val="50000"/>
              </a:spcBef>
              <a:buFont typeface="+mj-lt"/>
              <a:buAutoNum type="alphaLcPeriod"/>
            </a:pPr>
            <a:r>
              <a:rPr kumimoji="1" lang="zh-CN" altLang="en-US" sz="2800" dirty="0" smtClean="0"/>
              <a:t>能量；</a:t>
            </a:r>
            <a:endParaRPr kumimoji="1" lang="en-US" altLang="zh-CN" sz="2800" dirty="0" smtClean="0"/>
          </a:p>
          <a:p>
            <a:pPr marL="514350" indent="-51435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C00000"/>
                </a:solidFill>
              </a:rPr>
              <a:t>第三次课：</a:t>
            </a:r>
            <a:endParaRPr kumimoji="1" lang="en-US" altLang="zh-CN" sz="2800" b="1" dirty="0" smtClean="0">
              <a:solidFill>
                <a:srgbClr val="C00000"/>
              </a:solidFill>
            </a:endParaRPr>
          </a:p>
          <a:p>
            <a:pPr marL="514350" indent="-514350">
              <a:lnSpc>
                <a:spcPct val="90000"/>
              </a:lnSpc>
              <a:spcBef>
                <a:spcPct val="50000"/>
              </a:spcBef>
              <a:buFont typeface="+mj-lt"/>
              <a:buAutoNum type="alphaLcPeriod"/>
            </a:pPr>
            <a:r>
              <a:rPr kumimoji="1" lang="zh-CN" altLang="en-US" sz="2800" dirty="0" smtClean="0"/>
              <a:t>碰撞。</a:t>
            </a:r>
            <a:endParaRPr kumimoji="1" lang="en-US" altLang="zh-CN" sz="2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Rectangle 8"/>
          <p:cNvSpPr>
            <a:spLocks noChangeArrowheads="1"/>
          </p:cNvSpPr>
          <p:nvPr/>
        </p:nvSpPr>
        <p:spPr bwMode="auto">
          <a:xfrm>
            <a:off x="533400" y="1143000"/>
            <a:ext cx="5029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1.</a:t>
            </a:r>
            <a:r>
              <a:rPr lang="zh-CN" altLang="zh-CN" sz="28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zh-CN" altLang="en-US" sz="28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zh-CN" altLang="zh-CN" sz="2800" b="1" dirty="0" smtClean="0">
                <a:solidFill>
                  <a:srgbClr val="C00000"/>
                </a:solidFill>
                <a:latin typeface="Arial" charset="0"/>
              </a:rPr>
              <a:t>质</a:t>
            </a:r>
            <a:r>
              <a:rPr lang="zh-CN" altLang="zh-CN" sz="2800" b="1" dirty="0">
                <a:solidFill>
                  <a:srgbClr val="C00000"/>
                </a:solidFill>
                <a:latin typeface="Arial" charset="0"/>
              </a:rPr>
              <a:t>点的动量定理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09600" y="1752600"/>
            <a:ext cx="4876800" cy="642938"/>
            <a:chOff x="624" y="1680"/>
            <a:chExt cx="3072" cy="405"/>
          </a:xfrm>
        </p:grpSpPr>
        <p:sp>
          <p:nvSpPr>
            <p:cNvPr id="147466" name="Text Box 10"/>
            <p:cNvSpPr txBox="1">
              <a:spLocks noChangeArrowheads="1"/>
            </p:cNvSpPr>
            <p:nvPr/>
          </p:nvSpPr>
          <p:spPr bwMode="auto">
            <a:xfrm>
              <a:off x="624" y="1707"/>
              <a:ext cx="21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2800" dirty="0">
                  <a:solidFill>
                    <a:srgbClr val="000000"/>
                  </a:solidFill>
                  <a:latin typeface="Arial" charset="0"/>
                </a:rPr>
                <a:t>  </a:t>
              </a:r>
              <a:r>
                <a:rPr lang="zh-CN" altLang="zh-CN" sz="2800" b="1" dirty="0">
                  <a:solidFill>
                    <a:srgbClr val="C00000"/>
                  </a:solidFill>
                  <a:latin typeface="Arial" charset="0"/>
                </a:rPr>
                <a:t>动量</a:t>
              </a:r>
              <a:endParaRPr lang="zh-CN" altLang="en-US" sz="2800" b="1" dirty="0">
                <a:solidFill>
                  <a:srgbClr val="C00000"/>
                </a:solidFill>
                <a:latin typeface="Arial" charset="0"/>
              </a:endParaRPr>
            </a:p>
          </p:txBody>
        </p:sp>
        <p:graphicFrame>
          <p:nvGraphicFramePr>
            <p:cNvPr id="147467" name="Object 11"/>
            <p:cNvGraphicFramePr>
              <a:graphicFrameLocks noChangeAspect="1"/>
            </p:cNvGraphicFramePr>
            <p:nvPr/>
          </p:nvGraphicFramePr>
          <p:xfrm>
            <a:off x="2537" y="1680"/>
            <a:ext cx="1159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356" name="Equation" r:id="rId4" imgW="482400" imgH="203040" progId="Equation.3">
                    <p:embed/>
                  </p:oleObj>
                </mc:Choice>
                <mc:Fallback>
                  <p:oleObj name="Equation" r:id="rId4" imgW="482400" imgH="2030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7" y="1680"/>
                          <a:ext cx="1159" cy="40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317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7468" name="Object 12"/>
          <p:cNvGraphicFramePr>
            <a:graphicFrameLocks noChangeAspect="1"/>
          </p:cNvGraphicFramePr>
          <p:nvPr/>
        </p:nvGraphicFramePr>
        <p:xfrm>
          <a:off x="685800" y="2514600"/>
          <a:ext cx="35052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357" name="Equation" r:id="rId6" imgW="1041120" imgH="393480" progId="Equation.3">
                  <p:embed/>
                </p:oleObj>
              </mc:Choice>
              <mc:Fallback>
                <p:oleObj name="Equation" r:id="rId6" imgW="104112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14600"/>
                        <a:ext cx="3505200" cy="1135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9" name="Object 13"/>
          <p:cNvGraphicFramePr>
            <a:graphicFrameLocks noChangeAspect="1"/>
          </p:cNvGraphicFramePr>
          <p:nvPr/>
        </p:nvGraphicFramePr>
        <p:xfrm>
          <a:off x="4572000" y="2813050"/>
          <a:ext cx="3810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358" name="Equation" r:id="rId8" imgW="1130040" imgH="228600" progId="Equation.3">
                  <p:embed/>
                </p:oleObj>
              </mc:Choice>
              <mc:Fallback>
                <p:oleObj name="Equation" r:id="rId8" imgW="113004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13050"/>
                        <a:ext cx="3810000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533400" y="5118100"/>
            <a:ext cx="7848600" cy="977900"/>
            <a:chOff x="336" y="3560"/>
            <a:chExt cx="4944" cy="616"/>
          </a:xfrm>
        </p:grpSpPr>
        <p:sp>
          <p:nvSpPr>
            <p:cNvPr id="147475" name="Text Box 19"/>
            <p:cNvSpPr txBox="1">
              <a:spLocks noChangeArrowheads="1"/>
            </p:cNvSpPr>
            <p:nvPr/>
          </p:nvSpPr>
          <p:spPr bwMode="auto">
            <a:xfrm>
              <a:off x="336" y="3648"/>
              <a:ext cx="44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2800" dirty="0">
                  <a:solidFill>
                    <a:srgbClr val="000000"/>
                  </a:solidFill>
                  <a:latin typeface="Arial" charset="0"/>
                </a:rPr>
                <a:t>  </a:t>
              </a:r>
              <a:r>
                <a:rPr lang="zh-CN" altLang="en-US" sz="2800" b="1" dirty="0">
                  <a:solidFill>
                    <a:srgbClr val="C00000"/>
                  </a:solidFill>
                  <a:latin typeface="Arial" charset="0"/>
                </a:rPr>
                <a:t>冲量</a:t>
              </a:r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   </a:t>
              </a:r>
              <a:r>
                <a:rPr lang="zh-CN" altLang="en-US" sz="2800" dirty="0">
                  <a:latin typeface="Arial" charset="0"/>
                </a:rPr>
                <a:t>力对时间的积分（</a:t>
              </a:r>
              <a:r>
                <a:rPr lang="zh-CN" altLang="en-US" sz="2800" dirty="0">
                  <a:solidFill>
                    <a:srgbClr val="C00000"/>
                  </a:solidFill>
                  <a:latin typeface="Arial" charset="0"/>
                </a:rPr>
                <a:t>矢量</a:t>
              </a:r>
              <a:r>
                <a:rPr lang="zh-CN" altLang="en-US" sz="2800" dirty="0">
                  <a:latin typeface="Arial" charset="0"/>
                </a:rPr>
                <a:t>）</a:t>
              </a:r>
            </a:p>
          </p:txBody>
        </p:sp>
        <p:graphicFrame>
          <p:nvGraphicFramePr>
            <p:cNvPr id="147476" name="Object 20"/>
            <p:cNvGraphicFramePr>
              <a:graphicFrameLocks noChangeAspect="1"/>
            </p:cNvGraphicFramePr>
            <p:nvPr/>
          </p:nvGraphicFramePr>
          <p:xfrm>
            <a:off x="3863" y="3560"/>
            <a:ext cx="1417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359" name="Equation" r:id="rId10" imgW="672840" imgH="355320" progId="Equation.3">
                    <p:embed/>
                  </p:oleObj>
                </mc:Choice>
                <mc:Fallback>
                  <p:oleObj name="Equation" r:id="rId10" imgW="672840" imgH="35532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3" y="3560"/>
                          <a:ext cx="1417" cy="6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" y="344269"/>
            <a:ext cx="4800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+mn-ea"/>
              </a:rPr>
              <a:t>第一部分：动量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53320" name="Object 1024"/>
          <p:cNvGraphicFramePr>
            <a:graphicFrameLocks noChangeAspect="1"/>
          </p:cNvGraphicFramePr>
          <p:nvPr/>
        </p:nvGraphicFramePr>
        <p:xfrm>
          <a:off x="1676400" y="3829050"/>
          <a:ext cx="57912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360" name="Equation" r:id="rId12" imgW="1777680" imgH="355320" progId="Equation.3">
                  <p:embed/>
                </p:oleObj>
              </mc:Choice>
              <mc:Fallback>
                <p:oleObj name="Equation" r:id="rId12" imgW="1777680" imgH="35532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29050"/>
                        <a:ext cx="5791200" cy="1047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4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latin typeface="Arial" charset="0"/>
              </a:rPr>
              <a:t>冲量是矢量，它的方向就是力的方向吗 </a:t>
            </a:r>
            <a:r>
              <a:rPr lang="zh-CN" altLang="en-US" sz="2800" dirty="0">
                <a:solidFill>
                  <a:srgbClr val="CC0000"/>
                </a:solidFill>
                <a:latin typeface="Arial" charset="0"/>
              </a:rPr>
              <a:t>？</a:t>
            </a:r>
            <a:endParaRPr lang="zh-CN" altLang="en-US" sz="2800" dirty="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929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一定不是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993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828800" y="5072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可能是，也可能不是，需要分析具体情况。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136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443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9154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Arial" charset="0"/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动量定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理：  </a:t>
            </a:r>
            <a:r>
              <a:rPr lang="zh-CN" altLang="en-US" sz="2800" dirty="0">
                <a:latin typeface="Arial" charset="0"/>
              </a:rPr>
              <a:t>在给定的时间内，外力作用在质点上的冲量，等于质点在此时间内动量的增量 </a:t>
            </a:r>
            <a:r>
              <a:rPr lang="en-US" altLang="zh-CN" sz="2800" dirty="0">
                <a:latin typeface="Arial" charset="0"/>
              </a:rPr>
              <a:t>.</a:t>
            </a:r>
          </a:p>
        </p:txBody>
      </p:sp>
      <p:graphicFrame>
        <p:nvGraphicFramePr>
          <p:cNvPr id="166912" name="Object 1024"/>
          <p:cNvGraphicFramePr>
            <a:graphicFrameLocks noChangeAspect="1"/>
          </p:cNvGraphicFramePr>
          <p:nvPr/>
        </p:nvGraphicFramePr>
        <p:xfrm>
          <a:off x="1676400" y="609600"/>
          <a:ext cx="57912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362" name="Equation" r:id="rId3" imgW="1777680" imgH="355320" progId="Equation.3">
                  <p:embed/>
                </p:oleObj>
              </mc:Choice>
              <mc:Fallback>
                <p:oleObj name="Equation" r:id="rId3" imgW="1777680" imgH="35532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09600"/>
                        <a:ext cx="5791200" cy="1047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81000" y="3657600"/>
            <a:ext cx="3200400" cy="1633538"/>
            <a:chOff x="240" y="2208"/>
            <a:chExt cx="2016" cy="1029"/>
          </a:xfrm>
        </p:grpSpPr>
        <p:graphicFrame>
          <p:nvGraphicFramePr>
            <p:cNvPr id="166914" name="Object 1026"/>
            <p:cNvGraphicFramePr>
              <a:graphicFrameLocks noChangeAspect="1"/>
            </p:cNvGraphicFramePr>
            <p:nvPr/>
          </p:nvGraphicFramePr>
          <p:xfrm>
            <a:off x="240" y="2736"/>
            <a:ext cx="1920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363" name="Equation" r:id="rId5" imgW="1168200" imgH="253800" progId="Equation.3">
                    <p:embed/>
                  </p:oleObj>
                </mc:Choice>
                <mc:Fallback>
                  <p:oleObj name="Equation" r:id="rId5" imgW="1168200" imgH="253800" progId="Equation.3">
                    <p:embed/>
                    <p:pic>
                      <p:nvPicPr>
                        <p:cNvPr id="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736"/>
                          <a:ext cx="1920" cy="5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491" name="Text Box 11"/>
            <p:cNvSpPr txBox="1">
              <a:spLocks noChangeArrowheads="1"/>
            </p:cNvSpPr>
            <p:nvPr/>
          </p:nvSpPr>
          <p:spPr bwMode="auto">
            <a:xfrm>
              <a:off x="576" y="2208"/>
              <a:ext cx="16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7"/>
                </a:buBlip>
              </a:pPr>
              <a:r>
                <a:rPr lang="en-US" altLang="zh-CN" sz="2800"/>
                <a:t>   </a:t>
              </a:r>
              <a:r>
                <a:rPr lang="zh-CN" altLang="en-US" sz="2800"/>
                <a:t>分量形式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505200" y="3200400"/>
            <a:ext cx="5041900" cy="3254375"/>
            <a:chOff x="2208" y="1934"/>
            <a:chExt cx="3176" cy="2050"/>
          </a:xfrm>
        </p:grpSpPr>
        <p:graphicFrame>
          <p:nvGraphicFramePr>
            <p:cNvPr id="166913" name="Object 1025"/>
            <p:cNvGraphicFramePr>
              <a:graphicFrameLocks noChangeAspect="1"/>
            </p:cNvGraphicFramePr>
            <p:nvPr/>
          </p:nvGraphicFramePr>
          <p:xfrm>
            <a:off x="2304" y="1934"/>
            <a:ext cx="3080" cy="2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364" name="Equation" r:id="rId8" imgW="1650960" imgH="1091880" progId="Equation.3">
                    <p:embed/>
                  </p:oleObj>
                </mc:Choice>
                <mc:Fallback>
                  <p:oleObj name="Equation" r:id="rId8" imgW="1650960" imgH="1091880" progId="Equation.3">
                    <p:embed/>
                    <p:pic>
                      <p:nvPicPr>
                        <p:cNvPr id="0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934"/>
                          <a:ext cx="3080" cy="2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492" name="AutoShape 12"/>
            <p:cNvSpPr>
              <a:spLocks/>
            </p:cNvSpPr>
            <p:nvPr/>
          </p:nvSpPr>
          <p:spPr bwMode="auto">
            <a:xfrm>
              <a:off x="2208" y="2208"/>
              <a:ext cx="96" cy="1536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 sz="2800">
                <a:solidFill>
                  <a:srgbClr val="CC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一对作用力和反作用力在同一时间段的的冲量和为（ 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一定不为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可能为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，也可能不为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，需要具体情况具体分析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853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/>
          <p:cNvGrpSpPr>
            <a:grpSpLocks/>
          </p:cNvGrpSpPr>
          <p:nvPr/>
        </p:nvGrpSpPr>
        <p:grpSpPr bwMode="auto">
          <a:xfrm>
            <a:off x="5486400" y="533400"/>
            <a:ext cx="3352800" cy="2895600"/>
            <a:chOff x="3408" y="576"/>
            <a:chExt cx="2112" cy="1824"/>
          </a:xfrm>
        </p:grpSpPr>
        <p:sp>
          <p:nvSpPr>
            <p:cNvPr id="155651" name="Rectangle 1027"/>
            <p:cNvSpPr>
              <a:spLocks noChangeArrowheads="1"/>
            </p:cNvSpPr>
            <p:nvPr/>
          </p:nvSpPr>
          <p:spPr bwMode="auto">
            <a:xfrm>
              <a:off x="3408" y="576"/>
              <a:ext cx="2112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52" name="Text Box 1028"/>
            <p:cNvSpPr txBox="1">
              <a:spLocks noChangeArrowheads="1"/>
            </p:cNvSpPr>
            <p:nvPr/>
          </p:nvSpPr>
          <p:spPr bwMode="auto">
            <a:xfrm>
              <a:off x="3456" y="585"/>
              <a:ext cx="9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Arial" charset="0"/>
                </a:rPr>
                <a:t>质点系</a:t>
              </a:r>
            </a:p>
          </p:txBody>
        </p:sp>
      </p:grpSp>
      <p:sp>
        <p:nvSpPr>
          <p:cNvPr id="155653" name="Rectangle 1029"/>
          <p:cNvSpPr>
            <a:spLocks noChangeArrowheads="1"/>
          </p:cNvSpPr>
          <p:nvPr/>
        </p:nvSpPr>
        <p:spPr bwMode="auto">
          <a:xfrm>
            <a:off x="344488" y="319087"/>
            <a:ext cx="45323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2.   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质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点系的动量定理</a:t>
            </a:r>
          </a:p>
        </p:txBody>
      </p:sp>
      <p:grpSp>
        <p:nvGrpSpPr>
          <p:cNvPr id="3" name="Group 1030"/>
          <p:cNvGrpSpPr>
            <a:grpSpLocks/>
          </p:cNvGrpSpPr>
          <p:nvPr/>
        </p:nvGrpSpPr>
        <p:grpSpPr bwMode="auto">
          <a:xfrm>
            <a:off x="5638800" y="1371600"/>
            <a:ext cx="2895600" cy="1828800"/>
            <a:chOff x="3600" y="1008"/>
            <a:chExt cx="1824" cy="1152"/>
          </a:xfrm>
        </p:grpSpPr>
        <p:sp>
          <p:nvSpPr>
            <p:cNvPr id="155655" name="Oval 1031"/>
            <p:cNvSpPr>
              <a:spLocks noChangeArrowheads="1"/>
            </p:cNvSpPr>
            <p:nvPr/>
          </p:nvSpPr>
          <p:spPr bwMode="auto">
            <a:xfrm>
              <a:off x="4320" y="1632"/>
              <a:ext cx="48" cy="48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56" name="Oval 1032"/>
            <p:cNvSpPr>
              <a:spLocks noChangeArrowheads="1"/>
            </p:cNvSpPr>
            <p:nvPr/>
          </p:nvSpPr>
          <p:spPr bwMode="auto">
            <a:xfrm>
              <a:off x="4512" y="100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57" name="Oval 1033"/>
            <p:cNvSpPr>
              <a:spLocks noChangeArrowheads="1"/>
            </p:cNvSpPr>
            <p:nvPr/>
          </p:nvSpPr>
          <p:spPr bwMode="auto">
            <a:xfrm>
              <a:off x="5328" y="206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58" name="Oval 1034"/>
            <p:cNvSpPr>
              <a:spLocks noChangeArrowheads="1"/>
            </p:cNvSpPr>
            <p:nvPr/>
          </p:nvSpPr>
          <p:spPr bwMode="auto">
            <a:xfrm>
              <a:off x="5040" y="1413"/>
              <a:ext cx="48" cy="48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59" name="Oval 1035"/>
            <p:cNvSpPr>
              <a:spLocks noChangeArrowheads="1"/>
            </p:cNvSpPr>
            <p:nvPr/>
          </p:nvSpPr>
          <p:spPr bwMode="auto">
            <a:xfrm>
              <a:off x="4128" y="124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0" name="Oval 1036"/>
            <p:cNvSpPr>
              <a:spLocks noChangeArrowheads="1"/>
            </p:cNvSpPr>
            <p:nvPr/>
          </p:nvSpPr>
          <p:spPr bwMode="auto">
            <a:xfrm>
              <a:off x="3744" y="177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1" name="Oval 1037"/>
            <p:cNvSpPr>
              <a:spLocks noChangeArrowheads="1"/>
            </p:cNvSpPr>
            <p:nvPr/>
          </p:nvSpPr>
          <p:spPr bwMode="auto">
            <a:xfrm>
              <a:off x="4128" y="211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2" name="Oval 1038"/>
            <p:cNvSpPr>
              <a:spLocks noChangeArrowheads="1"/>
            </p:cNvSpPr>
            <p:nvPr/>
          </p:nvSpPr>
          <p:spPr bwMode="auto">
            <a:xfrm>
              <a:off x="5376" y="105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3" name="Oval 1039"/>
            <p:cNvSpPr>
              <a:spLocks noChangeArrowheads="1"/>
            </p:cNvSpPr>
            <p:nvPr/>
          </p:nvSpPr>
          <p:spPr bwMode="auto">
            <a:xfrm>
              <a:off x="4656" y="211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4" name="Oval 1040"/>
            <p:cNvSpPr>
              <a:spLocks noChangeArrowheads="1"/>
            </p:cNvSpPr>
            <p:nvPr/>
          </p:nvSpPr>
          <p:spPr bwMode="auto">
            <a:xfrm>
              <a:off x="3600" y="115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5" name="Freeform 1041"/>
            <p:cNvSpPr>
              <a:spLocks/>
            </p:cNvSpPr>
            <p:nvPr/>
          </p:nvSpPr>
          <p:spPr bwMode="auto">
            <a:xfrm>
              <a:off x="3911" y="1104"/>
              <a:ext cx="1464" cy="912"/>
            </a:xfrm>
            <a:custGeom>
              <a:avLst/>
              <a:gdLst/>
              <a:ahLst/>
              <a:cxnLst>
                <a:cxn ang="0">
                  <a:pos x="122" y="489"/>
                </a:cxn>
                <a:cxn ang="0">
                  <a:pos x="200" y="345"/>
                </a:cxn>
                <a:cxn ang="0">
                  <a:pos x="234" y="312"/>
                </a:cxn>
                <a:cxn ang="0">
                  <a:pos x="278" y="212"/>
                </a:cxn>
                <a:cxn ang="0">
                  <a:pos x="411" y="134"/>
                </a:cxn>
                <a:cxn ang="0">
                  <a:pos x="578" y="123"/>
                </a:cxn>
                <a:cxn ang="0">
                  <a:pos x="600" y="100"/>
                </a:cxn>
                <a:cxn ang="0">
                  <a:pos x="667" y="78"/>
                </a:cxn>
                <a:cxn ang="0">
                  <a:pos x="834" y="0"/>
                </a:cxn>
                <a:cxn ang="0">
                  <a:pos x="1167" y="12"/>
                </a:cxn>
                <a:cxn ang="0">
                  <a:pos x="1234" y="34"/>
                </a:cxn>
                <a:cxn ang="0">
                  <a:pos x="1267" y="56"/>
                </a:cxn>
                <a:cxn ang="0">
                  <a:pos x="1356" y="78"/>
                </a:cxn>
                <a:cxn ang="0">
                  <a:pos x="1434" y="156"/>
                </a:cxn>
                <a:cxn ang="0">
                  <a:pos x="1434" y="356"/>
                </a:cxn>
                <a:cxn ang="0">
                  <a:pos x="1389" y="423"/>
                </a:cxn>
                <a:cxn ang="0">
                  <a:pos x="1256" y="589"/>
                </a:cxn>
                <a:cxn ang="0">
                  <a:pos x="1178" y="689"/>
                </a:cxn>
                <a:cxn ang="0">
                  <a:pos x="1045" y="767"/>
                </a:cxn>
                <a:cxn ang="0">
                  <a:pos x="567" y="734"/>
                </a:cxn>
                <a:cxn ang="0">
                  <a:pos x="245" y="745"/>
                </a:cxn>
                <a:cxn ang="0">
                  <a:pos x="0" y="634"/>
                </a:cxn>
                <a:cxn ang="0">
                  <a:pos x="122" y="545"/>
                </a:cxn>
                <a:cxn ang="0">
                  <a:pos x="122" y="489"/>
                </a:cxn>
              </a:cxnLst>
              <a:rect l="0" t="0" r="r" b="b"/>
              <a:pathLst>
                <a:path w="1464" h="767">
                  <a:moveTo>
                    <a:pt x="122" y="489"/>
                  </a:moveTo>
                  <a:cubicBezTo>
                    <a:pt x="134" y="382"/>
                    <a:pt x="115" y="373"/>
                    <a:pt x="200" y="345"/>
                  </a:cubicBezTo>
                  <a:cubicBezTo>
                    <a:pt x="211" y="334"/>
                    <a:pt x="226" y="326"/>
                    <a:pt x="234" y="312"/>
                  </a:cubicBezTo>
                  <a:cubicBezTo>
                    <a:pt x="254" y="277"/>
                    <a:pt x="247" y="239"/>
                    <a:pt x="278" y="212"/>
                  </a:cubicBezTo>
                  <a:cubicBezTo>
                    <a:pt x="316" y="179"/>
                    <a:pt x="363" y="150"/>
                    <a:pt x="411" y="134"/>
                  </a:cubicBezTo>
                  <a:cubicBezTo>
                    <a:pt x="487" y="149"/>
                    <a:pt x="482" y="155"/>
                    <a:pt x="578" y="123"/>
                  </a:cubicBezTo>
                  <a:cubicBezTo>
                    <a:pt x="588" y="120"/>
                    <a:pt x="591" y="105"/>
                    <a:pt x="600" y="100"/>
                  </a:cubicBezTo>
                  <a:cubicBezTo>
                    <a:pt x="621" y="89"/>
                    <a:pt x="647" y="91"/>
                    <a:pt x="667" y="78"/>
                  </a:cubicBezTo>
                  <a:cubicBezTo>
                    <a:pt x="703" y="54"/>
                    <a:pt x="789" y="16"/>
                    <a:pt x="834" y="0"/>
                  </a:cubicBezTo>
                  <a:cubicBezTo>
                    <a:pt x="945" y="4"/>
                    <a:pt x="1056" y="3"/>
                    <a:pt x="1167" y="12"/>
                  </a:cubicBezTo>
                  <a:cubicBezTo>
                    <a:pt x="1190" y="14"/>
                    <a:pt x="1234" y="34"/>
                    <a:pt x="1234" y="34"/>
                  </a:cubicBezTo>
                  <a:cubicBezTo>
                    <a:pt x="1245" y="41"/>
                    <a:pt x="1255" y="52"/>
                    <a:pt x="1267" y="56"/>
                  </a:cubicBezTo>
                  <a:cubicBezTo>
                    <a:pt x="1296" y="66"/>
                    <a:pt x="1356" y="78"/>
                    <a:pt x="1356" y="78"/>
                  </a:cubicBezTo>
                  <a:cubicBezTo>
                    <a:pt x="1392" y="102"/>
                    <a:pt x="1409" y="121"/>
                    <a:pt x="1434" y="156"/>
                  </a:cubicBezTo>
                  <a:cubicBezTo>
                    <a:pt x="1459" y="231"/>
                    <a:pt x="1464" y="232"/>
                    <a:pt x="1434" y="356"/>
                  </a:cubicBezTo>
                  <a:cubicBezTo>
                    <a:pt x="1428" y="382"/>
                    <a:pt x="1404" y="401"/>
                    <a:pt x="1389" y="423"/>
                  </a:cubicBezTo>
                  <a:cubicBezTo>
                    <a:pt x="1350" y="481"/>
                    <a:pt x="1305" y="540"/>
                    <a:pt x="1256" y="589"/>
                  </a:cubicBezTo>
                  <a:cubicBezTo>
                    <a:pt x="1235" y="653"/>
                    <a:pt x="1254" y="613"/>
                    <a:pt x="1178" y="689"/>
                  </a:cubicBezTo>
                  <a:cubicBezTo>
                    <a:pt x="1120" y="747"/>
                    <a:pt x="1125" y="747"/>
                    <a:pt x="1045" y="767"/>
                  </a:cubicBezTo>
                  <a:cubicBezTo>
                    <a:pt x="826" y="760"/>
                    <a:pt x="745" y="756"/>
                    <a:pt x="567" y="734"/>
                  </a:cubicBezTo>
                  <a:cubicBezTo>
                    <a:pt x="460" y="738"/>
                    <a:pt x="352" y="745"/>
                    <a:pt x="245" y="745"/>
                  </a:cubicBezTo>
                  <a:cubicBezTo>
                    <a:pt x="115" y="745"/>
                    <a:pt x="66" y="733"/>
                    <a:pt x="0" y="634"/>
                  </a:cubicBezTo>
                  <a:cubicBezTo>
                    <a:pt x="24" y="559"/>
                    <a:pt x="56" y="567"/>
                    <a:pt x="122" y="545"/>
                  </a:cubicBezTo>
                  <a:cubicBezTo>
                    <a:pt x="173" y="497"/>
                    <a:pt x="122" y="546"/>
                    <a:pt x="122" y="489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CC0099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7956" name="Object 1044"/>
            <p:cNvGraphicFramePr>
              <a:graphicFrameLocks noChangeAspect="1"/>
            </p:cNvGraphicFramePr>
            <p:nvPr/>
          </p:nvGraphicFramePr>
          <p:xfrm>
            <a:off x="4224" y="1605"/>
            <a:ext cx="28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38" name="公式" r:id="rId3" imgW="139680" imgH="164880" progId="Equation.3">
                    <p:embed/>
                  </p:oleObj>
                </mc:Choice>
                <mc:Fallback>
                  <p:oleObj name="公式" r:id="rId3" imgW="139680" imgH="164880" progId="Equation.3">
                    <p:embed/>
                    <p:pic>
                      <p:nvPicPr>
                        <p:cNvPr id="0" name="Object 10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05"/>
                          <a:ext cx="28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7" name="Object 1045"/>
            <p:cNvGraphicFramePr>
              <a:graphicFrameLocks noChangeAspect="1"/>
            </p:cNvGraphicFramePr>
            <p:nvPr/>
          </p:nvGraphicFramePr>
          <p:xfrm>
            <a:off x="4944" y="1440"/>
            <a:ext cx="30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39" name="公式" r:id="rId5" imgW="152280" imgH="164880" progId="Equation.3">
                    <p:embed/>
                  </p:oleObj>
                </mc:Choice>
                <mc:Fallback>
                  <p:oleObj name="公式" r:id="rId5" imgW="152280" imgH="164880" progId="Equation.3">
                    <p:embed/>
                    <p:pic>
                      <p:nvPicPr>
                        <p:cNvPr id="0" name="Object 1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440"/>
                          <a:ext cx="30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44"/>
          <p:cNvGrpSpPr>
            <a:grpSpLocks/>
          </p:cNvGrpSpPr>
          <p:nvPr/>
        </p:nvGrpSpPr>
        <p:grpSpPr bwMode="auto">
          <a:xfrm>
            <a:off x="5638800" y="914400"/>
            <a:ext cx="2781300" cy="1600200"/>
            <a:chOff x="3600" y="720"/>
            <a:chExt cx="1752" cy="1008"/>
          </a:xfrm>
        </p:grpSpPr>
        <p:sp>
          <p:nvSpPr>
            <p:cNvPr id="155669" name="Line 1045"/>
            <p:cNvSpPr>
              <a:spLocks noChangeShapeType="1"/>
            </p:cNvSpPr>
            <p:nvPr/>
          </p:nvSpPr>
          <p:spPr bwMode="auto">
            <a:xfrm flipV="1">
              <a:off x="4368" y="1584"/>
              <a:ext cx="336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70" name="Line 1046"/>
            <p:cNvSpPr>
              <a:spLocks noChangeShapeType="1"/>
            </p:cNvSpPr>
            <p:nvPr/>
          </p:nvSpPr>
          <p:spPr bwMode="auto">
            <a:xfrm rot="21421042" flipH="1">
              <a:off x="4801" y="1439"/>
              <a:ext cx="335" cy="1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71" name="Line 1047"/>
            <p:cNvSpPr>
              <a:spLocks noChangeShapeType="1"/>
            </p:cNvSpPr>
            <p:nvPr/>
          </p:nvSpPr>
          <p:spPr bwMode="auto">
            <a:xfrm flipH="1" flipV="1">
              <a:off x="3744" y="1248"/>
              <a:ext cx="624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72" name="Line 1048"/>
            <p:cNvSpPr>
              <a:spLocks noChangeShapeType="1"/>
            </p:cNvSpPr>
            <p:nvPr/>
          </p:nvSpPr>
          <p:spPr bwMode="auto">
            <a:xfrm rot="20397980" flipV="1">
              <a:off x="4992" y="1100"/>
              <a:ext cx="360" cy="33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7952" name="Object 1040"/>
            <p:cNvGraphicFramePr>
              <a:graphicFrameLocks noChangeAspect="1"/>
            </p:cNvGraphicFramePr>
            <p:nvPr/>
          </p:nvGraphicFramePr>
          <p:xfrm>
            <a:off x="4272" y="1258"/>
            <a:ext cx="38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0" name="Equation" r:id="rId7" imgW="215640" imgH="215640" progId="Equation.3">
                    <p:embed/>
                  </p:oleObj>
                </mc:Choice>
                <mc:Fallback>
                  <p:oleObj name="Equation" r:id="rId7" imgW="215640" imgH="215640" progId="Equation.3">
                    <p:embed/>
                    <p:pic>
                      <p:nvPicPr>
                        <p:cNvPr id="0" name="Object 10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258"/>
                          <a:ext cx="384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3" name="Object 1041"/>
            <p:cNvGraphicFramePr>
              <a:graphicFrameLocks noChangeAspect="1"/>
            </p:cNvGraphicFramePr>
            <p:nvPr/>
          </p:nvGraphicFramePr>
          <p:xfrm>
            <a:off x="4656" y="1114"/>
            <a:ext cx="38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1" name="Equation" r:id="rId9" imgW="215640" imgH="215640" progId="Equation.3">
                    <p:embed/>
                  </p:oleObj>
                </mc:Choice>
                <mc:Fallback>
                  <p:oleObj name="Equation" r:id="rId9" imgW="215640" imgH="215640" progId="Equation.3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114"/>
                          <a:ext cx="384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4" name="Object 1042"/>
            <p:cNvGraphicFramePr>
              <a:graphicFrameLocks noChangeAspect="1"/>
            </p:cNvGraphicFramePr>
            <p:nvPr/>
          </p:nvGraphicFramePr>
          <p:xfrm>
            <a:off x="3600" y="1327"/>
            <a:ext cx="336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2" name="Equation" r:id="rId11" imgW="164880" imgH="228600" progId="Equation.3">
                    <p:embed/>
                  </p:oleObj>
                </mc:Choice>
                <mc:Fallback>
                  <p:oleObj name="Equation" r:id="rId11" imgW="164880" imgH="228600" progId="Equation.3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327"/>
                          <a:ext cx="336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5" name="Object 1043"/>
            <p:cNvGraphicFramePr>
              <a:graphicFrameLocks noChangeAspect="1"/>
            </p:cNvGraphicFramePr>
            <p:nvPr/>
          </p:nvGraphicFramePr>
          <p:xfrm>
            <a:off x="4944" y="720"/>
            <a:ext cx="30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3" name="Equation" r:id="rId13" imgW="177480" imgH="228600" progId="Equation.3">
                    <p:embed/>
                  </p:oleObj>
                </mc:Choice>
                <mc:Fallback>
                  <p:oleObj name="Equation" r:id="rId13" imgW="177480" imgH="228600" progId="Equation.3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720"/>
                          <a:ext cx="302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5677" name="Text Box 1053"/>
          <p:cNvSpPr txBox="1">
            <a:spLocks noChangeArrowheads="1"/>
          </p:cNvSpPr>
          <p:nvPr/>
        </p:nvSpPr>
        <p:spPr bwMode="auto">
          <a:xfrm>
            <a:off x="228600" y="4038600"/>
            <a:ext cx="88392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Tx/>
              <a:buBlip>
                <a:blip r:embed="rId15"/>
              </a:buBlip>
            </a:pPr>
            <a:r>
              <a:rPr lang="en-US" altLang="zh-CN" sz="28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质点系动量定理  </a:t>
            </a:r>
            <a:r>
              <a:rPr lang="zh-CN" altLang="en-US" sz="2800" dirty="0">
                <a:latin typeface="Arial" charset="0"/>
              </a:rPr>
              <a:t>作用于系统的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合外力</a:t>
            </a:r>
            <a:r>
              <a:rPr lang="zh-CN" altLang="en-US" sz="2800" dirty="0">
                <a:latin typeface="Arial" charset="0"/>
              </a:rPr>
              <a:t>的冲量等于系统动量的增量</a:t>
            </a:r>
            <a:r>
              <a:rPr lang="en-US" altLang="zh-CN" sz="2800" dirty="0">
                <a:latin typeface="Arial" charset="0"/>
              </a:rPr>
              <a:t>.</a:t>
            </a:r>
          </a:p>
        </p:txBody>
      </p:sp>
      <p:graphicFrame>
        <p:nvGraphicFramePr>
          <p:cNvPr id="167936" name="Object 1024"/>
          <p:cNvGraphicFramePr>
            <a:graphicFrameLocks noChangeAspect="1"/>
          </p:cNvGraphicFramePr>
          <p:nvPr/>
        </p:nvGraphicFramePr>
        <p:xfrm>
          <a:off x="762000" y="5105400"/>
          <a:ext cx="548640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44" name="Equation" r:id="rId16" imgW="3479760" imgH="812520" progId="Equation.3">
                  <p:embed/>
                </p:oleObj>
              </mc:Choice>
              <mc:Fallback>
                <p:oleObj name="Equation" r:id="rId16" imgW="3479760" imgH="81252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105400"/>
                        <a:ext cx="5486400" cy="11572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055"/>
          <p:cNvGrpSpPr>
            <a:grpSpLocks/>
          </p:cNvGrpSpPr>
          <p:nvPr/>
        </p:nvGrpSpPr>
        <p:grpSpPr bwMode="auto">
          <a:xfrm>
            <a:off x="5562600" y="1295400"/>
            <a:ext cx="3119438" cy="1981200"/>
            <a:chOff x="3552" y="960"/>
            <a:chExt cx="1965" cy="1248"/>
          </a:xfrm>
        </p:grpSpPr>
        <p:graphicFrame>
          <p:nvGraphicFramePr>
            <p:cNvPr id="167942" name="Object 1030"/>
            <p:cNvGraphicFramePr>
              <a:graphicFrameLocks noChangeAspect="1"/>
            </p:cNvGraphicFramePr>
            <p:nvPr/>
          </p:nvGraphicFramePr>
          <p:xfrm>
            <a:off x="5280" y="206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5" name="Clip" r:id="rId18" imgW="380852" imgH="390270" progId="">
                    <p:embed/>
                  </p:oleObj>
                </mc:Choice>
                <mc:Fallback>
                  <p:oleObj name="Clip" r:id="rId18" imgW="380852" imgH="390270" progId="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06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3" name="Object 1031"/>
            <p:cNvGraphicFramePr>
              <a:graphicFrameLocks noChangeAspect="1"/>
            </p:cNvGraphicFramePr>
            <p:nvPr/>
          </p:nvGraphicFramePr>
          <p:xfrm>
            <a:off x="4320" y="158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6" name="Clip" r:id="rId20" imgW="380852" imgH="390270" progId="">
                    <p:embed/>
                  </p:oleObj>
                </mc:Choice>
                <mc:Fallback>
                  <p:oleObj name="Clip" r:id="rId20" imgW="380852" imgH="390270" progId="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58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4" name="Object 1032"/>
            <p:cNvGraphicFramePr>
              <a:graphicFrameLocks noChangeAspect="1"/>
            </p:cNvGraphicFramePr>
            <p:nvPr/>
          </p:nvGraphicFramePr>
          <p:xfrm>
            <a:off x="4611" y="206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7" name="Clip" r:id="rId22" imgW="380852" imgH="390270" progId="">
                    <p:embed/>
                  </p:oleObj>
                </mc:Choice>
                <mc:Fallback>
                  <p:oleObj name="Clip" r:id="rId22" imgW="380852" imgH="390270" progId="">
                    <p:embed/>
                    <p:pic>
                      <p:nvPicPr>
                        <p:cNvPr id="0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1" y="206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5" name="Object 1033"/>
            <p:cNvGraphicFramePr>
              <a:graphicFrameLocks noChangeAspect="1"/>
            </p:cNvGraphicFramePr>
            <p:nvPr/>
          </p:nvGraphicFramePr>
          <p:xfrm>
            <a:off x="3696" y="1728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8" name="Clip" r:id="rId23" imgW="380852" imgH="390270" progId="">
                    <p:embed/>
                  </p:oleObj>
                </mc:Choice>
                <mc:Fallback>
                  <p:oleObj name="Clip" r:id="rId23" imgW="380852" imgH="390270" progId="">
                    <p:embed/>
                    <p:pic>
                      <p:nvPicPr>
                        <p:cNvPr id="0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728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6" name="Object 1034"/>
            <p:cNvGraphicFramePr>
              <a:graphicFrameLocks noChangeAspect="1"/>
            </p:cNvGraphicFramePr>
            <p:nvPr/>
          </p:nvGraphicFramePr>
          <p:xfrm>
            <a:off x="4995" y="1392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9" name="Clip" r:id="rId24" imgW="380852" imgH="390270" progId="">
                    <p:embed/>
                  </p:oleObj>
                </mc:Choice>
                <mc:Fallback>
                  <p:oleObj name="Clip" r:id="rId24" imgW="380852" imgH="390270" progId="">
                    <p:embed/>
                    <p:pic>
                      <p:nvPicPr>
                        <p:cNvPr id="0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5" y="1392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7" name="Object 1035"/>
            <p:cNvGraphicFramePr>
              <a:graphicFrameLocks noChangeAspect="1"/>
            </p:cNvGraphicFramePr>
            <p:nvPr/>
          </p:nvGraphicFramePr>
          <p:xfrm>
            <a:off x="4080" y="206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50" name="Clip" r:id="rId25" imgW="380852" imgH="390270" progId="">
                    <p:embed/>
                  </p:oleObj>
                </mc:Choice>
                <mc:Fallback>
                  <p:oleObj name="Clip" r:id="rId25" imgW="380852" imgH="390270" progId="">
                    <p:embed/>
                    <p:pic>
                      <p:nvPicPr>
                        <p:cNvPr id="0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06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8" name="Object 1036"/>
            <p:cNvGraphicFramePr>
              <a:graphicFrameLocks noChangeAspect="1"/>
            </p:cNvGraphicFramePr>
            <p:nvPr/>
          </p:nvGraphicFramePr>
          <p:xfrm>
            <a:off x="4083" y="1200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51" name="Clip" r:id="rId26" imgW="380852" imgH="390270" progId="">
                    <p:embed/>
                  </p:oleObj>
                </mc:Choice>
                <mc:Fallback>
                  <p:oleObj name="Clip" r:id="rId26" imgW="380852" imgH="390270" progId="">
                    <p:embed/>
                    <p:pic>
                      <p:nvPicPr>
                        <p:cNvPr id="0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1200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9" name="Object 1037"/>
            <p:cNvGraphicFramePr>
              <a:graphicFrameLocks noChangeAspect="1"/>
            </p:cNvGraphicFramePr>
            <p:nvPr/>
          </p:nvGraphicFramePr>
          <p:xfrm>
            <a:off x="4464" y="960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52" name="Clip" r:id="rId27" imgW="380852" imgH="390270" progId="">
                    <p:embed/>
                  </p:oleObj>
                </mc:Choice>
                <mc:Fallback>
                  <p:oleObj name="Clip" r:id="rId27" imgW="380852" imgH="390270" progId="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960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0" name="Object 1038"/>
            <p:cNvGraphicFramePr>
              <a:graphicFrameLocks noChangeAspect="1"/>
            </p:cNvGraphicFramePr>
            <p:nvPr/>
          </p:nvGraphicFramePr>
          <p:xfrm>
            <a:off x="3552" y="110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53" name="Clip" r:id="rId28" imgW="380852" imgH="390270" progId="">
                    <p:embed/>
                  </p:oleObj>
                </mc:Choice>
                <mc:Fallback>
                  <p:oleObj name="Clip" r:id="rId28" imgW="380852" imgH="390270" progId="">
                    <p:embed/>
                    <p:pic>
                      <p:nvPicPr>
                        <p:cNvPr id="0" name="Object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10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1" name="Object 1039"/>
            <p:cNvGraphicFramePr>
              <a:graphicFrameLocks noChangeAspect="1"/>
            </p:cNvGraphicFramePr>
            <p:nvPr/>
          </p:nvGraphicFramePr>
          <p:xfrm>
            <a:off x="5376" y="1008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54" name="Clip" r:id="rId29" imgW="380852" imgH="390270" progId="">
                    <p:embed/>
                  </p:oleObj>
                </mc:Choice>
                <mc:Fallback>
                  <p:oleObj name="Clip" r:id="rId29" imgW="380852" imgH="390270" progId="">
                    <p:embed/>
                    <p:pic>
                      <p:nvPicPr>
                        <p:cNvPr id="0" name="Object 1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1008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7937" name="Object 1025"/>
          <p:cNvGraphicFramePr>
            <a:graphicFrameLocks noChangeAspect="1"/>
          </p:cNvGraphicFramePr>
          <p:nvPr/>
        </p:nvGraphicFramePr>
        <p:xfrm>
          <a:off x="304800" y="3276600"/>
          <a:ext cx="79248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5" name="Equation" r:id="rId30" imgW="5676840" imgH="634680" progId="Equation.3">
                  <p:embed/>
                </p:oleObj>
              </mc:Choice>
              <mc:Fallback>
                <p:oleObj name="Equation" r:id="rId30" imgW="5676840" imgH="63468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276600"/>
                        <a:ext cx="7924800" cy="896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8" name="Object 1026"/>
          <p:cNvGraphicFramePr>
            <a:graphicFrameLocks noChangeAspect="1"/>
          </p:cNvGraphicFramePr>
          <p:nvPr/>
        </p:nvGraphicFramePr>
        <p:xfrm>
          <a:off x="304800" y="1752600"/>
          <a:ext cx="5029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6" name="Equation" r:id="rId32" imgW="3606480" imgH="634680" progId="Equation.3">
                  <p:embed/>
                </p:oleObj>
              </mc:Choice>
              <mc:Fallback>
                <p:oleObj name="Equation" r:id="rId32" imgW="3606480" imgH="63468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52600"/>
                        <a:ext cx="50292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9" name="Object 1027"/>
          <p:cNvGraphicFramePr>
            <a:graphicFrameLocks noChangeAspect="1"/>
          </p:cNvGraphicFramePr>
          <p:nvPr/>
        </p:nvGraphicFramePr>
        <p:xfrm>
          <a:off x="304800" y="914400"/>
          <a:ext cx="5029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7" name="Equation" r:id="rId34" imgW="3441600" imgH="634680" progId="Equation.3">
                  <p:embed/>
                </p:oleObj>
              </mc:Choice>
              <mc:Fallback>
                <p:oleObj name="Equation" r:id="rId34" imgW="3441600" imgH="63468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14400"/>
                        <a:ext cx="5029200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073"/>
          <p:cNvGrpSpPr>
            <a:grpSpLocks/>
          </p:cNvGrpSpPr>
          <p:nvPr/>
        </p:nvGrpSpPr>
        <p:grpSpPr bwMode="auto">
          <a:xfrm>
            <a:off x="609600" y="2643191"/>
            <a:ext cx="5181600" cy="557213"/>
            <a:chOff x="192" y="1809"/>
            <a:chExt cx="3264" cy="351"/>
          </a:xfrm>
        </p:grpSpPr>
        <p:sp>
          <p:nvSpPr>
            <p:cNvPr id="155694" name="Text Box 1070"/>
            <p:cNvSpPr txBox="1">
              <a:spLocks noChangeArrowheads="1"/>
            </p:cNvSpPr>
            <p:nvPr/>
          </p:nvSpPr>
          <p:spPr bwMode="auto">
            <a:xfrm>
              <a:off x="192" y="1824"/>
              <a:ext cx="32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因为内力                           ，故</a:t>
              </a:r>
            </a:p>
          </p:txBody>
        </p:sp>
        <p:graphicFrame>
          <p:nvGraphicFramePr>
            <p:cNvPr id="167941" name="Object 1029"/>
            <p:cNvGraphicFramePr>
              <a:graphicFrameLocks noChangeAspect="1"/>
            </p:cNvGraphicFramePr>
            <p:nvPr/>
          </p:nvGraphicFramePr>
          <p:xfrm>
            <a:off x="1152" y="1809"/>
            <a:ext cx="138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58" name="Equation" r:id="rId36" imgW="1498320" imgH="380880" progId="Equation.3">
                    <p:embed/>
                  </p:oleObj>
                </mc:Choice>
                <mc:Fallback>
                  <p:oleObj name="Equation" r:id="rId36" imgW="1498320" imgH="38088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809"/>
                          <a:ext cx="1382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7940" name="Object 1028"/>
          <p:cNvGraphicFramePr>
            <a:graphicFrameLocks noChangeAspect="1"/>
          </p:cNvGraphicFramePr>
          <p:nvPr/>
        </p:nvGraphicFramePr>
        <p:xfrm>
          <a:off x="6629400" y="5486400"/>
          <a:ext cx="1905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9" name="Equation" r:id="rId38" imgW="1269720" imgH="393480" progId="Equation.3">
                  <p:embed/>
                </p:oleObj>
              </mc:Choice>
              <mc:Fallback>
                <p:oleObj name="Equation" r:id="rId38" imgW="1269720" imgH="39348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486400"/>
                        <a:ext cx="1905000" cy="5905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7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219200" y="381000"/>
            <a:ext cx="1752600" cy="1066800"/>
            <a:chOff x="768" y="384"/>
            <a:chExt cx="1104" cy="672"/>
          </a:xfrm>
        </p:grpSpPr>
        <p:sp>
          <p:nvSpPr>
            <p:cNvPr id="150532" name="AutoShape 4"/>
            <p:cNvSpPr>
              <a:spLocks noChangeArrowheads="1"/>
            </p:cNvSpPr>
            <p:nvPr/>
          </p:nvSpPr>
          <p:spPr bwMode="auto">
            <a:xfrm>
              <a:off x="768" y="384"/>
              <a:ext cx="1104" cy="672"/>
            </a:xfrm>
            <a:prstGeom prst="irregularSeal1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EEAF1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0533" name="Text Box 5"/>
            <p:cNvSpPr txBox="1">
              <a:spLocks noChangeArrowheads="1"/>
            </p:cNvSpPr>
            <p:nvPr/>
          </p:nvSpPr>
          <p:spPr bwMode="auto">
            <a:xfrm>
              <a:off x="1044" y="538"/>
              <a:ext cx="69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注意</a:t>
              </a:r>
            </a:p>
          </p:txBody>
        </p:sp>
      </p:grpSp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3429000" y="685800"/>
            <a:ext cx="4267200" cy="5286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charset="0"/>
              </a:rPr>
              <a:t>内力不改变质点系的动量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838200" y="1447800"/>
            <a:ext cx="7620000" cy="3151188"/>
            <a:chOff x="576" y="1584"/>
            <a:chExt cx="4800" cy="1985"/>
          </a:xfrm>
        </p:grpSpPr>
        <p:pic>
          <p:nvPicPr>
            <p:cNvPr id="150539" name="Picture 11" descr="dlsh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24" y="1632"/>
              <a:ext cx="4560" cy="1937"/>
            </a:xfrm>
            <a:prstGeom prst="rect">
              <a:avLst/>
            </a:prstGeom>
            <a:noFill/>
          </p:spPr>
        </p:pic>
        <p:sp>
          <p:nvSpPr>
            <p:cNvPr id="150540" name="Rectangle 12"/>
            <p:cNvSpPr>
              <a:spLocks noChangeArrowheads="1"/>
            </p:cNvSpPr>
            <p:nvPr/>
          </p:nvSpPr>
          <p:spPr bwMode="auto">
            <a:xfrm>
              <a:off x="576" y="1584"/>
              <a:ext cx="4800" cy="1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09600" y="4267200"/>
            <a:ext cx="7945438" cy="706438"/>
            <a:chOff x="384" y="2928"/>
            <a:chExt cx="5005" cy="445"/>
          </a:xfrm>
        </p:grpSpPr>
        <p:graphicFrame>
          <p:nvGraphicFramePr>
            <p:cNvPr id="168963" name="Object 1027"/>
            <p:cNvGraphicFramePr>
              <a:graphicFrameLocks noChangeAspect="1"/>
            </p:cNvGraphicFramePr>
            <p:nvPr/>
          </p:nvGraphicFramePr>
          <p:xfrm>
            <a:off x="3072" y="2928"/>
            <a:ext cx="11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34" name="Equation" r:id="rId4" imgW="596880" imgH="241200" progId="Equation.3">
                    <p:embed/>
                  </p:oleObj>
                </mc:Choice>
                <mc:Fallback>
                  <p:oleObj name="Equation" r:id="rId4" imgW="596880" imgH="241200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928"/>
                          <a:ext cx="1104" cy="4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64" name="Object 1028"/>
            <p:cNvGraphicFramePr>
              <a:graphicFrameLocks noChangeAspect="1"/>
            </p:cNvGraphicFramePr>
            <p:nvPr/>
          </p:nvGraphicFramePr>
          <p:xfrm>
            <a:off x="1488" y="2929"/>
            <a:ext cx="1371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35" name="Equation" r:id="rId6" imgW="723600" imgH="241200" progId="Equation.3">
                    <p:embed/>
                  </p:oleObj>
                </mc:Choice>
                <mc:Fallback>
                  <p:oleObj name="Equation" r:id="rId6" imgW="723600" imgH="241200" progId="Equation.3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929"/>
                          <a:ext cx="1371" cy="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42" name="Text Box 14"/>
            <p:cNvSpPr txBox="1">
              <a:spLocks noChangeArrowheads="1"/>
            </p:cNvSpPr>
            <p:nvPr/>
          </p:nvSpPr>
          <p:spPr bwMode="auto">
            <a:xfrm>
              <a:off x="384" y="2964"/>
              <a:ext cx="13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初始速度</a:t>
              </a:r>
            </a:p>
          </p:txBody>
        </p:sp>
        <p:sp>
          <p:nvSpPr>
            <p:cNvPr id="150544" name="Text Box 16"/>
            <p:cNvSpPr txBox="1">
              <a:spLocks noChangeArrowheads="1"/>
            </p:cNvSpPr>
            <p:nvPr/>
          </p:nvSpPr>
          <p:spPr bwMode="auto">
            <a:xfrm>
              <a:off x="4176" y="2955"/>
              <a:ext cx="5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则</a:t>
              </a:r>
            </a:p>
          </p:txBody>
        </p:sp>
        <p:graphicFrame>
          <p:nvGraphicFramePr>
            <p:cNvPr id="168965" name="Object 1029"/>
            <p:cNvGraphicFramePr>
              <a:graphicFrameLocks noChangeAspect="1"/>
            </p:cNvGraphicFramePr>
            <p:nvPr/>
          </p:nvGraphicFramePr>
          <p:xfrm>
            <a:off x="4656" y="2955"/>
            <a:ext cx="73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36" name="Equation" r:id="rId8" imgW="431640" imgH="228600" progId="Equation.3">
                    <p:embed/>
                  </p:oleObj>
                </mc:Choice>
                <mc:Fallback>
                  <p:oleObj name="Equation" r:id="rId8" imgW="431640" imgH="22860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955"/>
                          <a:ext cx="733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609600" y="5029200"/>
            <a:ext cx="7848600" cy="723900"/>
            <a:chOff x="384" y="3360"/>
            <a:chExt cx="4944" cy="456"/>
          </a:xfrm>
        </p:grpSpPr>
        <p:graphicFrame>
          <p:nvGraphicFramePr>
            <p:cNvPr id="168961" name="Object 1025"/>
            <p:cNvGraphicFramePr>
              <a:graphicFrameLocks noChangeAspect="1"/>
            </p:cNvGraphicFramePr>
            <p:nvPr/>
          </p:nvGraphicFramePr>
          <p:xfrm>
            <a:off x="1680" y="3360"/>
            <a:ext cx="100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37" name="Equation" r:id="rId10" imgW="533160" imgH="241200" progId="Equation.3">
                    <p:embed/>
                  </p:oleObj>
                </mc:Choice>
                <mc:Fallback>
                  <p:oleObj name="Equation" r:id="rId10" imgW="533160" imgH="241200" progId="Equation.3">
                    <p:embed/>
                    <p:pic>
                      <p:nvPicPr>
                        <p:cNvPr id="0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360"/>
                          <a:ext cx="1008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62" name="Object 1026"/>
            <p:cNvGraphicFramePr>
              <a:graphicFrameLocks noChangeAspect="1"/>
            </p:cNvGraphicFramePr>
            <p:nvPr/>
          </p:nvGraphicFramePr>
          <p:xfrm>
            <a:off x="4608" y="3360"/>
            <a:ext cx="720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38" name="Equation" r:id="rId12" imgW="431640" imgH="241200" progId="Equation.3">
                    <p:embed/>
                  </p:oleObj>
                </mc:Choice>
                <mc:Fallback>
                  <p:oleObj name="Equation" r:id="rId12" imgW="431640" imgH="241200" progId="Equation.3">
                    <p:embed/>
                    <p:pic>
                      <p:nvPicPr>
                        <p:cNvPr id="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360"/>
                          <a:ext cx="720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43" name="Text Box 15"/>
            <p:cNvSpPr txBox="1">
              <a:spLocks noChangeArrowheads="1"/>
            </p:cNvSpPr>
            <p:nvPr/>
          </p:nvSpPr>
          <p:spPr bwMode="auto">
            <a:xfrm>
              <a:off x="384" y="3360"/>
              <a:ext cx="14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推开后速度</a:t>
              </a:r>
            </a:p>
          </p:txBody>
        </p:sp>
        <p:sp>
          <p:nvSpPr>
            <p:cNvPr id="150546" name="Text Box 18"/>
            <p:cNvSpPr txBox="1">
              <a:spLocks noChangeArrowheads="1"/>
            </p:cNvSpPr>
            <p:nvPr/>
          </p:nvSpPr>
          <p:spPr bwMode="auto">
            <a:xfrm>
              <a:off x="2736" y="3408"/>
              <a:ext cx="24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 </a:t>
              </a:r>
              <a:r>
                <a:rPr lang="zh-CN" altLang="en-US" sz="2800" dirty="0"/>
                <a:t>且方向相反     则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09600" y="5638800"/>
            <a:ext cx="6324600" cy="762000"/>
            <a:chOff x="384" y="3696"/>
            <a:chExt cx="3984" cy="480"/>
          </a:xfrm>
        </p:grpSpPr>
        <p:sp>
          <p:nvSpPr>
            <p:cNvPr id="150549" name="Rectangle 21"/>
            <p:cNvSpPr>
              <a:spLocks noChangeArrowheads="1"/>
            </p:cNvSpPr>
            <p:nvPr/>
          </p:nvSpPr>
          <p:spPr bwMode="auto">
            <a:xfrm>
              <a:off x="384" y="3753"/>
              <a:ext cx="284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/>
                <a:t>推开前后系统动量不变</a:t>
              </a:r>
            </a:p>
          </p:txBody>
        </p:sp>
        <p:graphicFrame>
          <p:nvGraphicFramePr>
            <p:cNvPr id="168960" name="Object 1024"/>
            <p:cNvGraphicFramePr>
              <a:graphicFrameLocks noChangeAspect="1"/>
            </p:cNvGraphicFramePr>
            <p:nvPr/>
          </p:nvGraphicFramePr>
          <p:xfrm>
            <a:off x="3216" y="3696"/>
            <a:ext cx="115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39" name="Equation" r:id="rId14" imgW="444240" imgH="228600" progId="Equation.3">
                    <p:embed/>
                  </p:oleObj>
                </mc:Choice>
                <mc:Fallback>
                  <p:oleObj name="Equation" r:id="rId14" imgW="444240" imgH="228600" progId="Equation.3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696"/>
                          <a:ext cx="1152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96"/>
          <p:cNvGrpSpPr>
            <a:grpSpLocks/>
          </p:cNvGrpSpPr>
          <p:nvPr/>
        </p:nvGrpSpPr>
        <p:grpSpPr bwMode="auto">
          <a:xfrm>
            <a:off x="152400" y="3810000"/>
            <a:ext cx="8763000" cy="2438400"/>
            <a:chOff x="96" y="2400"/>
            <a:chExt cx="5520" cy="1536"/>
          </a:xfrm>
        </p:grpSpPr>
        <p:sp>
          <p:nvSpPr>
            <p:cNvPr id="162879" name="Rectangle 1087"/>
            <p:cNvSpPr>
              <a:spLocks noChangeArrowheads="1"/>
            </p:cNvSpPr>
            <p:nvPr/>
          </p:nvSpPr>
          <p:spPr bwMode="auto">
            <a:xfrm>
              <a:off x="144" y="2400"/>
              <a:ext cx="5472" cy="15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2867" name="Rectangle 1075"/>
            <p:cNvSpPr>
              <a:spLocks noChangeArrowheads="1"/>
            </p:cNvSpPr>
            <p:nvPr/>
          </p:nvSpPr>
          <p:spPr bwMode="auto">
            <a:xfrm>
              <a:off x="3744" y="2544"/>
              <a:ext cx="12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/>
                <a:t>动量定理</a:t>
              </a:r>
            </a:p>
          </p:txBody>
        </p:sp>
        <p:sp>
          <p:nvSpPr>
            <p:cNvPr id="162868" name="Rectangle 1076"/>
            <p:cNvSpPr>
              <a:spLocks noChangeArrowheads="1"/>
            </p:cNvSpPr>
            <p:nvPr/>
          </p:nvSpPr>
          <p:spPr bwMode="auto">
            <a:xfrm>
              <a:off x="288" y="3024"/>
              <a:ext cx="44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S</a:t>
              </a:r>
              <a:r>
                <a:rPr lang="zh-CN" altLang="en-US" sz="2800"/>
                <a:t>系</a:t>
              </a:r>
            </a:p>
          </p:txBody>
        </p:sp>
        <p:sp>
          <p:nvSpPr>
            <p:cNvPr id="162869" name="Rectangle 1077"/>
            <p:cNvSpPr>
              <a:spLocks noChangeArrowheads="1"/>
            </p:cNvSpPr>
            <p:nvPr/>
          </p:nvSpPr>
          <p:spPr bwMode="auto">
            <a:xfrm>
              <a:off x="240" y="3552"/>
              <a:ext cx="50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S’</a:t>
              </a:r>
              <a:r>
                <a:rPr lang="zh-CN" altLang="en-US" sz="2800"/>
                <a:t>系</a:t>
              </a:r>
            </a:p>
          </p:txBody>
        </p:sp>
        <p:sp>
          <p:nvSpPr>
            <p:cNvPr id="162874" name="Line 1082"/>
            <p:cNvSpPr>
              <a:spLocks noChangeShapeType="1"/>
            </p:cNvSpPr>
            <p:nvPr/>
          </p:nvSpPr>
          <p:spPr bwMode="auto">
            <a:xfrm>
              <a:off x="1968" y="2400"/>
              <a:ext cx="0" cy="15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2875" name="Rectangle 1083"/>
            <p:cNvSpPr>
              <a:spLocks noChangeArrowheads="1"/>
            </p:cNvSpPr>
            <p:nvPr/>
          </p:nvSpPr>
          <p:spPr bwMode="auto">
            <a:xfrm>
              <a:off x="2138" y="2553"/>
              <a:ext cx="7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i="1"/>
                <a:t>t</a:t>
              </a:r>
              <a:r>
                <a:rPr lang="en-US" altLang="zh-CN" sz="2800" baseline="-25000"/>
                <a:t>2 </a:t>
              </a:r>
              <a:r>
                <a:rPr lang="zh-CN" altLang="en-US" sz="2800"/>
                <a:t>时刻</a:t>
              </a:r>
            </a:p>
          </p:txBody>
        </p:sp>
        <p:sp>
          <p:nvSpPr>
            <p:cNvPr id="162876" name="Rectangle 1084"/>
            <p:cNvSpPr>
              <a:spLocks noChangeArrowheads="1"/>
            </p:cNvSpPr>
            <p:nvPr/>
          </p:nvSpPr>
          <p:spPr bwMode="auto">
            <a:xfrm>
              <a:off x="1034" y="2553"/>
              <a:ext cx="7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i="1"/>
                <a:t>t</a:t>
              </a:r>
              <a:r>
                <a:rPr lang="en-US" altLang="zh-CN" sz="2800" baseline="-25000"/>
                <a:t>1 </a:t>
              </a:r>
              <a:r>
                <a:rPr lang="zh-CN" altLang="en-US" sz="2800"/>
                <a:t>时刻</a:t>
              </a:r>
            </a:p>
          </p:txBody>
        </p:sp>
        <p:sp>
          <p:nvSpPr>
            <p:cNvPr id="162877" name="Text Box 1085"/>
            <p:cNvSpPr txBox="1">
              <a:spLocks noChangeArrowheads="1"/>
            </p:cNvSpPr>
            <p:nvPr/>
          </p:nvSpPr>
          <p:spPr bwMode="auto">
            <a:xfrm>
              <a:off x="96" y="2544"/>
              <a:ext cx="7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/>
                <a:t>参考系</a:t>
              </a:r>
            </a:p>
          </p:txBody>
        </p:sp>
        <p:sp>
          <p:nvSpPr>
            <p:cNvPr id="162880" name="Line 1088"/>
            <p:cNvSpPr>
              <a:spLocks noChangeShapeType="1"/>
            </p:cNvSpPr>
            <p:nvPr/>
          </p:nvSpPr>
          <p:spPr bwMode="auto">
            <a:xfrm>
              <a:off x="864" y="2400"/>
              <a:ext cx="0" cy="15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2881" name="Line 1089"/>
            <p:cNvSpPr>
              <a:spLocks noChangeShapeType="1"/>
            </p:cNvSpPr>
            <p:nvPr/>
          </p:nvSpPr>
          <p:spPr bwMode="auto">
            <a:xfrm>
              <a:off x="3072" y="2400"/>
              <a:ext cx="0" cy="15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2882" name="Line 1090"/>
            <p:cNvSpPr>
              <a:spLocks noChangeShapeType="1"/>
            </p:cNvSpPr>
            <p:nvPr/>
          </p:nvSpPr>
          <p:spPr bwMode="auto">
            <a:xfrm>
              <a:off x="144" y="2880"/>
              <a:ext cx="54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2887" name="Line 1095"/>
            <p:cNvSpPr>
              <a:spLocks noChangeShapeType="1"/>
            </p:cNvSpPr>
            <p:nvPr/>
          </p:nvSpPr>
          <p:spPr bwMode="auto">
            <a:xfrm>
              <a:off x="144" y="3408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3" name="Group 1066"/>
          <p:cNvGrpSpPr>
            <a:grpSpLocks/>
          </p:cNvGrpSpPr>
          <p:nvPr/>
        </p:nvGrpSpPr>
        <p:grpSpPr bwMode="auto">
          <a:xfrm>
            <a:off x="2819400" y="762000"/>
            <a:ext cx="6172200" cy="2819400"/>
            <a:chOff x="1728" y="432"/>
            <a:chExt cx="3888" cy="1776"/>
          </a:xfrm>
        </p:grpSpPr>
        <p:sp>
          <p:nvSpPr>
            <p:cNvPr id="162856" name="Rectangle 1064"/>
            <p:cNvSpPr>
              <a:spLocks noChangeArrowheads="1"/>
            </p:cNvSpPr>
            <p:nvPr/>
          </p:nvSpPr>
          <p:spPr bwMode="auto">
            <a:xfrm>
              <a:off x="1728" y="432"/>
              <a:ext cx="3888" cy="1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4" name="Group 1037"/>
            <p:cNvGrpSpPr>
              <a:grpSpLocks/>
            </p:cNvGrpSpPr>
            <p:nvPr/>
          </p:nvGrpSpPr>
          <p:grpSpPr bwMode="auto">
            <a:xfrm>
              <a:off x="2160" y="1872"/>
              <a:ext cx="3120" cy="288"/>
              <a:chOff x="2304" y="1008"/>
              <a:chExt cx="3120" cy="192"/>
            </a:xfrm>
          </p:grpSpPr>
          <p:sp>
            <p:nvSpPr>
              <p:cNvPr id="162818" name="AutoShape 1026"/>
              <p:cNvSpPr>
                <a:spLocks noChangeArrowheads="1"/>
              </p:cNvSpPr>
              <p:nvPr/>
            </p:nvSpPr>
            <p:spPr bwMode="auto">
              <a:xfrm>
                <a:off x="2304" y="1046"/>
                <a:ext cx="3120" cy="154"/>
              </a:xfrm>
              <a:prstGeom prst="parallelogram">
                <a:avLst>
                  <a:gd name="adj" fmla="val 136378"/>
                </a:avLst>
              </a:prstGeom>
              <a:solidFill>
                <a:srgbClr val="6DB6D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19" name="AutoShape 1027"/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3120" cy="154"/>
              </a:xfrm>
              <a:prstGeom prst="parallelogram">
                <a:avLst>
                  <a:gd name="adj" fmla="val 167518"/>
                </a:avLst>
              </a:prstGeom>
              <a:solidFill>
                <a:srgbClr val="DEF8F4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62834" name="Text Box 1042"/>
            <p:cNvSpPr txBox="1">
              <a:spLocks noChangeArrowheads="1"/>
            </p:cNvSpPr>
            <p:nvPr/>
          </p:nvSpPr>
          <p:spPr bwMode="auto">
            <a:xfrm>
              <a:off x="3408" y="1824"/>
              <a:ext cx="6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光滑</a:t>
              </a:r>
            </a:p>
          </p:txBody>
        </p:sp>
      </p:grpSp>
      <p:grpSp>
        <p:nvGrpSpPr>
          <p:cNvPr id="5" name="Group 1065"/>
          <p:cNvGrpSpPr>
            <a:grpSpLocks/>
          </p:cNvGrpSpPr>
          <p:nvPr/>
        </p:nvGrpSpPr>
        <p:grpSpPr bwMode="auto">
          <a:xfrm>
            <a:off x="5334000" y="914400"/>
            <a:ext cx="3260725" cy="1447800"/>
            <a:chOff x="3264" y="528"/>
            <a:chExt cx="2054" cy="912"/>
          </a:xfrm>
        </p:grpSpPr>
        <p:grpSp>
          <p:nvGrpSpPr>
            <p:cNvPr id="6" name="Group 1040"/>
            <p:cNvGrpSpPr>
              <a:grpSpLocks/>
            </p:cNvGrpSpPr>
            <p:nvPr/>
          </p:nvGrpSpPr>
          <p:grpSpPr bwMode="auto">
            <a:xfrm>
              <a:off x="3264" y="528"/>
              <a:ext cx="1296" cy="912"/>
              <a:chOff x="2976" y="1680"/>
              <a:chExt cx="1872" cy="1152"/>
            </a:xfrm>
          </p:grpSpPr>
          <p:sp>
            <p:nvSpPr>
              <p:cNvPr id="162830" name="AutoShape 1038"/>
              <p:cNvSpPr>
                <a:spLocks noChangeArrowheads="1"/>
              </p:cNvSpPr>
              <p:nvPr/>
            </p:nvSpPr>
            <p:spPr bwMode="auto">
              <a:xfrm>
                <a:off x="3264" y="2352"/>
                <a:ext cx="480" cy="480"/>
              </a:xfrm>
              <a:custGeom>
                <a:avLst/>
                <a:gdLst>
                  <a:gd name="G0" fmla="+- 5400 0 0"/>
                  <a:gd name="G1" fmla="+- 21600 0 5400"/>
                  <a:gd name="G2" fmla="+- 21600 0 5400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46275"/>
                      <a:invGamma/>
                    </a:srgbClr>
                  </a:gs>
                  <a:gs pos="100000">
                    <a:srgbClr val="969696"/>
                  </a:gs>
                </a:gsLst>
                <a:path path="rect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31" name="AutoShape 1039"/>
              <p:cNvSpPr>
                <a:spLocks noChangeArrowheads="1"/>
              </p:cNvSpPr>
              <p:nvPr/>
            </p:nvSpPr>
            <p:spPr bwMode="auto">
              <a:xfrm>
                <a:off x="4080" y="2352"/>
                <a:ext cx="480" cy="480"/>
              </a:xfrm>
              <a:custGeom>
                <a:avLst/>
                <a:gdLst>
                  <a:gd name="G0" fmla="+- 5400 0 0"/>
                  <a:gd name="G1" fmla="+- 21600 0 5400"/>
                  <a:gd name="G2" fmla="+- 21600 0 5400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46275"/>
                      <a:invGamma/>
                    </a:srgbClr>
                  </a:gs>
                  <a:gs pos="100000">
                    <a:srgbClr val="969696"/>
                  </a:gs>
                </a:gsLst>
                <a:path path="rect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28" name="AutoShape 1036"/>
              <p:cNvSpPr>
                <a:spLocks noChangeArrowheads="1"/>
              </p:cNvSpPr>
              <p:nvPr/>
            </p:nvSpPr>
            <p:spPr bwMode="auto">
              <a:xfrm>
                <a:off x="2976" y="1680"/>
                <a:ext cx="1872" cy="912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571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pic>
          <p:nvPicPr>
            <p:cNvPr id="162833" name="Picture 1041" descr="D:\物理学教程第二版\课件动画素材\人文\小孩\RX_008.gif"/>
            <p:cNvPicPr>
              <a:picLocks noChangeAspect="1" noChangeArrowheads="1" noCrop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44" y="672"/>
              <a:ext cx="243" cy="554"/>
            </a:xfrm>
            <a:prstGeom prst="rect">
              <a:avLst/>
            </a:prstGeom>
            <a:noFill/>
          </p:spPr>
        </p:pic>
        <p:grpSp>
          <p:nvGrpSpPr>
            <p:cNvPr id="7" name="Group 1053"/>
            <p:cNvGrpSpPr>
              <a:grpSpLocks/>
            </p:cNvGrpSpPr>
            <p:nvPr/>
          </p:nvGrpSpPr>
          <p:grpSpPr bwMode="auto">
            <a:xfrm>
              <a:off x="4560" y="720"/>
              <a:ext cx="758" cy="389"/>
              <a:chOff x="4560" y="720"/>
              <a:chExt cx="758" cy="389"/>
            </a:xfrm>
          </p:grpSpPr>
          <p:sp>
            <p:nvSpPr>
              <p:cNvPr id="162843" name="Line 1051"/>
              <p:cNvSpPr>
                <a:spLocks noChangeShapeType="1"/>
              </p:cNvSpPr>
              <p:nvPr/>
            </p:nvSpPr>
            <p:spPr bwMode="auto">
              <a:xfrm>
                <a:off x="4560" y="912"/>
                <a:ext cx="480" cy="0"/>
              </a:xfrm>
              <a:prstGeom prst="line">
                <a:avLst/>
              </a:prstGeom>
              <a:noFill/>
              <a:ln w="3810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9997" name="Object 1037"/>
              <p:cNvGraphicFramePr>
                <a:graphicFrameLocks noChangeAspect="1"/>
              </p:cNvGraphicFramePr>
              <p:nvPr/>
            </p:nvGraphicFramePr>
            <p:xfrm>
              <a:off x="5040" y="720"/>
              <a:ext cx="278" cy="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7522" name="Equation" r:id="rId4" imgW="126720" imgH="177480" progId="Equation.3">
                      <p:embed/>
                    </p:oleObj>
                  </mc:Choice>
                  <mc:Fallback>
                    <p:oleObj name="Equation" r:id="rId4" imgW="126720" imgH="177480" progId="Equation.3">
                      <p:embed/>
                      <p:pic>
                        <p:nvPicPr>
                          <p:cNvPr id="0" name="Object 10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720"/>
                            <a:ext cx="278" cy="3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9996" name="Object 1036"/>
            <p:cNvGraphicFramePr>
              <a:graphicFrameLocks noChangeAspect="1"/>
            </p:cNvGraphicFramePr>
            <p:nvPr/>
          </p:nvGraphicFramePr>
          <p:xfrm>
            <a:off x="4176" y="59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23" name="Equation" r:id="rId6" imgW="177480" imgH="177480" progId="Equation.3">
                    <p:embed/>
                  </p:oleObj>
                </mc:Choice>
                <mc:Fallback>
                  <p:oleObj name="Equation" r:id="rId6" imgW="177480" imgH="177480" progId="Equation.3">
                    <p:embed/>
                    <p:pic>
                      <p:nvPicPr>
                        <p:cNvPr id="0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592"/>
                          <a:ext cx="33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068"/>
          <p:cNvGrpSpPr>
            <a:grpSpLocks/>
          </p:cNvGrpSpPr>
          <p:nvPr/>
        </p:nvGrpSpPr>
        <p:grpSpPr bwMode="auto">
          <a:xfrm>
            <a:off x="2971800" y="2362200"/>
            <a:ext cx="3505200" cy="1143000"/>
            <a:chOff x="1776" y="1440"/>
            <a:chExt cx="2208" cy="720"/>
          </a:xfrm>
        </p:grpSpPr>
        <p:grpSp>
          <p:nvGrpSpPr>
            <p:cNvPr id="9" name="Group 1067"/>
            <p:cNvGrpSpPr>
              <a:grpSpLocks/>
            </p:cNvGrpSpPr>
            <p:nvPr/>
          </p:nvGrpSpPr>
          <p:grpSpPr bwMode="auto">
            <a:xfrm>
              <a:off x="1776" y="1440"/>
              <a:ext cx="2208" cy="600"/>
              <a:chOff x="1776" y="1440"/>
              <a:chExt cx="2208" cy="600"/>
            </a:xfrm>
          </p:grpSpPr>
          <p:grpSp>
            <p:nvGrpSpPr>
              <p:cNvPr id="10" name="Group 1031"/>
              <p:cNvGrpSpPr>
                <a:grpSpLocks/>
              </p:cNvGrpSpPr>
              <p:nvPr/>
            </p:nvGrpSpPr>
            <p:grpSpPr bwMode="auto">
              <a:xfrm>
                <a:off x="2784" y="1584"/>
                <a:ext cx="432" cy="432"/>
                <a:chOff x="2448" y="960"/>
                <a:chExt cx="432" cy="432"/>
              </a:xfrm>
            </p:grpSpPr>
            <p:sp>
              <p:nvSpPr>
                <p:cNvPr id="162821" name="Oval 1029"/>
                <p:cNvSpPr>
                  <a:spLocks noChangeArrowheads="1"/>
                </p:cNvSpPr>
                <p:nvPr/>
              </p:nvSpPr>
              <p:spPr bwMode="auto">
                <a:xfrm>
                  <a:off x="2448" y="960"/>
                  <a:ext cx="432" cy="4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BF927B"/>
                    </a:gs>
                  </a:gsLst>
                  <a:path path="shape">
                    <a:fillToRect l="50000" t="50000" r="50000" b="50000"/>
                  </a:path>
                </a:gradFill>
                <a:ln w="12700">
                  <a:solidFill>
                    <a:srgbClr val="996633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2822" name="Text Box 1030"/>
                <p:cNvSpPr txBox="1">
                  <a:spLocks noChangeArrowheads="1"/>
                </p:cNvSpPr>
                <p:nvPr/>
              </p:nvSpPr>
              <p:spPr bwMode="auto">
                <a:xfrm>
                  <a:off x="2544" y="1008"/>
                  <a:ext cx="336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i="1">
                      <a:solidFill>
                        <a:srgbClr val="CC0000"/>
                      </a:solidFill>
                    </a:rPr>
                    <a:t>m</a:t>
                  </a:r>
                </a:p>
              </p:txBody>
            </p:sp>
          </p:grpSp>
          <p:grpSp>
            <p:nvGrpSpPr>
              <p:cNvPr id="11" name="Group 1045"/>
              <p:cNvGrpSpPr>
                <a:grpSpLocks/>
              </p:cNvGrpSpPr>
              <p:nvPr/>
            </p:nvGrpSpPr>
            <p:grpSpPr bwMode="auto">
              <a:xfrm>
                <a:off x="3191" y="1440"/>
                <a:ext cx="793" cy="472"/>
                <a:chOff x="3120" y="1440"/>
                <a:chExt cx="793" cy="472"/>
              </a:xfrm>
            </p:grpSpPr>
            <p:sp>
              <p:nvSpPr>
                <p:cNvPr id="162835" name="Line 1043"/>
                <p:cNvSpPr>
                  <a:spLocks noChangeShapeType="1"/>
                </p:cNvSpPr>
                <p:nvPr/>
              </p:nvSpPr>
              <p:spPr bwMode="auto">
                <a:xfrm>
                  <a:off x="3120" y="1776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169995" name="Object 1035"/>
                <p:cNvGraphicFramePr>
                  <a:graphicFrameLocks noChangeAspect="1"/>
                </p:cNvGraphicFramePr>
                <p:nvPr/>
              </p:nvGraphicFramePr>
              <p:xfrm>
                <a:off x="3552" y="1440"/>
                <a:ext cx="361" cy="4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57524" name="Equation" r:id="rId8" imgW="164880" imgH="215640" progId="Equation.3">
                        <p:embed/>
                      </p:oleObj>
                    </mc:Choice>
                    <mc:Fallback>
                      <p:oleObj name="Equation" r:id="rId8" imgW="164880" imgH="215640" progId="Equation.3">
                        <p:embed/>
                        <p:pic>
                          <p:nvPicPr>
                            <p:cNvPr id="0" name="Object 10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2" y="1440"/>
                              <a:ext cx="361" cy="47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" name="Group 1061"/>
              <p:cNvGrpSpPr>
                <a:grpSpLocks/>
              </p:cNvGrpSpPr>
              <p:nvPr/>
            </p:nvGrpSpPr>
            <p:grpSpPr bwMode="auto">
              <a:xfrm>
                <a:off x="1776" y="1584"/>
                <a:ext cx="1008" cy="456"/>
                <a:chOff x="1680" y="1584"/>
                <a:chExt cx="1008" cy="456"/>
              </a:xfrm>
            </p:grpSpPr>
            <p:sp>
              <p:nvSpPr>
                <p:cNvPr id="162851" name="Line 1059"/>
                <p:cNvSpPr>
                  <a:spLocks noChangeShapeType="1"/>
                </p:cNvSpPr>
                <p:nvPr/>
              </p:nvSpPr>
              <p:spPr bwMode="auto">
                <a:xfrm>
                  <a:off x="2208" y="1776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169994" name="Object 1034"/>
                <p:cNvGraphicFramePr>
                  <a:graphicFrameLocks noChangeAspect="1"/>
                </p:cNvGraphicFramePr>
                <p:nvPr/>
              </p:nvGraphicFramePr>
              <p:xfrm>
                <a:off x="1680" y="1584"/>
                <a:ext cx="557" cy="4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57525" name="Equation" r:id="rId10" imgW="279360" imgH="228600" progId="Equation.3">
                        <p:embed/>
                      </p:oleObj>
                    </mc:Choice>
                    <mc:Fallback>
                      <p:oleObj name="Equation" r:id="rId10" imgW="279360" imgH="228600" progId="Equation.3">
                        <p:embed/>
                        <p:pic>
                          <p:nvPicPr>
                            <p:cNvPr id="0" name="Object 10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80" y="1584"/>
                              <a:ext cx="557" cy="45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69993" name="Object 1033"/>
            <p:cNvGraphicFramePr>
              <a:graphicFrameLocks noChangeAspect="1"/>
            </p:cNvGraphicFramePr>
            <p:nvPr/>
          </p:nvGraphicFramePr>
          <p:xfrm>
            <a:off x="2615" y="1776"/>
            <a:ext cx="26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26" name="Equation" r:id="rId12" imgW="126720" imgH="215640" progId="Equation.3">
                    <p:embed/>
                  </p:oleObj>
                </mc:Choice>
                <mc:Fallback>
                  <p:oleObj name="Equation" r:id="rId12" imgW="126720" imgH="215640" progId="Equation.3">
                    <p:embed/>
                    <p:pic>
                      <p:nvPicPr>
                        <p:cNvPr id="0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" y="1776"/>
                          <a:ext cx="26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2862" name="Text Box 1070"/>
          <p:cNvSpPr txBox="1">
            <a:spLocks noChangeArrowheads="1"/>
          </p:cNvSpPr>
          <p:nvPr/>
        </p:nvSpPr>
        <p:spPr bwMode="auto">
          <a:xfrm>
            <a:off x="228600" y="1828800"/>
            <a:ext cx="2590800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sz="2800"/>
              <a:t>     </a:t>
            </a:r>
            <a:r>
              <a:rPr lang="zh-CN" altLang="en-US" sz="2800"/>
              <a:t>动量的</a:t>
            </a:r>
            <a:r>
              <a:rPr lang="zh-CN" altLang="en-US" sz="2800">
                <a:solidFill>
                  <a:srgbClr val="CC0000"/>
                </a:solidFill>
              </a:rPr>
              <a:t>相对性</a:t>
            </a:r>
            <a:r>
              <a:rPr lang="zh-CN" altLang="en-US" sz="2800"/>
              <a:t>和动量定理的</a:t>
            </a:r>
            <a:r>
              <a:rPr lang="zh-CN" altLang="en-US" sz="2800">
                <a:solidFill>
                  <a:srgbClr val="CC0000"/>
                </a:solidFill>
              </a:rPr>
              <a:t>不变性</a:t>
            </a:r>
          </a:p>
        </p:txBody>
      </p:sp>
      <p:grpSp>
        <p:nvGrpSpPr>
          <p:cNvPr id="13" name="Group 1074"/>
          <p:cNvGrpSpPr>
            <a:grpSpLocks/>
          </p:cNvGrpSpPr>
          <p:nvPr/>
        </p:nvGrpSpPr>
        <p:grpSpPr bwMode="auto">
          <a:xfrm>
            <a:off x="381000" y="838200"/>
            <a:ext cx="1752600" cy="838200"/>
            <a:chOff x="240" y="432"/>
            <a:chExt cx="1104" cy="528"/>
          </a:xfrm>
        </p:grpSpPr>
        <p:sp>
          <p:nvSpPr>
            <p:cNvPr id="162864" name="AutoShape 1072"/>
            <p:cNvSpPr>
              <a:spLocks noChangeArrowheads="1"/>
            </p:cNvSpPr>
            <p:nvPr/>
          </p:nvSpPr>
          <p:spPr bwMode="auto">
            <a:xfrm>
              <a:off x="240" y="432"/>
              <a:ext cx="1008" cy="528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EDFAD2"/>
                </a:gs>
                <a:gs pos="50000">
                  <a:srgbClr val="FFFFFF"/>
                </a:gs>
                <a:gs pos="100000">
                  <a:srgbClr val="EDFAD2"/>
                </a:gs>
              </a:gsLst>
              <a:lin ang="5400000" scaled="1"/>
            </a:gradFill>
            <a:ln w="9525">
              <a:solidFill>
                <a:srgbClr val="006699"/>
              </a:solidFill>
              <a:round/>
              <a:headEnd/>
              <a:tailEnd/>
            </a:ln>
            <a:effectLst>
              <a:outerShdw dist="107763" dir="13500000" algn="ctr" rotWithShape="0">
                <a:srgbClr val="009900"/>
              </a:outerShdw>
            </a:effec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2865" name="Text Box 1073"/>
            <p:cNvSpPr txBox="1">
              <a:spLocks noChangeArrowheads="1"/>
            </p:cNvSpPr>
            <p:nvPr/>
          </p:nvSpPr>
          <p:spPr bwMode="auto">
            <a:xfrm>
              <a:off x="432" y="480"/>
              <a:ext cx="91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solidFill>
                    <a:srgbClr val="CC0000"/>
                  </a:solidFill>
                </a:rPr>
                <a:t>讨论</a:t>
              </a:r>
            </a:p>
          </p:txBody>
        </p:sp>
      </p:grpSp>
      <p:graphicFrame>
        <p:nvGraphicFramePr>
          <p:cNvPr id="169984" name="Object 1024"/>
          <p:cNvGraphicFramePr>
            <a:graphicFrameLocks noChangeAspect="1"/>
          </p:cNvGraphicFramePr>
          <p:nvPr/>
        </p:nvGraphicFramePr>
        <p:xfrm>
          <a:off x="4945063" y="4876800"/>
          <a:ext cx="39703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527" name="Equation" r:id="rId14" imgW="1371600" imgH="355320" progId="Equation.3">
                  <p:embed/>
                </p:oleObj>
              </mc:Choice>
              <mc:Fallback>
                <p:oleObj name="Equation" r:id="rId14" imgW="1371600" imgH="35532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3" y="4876800"/>
                        <a:ext cx="39703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097"/>
          <p:cNvGrpSpPr>
            <a:grpSpLocks/>
          </p:cNvGrpSpPr>
          <p:nvPr/>
        </p:nvGrpSpPr>
        <p:grpSpPr bwMode="auto">
          <a:xfrm>
            <a:off x="1828800" y="4724400"/>
            <a:ext cx="2627313" cy="617538"/>
            <a:chOff x="1152" y="2976"/>
            <a:chExt cx="1655" cy="389"/>
          </a:xfrm>
        </p:grpSpPr>
        <p:graphicFrame>
          <p:nvGraphicFramePr>
            <p:cNvPr id="169991" name="Object 1031"/>
            <p:cNvGraphicFramePr>
              <a:graphicFrameLocks noChangeAspect="1"/>
            </p:cNvGraphicFramePr>
            <p:nvPr/>
          </p:nvGraphicFramePr>
          <p:xfrm>
            <a:off x="1152" y="2976"/>
            <a:ext cx="480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28" name="Equation" r:id="rId16" imgW="266400" imgH="215640" progId="Equation.3">
                    <p:embed/>
                  </p:oleObj>
                </mc:Choice>
                <mc:Fallback>
                  <p:oleObj name="Equation" r:id="rId16" imgW="266400" imgH="215640" progId="Equation.3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976"/>
                          <a:ext cx="480" cy="3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2" name="Object 1032"/>
            <p:cNvGraphicFramePr>
              <a:graphicFrameLocks noChangeAspect="1"/>
            </p:cNvGraphicFramePr>
            <p:nvPr/>
          </p:nvGraphicFramePr>
          <p:xfrm>
            <a:off x="2281" y="2976"/>
            <a:ext cx="526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29" name="Equation" r:id="rId18" imgW="291960" imgH="215640" progId="Equation.3">
                    <p:embed/>
                  </p:oleObj>
                </mc:Choice>
                <mc:Fallback>
                  <p:oleObj name="Equation" r:id="rId18" imgW="291960" imgH="215640" progId="Equation.3">
                    <p:embed/>
                    <p:pic>
                      <p:nvPicPr>
                        <p:cNvPr id="0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" y="2976"/>
                          <a:ext cx="526" cy="3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098"/>
          <p:cNvGrpSpPr>
            <a:grpSpLocks/>
          </p:cNvGrpSpPr>
          <p:nvPr/>
        </p:nvGrpSpPr>
        <p:grpSpPr bwMode="auto">
          <a:xfrm>
            <a:off x="1447800" y="5562600"/>
            <a:ext cx="3463925" cy="617538"/>
            <a:chOff x="912" y="3504"/>
            <a:chExt cx="2182" cy="389"/>
          </a:xfrm>
        </p:grpSpPr>
        <p:graphicFrame>
          <p:nvGraphicFramePr>
            <p:cNvPr id="169989" name="Object 1029"/>
            <p:cNvGraphicFramePr>
              <a:graphicFrameLocks noChangeAspect="1"/>
            </p:cNvGraphicFramePr>
            <p:nvPr/>
          </p:nvGraphicFramePr>
          <p:xfrm>
            <a:off x="912" y="3504"/>
            <a:ext cx="1056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30" name="Equation" r:id="rId20" imgW="609480" imgH="215640" progId="Equation.3">
                    <p:embed/>
                  </p:oleObj>
                </mc:Choice>
                <mc:Fallback>
                  <p:oleObj name="Equation" r:id="rId20" imgW="609480" imgH="21564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504"/>
                          <a:ext cx="1056" cy="3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0" name="Object 1030"/>
            <p:cNvGraphicFramePr>
              <a:graphicFrameLocks noChangeAspect="1"/>
            </p:cNvGraphicFramePr>
            <p:nvPr/>
          </p:nvGraphicFramePr>
          <p:xfrm>
            <a:off x="1994" y="3504"/>
            <a:ext cx="1100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31" name="Equation" r:id="rId22" imgW="634680" imgH="215640" progId="Equation.3">
                    <p:embed/>
                  </p:oleObj>
                </mc:Choice>
                <mc:Fallback>
                  <p:oleObj name="Equation" r:id="rId22" imgW="634680" imgH="215640" progId="Equation.3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3504"/>
                          <a:ext cx="1100" cy="3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101"/>
          <p:cNvGrpSpPr>
            <a:grpSpLocks/>
          </p:cNvGrpSpPr>
          <p:nvPr/>
        </p:nvGrpSpPr>
        <p:grpSpPr bwMode="auto">
          <a:xfrm>
            <a:off x="3886200" y="1143000"/>
            <a:ext cx="990600" cy="1439863"/>
            <a:chOff x="2448" y="720"/>
            <a:chExt cx="624" cy="907"/>
          </a:xfrm>
        </p:grpSpPr>
        <p:graphicFrame>
          <p:nvGraphicFramePr>
            <p:cNvPr id="169987" name="Object 1027"/>
            <p:cNvGraphicFramePr>
              <a:graphicFrameLocks noChangeAspect="1"/>
            </p:cNvGraphicFramePr>
            <p:nvPr/>
          </p:nvGraphicFramePr>
          <p:xfrm>
            <a:off x="2801" y="720"/>
            <a:ext cx="2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32" name="Equation" r:id="rId24" imgW="139680" imgH="177480" progId="Equation.3">
                    <p:embed/>
                  </p:oleObj>
                </mc:Choice>
                <mc:Fallback>
                  <p:oleObj name="Equation" r:id="rId24" imgW="139680" imgH="177480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" y="720"/>
                          <a:ext cx="271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88" name="Object 1028"/>
            <p:cNvGraphicFramePr>
              <a:graphicFrameLocks noChangeAspect="1"/>
            </p:cNvGraphicFramePr>
            <p:nvPr/>
          </p:nvGraphicFramePr>
          <p:xfrm>
            <a:off x="2448" y="816"/>
            <a:ext cx="432" cy="8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533" name="Flash Movie" r:id="rId26" imgW="645840" imgH="1211040" progId="">
                    <p:embed/>
                  </p:oleObj>
                </mc:Choice>
                <mc:Fallback>
                  <p:oleObj name="Flash Movie" r:id="rId26" imgW="645840" imgH="1211040" progId="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816"/>
                          <a:ext cx="432" cy="8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119"/>
          <p:cNvGrpSpPr>
            <a:grpSpLocks/>
          </p:cNvGrpSpPr>
          <p:nvPr/>
        </p:nvGrpSpPr>
        <p:grpSpPr bwMode="auto">
          <a:xfrm>
            <a:off x="4572000" y="2133600"/>
            <a:ext cx="4275138" cy="1371600"/>
            <a:chOff x="2880" y="1344"/>
            <a:chExt cx="2693" cy="864"/>
          </a:xfrm>
        </p:grpSpPr>
        <p:grpSp>
          <p:nvGrpSpPr>
            <p:cNvPr id="18" name="Group 1069"/>
            <p:cNvGrpSpPr>
              <a:grpSpLocks/>
            </p:cNvGrpSpPr>
            <p:nvPr/>
          </p:nvGrpSpPr>
          <p:grpSpPr bwMode="auto">
            <a:xfrm>
              <a:off x="4464" y="1344"/>
              <a:ext cx="1109" cy="864"/>
              <a:chOff x="4368" y="1296"/>
              <a:chExt cx="1109" cy="864"/>
            </a:xfrm>
          </p:grpSpPr>
          <p:grpSp>
            <p:nvGrpSpPr>
              <p:cNvPr id="19" name="Group 1032"/>
              <p:cNvGrpSpPr>
                <a:grpSpLocks/>
              </p:cNvGrpSpPr>
              <p:nvPr/>
            </p:nvGrpSpPr>
            <p:grpSpPr bwMode="auto">
              <a:xfrm>
                <a:off x="4368" y="1584"/>
                <a:ext cx="432" cy="432"/>
                <a:chOff x="2448" y="960"/>
                <a:chExt cx="432" cy="432"/>
              </a:xfrm>
            </p:grpSpPr>
            <p:sp>
              <p:nvSpPr>
                <p:cNvPr id="162825" name="Oval 1033"/>
                <p:cNvSpPr>
                  <a:spLocks noChangeArrowheads="1"/>
                </p:cNvSpPr>
                <p:nvPr/>
              </p:nvSpPr>
              <p:spPr bwMode="auto">
                <a:xfrm>
                  <a:off x="2448" y="960"/>
                  <a:ext cx="432" cy="4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BF927B"/>
                    </a:gs>
                  </a:gsLst>
                  <a:path path="shape">
                    <a:fillToRect l="50000" t="50000" r="50000" b="50000"/>
                  </a:path>
                </a:gradFill>
                <a:ln w="12700">
                  <a:solidFill>
                    <a:srgbClr val="996633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2826" name="Text Box 1034"/>
                <p:cNvSpPr txBox="1">
                  <a:spLocks noChangeArrowheads="1"/>
                </p:cNvSpPr>
                <p:nvPr/>
              </p:nvSpPr>
              <p:spPr bwMode="auto">
                <a:xfrm>
                  <a:off x="2544" y="1008"/>
                  <a:ext cx="336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i="1">
                      <a:solidFill>
                        <a:srgbClr val="CC0000"/>
                      </a:solidFill>
                    </a:rPr>
                    <a:t>m</a:t>
                  </a:r>
                </a:p>
              </p:txBody>
            </p:sp>
          </p:grpSp>
          <p:grpSp>
            <p:nvGrpSpPr>
              <p:cNvPr id="20" name="Group 1049"/>
              <p:cNvGrpSpPr>
                <a:grpSpLocks/>
              </p:cNvGrpSpPr>
              <p:nvPr/>
            </p:nvGrpSpPr>
            <p:grpSpPr bwMode="auto">
              <a:xfrm>
                <a:off x="4775" y="1296"/>
                <a:ext cx="702" cy="480"/>
                <a:chOff x="4775" y="1296"/>
                <a:chExt cx="702" cy="480"/>
              </a:xfrm>
            </p:grpSpPr>
            <p:sp>
              <p:nvSpPr>
                <p:cNvPr id="162839" name="Line 1047"/>
                <p:cNvSpPr>
                  <a:spLocks noChangeShapeType="1"/>
                </p:cNvSpPr>
                <p:nvPr/>
              </p:nvSpPr>
              <p:spPr bwMode="auto">
                <a:xfrm>
                  <a:off x="4775" y="1776"/>
                  <a:ext cx="649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169986" name="Object 1026"/>
                <p:cNvGraphicFramePr>
                  <a:graphicFrameLocks noChangeAspect="1"/>
                </p:cNvGraphicFramePr>
                <p:nvPr/>
              </p:nvGraphicFramePr>
              <p:xfrm>
                <a:off x="5088" y="1296"/>
                <a:ext cx="389" cy="4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57534" name="Equation" r:id="rId28" imgW="177480" imgH="215640" progId="Equation.3">
                        <p:embed/>
                      </p:oleObj>
                    </mc:Choice>
                    <mc:Fallback>
                      <p:oleObj name="Equation" r:id="rId28" imgW="177480" imgH="215640" progId="Equation.3">
                        <p:embed/>
                        <p:pic>
                          <p:nvPicPr>
                            <p:cNvPr id="0" name="Object 10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88" y="1296"/>
                              <a:ext cx="389" cy="47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69985" name="Object 1025"/>
              <p:cNvGraphicFramePr>
                <a:graphicFrameLocks noChangeAspect="1"/>
              </p:cNvGraphicFramePr>
              <p:nvPr/>
            </p:nvGraphicFramePr>
            <p:xfrm>
              <a:off x="4739" y="1776"/>
              <a:ext cx="29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7535" name="Equation" r:id="rId30" imgW="139680" imgH="215640" progId="Equation.3">
                      <p:embed/>
                    </p:oleObj>
                  </mc:Choice>
                  <mc:Fallback>
                    <p:oleObj name="Equation" r:id="rId30" imgW="139680" imgH="215640" progId="Equation.3">
                      <p:embed/>
                      <p:pic>
                        <p:nvPicPr>
                          <p:cNvPr id="0" name="Object 10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9" y="1776"/>
                            <a:ext cx="292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" name="Group 1115"/>
            <p:cNvGrpSpPr>
              <a:grpSpLocks/>
            </p:cNvGrpSpPr>
            <p:nvPr/>
          </p:nvGrpSpPr>
          <p:grpSpPr bwMode="auto">
            <a:xfrm>
              <a:off x="2880" y="1632"/>
              <a:ext cx="432" cy="432"/>
              <a:chOff x="4320" y="3720"/>
              <a:chExt cx="432" cy="432"/>
            </a:xfrm>
          </p:grpSpPr>
          <p:sp>
            <p:nvSpPr>
              <p:cNvPr id="162897" name="Oval 1105"/>
              <p:cNvSpPr>
                <a:spLocks noChangeArrowheads="1"/>
              </p:cNvSpPr>
              <p:nvPr/>
            </p:nvSpPr>
            <p:spPr bwMode="auto">
              <a:xfrm>
                <a:off x="4320" y="3720"/>
                <a:ext cx="432" cy="43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996633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98" name="Text Box 1106"/>
              <p:cNvSpPr txBox="1">
                <a:spLocks noChangeArrowheads="1"/>
              </p:cNvSpPr>
              <p:nvPr/>
            </p:nvSpPr>
            <p:spPr bwMode="auto">
              <a:xfrm>
                <a:off x="4416" y="3768"/>
                <a:ext cx="33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>
                    <a:solidFill>
                      <a:srgbClr val="CC0000"/>
                    </a:solidFill>
                  </a:rPr>
                  <a:t>m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953000" y="838200"/>
            <a:ext cx="3886200" cy="2438400"/>
            <a:chOff x="3120" y="528"/>
            <a:chExt cx="2448" cy="1536"/>
          </a:xfrm>
        </p:grpSpPr>
        <p:sp>
          <p:nvSpPr>
            <p:cNvPr id="156675" name="Rectangle 3"/>
            <p:cNvSpPr>
              <a:spLocks noChangeArrowheads="1"/>
            </p:cNvSpPr>
            <p:nvPr/>
          </p:nvSpPr>
          <p:spPr bwMode="auto">
            <a:xfrm>
              <a:off x="3120" y="528"/>
              <a:ext cx="2448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264" y="1488"/>
              <a:ext cx="2160" cy="240"/>
              <a:chOff x="3264" y="1488"/>
              <a:chExt cx="2160" cy="240"/>
            </a:xfrm>
          </p:grpSpPr>
          <p:sp>
            <p:nvSpPr>
              <p:cNvPr id="156677" name="AutoShape 5" descr="栎木"/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160" cy="240"/>
              </a:xfrm>
              <a:prstGeom prst="cube">
                <a:avLst>
                  <a:gd name="adj" fmla="val 80208"/>
                </a:avLst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78" name="AutoShape 6" descr="纸莎草纸"/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159" cy="206"/>
              </a:xfrm>
              <a:prstGeom prst="parallelogram">
                <a:avLst>
                  <a:gd name="adj" fmla="val 95150"/>
                </a:avLst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5638800" y="1600200"/>
            <a:ext cx="1143000" cy="914400"/>
            <a:chOff x="3648" y="1056"/>
            <a:chExt cx="720" cy="576"/>
          </a:xfrm>
        </p:grpSpPr>
        <p:sp>
          <p:nvSpPr>
            <p:cNvPr id="156680" name="Line 8"/>
            <p:cNvSpPr>
              <a:spLocks noChangeShapeType="1"/>
            </p:cNvSpPr>
            <p:nvPr/>
          </p:nvSpPr>
          <p:spPr bwMode="auto">
            <a:xfrm>
              <a:off x="3744" y="1152"/>
              <a:ext cx="624" cy="480"/>
            </a:xfrm>
            <a:prstGeom prst="line">
              <a:avLst/>
            </a:prstGeom>
            <a:noFill/>
            <a:ln w="22225">
              <a:solidFill>
                <a:srgbClr val="3333CC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7" name="Object 1043"/>
            <p:cNvGraphicFramePr>
              <a:graphicFrameLocks noChangeAspect="1"/>
            </p:cNvGraphicFramePr>
            <p:nvPr/>
          </p:nvGraphicFramePr>
          <p:xfrm>
            <a:off x="3648" y="1056"/>
            <a:ext cx="18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594" name="Clip" r:id="rId5" imgW="380852" imgH="390270" progId="">
                    <p:embed/>
                  </p:oleObj>
                </mc:Choice>
                <mc:Fallback>
                  <p:oleObj name="Clip" r:id="rId5" imgW="380852" imgH="390270" progId="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056"/>
                          <a:ext cx="18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1008" name="Object 1024"/>
          <p:cNvGraphicFramePr>
            <a:graphicFrameLocks noChangeAspect="1"/>
          </p:cNvGraphicFramePr>
          <p:nvPr/>
        </p:nvGraphicFramePr>
        <p:xfrm>
          <a:off x="5410200" y="1828800"/>
          <a:ext cx="8302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595" name="Equation" r:id="rId7" imgW="266400" imgH="215640" progId="Equation.3">
                  <p:embed/>
                </p:oleObj>
              </mc:Choice>
              <mc:Fallback>
                <p:oleObj name="Equation" r:id="rId7" imgW="266400" imgH="21564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828800"/>
                        <a:ext cx="830263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09" name="Object 1025"/>
          <p:cNvGraphicFramePr>
            <a:graphicFrameLocks noChangeAspect="1"/>
          </p:cNvGraphicFramePr>
          <p:nvPr/>
        </p:nvGraphicFramePr>
        <p:xfrm>
          <a:off x="7435850" y="1828800"/>
          <a:ext cx="8699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596" name="Equation" r:id="rId9" imgW="279360" imgH="215640" progId="Equation.3">
                  <p:embed/>
                </p:oleObj>
              </mc:Choice>
              <mc:Fallback>
                <p:oleObj name="Equation" r:id="rId9" imgW="279360" imgH="21564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5850" y="1828800"/>
                        <a:ext cx="869950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5638800" y="1600200"/>
            <a:ext cx="1295400" cy="1066800"/>
            <a:chOff x="3648" y="1056"/>
            <a:chExt cx="816" cy="672"/>
          </a:xfrm>
        </p:grpSpPr>
        <p:graphicFrame>
          <p:nvGraphicFramePr>
            <p:cNvPr id="171025" name="Object 1041"/>
            <p:cNvGraphicFramePr>
              <a:graphicFrameLocks noChangeAspect="1"/>
            </p:cNvGraphicFramePr>
            <p:nvPr/>
          </p:nvGraphicFramePr>
          <p:xfrm>
            <a:off x="4276" y="1536"/>
            <a:ext cx="18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597" name="剪辑" r:id="rId11" imgW="380852" imgH="390270" progId="">
                    <p:embed/>
                  </p:oleObj>
                </mc:Choice>
                <mc:Fallback>
                  <p:oleObj name="剪辑" r:id="rId11" imgW="380852" imgH="390270" progId="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1536"/>
                          <a:ext cx="18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3648" y="1056"/>
              <a:ext cx="720" cy="576"/>
              <a:chOff x="2544" y="1728"/>
              <a:chExt cx="720" cy="576"/>
            </a:xfrm>
          </p:grpSpPr>
          <p:sp>
            <p:nvSpPr>
              <p:cNvPr id="156687" name="Line 15"/>
              <p:cNvSpPr>
                <a:spLocks noChangeShapeType="1"/>
              </p:cNvSpPr>
              <p:nvPr/>
            </p:nvSpPr>
            <p:spPr bwMode="auto">
              <a:xfrm>
                <a:off x="2640" y="1824"/>
                <a:ext cx="624" cy="480"/>
              </a:xfrm>
              <a:prstGeom prst="line">
                <a:avLst/>
              </a:prstGeom>
              <a:noFill/>
              <a:ln w="22225">
                <a:solidFill>
                  <a:srgbClr val="3333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1026" name="Object 1042"/>
              <p:cNvGraphicFramePr>
                <a:graphicFrameLocks noChangeAspect="1"/>
              </p:cNvGraphicFramePr>
              <p:nvPr/>
            </p:nvGraphicFramePr>
            <p:xfrm>
              <a:off x="2544" y="1728"/>
              <a:ext cx="188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598" name="Clip" r:id="rId12" imgW="380852" imgH="390270" progId="">
                      <p:embed/>
                    </p:oleObj>
                  </mc:Choice>
                  <mc:Fallback>
                    <p:oleObj name="Clip" r:id="rId12" imgW="380852" imgH="390270" progId="">
                      <p:embed/>
                      <p:pic>
                        <p:nvPicPr>
                          <p:cNvPr id="0" name="Object 10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1728"/>
                            <a:ext cx="188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6689" name="Oval 17"/>
              <p:cNvSpPr>
                <a:spLocks noChangeArrowheads="1"/>
              </p:cNvSpPr>
              <p:nvPr/>
            </p:nvSpPr>
            <p:spPr bwMode="auto">
              <a:xfrm>
                <a:off x="2544" y="172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33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5791200" y="1549400"/>
            <a:ext cx="2159000" cy="1117600"/>
            <a:chOff x="3648" y="976"/>
            <a:chExt cx="1360" cy="704"/>
          </a:xfrm>
        </p:grpSpPr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4176" y="976"/>
              <a:ext cx="832" cy="704"/>
              <a:chOff x="4176" y="976"/>
              <a:chExt cx="832" cy="704"/>
            </a:xfrm>
          </p:grpSpPr>
          <p:sp>
            <p:nvSpPr>
              <p:cNvPr id="156692" name="Oval 20"/>
              <p:cNvSpPr>
                <a:spLocks noChangeArrowheads="1"/>
              </p:cNvSpPr>
              <p:nvPr/>
            </p:nvSpPr>
            <p:spPr bwMode="auto">
              <a:xfrm>
                <a:off x="4176" y="148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33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9" name="Group 21"/>
              <p:cNvGrpSpPr>
                <a:grpSpLocks/>
              </p:cNvGrpSpPr>
              <p:nvPr/>
            </p:nvGrpSpPr>
            <p:grpSpPr bwMode="auto">
              <a:xfrm>
                <a:off x="4272" y="976"/>
                <a:ext cx="736" cy="608"/>
                <a:chOff x="4272" y="976"/>
                <a:chExt cx="736" cy="608"/>
              </a:xfrm>
            </p:grpSpPr>
            <p:graphicFrame>
              <p:nvGraphicFramePr>
                <p:cNvPr id="171024" name="Object 1040"/>
                <p:cNvGraphicFramePr>
                  <a:graphicFrameLocks noChangeAspect="1"/>
                </p:cNvGraphicFramePr>
                <p:nvPr/>
              </p:nvGraphicFramePr>
              <p:xfrm>
                <a:off x="4820" y="976"/>
                <a:ext cx="188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58599" name="Clip" r:id="rId13" imgW="380852" imgH="390270" progId="">
                        <p:embed/>
                      </p:oleObj>
                    </mc:Choice>
                    <mc:Fallback>
                      <p:oleObj name="Clip" r:id="rId13" imgW="380852" imgH="390270" progId="">
                        <p:embed/>
                        <p:pic>
                          <p:nvPicPr>
                            <p:cNvPr id="0" name="Object 10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20" y="976"/>
                              <a:ext cx="188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669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4272" y="1104"/>
                  <a:ext cx="624" cy="48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</p:grpSp>
        <p:sp>
          <p:nvSpPr>
            <p:cNvPr id="156696" name="Line 24"/>
            <p:cNvSpPr>
              <a:spLocks noChangeShapeType="1"/>
            </p:cNvSpPr>
            <p:nvPr/>
          </p:nvSpPr>
          <p:spPr bwMode="auto">
            <a:xfrm>
              <a:off x="3648" y="1104"/>
              <a:ext cx="624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56697" name="Line 25"/>
          <p:cNvSpPr>
            <a:spLocks noChangeShapeType="1"/>
          </p:cNvSpPr>
          <p:nvPr/>
        </p:nvSpPr>
        <p:spPr bwMode="auto">
          <a:xfrm flipV="1">
            <a:off x="5791200" y="990600"/>
            <a:ext cx="990600" cy="762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6781800" y="990600"/>
            <a:ext cx="990600" cy="1524000"/>
            <a:chOff x="4272" y="624"/>
            <a:chExt cx="624" cy="960"/>
          </a:xfrm>
        </p:grpSpPr>
        <p:sp>
          <p:nvSpPr>
            <p:cNvPr id="156699" name="Line 27"/>
            <p:cNvSpPr>
              <a:spLocks noChangeShapeType="1"/>
            </p:cNvSpPr>
            <p:nvPr/>
          </p:nvSpPr>
          <p:spPr bwMode="auto">
            <a:xfrm flipV="1">
              <a:off x="4272" y="624"/>
              <a:ext cx="0" cy="960"/>
            </a:xfrm>
            <a:prstGeom prst="line">
              <a:avLst/>
            </a:prstGeom>
            <a:noFill/>
            <a:ln w="25400">
              <a:solidFill>
                <a:srgbClr val="FF66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3" name="Object 1039"/>
            <p:cNvGraphicFramePr>
              <a:graphicFrameLocks noChangeAspect="1"/>
            </p:cNvGraphicFramePr>
            <p:nvPr/>
          </p:nvGraphicFramePr>
          <p:xfrm>
            <a:off x="4272" y="720"/>
            <a:ext cx="62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600" name="Equation" r:id="rId14" imgW="330120" imgH="177480" progId="Equation.3">
                    <p:embed/>
                  </p:oleObj>
                </mc:Choice>
                <mc:Fallback>
                  <p:oleObj name="Equation" r:id="rId14" imgW="330120" imgH="177480" progId="Equation.3">
                    <p:embed/>
                    <p:pic>
                      <p:nvPicPr>
                        <p:cNvPr id="0" name="Object 1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720"/>
                          <a:ext cx="624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1010" name="Object 1026"/>
          <p:cNvGraphicFramePr>
            <a:graphicFrameLocks noChangeAspect="1"/>
          </p:cNvGraphicFramePr>
          <p:nvPr/>
        </p:nvGraphicFramePr>
        <p:xfrm>
          <a:off x="228600" y="990600"/>
          <a:ext cx="4673600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601" name="Equation" r:id="rId16" imgW="1536480" imgH="571320" progId="Equation.3">
                  <p:embed/>
                </p:oleObj>
              </mc:Choice>
              <mc:Fallback>
                <p:oleObj name="Equation" r:id="rId16" imgW="1536480" imgH="57132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4673600" cy="173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702" name="Text Box 30"/>
          <p:cNvSpPr txBox="1">
            <a:spLocks noChangeArrowheads="1"/>
          </p:cNvSpPr>
          <p:nvPr/>
        </p:nvSpPr>
        <p:spPr bwMode="auto">
          <a:xfrm>
            <a:off x="152400" y="457200"/>
            <a:ext cx="449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动量定理常应用于碰撞问题</a:t>
            </a:r>
          </a:p>
        </p:txBody>
      </p:sp>
      <p:grpSp>
        <p:nvGrpSpPr>
          <p:cNvPr id="11" name="Group 31"/>
          <p:cNvGrpSpPr>
            <a:grpSpLocks/>
          </p:cNvGrpSpPr>
          <p:nvPr/>
        </p:nvGrpSpPr>
        <p:grpSpPr bwMode="auto">
          <a:xfrm>
            <a:off x="6319838" y="2743200"/>
            <a:ext cx="461962" cy="533400"/>
            <a:chOff x="3981" y="1728"/>
            <a:chExt cx="291" cy="336"/>
          </a:xfrm>
        </p:grpSpPr>
        <p:sp>
          <p:nvSpPr>
            <p:cNvPr id="156704" name="Line 32"/>
            <p:cNvSpPr>
              <a:spLocks noChangeShapeType="1"/>
            </p:cNvSpPr>
            <p:nvPr/>
          </p:nvSpPr>
          <p:spPr bwMode="auto">
            <a:xfrm flipV="1">
              <a:off x="4272" y="1728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1022" name="Object 1038"/>
            <p:cNvGraphicFramePr>
              <a:graphicFrameLocks noChangeAspect="1"/>
            </p:cNvGraphicFramePr>
            <p:nvPr/>
          </p:nvGraphicFramePr>
          <p:xfrm>
            <a:off x="3981" y="1748"/>
            <a:ext cx="24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602" name="Equation" r:id="rId18" imgW="164880" imgH="215640" progId="Equation.3">
                    <p:embed/>
                  </p:oleObj>
                </mc:Choice>
                <mc:Fallback>
                  <p:oleObj name="Equation" r:id="rId18" imgW="164880" imgH="215640" progId="Equation.3">
                    <p:embed/>
                    <p:pic>
                      <p:nvPicPr>
                        <p:cNvPr id="0" name="Object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" y="1748"/>
                          <a:ext cx="243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64"/>
          <p:cNvGrpSpPr>
            <a:grpSpLocks/>
          </p:cNvGrpSpPr>
          <p:nvPr/>
        </p:nvGrpSpPr>
        <p:grpSpPr bwMode="auto">
          <a:xfrm>
            <a:off x="0" y="2819400"/>
            <a:ext cx="5029200" cy="3303588"/>
            <a:chOff x="0" y="1920"/>
            <a:chExt cx="3168" cy="2081"/>
          </a:xfrm>
        </p:grpSpPr>
        <p:sp>
          <p:nvSpPr>
            <p:cNvPr id="156724" name="Text Box 52"/>
            <p:cNvSpPr txBox="1">
              <a:spLocks noChangeArrowheads="1"/>
            </p:cNvSpPr>
            <p:nvPr/>
          </p:nvSpPr>
          <p:spPr bwMode="auto">
            <a:xfrm>
              <a:off x="720" y="2496"/>
              <a:ext cx="24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         </a:t>
              </a:r>
              <a:r>
                <a:rPr lang="zh-CN" altLang="en-US" sz="2800" dirty="0"/>
                <a:t>越小，则      越大 </a:t>
              </a:r>
              <a:r>
                <a:rPr lang="en-US" altLang="zh-CN" sz="2800" dirty="0"/>
                <a:t>.</a:t>
              </a:r>
            </a:p>
          </p:txBody>
        </p:sp>
        <p:sp>
          <p:nvSpPr>
            <p:cNvPr id="156725" name="Text Box 53"/>
            <p:cNvSpPr txBox="1">
              <a:spLocks noChangeArrowheads="1"/>
            </p:cNvSpPr>
            <p:nvPr/>
          </p:nvSpPr>
          <p:spPr bwMode="auto">
            <a:xfrm>
              <a:off x="96" y="2880"/>
              <a:ext cx="2832" cy="1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35000"/>
                </a:lnSpc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CC0000"/>
                  </a:solidFill>
                </a:rPr>
                <a:t>例</a:t>
              </a:r>
              <a:r>
                <a:rPr lang="zh-CN" altLang="en-US" sz="2800" dirty="0">
                  <a:solidFill>
                    <a:srgbClr val="CC0000"/>
                  </a:solidFill>
                </a:rPr>
                <a:t>如</a:t>
              </a:r>
              <a:r>
                <a:rPr lang="zh-CN" altLang="en-US" sz="2800" dirty="0"/>
                <a:t>人从高处跳下、飞机与鸟相撞、打桩等碰撞事件中，作用时间很短，冲力很大 </a:t>
              </a:r>
              <a:r>
                <a:rPr lang="en-US" altLang="zh-CN" sz="2800" dirty="0"/>
                <a:t>.</a:t>
              </a:r>
            </a:p>
          </p:txBody>
        </p:sp>
        <p:grpSp>
          <p:nvGrpSpPr>
            <p:cNvPr id="13" name="Group 61"/>
            <p:cNvGrpSpPr>
              <a:grpSpLocks/>
            </p:cNvGrpSpPr>
            <p:nvPr/>
          </p:nvGrpSpPr>
          <p:grpSpPr bwMode="auto">
            <a:xfrm>
              <a:off x="0" y="1920"/>
              <a:ext cx="1152" cy="672"/>
              <a:chOff x="0" y="1968"/>
              <a:chExt cx="1152" cy="672"/>
            </a:xfrm>
          </p:grpSpPr>
          <p:sp>
            <p:nvSpPr>
              <p:cNvPr id="156727" name="AutoShape 55"/>
              <p:cNvSpPr>
                <a:spLocks noChangeArrowheads="1"/>
              </p:cNvSpPr>
              <p:nvPr/>
            </p:nvSpPr>
            <p:spPr bwMode="auto">
              <a:xfrm>
                <a:off x="0" y="1968"/>
                <a:ext cx="1152" cy="672"/>
              </a:xfrm>
              <a:prstGeom prst="irregularSeal1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EF2F6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728" name="Text Box 56"/>
              <p:cNvSpPr txBox="1">
                <a:spLocks noChangeArrowheads="1"/>
              </p:cNvSpPr>
              <p:nvPr/>
            </p:nvSpPr>
            <p:spPr bwMode="auto">
              <a:xfrm>
                <a:off x="240" y="2112"/>
                <a:ext cx="72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注意</a:t>
                </a:r>
              </a:p>
            </p:txBody>
          </p:sp>
        </p:grpSp>
        <p:graphicFrame>
          <p:nvGraphicFramePr>
            <p:cNvPr id="171019" name="Object 1035"/>
            <p:cNvGraphicFramePr>
              <a:graphicFrameLocks noChangeAspect="1"/>
            </p:cNvGraphicFramePr>
            <p:nvPr/>
          </p:nvGraphicFramePr>
          <p:xfrm>
            <a:off x="864" y="2496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603" name="公式" r:id="rId20" imgW="279360" imgH="241200" progId="Equation.3">
                    <p:embed/>
                  </p:oleObj>
                </mc:Choice>
                <mc:Fallback>
                  <p:oleObj name="公式" r:id="rId20" imgW="279360" imgH="241200" progId="Equation.3">
                    <p:embed/>
                    <p:pic>
                      <p:nvPicPr>
                        <p:cNvPr id="0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496"/>
                          <a:ext cx="33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0" name="Object 1036"/>
            <p:cNvGraphicFramePr>
              <a:graphicFrameLocks noChangeAspect="1"/>
            </p:cNvGraphicFramePr>
            <p:nvPr/>
          </p:nvGraphicFramePr>
          <p:xfrm>
            <a:off x="2119" y="2496"/>
            <a:ext cx="28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604" name="Equation" r:id="rId22" imgW="241200" imgH="253800" progId="Equation.3">
                    <p:embed/>
                  </p:oleObj>
                </mc:Choice>
                <mc:Fallback>
                  <p:oleObj name="Equation" r:id="rId22" imgW="241200" imgH="253800" progId="Equation.3">
                    <p:embed/>
                    <p:pic>
                      <p:nvPicPr>
                        <p:cNvPr id="0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9" y="2496"/>
                          <a:ext cx="28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731" name="Text Box 59"/>
            <p:cNvSpPr txBox="1">
              <a:spLocks noChangeArrowheads="1"/>
            </p:cNvSpPr>
            <p:nvPr/>
          </p:nvSpPr>
          <p:spPr bwMode="auto">
            <a:xfrm>
              <a:off x="1248" y="2112"/>
              <a:ext cx="163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在        一定时</a:t>
              </a:r>
            </a:p>
          </p:txBody>
        </p:sp>
        <p:graphicFrame>
          <p:nvGraphicFramePr>
            <p:cNvPr id="171021" name="Object 1037"/>
            <p:cNvGraphicFramePr>
              <a:graphicFrameLocks noChangeAspect="1"/>
            </p:cNvGraphicFramePr>
            <p:nvPr/>
          </p:nvGraphicFramePr>
          <p:xfrm>
            <a:off x="1584" y="2112"/>
            <a:ext cx="38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605" name="Equation" r:id="rId24" imgW="380880" imgH="342720" progId="Equation.3">
                    <p:embed/>
                  </p:oleObj>
                </mc:Choice>
                <mc:Fallback>
                  <p:oleObj name="Equation" r:id="rId24" imgW="380880" imgH="342720" progId="Equation.3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112"/>
                          <a:ext cx="38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73"/>
          <p:cNvGrpSpPr>
            <a:grpSpLocks/>
          </p:cNvGrpSpPr>
          <p:nvPr/>
        </p:nvGrpSpPr>
        <p:grpSpPr bwMode="auto">
          <a:xfrm>
            <a:off x="4953000" y="3429000"/>
            <a:ext cx="3886200" cy="3048000"/>
            <a:chOff x="3120" y="2160"/>
            <a:chExt cx="2448" cy="1920"/>
          </a:xfrm>
        </p:grpSpPr>
        <p:sp>
          <p:nvSpPr>
            <p:cNvPr id="156709" name="Rectangle 37"/>
            <p:cNvSpPr>
              <a:spLocks noChangeArrowheads="1"/>
            </p:cNvSpPr>
            <p:nvPr/>
          </p:nvSpPr>
          <p:spPr bwMode="auto">
            <a:xfrm>
              <a:off x="3120" y="2160"/>
              <a:ext cx="2448" cy="19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5" name="Group 72"/>
            <p:cNvGrpSpPr>
              <a:grpSpLocks/>
            </p:cNvGrpSpPr>
            <p:nvPr/>
          </p:nvGrpSpPr>
          <p:grpSpPr bwMode="auto">
            <a:xfrm>
              <a:off x="3120" y="2352"/>
              <a:ext cx="1818" cy="1728"/>
              <a:chOff x="3168" y="2304"/>
              <a:chExt cx="1818" cy="1728"/>
            </a:xfrm>
          </p:grpSpPr>
          <p:sp>
            <p:nvSpPr>
              <p:cNvPr id="156711" name="Line 39"/>
              <p:cNvSpPr>
                <a:spLocks noChangeShapeType="1"/>
              </p:cNvSpPr>
              <p:nvPr/>
            </p:nvSpPr>
            <p:spPr bwMode="auto">
              <a:xfrm flipV="1">
                <a:off x="3546" y="2345"/>
                <a:ext cx="1" cy="1397"/>
              </a:xfrm>
              <a:prstGeom prst="line">
                <a:avLst/>
              </a:prstGeom>
              <a:noFill/>
              <a:ln w="19050">
                <a:solidFill>
                  <a:srgbClr val="0033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712" name="Line 40"/>
              <p:cNvSpPr>
                <a:spLocks noChangeShapeType="1"/>
              </p:cNvSpPr>
              <p:nvPr/>
            </p:nvSpPr>
            <p:spPr bwMode="auto">
              <a:xfrm flipH="1">
                <a:off x="3546" y="2674"/>
                <a:ext cx="720" cy="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1013" name="Object 1029"/>
              <p:cNvGraphicFramePr>
                <a:graphicFrameLocks noChangeAspect="1"/>
              </p:cNvGraphicFramePr>
              <p:nvPr/>
            </p:nvGraphicFramePr>
            <p:xfrm>
              <a:off x="3168" y="2509"/>
              <a:ext cx="427" cy="4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606" name="公式" r:id="rId26" imgW="152280" imgH="177480" progId="Equation.3">
                      <p:embed/>
                    </p:oleObj>
                  </mc:Choice>
                  <mc:Fallback>
                    <p:oleObj name="公式" r:id="rId26" imgW="152280" imgH="177480" progId="Equation.3">
                      <p:embed/>
                      <p:pic>
                        <p:nvPicPr>
                          <p:cNvPr id="0" name="Object 10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509"/>
                            <a:ext cx="427" cy="4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4" name="Object 1030"/>
              <p:cNvGraphicFramePr>
                <a:graphicFrameLocks noChangeAspect="1"/>
              </p:cNvGraphicFramePr>
              <p:nvPr/>
            </p:nvGraphicFramePr>
            <p:xfrm>
              <a:off x="4506" y="3660"/>
              <a:ext cx="300" cy="3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607" name="公式" r:id="rId28" imgW="114120" imgH="164880" progId="Equation.3">
                      <p:embed/>
                    </p:oleObj>
                  </mc:Choice>
                  <mc:Fallback>
                    <p:oleObj name="公式" r:id="rId28" imgW="114120" imgH="164880" progId="Equation.3">
                      <p:embed/>
                      <p:pic>
                        <p:nvPicPr>
                          <p:cNvPr id="0" name="Object 10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6" y="3660"/>
                            <a:ext cx="300" cy="37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6716" name="Freeform 44" descr="深色下对角线"/>
              <p:cNvSpPr>
                <a:spLocks/>
              </p:cNvSpPr>
              <p:nvPr/>
            </p:nvSpPr>
            <p:spPr bwMode="auto">
              <a:xfrm>
                <a:off x="3978" y="2641"/>
                <a:ext cx="624" cy="1101"/>
              </a:xfrm>
              <a:custGeom>
                <a:avLst/>
                <a:gdLst/>
                <a:ahLst/>
                <a:cxnLst>
                  <a:cxn ang="0">
                    <a:pos x="0" y="1101"/>
                  </a:cxn>
                  <a:cxn ang="0">
                    <a:pos x="99" y="731"/>
                  </a:cxn>
                  <a:cxn ang="0">
                    <a:pos x="168" y="400"/>
                  </a:cxn>
                  <a:cxn ang="0">
                    <a:pos x="288" y="33"/>
                  </a:cxn>
                  <a:cxn ang="0">
                    <a:pos x="445" y="600"/>
                  </a:cxn>
                  <a:cxn ang="0">
                    <a:pos x="514" y="853"/>
                  </a:cxn>
                  <a:cxn ang="0">
                    <a:pos x="624" y="1101"/>
                  </a:cxn>
                </a:cxnLst>
                <a:rect l="0" t="0" r="r" b="b"/>
                <a:pathLst>
                  <a:path w="624" h="1101">
                    <a:moveTo>
                      <a:pt x="0" y="1101"/>
                    </a:moveTo>
                    <a:cubicBezTo>
                      <a:pt x="16" y="1039"/>
                      <a:pt x="71" y="848"/>
                      <a:pt x="99" y="731"/>
                    </a:cubicBezTo>
                    <a:cubicBezTo>
                      <a:pt x="127" y="614"/>
                      <a:pt x="137" y="516"/>
                      <a:pt x="168" y="400"/>
                    </a:cubicBezTo>
                    <a:cubicBezTo>
                      <a:pt x="199" y="284"/>
                      <a:pt x="242" y="0"/>
                      <a:pt x="288" y="33"/>
                    </a:cubicBezTo>
                    <a:cubicBezTo>
                      <a:pt x="334" y="66"/>
                      <a:pt x="407" y="463"/>
                      <a:pt x="445" y="600"/>
                    </a:cubicBezTo>
                    <a:cubicBezTo>
                      <a:pt x="483" y="737"/>
                      <a:pt x="484" y="769"/>
                      <a:pt x="514" y="853"/>
                    </a:cubicBezTo>
                    <a:cubicBezTo>
                      <a:pt x="544" y="937"/>
                      <a:pt x="601" y="1049"/>
                      <a:pt x="624" y="1101"/>
                    </a:cubicBezTo>
                  </a:path>
                </a:pathLst>
              </a:custGeom>
              <a:pattFill prst="dkDnDiag">
                <a:fgClr>
                  <a:srgbClr val="F9CECB"/>
                </a:fgClr>
                <a:bgClr>
                  <a:srgbClr val="FFFFFF"/>
                </a:bgClr>
              </a:pattFill>
              <a:ln w="28575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1015" name="Object 1031"/>
              <p:cNvGraphicFramePr>
                <a:graphicFrameLocks noChangeAspect="1"/>
              </p:cNvGraphicFramePr>
              <p:nvPr/>
            </p:nvGraphicFramePr>
            <p:xfrm>
              <a:off x="3258" y="2304"/>
              <a:ext cx="24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608" name="公式" r:id="rId30" imgW="228600" imgH="228600" progId="Equation.3">
                      <p:embed/>
                    </p:oleObj>
                  </mc:Choice>
                  <mc:Fallback>
                    <p:oleObj name="公式" r:id="rId30" imgW="228600" imgH="228600" progId="Equation.3">
                      <p:embed/>
                      <p:pic>
                        <p:nvPicPr>
                          <p:cNvPr id="0" name="Object 10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8" y="2304"/>
                            <a:ext cx="240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6" name="Object 1032"/>
              <p:cNvGraphicFramePr>
                <a:graphicFrameLocks noChangeAspect="1"/>
              </p:cNvGraphicFramePr>
              <p:nvPr/>
            </p:nvGraphicFramePr>
            <p:xfrm>
              <a:off x="4842" y="3504"/>
              <a:ext cx="121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609" name="公式" r:id="rId32" imgW="114120" imgH="215640" progId="Equation.3">
                      <p:embed/>
                    </p:oleObj>
                  </mc:Choice>
                  <mc:Fallback>
                    <p:oleObj name="公式" r:id="rId32" imgW="114120" imgH="215640" progId="Equation.3">
                      <p:embed/>
                      <p:pic>
                        <p:nvPicPr>
                          <p:cNvPr id="0" name="Object 10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2" y="3504"/>
                            <a:ext cx="121" cy="23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7" name="Object 1033"/>
              <p:cNvGraphicFramePr>
                <a:graphicFrameLocks noChangeAspect="1"/>
              </p:cNvGraphicFramePr>
              <p:nvPr/>
            </p:nvGraphicFramePr>
            <p:xfrm>
              <a:off x="3354" y="3648"/>
              <a:ext cx="225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610" name="Equation" r:id="rId34" imgW="126720" imgH="139680" progId="Equation.3">
                      <p:embed/>
                    </p:oleObj>
                  </mc:Choice>
                  <mc:Fallback>
                    <p:oleObj name="Equation" r:id="rId34" imgW="126720" imgH="139680" progId="Equation.3">
                      <p:embed/>
                      <p:pic>
                        <p:nvPicPr>
                          <p:cNvPr id="0" name="Object 10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4" y="3648"/>
                            <a:ext cx="225" cy="24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6721" name="Line 49"/>
              <p:cNvSpPr>
                <a:spLocks noChangeShapeType="1"/>
              </p:cNvSpPr>
              <p:nvPr/>
            </p:nvSpPr>
            <p:spPr bwMode="auto">
              <a:xfrm>
                <a:off x="3546" y="3742"/>
                <a:ext cx="1440" cy="2"/>
              </a:xfrm>
              <a:prstGeom prst="line">
                <a:avLst/>
              </a:prstGeom>
              <a:noFill/>
              <a:ln w="19050">
                <a:solidFill>
                  <a:srgbClr val="0033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1018" name="Object 1034"/>
              <p:cNvGraphicFramePr>
                <a:graphicFrameLocks noChangeAspect="1"/>
              </p:cNvGraphicFramePr>
              <p:nvPr/>
            </p:nvGraphicFramePr>
            <p:xfrm>
              <a:off x="3878" y="3696"/>
              <a:ext cx="197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611" name="Equation" r:id="rId36" imgW="126720" imgH="215640" progId="Equation.3">
                      <p:embed/>
                    </p:oleObj>
                  </mc:Choice>
                  <mc:Fallback>
                    <p:oleObj name="Equation" r:id="rId36" imgW="126720" imgH="215640" progId="Equation.3">
                      <p:embed/>
                      <p:pic>
                        <p:nvPicPr>
                          <p:cNvPr id="0" name="Object 10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696"/>
                            <a:ext cx="197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1011" name="Object 1027"/>
          <p:cNvGraphicFramePr>
            <a:graphicFrameLocks noChangeAspect="1"/>
          </p:cNvGraphicFramePr>
          <p:nvPr/>
        </p:nvGraphicFramePr>
        <p:xfrm>
          <a:off x="5638800" y="3352800"/>
          <a:ext cx="3200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612" name="Equation" r:id="rId38" imgW="1155600" imgH="355320" progId="Equation.3">
                  <p:embed/>
                </p:oleObj>
              </mc:Choice>
              <mc:Fallback>
                <p:oleObj name="Equation" r:id="rId38" imgW="1155600" imgH="35532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352800"/>
                        <a:ext cx="32004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5029200" y="4800600"/>
            <a:ext cx="2209800" cy="1219200"/>
            <a:chOff x="3312" y="2976"/>
            <a:chExt cx="1392" cy="768"/>
          </a:xfrm>
        </p:grpSpPr>
        <p:graphicFrame>
          <p:nvGraphicFramePr>
            <p:cNvPr id="171012" name="Object 1028"/>
            <p:cNvGraphicFramePr>
              <a:graphicFrameLocks noChangeAspect="1"/>
            </p:cNvGraphicFramePr>
            <p:nvPr/>
          </p:nvGraphicFramePr>
          <p:xfrm>
            <a:off x="3312" y="2976"/>
            <a:ext cx="33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613" name="公式" r:id="rId40" imgW="126720" imgH="152280" progId="Equation.3">
                    <p:embed/>
                  </p:oleObj>
                </mc:Choice>
                <mc:Fallback>
                  <p:oleObj name="公式" r:id="rId40" imgW="126720" imgH="152280" progId="Equation.3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976"/>
                          <a:ext cx="334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720" name="Freeform 48"/>
            <p:cNvSpPr>
              <a:spLocks/>
            </p:cNvSpPr>
            <p:nvPr/>
          </p:nvSpPr>
          <p:spPr bwMode="auto">
            <a:xfrm>
              <a:off x="3647" y="3156"/>
              <a:ext cx="1022" cy="1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022" y="0"/>
                </a:cxn>
              </a:cxnLst>
              <a:rect l="0" t="0" r="r" b="b"/>
              <a:pathLst>
                <a:path w="1022" h="12">
                  <a:moveTo>
                    <a:pt x="0" y="12"/>
                  </a:moveTo>
                  <a:lnTo>
                    <a:pt x="1022" y="0"/>
                  </a:lnTo>
                </a:path>
              </a:pathLst>
            </a:custGeom>
            <a:noFill/>
            <a:ln w="28575">
              <a:solidFill>
                <a:srgbClr val="D60093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40" name="Rectangle 68"/>
            <p:cNvSpPr>
              <a:spLocks noChangeArrowheads="1"/>
            </p:cNvSpPr>
            <p:nvPr/>
          </p:nvSpPr>
          <p:spPr bwMode="auto">
            <a:xfrm>
              <a:off x="4080" y="3168"/>
              <a:ext cx="624" cy="576"/>
            </a:xfrm>
            <a:prstGeom prst="rect">
              <a:avLst/>
            </a:prstGeom>
            <a:solidFill>
              <a:srgbClr val="FBE9F2">
                <a:alpha val="50000"/>
              </a:srgbClr>
            </a:solidFill>
            <a:ln w="9525">
              <a:solidFill>
                <a:srgbClr val="CC00CC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9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95"/>
          <p:cNvGrpSpPr>
            <a:grpSpLocks/>
          </p:cNvGrpSpPr>
          <p:nvPr/>
        </p:nvGrpSpPr>
        <p:grpSpPr bwMode="auto">
          <a:xfrm>
            <a:off x="2971800" y="1828800"/>
            <a:ext cx="4035425" cy="2362200"/>
            <a:chOff x="2786" y="1440"/>
            <a:chExt cx="2542" cy="1488"/>
          </a:xfrm>
        </p:grpSpPr>
        <p:pic>
          <p:nvPicPr>
            <p:cNvPr id="165891" name="Picture 102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24" y="1440"/>
              <a:ext cx="1604" cy="1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1029"/>
            <p:cNvGrpSpPr>
              <a:grpSpLocks/>
            </p:cNvGrpSpPr>
            <p:nvPr/>
          </p:nvGrpSpPr>
          <p:grpSpPr bwMode="auto">
            <a:xfrm>
              <a:off x="3050" y="2097"/>
              <a:ext cx="573" cy="783"/>
              <a:chOff x="1680" y="960"/>
              <a:chExt cx="480" cy="672"/>
            </a:xfrm>
          </p:grpSpPr>
          <p:sp>
            <p:nvSpPr>
              <p:cNvPr id="165894" name="AutoShape 1030" descr="水滴"/>
              <p:cNvSpPr>
                <a:spLocks noChangeArrowheads="1"/>
              </p:cNvSpPr>
              <p:nvPr/>
            </p:nvSpPr>
            <p:spPr bwMode="auto">
              <a:xfrm>
                <a:off x="1680" y="1200"/>
                <a:ext cx="480" cy="432"/>
              </a:xfrm>
              <a:prstGeom prst="can">
                <a:avLst>
                  <a:gd name="adj" fmla="val 25000"/>
                </a:avLst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5895" name="AutoShape 1031"/>
              <p:cNvSpPr>
                <a:spLocks noChangeArrowheads="1"/>
              </p:cNvSpPr>
              <p:nvPr/>
            </p:nvSpPr>
            <p:spPr bwMode="auto">
              <a:xfrm>
                <a:off x="1680" y="960"/>
                <a:ext cx="480" cy="672"/>
              </a:xfrm>
              <a:prstGeom prst="can">
                <a:avLst>
                  <a:gd name="adj" fmla="val 35000"/>
                </a:avLst>
              </a:prstGeom>
              <a:solidFill>
                <a:srgbClr val="8ADECE">
                  <a:alpha val="50000"/>
                </a:srgb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65896" name="AutoShape 1032"/>
            <p:cNvSpPr>
              <a:spLocks noChangeArrowheads="1"/>
            </p:cNvSpPr>
            <p:nvPr/>
          </p:nvSpPr>
          <p:spPr bwMode="auto">
            <a:xfrm rot="1524662">
              <a:off x="2786" y="1966"/>
              <a:ext cx="1102" cy="479"/>
            </a:xfrm>
            <a:prstGeom prst="cube">
              <a:avLst>
                <a:gd name="adj" fmla="val 93560"/>
              </a:avLst>
            </a:prstGeom>
            <a:solidFill>
              <a:srgbClr val="F1F694">
                <a:alpha val="5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897" name="Oval 1033"/>
            <p:cNvSpPr>
              <a:spLocks noChangeArrowheads="1"/>
            </p:cNvSpPr>
            <p:nvPr/>
          </p:nvSpPr>
          <p:spPr bwMode="auto">
            <a:xfrm>
              <a:off x="3170" y="2011"/>
              <a:ext cx="336" cy="21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EDBD9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9966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898" name="AutoShape 1034"/>
            <p:cNvSpPr>
              <a:spLocks noChangeArrowheads="1"/>
            </p:cNvSpPr>
            <p:nvPr/>
          </p:nvSpPr>
          <p:spPr bwMode="auto">
            <a:xfrm rot="-3535121">
              <a:off x="3949" y="1790"/>
              <a:ext cx="43" cy="794"/>
            </a:xfrm>
            <a:prstGeom prst="can">
              <a:avLst>
                <a:gd name="adj" fmla="val 75228"/>
              </a:avLst>
            </a:pr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50000">
                  <a:srgbClr val="009900"/>
                </a:gs>
                <a:gs pos="100000">
                  <a:srgbClr val="00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65899" name="Text Box 1035"/>
          <p:cNvSpPr txBox="1">
            <a:spLocks noChangeArrowheads="1"/>
          </p:cNvSpPr>
          <p:nvPr/>
        </p:nvSpPr>
        <p:spPr bwMode="auto">
          <a:xfrm>
            <a:off x="381000" y="533400"/>
            <a:ext cx="8610600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       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</a:rPr>
              <a:t>问：</a:t>
            </a:r>
            <a:r>
              <a:rPr lang="zh-CN" altLang="en-US" sz="2800" dirty="0"/>
              <a:t>为什么迅速地把盖在杯上的薄板从侧面打去，鸡蛋就掉在杯中；慢慢地将薄板拉开，鸡蛋就会和薄板一起移动</a:t>
            </a:r>
            <a:r>
              <a:rPr lang="zh-CN" altLang="en-US" sz="2800" dirty="0">
                <a:solidFill>
                  <a:srgbClr val="CC0000"/>
                </a:solidFill>
              </a:rPr>
              <a:t>？</a:t>
            </a:r>
          </a:p>
        </p:txBody>
      </p:sp>
      <p:grpSp>
        <p:nvGrpSpPr>
          <p:cNvPr id="4" name="Group 1098"/>
          <p:cNvGrpSpPr>
            <a:grpSpLocks/>
          </p:cNvGrpSpPr>
          <p:nvPr/>
        </p:nvGrpSpPr>
        <p:grpSpPr bwMode="auto">
          <a:xfrm>
            <a:off x="381000" y="4495800"/>
            <a:ext cx="8686800" cy="1630363"/>
            <a:chOff x="288" y="3168"/>
            <a:chExt cx="5472" cy="1027"/>
          </a:xfrm>
        </p:grpSpPr>
        <p:sp>
          <p:nvSpPr>
            <p:cNvPr id="165960" name="Text Box 1096"/>
            <p:cNvSpPr txBox="1">
              <a:spLocks noChangeArrowheads="1"/>
            </p:cNvSpPr>
            <p:nvPr/>
          </p:nvSpPr>
          <p:spPr bwMode="auto">
            <a:xfrm>
              <a:off x="288" y="3168"/>
              <a:ext cx="5472" cy="1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/>
                <a:t>       </a:t>
              </a:r>
              <a:r>
                <a:rPr lang="en-US" altLang="zh-CN" sz="2800" b="1" dirty="0">
                  <a:solidFill>
                    <a:srgbClr val="C00000"/>
                  </a:solidFill>
                </a:rPr>
                <a:t>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答：</a:t>
              </a:r>
              <a:r>
                <a:rPr lang="zh-CN" altLang="en-US" sz="2800" dirty="0"/>
                <a:t>因为鸡蛋和薄板间的摩擦力有限，若棒打击时间很短，                                                    所以鸡蛋就掉在杯中</a:t>
              </a:r>
              <a:r>
                <a:rPr lang="en-US" altLang="zh-CN" sz="2800" dirty="0"/>
                <a:t>.</a:t>
              </a:r>
            </a:p>
          </p:txBody>
        </p:sp>
        <p:graphicFrame>
          <p:nvGraphicFramePr>
            <p:cNvPr id="172032" name="Object 1024"/>
            <p:cNvGraphicFramePr>
              <a:graphicFrameLocks noChangeAspect="1"/>
            </p:cNvGraphicFramePr>
            <p:nvPr/>
          </p:nvGraphicFramePr>
          <p:xfrm>
            <a:off x="1056" y="3456"/>
            <a:ext cx="2880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467" name="Equation" r:id="rId5" imgW="1498320" imgH="241200" progId="Equation.3">
                    <p:embed/>
                  </p:oleObj>
                </mc:Choice>
                <mc:Fallback>
                  <p:oleObj name="Equation" r:id="rId5" imgW="1498320" imgH="241200" progId="Equation.3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456"/>
                          <a:ext cx="2880" cy="4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 Box 1035"/>
          <p:cNvSpPr txBox="1">
            <a:spLocks noChangeArrowheads="1"/>
          </p:cNvSpPr>
          <p:nvPr/>
        </p:nvSpPr>
        <p:spPr bwMode="auto">
          <a:xfrm>
            <a:off x="381000" y="533400"/>
            <a:ext cx="8610600" cy="574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       </a:t>
            </a:r>
            <a:r>
              <a:rPr lang="zh-CN" altLang="en-US" sz="2800" dirty="0" smtClean="0">
                <a:solidFill>
                  <a:srgbClr val="CC0000"/>
                </a:solidFill>
              </a:rPr>
              <a:t>请讨论高空抛物。</a:t>
            </a:r>
            <a:endParaRPr lang="zh-CN" altLang="en-US" sz="2800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34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/>
          <p:cNvGrpSpPr>
            <a:grpSpLocks/>
          </p:cNvGrpSpPr>
          <p:nvPr/>
        </p:nvGrpSpPr>
        <p:grpSpPr bwMode="auto">
          <a:xfrm>
            <a:off x="228600" y="2362200"/>
            <a:ext cx="1981200" cy="2133600"/>
            <a:chOff x="288" y="2688"/>
            <a:chExt cx="1248" cy="1344"/>
          </a:xfrm>
        </p:grpSpPr>
        <p:sp>
          <p:nvSpPr>
            <p:cNvPr id="163843" name="Rectangle 1027" descr="深色上对角线"/>
            <p:cNvSpPr>
              <a:spLocks noChangeArrowheads="1"/>
            </p:cNvSpPr>
            <p:nvPr/>
          </p:nvSpPr>
          <p:spPr bwMode="auto">
            <a:xfrm>
              <a:off x="288" y="3936"/>
              <a:ext cx="1248" cy="96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tx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4" name="AutoShape 1028"/>
            <p:cNvSpPr>
              <a:spLocks noChangeArrowheads="1"/>
            </p:cNvSpPr>
            <p:nvPr/>
          </p:nvSpPr>
          <p:spPr bwMode="auto">
            <a:xfrm flipV="1">
              <a:off x="528" y="3744"/>
              <a:ext cx="816" cy="192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6275"/>
                    <a:invGamma/>
                  </a:srgbClr>
                </a:gs>
                <a:gs pos="50000">
                  <a:srgbClr val="969696"/>
                </a:gs>
                <a:gs pos="100000">
                  <a:srgbClr val="969696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5" name="AutoShape 1029"/>
            <p:cNvSpPr>
              <a:spLocks noChangeArrowheads="1"/>
            </p:cNvSpPr>
            <p:nvPr/>
          </p:nvSpPr>
          <p:spPr bwMode="auto">
            <a:xfrm>
              <a:off x="816" y="3504"/>
              <a:ext cx="240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808000"/>
                </a:gs>
                <a:gs pos="50000">
                  <a:srgbClr val="FFFFFF"/>
                </a:gs>
                <a:gs pos="100000">
                  <a:srgbClr val="808000"/>
                </a:gs>
              </a:gsLst>
              <a:lin ang="0" scaled="1"/>
            </a:gradFill>
            <a:ln w="19050">
              <a:solidFill>
                <a:srgbClr val="66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6" name="AutoShape 1030"/>
            <p:cNvSpPr>
              <a:spLocks noChangeArrowheads="1"/>
            </p:cNvSpPr>
            <p:nvPr/>
          </p:nvSpPr>
          <p:spPr bwMode="auto">
            <a:xfrm>
              <a:off x="768" y="2928"/>
              <a:ext cx="336" cy="336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333333"/>
                </a:gs>
                <a:gs pos="50000">
                  <a:schemeClr val="bg1"/>
                </a:gs>
                <a:gs pos="100000">
                  <a:srgbClr val="333333"/>
                </a:gs>
              </a:gsLst>
              <a:lin ang="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7" name="Line 1031"/>
            <p:cNvSpPr>
              <a:spLocks noChangeShapeType="1"/>
            </p:cNvSpPr>
            <p:nvPr/>
          </p:nvSpPr>
          <p:spPr bwMode="auto">
            <a:xfrm flipV="1">
              <a:off x="480" y="2784"/>
              <a:ext cx="0" cy="115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48" name="Line 1032"/>
            <p:cNvSpPr>
              <a:spLocks noChangeShapeType="1"/>
            </p:cNvSpPr>
            <p:nvPr/>
          </p:nvSpPr>
          <p:spPr bwMode="auto">
            <a:xfrm>
              <a:off x="480" y="307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49" name="Line 1033"/>
            <p:cNvSpPr>
              <a:spLocks noChangeShapeType="1"/>
            </p:cNvSpPr>
            <p:nvPr/>
          </p:nvSpPr>
          <p:spPr bwMode="auto">
            <a:xfrm>
              <a:off x="480" y="364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50" name="Text Box 1034"/>
            <p:cNvSpPr txBox="1">
              <a:spLocks noChangeArrowheads="1"/>
            </p:cNvSpPr>
            <p:nvPr/>
          </p:nvSpPr>
          <p:spPr bwMode="auto">
            <a:xfrm>
              <a:off x="288" y="2688"/>
              <a:ext cx="3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z</a:t>
              </a:r>
            </a:p>
          </p:txBody>
        </p:sp>
        <p:sp>
          <p:nvSpPr>
            <p:cNvPr id="163851" name="Text Box 1035"/>
            <p:cNvSpPr txBox="1">
              <a:spLocks noChangeArrowheads="1"/>
            </p:cNvSpPr>
            <p:nvPr/>
          </p:nvSpPr>
          <p:spPr bwMode="auto">
            <a:xfrm>
              <a:off x="576" y="3216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h</a:t>
              </a:r>
            </a:p>
          </p:txBody>
        </p:sp>
        <p:sp>
          <p:nvSpPr>
            <p:cNvPr id="163852" name="Line 1036"/>
            <p:cNvSpPr>
              <a:spLocks noChangeShapeType="1"/>
            </p:cNvSpPr>
            <p:nvPr/>
          </p:nvSpPr>
          <p:spPr bwMode="auto">
            <a:xfrm>
              <a:off x="576" y="3072"/>
              <a:ext cx="0" cy="57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53" name="Text Box 1037"/>
            <p:cNvSpPr txBox="1">
              <a:spLocks noChangeArrowheads="1"/>
            </p:cNvSpPr>
            <p:nvPr/>
          </p:nvSpPr>
          <p:spPr bwMode="auto">
            <a:xfrm>
              <a:off x="1104" y="2928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m</a:t>
              </a:r>
            </a:p>
          </p:txBody>
        </p:sp>
      </p:grpSp>
      <p:grpSp>
        <p:nvGrpSpPr>
          <p:cNvPr id="4" name="Group 1065"/>
          <p:cNvGrpSpPr>
            <a:grpSpLocks/>
          </p:cNvGrpSpPr>
          <p:nvPr/>
        </p:nvGrpSpPr>
        <p:grpSpPr bwMode="auto">
          <a:xfrm>
            <a:off x="76200" y="457200"/>
            <a:ext cx="8991600" cy="1701800"/>
            <a:chOff x="96" y="384"/>
            <a:chExt cx="5664" cy="1072"/>
          </a:xfrm>
        </p:grpSpPr>
        <p:sp>
          <p:nvSpPr>
            <p:cNvPr id="163858" name="Text Box 1042"/>
            <p:cNvSpPr txBox="1">
              <a:spLocks noChangeArrowheads="1"/>
            </p:cNvSpPr>
            <p:nvPr/>
          </p:nvSpPr>
          <p:spPr bwMode="auto">
            <a:xfrm>
              <a:off x="96" y="384"/>
              <a:ext cx="5664" cy="1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讨论：</a:t>
              </a:r>
              <a:r>
                <a:rPr lang="zh-CN" altLang="en-US" sz="2800" dirty="0"/>
                <a:t>一重锤从高度 </a:t>
              </a:r>
              <a:r>
                <a:rPr lang="en-US" altLang="zh-CN" sz="2800" i="1" dirty="0"/>
                <a:t>h </a:t>
              </a:r>
              <a:r>
                <a:rPr lang="en-US" altLang="zh-CN" sz="2800" dirty="0"/>
                <a:t>= </a:t>
              </a:r>
              <a:r>
                <a:rPr lang="en-US" altLang="zh-CN" sz="2800" b="0" dirty="0"/>
                <a:t>1.5m</a:t>
              </a:r>
              <a:r>
                <a:rPr lang="en-US" altLang="zh-CN" sz="2800" dirty="0"/>
                <a:t> </a:t>
              </a:r>
              <a:r>
                <a:rPr lang="zh-CN" altLang="en-US" sz="2800" dirty="0"/>
                <a:t>处自静止下落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锤与工件碰撞后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速度为零</a:t>
              </a:r>
              <a:r>
                <a:rPr lang="en-US" altLang="zh-CN" sz="2800" dirty="0"/>
                <a:t>.</a:t>
              </a:r>
              <a:r>
                <a:rPr lang="zh-CN" altLang="en-US" sz="2800" dirty="0"/>
                <a:t>对于不同的打击时间      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计算平均冲力和重力之比</a:t>
              </a:r>
              <a:r>
                <a:rPr lang="en-US" altLang="zh-CN" sz="2800" dirty="0"/>
                <a:t>.</a:t>
              </a:r>
            </a:p>
          </p:txBody>
        </p:sp>
        <p:graphicFrame>
          <p:nvGraphicFramePr>
            <p:cNvPr id="173069" name="Object 1037"/>
            <p:cNvGraphicFramePr>
              <a:graphicFrameLocks noChangeAspect="1"/>
            </p:cNvGraphicFramePr>
            <p:nvPr/>
          </p:nvGraphicFramePr>
          <p:xfrm>
            <a:off x="4155" y="720"/>
            <a:ext cx="35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854" name="Equation" r:id="rId3" imgW="330120" imgH="279360" progId="Equation.3">
                    <p:embed/>
                  </p:oleObj>
                </mc:Choice>
                <mc:Fallback>
                  <p:oleObj name="Equation" r:id="rId3" imgW="33012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5" y="720"/>
                          <a:ext cx="357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80588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/>
          <p:cNvGrpSpPr>
            <a:grpSpLocks/>
          </p:cNvGrpSpPr>
          <p:nvPr/>
        </p:nvGrpSpPr>
        <p:grpSpPr bwMode="auto">
          <a:xfrm>
            <a:off x="228600" y="2362200"/>
            <a:ext cx="1981200" cy="2133600"/>
            <a:chOff x="288" y="2688"/>
            <a:chExt cx="1248" cy="1344"/>
          </a:xfrm>
        </p:grpSpPr>
        <p:sp>
          <p:nvSpPr>
            <p:cNvPr id="163843" name="Rectangle 1027" descr="深色上对角线"/>
            <p:cNvSpPr>
              <a:spLocks noChangeArrowheads="1"/>
            </p:cNvSpPr>
            <p:nvPr/>
          </p:nvSpPr>
          <p:spPr bwMode="auto">
            <a:xfrm>
              <a:off x="288" y="3936"/>
              <a:ext cx="1248" cy="96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tx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4" name="AutoShape 1028"/>
            <p:cNvSpPr>
              <a:spLocks noChangeArrowheads="1"/>
            </p:cNvSpPr>
            <p:nvPr/>
          </p:nvSpPr>
          <p:spPr bwMode="auto">
            <a:xfrm flipV="1">
              <a:off x="528" y="3744"/>
              <a:ext cx="816" cy="192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6275"/>
                    <a:invGamma/>
                  </a:srgbClr>
                </a:gs>
                <a:gs pos="50000">
                  <a:srgbClr val="969696"/>
                </a:gs>
                <a:gs pos="100000">
                  <a:srgbClr val="969696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5" name="AutoShape 1029"/>
            <p:cNvSpPr>
              <a:spLocks noChangeArrowheads="1"/>
            </p:cNvSpPr>
            <p:nvPr/>
          </p:nvSpPr>
          <p:spPr bwMode="auto">
            <a:xfrm>
              <a:off x="816" y="3504"/>
              <a:ext cx="240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808000"/>
                </a:gs>
                <a:gs pos="50000">
                  <a:srgbClr val="FFFFFF"/>
                </a:gs>
                <a:gs pos="100000">
                  <a:srgbClr val="808000"/>
                </a:gs>
              </a:gsLst>
              <a:lin ang="0" scaled="1"/>
            </a:gradFill>
            <a:ln w="19050">
              <a:solidFill>
                <a:srgbClr val="66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6" name="AutoShape 1030"/>
            <p:cNvSpPr>
              <a:spLocks noChangeArrowheads="1"/>
            </p:cNvSpPr>
            <p:nvPr/>
          </p:nvSpPr>
          <p:spPr bwMode="auto">
            <a:xfrm>
              <a:off x="768" y="2928"/>
              <a:ext cx="336" cy="336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333333"/>
                </a:gs>
                <a:gs pos="50000">
                  <a:schemeClr val="bg1"/>
                </a:gs>
                <a:gs pos="100000">
                  <a:srgbClr val="333333"/>
                </a:gs>
              </a:gsLst>
              <a:lin ang="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7" name="Line 1031"/>
            <p:cNvSpPr>
              <a:spLocks noChangeShapeType="1"/>
            </p:cNvSpPr>
            <p:nvPr/>
          </p:nvSpPr>
          <p:spPr bwMode="auto">
            <a:xfrm flipV="1">
              <a:off x="480" y="2784"/>
              <a:ext cx="0" cy="115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48" name="Line 1032"/>
            <p:cNvSpPr>
              <a:spLocks noChangeShapeType="1"/>
            </p:cNvSpPr>
            <p:nvPr/>
          </p:nvSpPr>
          <p:spPr bwMode="auto">
            <a:xfrm>
              <a:off x="480" y="307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49" name="Line 1033"/>
            <p:cNvSpPr>
              <a:spLocks noChangeShapeType="1"/>
            </p:cNvSpPr>
            <p:nvPr/>
          </p:nvSpPr>
          <p:spPr bwMode="auto">
            <a:xfrm>
              <a:off x="480" y="364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50" name="Text Box 1034"/>
            <p:cNvSpPr txBox="1">
              <a:spLocks noChangeArrowheads="1"/>
            </p:cNvSpPr>
            <p:nvPr/>
          </p:nvSpPr>
          <p:spPr bwMode="auto">
            <a:xfrm>
              <a:off x="288" y="2688"/>
              <a:ext cx="3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z</a:t>
              </a:r>
            </a:p>
          </p:txBody>
        </p:sp>
        <p:sp>
          <p:nvSpPr>
            <p:cNvPr id="163851" name="Text Box 1035"/>
            <p:cNvSpPr txBox="1">
              <a:spLocks noChangeArrowheads="1"/>
            </p:cNvSpPr>
            <p:nvPr/>
          </p:nvSpPr>
          <p:spPr bwMode="auto">
            <a:xfrm>
              <a:off x="576" y="3216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h</a:t>
              </a:r>
            </a:p>
          </p:txBody>
        </p:sp>
        <p:sp>
          <p:nvSpPr>
            <p:cNvPr id="163852" name="Line 1036"/>
            <p:cNvSpPr>
              <a:spLocks noChangeShapeType="1"/>
            </p:cNvSpPr>
            <p:nvPr/>
          </p:nvSpPr>
          <p:spPr bwMode="auto">
            <a:xfrm>
              <a:off x="576" y="3072"/>
              <a:ext cx="0" cy="57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53" name="Text Box 1037"/>
            <p:cNvSpPr txBox="1">
              <a:spLocks noChangeArrowheads="1"/>
            </p:cNvSpPr>
            <p:nvPr/>
          </p:nvSpPr>
          <p:spPr bwMode="auto">
            <a:xfrm>
              <a:off x="1104" y="2928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m</a:t>
              </a:r>
            </a:p>
          </p:txBody>
        </p:sp>
      </p:grpSp>
      <p:grpSp>
        <p:nvGrpSpPr>
          <p:cNvPr id="4" name="Group 1065"/>
          <p:cNvGrpSpPr>
            <a:grpSpLocks/>
          </p:cNvGrpSpPr>
          <p:nvPr/>
        </p:nvGrpSpPr>
        <p:grpSpPr bwMode="auto">
          <a:xfrm>
            <a:off x="76200" y="457200"/>
            <a:ext cx="8991600" cy="1701800"/>
            <a:chOff x="96" y="384"/>
            <a:chExt cx="5664" cy="1072"/>
          </a:xfrm>
        </p:grpSpPr>
        <p:sp>
          <p:nvSpPr>
            <p:cNvPr id="163858" name="Text Box 1042"/>
            <p:cNvSpPr txBox="1">
              <a:spLocks noChangeArrowheads="1"/>
            </p:cNvSpPr>
            <p:nvPr/>
          </p:nvSpPr>
          <p:spPr bwMode="auto">
            <a:xfrm>
              <a:off x="96" y="384"/>
              <a:ext cx="5664" cy="1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讨论：</a:t>
              </a:r>
              <a:r>
                <a:rPr lang="zh-CN" altLang="en-US" sz="2800" dirty="0"/>
                <a:t>一重锤从高度 </a:t>
              </a:r>
              <a:r>
                <a:rPr lang="en-US" altLang="zh-CN" sz="2800" i="1" dirty="0"/>
                <a:t>h </a:t>
              </a:r>
              <a:r>
                <a:rPr lang="en-US" altLang="zh-CN" sz="2800" dirty="0"/>
                <a:t>= </a:t>
              </a:r>
              <a:r>
                <a:rPr lang="en-US" altLang="zh-CN" sz="2800" b="0" dirty="0"/>
                <a:t>1.5m</a:t>
              </a:r>
              <a:r>
                <a:rPr lang="en-US" altLang="zh-CN" sz="2800" dirty="0"/>
                <a:t> </a:t>
              </a:r>
              <a:r>
                <a:rPr lang="zh-CN" altLang="en-US" sz="2800" dirty="0"/>
                <a:t>处自静止下落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锤与工件碰撞后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速度为零</a:t>
              </a:r>
              <a:r>
                <a:rPr lang="en-US" altLang="zh-CN" sz="2800" dirty="0"/>
                <a:t>.</a:t>
              </a:r>
              <a:r>
                <a:rPr lang="zh-CN" altLang="en-US" sz="2800" dirty="0"/>
                <a:t>对于不同的打击时间      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计算平均冲力和重力之比</a:t>
              </a:r>
              <a:r>
                <a:rPr lang="en-US" altLang="zh-CN" sz="2800" dirty="0"/>
                <a:t>.</a:t>
              </a:r>
            </a:p>
          </p:txBody>
        </p:sp>
        <p:graphicFrame>
          <p:nvGraphicFramePr>
            <p:cNvPr id="173069" name="Object 1037"/>
            <p:cNvGraphicFramePr>
              <a:graphicFrameLocks noChangeAspect="1"/>
            </p:cNvGraphicFramePr>
            <p:nvPr/>
          </p:nvGraphicFramePr>
          <p:xfrm>
            <a:off x="4155" y="720"/>
            <a:ext cx="35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18" name="Equation" r:id="rId3" imgW="330120" imgH="279360" progId="Equation.3">
                    <p:embed/>
                  </p:oleObj>
                </mc:Choice>
                <mc:Fallback>
                  <p:oleObj name="Equation" r:id="rId3" imgW="33012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5" y="720"/>
                          <a:ext cx="357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047"/>
          <p:cNvGrpSpPr>
            <a:grpSpLocks/>
          </p:cNvGrpSpPr>
          <p:nvPr/>
        </p:nvGrpSpPr>
        <p:grpSpPr bwMode="auto">
          <a:xfrm>
            <a:off x="228600" y="5257800"/>
            <a:ext cx="6553200" cy="1227138"/>
            <a:chOff x="816" y="3360"/>
            <a:chExt cx="4128" cy="773"/>
          </a:xfrm>
        </p:grpSpPr>
        <p:sp>
          <p:nvSpPr>
            <p:cNvPr id="163864" name="Rectangle 1048"/>
            <p:cNvSpPr>
              <a:spLocks noChangeArrowheads="1"/>
            </p:cNvSpPr>
            <p:nvPr/>
          </p:nvSpPr>
          <p:spPr bwMode="auto">
            <a:xfrm>
              <a:off x="816" y="3360"/>
              <a:ext cx="4128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65" name="Line 1049"/>
            <p:cNvSpPr>
              <a:spLocks noChangeShapeType="1"/>
            </p:cNvSpPr>
            <p:nvPr/>
          </p:nvSpPr>
          <p:spPr bwMode="auto">
            <a:xfrm>
              <a:off x="816" y="3744"/>
              <a:ext cx="412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6" name="Line 1050"/>
            <p:cNvSpPr>
              <a:spLocks noChangeShapeType="1"/>
            </p:cNvSpPr>
            <p:nvPr/>
          </p:nvSpPr>
          <p:spPr bwMode="auto">
            <a:xfrm>
              <a:off x="1680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7" name="Line 1051"/>
            <p:cNvSpPr>
              <a:spLocks noChangeShapeType="1"/>
            </p:cNvSpPr>
            <p:nvPr/>
          </p:nvSpPr>
          <p:spPr bwMode="auto">
            <a:xfrm>
              <a:off x="2352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8" name="Line 1052"/>
            <p:cNvSpPr>
              <a:spLocks noChangeShapeType="1"/>
            </p:cNvSpPr>
            <p:nvPr/>
          </p:nvSpPr>
          <p:spPr bwMode="auto">
            <a:xfrm>
              <a:off x="3072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9" name="Line 1053"/>
            <p:cNvSpPr>
              <a:spLocks noChangeShapeType="1"/>
            </p:cNvSpPr>
            <p:nvPr/>
          </p:nvSpPr>
          <p:spPr bwMode="auto">
            <a:xfrm>
              <a:off x="3984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3059" name="Object 1027"/>
            <p:cNvGraphicFramePr>
              <a:graphicFrameLocks noChangeAspect="1"/>
            </p:cNvGraphicFramePr>
            <p:nvPr/>
          </p:nvGraphicFramePr>
          <p:xfrm>
            <a:off x="960" y="3408"/>
            <a:ext cx="57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19" name="Equation" r:id="rId5" imgW="558720" imgH="368280" progId="Equation.3">
                    <p:embed/>
                  </p:oleObj>
                </mc:Choice>
                <mc:Fallback>
                  <p:oleObj name="Equation" r:id="rId5" imgW="5587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408"/>
                          <a:ext cx="576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0" name="Object 1028"/>
            <p:cNvGraphicFramePr>
              <a:graphicFrameLocks noChangeAspect="1"/>
            </p:cNvGraphicFramePr>
            <p:nvPr/>
          </p:nvGraphicFramePr>
          <p:xfrm>
            <a:off x="816" y="3792"/>
            <a:ext cx="8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0" name="Equation" r:id="rId7" imgW="863280" imgH="368280" progId="Equation.3">
                    <p:embed/>
                  </p:oleObj>
                </mc:Choice>
                <mc:Fallback>
                  <p:oleObj name="Equation" r:id="rId7" imgW="86328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792"/>
                          <a:ext cx="864" cy="3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1" name="Object 1029"/>
            <p:cNvGraphicFramePr>
              <a:graphicFrameLocks noChangeAspect="1"/>
            </p:cNvGraphicFramePr>
            <p:nvPr/>
          </p:nvGraphicFramePr>
          <p:xfrm>
            <a:off x="1824" y="3458"/>
            <a:ext cx="33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1" name="Equation" r:id="rId9" imgW="393480" imgH="279360" progId="Equation.3">
                    <p:embed/>
                  </p:oleObj>
                </mc:Choice>
                <mc:Fallback>
                  <p:oleObj name="Equation" r:id="rId9" imgW="393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458"/>
                          <a:ext cx="33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2" name="Object 1030"/>
            <p:cNvGraphicFramePr>
              <a:graphicFrameLocks noChangeAspect="1"/>
            </p:cNvGraphicFramePr>
            <p:nvPr/>
          </p:nvGraphicFramePr>
          <p:xfrm>
            <a:off x="2496" y="3413"/>
            <a:ext cx="48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2" name="Equation" r:id="rId11" imgW="545760" imgH="368280" progId="Equation.3">
                    <p:embed/>
                  </p:oleObj>
                </mc:Choice>
                <mc:Fallback>
                  <p:oleObj name="Equation" r:id="rId11" imgW="5457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413"/>
                          <a:ext cx="48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3" name="Object 1031"/>
            <p:cNvGraphicFramePr>
              <a:graphicFrameLocks noChangeAspect="1"/>
            </p:cNvGraphicFramePr>
            <p:nvPr/>
          </p:nvGraphicFramePr>
          <p:xfrm>
            <a:off x="3221" y="3408"/>
            <a:ext cx="46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3" name="Equation" r:id="rId13" imgW="533160" imgH="368280" progId="Equation.3">
                    <p:embed/>
                  </p:oleObj>
                </mc:Choice>
                <mc:Fallback>
                  <p:oleObj name="Equation" r:id="rId13" imgW="5331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1" y="3408"/>
                          <a:ext cx="469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4" name="Object 1032"/>
            <p:cNvGraphicFramePr>
              <a:graphicFrameLocks noChangeAspect="1"/>
            </p:cNvGraphicFramePr>
            <p:nvPr/>
          </p:nvGraphicFramePr>
          <p:xfrm>
            <a:off x="4176" y="3408"/>
            <a:ext cx="48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4" name="Equation" r:id="rId15" imgW="545760" imgH="368280" progId="Equation.3">
                    <p:embed/>
                  </p:oleObj>
                </mc:Choice>
                <mc:Fallback>
                  <p:oleObj name="Equation" r:id="rId15" imgW="5457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3408"/>
                          <a:ext cx="48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5" name="Object 1033"/>
            <p:cNvGraphicFramePr>
              <a:graphicFrameLocks noChangeAspect="1"/>
            </p:cNvGraphicFramePr>
            <p:nvPr/>
          </p:nvGraphicFramePr>
          <p:xfrm>
            <a:off x="1824" y="3849"/>
            <a:ext cx="336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5" name="Equation" r:id="rId17" imgW="406080" imgH="279360" progId="Equation.3">
                    <p:embed/>
                  </p:oleObj>
                </mc:Choice>
                <mc:Fallback>
                  <p:oleObj name="Equation" r:id="rId17" imgW="4060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849"/>
                          <a:ext cx="336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6" name="Object 1034"/>
            <p:cNvGraphicFramePr>
              <a:graphicFrameLocks noChangeAspect="1"/>
            </p:cNvGraphicFramePr>
            <p:nvPr/>
          </p:nvGraphicFramePr>
          <p:xfrm>
            <a:off x="2496" y="3840"/>
            <a:ext cx="33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6" name="Equation" r:id="rId19" imgW="330120" imgH="279360" progId="Equation.3">
                    <p:embed/>
                  </p:oleObj>
                </mc:Choice>
                <mc:Fallback>
                  <p:oleObj name="Equation" r:id="rId19" imgW="33012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840"/>
                          <a:ext cx="33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7" name="Object 1035"/>
            <p:cNvGraphicFramePr>
              <a:graphicFrameLocks noChangeAspect="1"/>
            </p:cNvGraphicFramePr>
            <p:nvPr/>
          </p:nvGraphicFramePr>
          <p:xfrm>
            <a:off x="3120" y="3797"/>
            <a:ext cx="81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7" name="Equation" r:id="rId21" imgW="1028520" imgH="368280" progId="Equation.3">
                    <p:embed/>
                  </p:oleObj>
                </mc:Choice>
                <mc:Fallback>
                  <p:oleObj name="Equation" r:id="rId21" imgW="10285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797"/>
                          <a:ext cx="816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8" name="Object 1036"/>
            <p:cNvGraphicFramePr>
              <a:graphicFrameLocks noChangeAspect="1"/>
            </p:cNvGraphicFramePr>
            <p:nvPr/>
          </p:nvGraphicFramePr>
          <p:xfrm>
            <a:off x="4037" y="3792"/>
            <a:ext cx="80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28" name="Equation" r:id="rId23" imgW="1015920" imgH="368280" progId="Equation.3">
                    <p:embed/>
                  </p:oleObj>
                </mc:Choice>
                <mc:Fallback>
                  <p:oleObj name="Equation" r:id="rId23" imgW="10159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3792"/>
                          <a:ext cx="806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80" name="Text Box 1064"/>
          <p:cNvSpPr txBox="1">
            <a:spLocks noChangeArrowheads="1"/>
          </p:cNvSpPr>
          <p:nvPr/>
        </p:nvSpPr>
        <p:spPr bwMode="auto">
          <a:xfrm>
            <a:off x="6858000" y="5180013"/>
            <a:ext cx="228600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在碰撞或打击瞬间常忽略重力作用</a:t>
            </a:r>
          </a:p>
        </p:txBody>
      </p:sp>
    </p:spTree>
    <p:extLst>
      <p:ext uri="{BB962C8B-B14F-4D97-AF65-F5344CB8AC3E}">
        <p14:creationId xmlns:p14="http://schemas.microsoft.com/office/powerpoint/2010/main" val="282130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/>
          <p:cNvGrpSpPr>
            <a:grpSpLocks/>
          </p:cNvGrpSpPr>
          <p:nvPr/>
        </p:nvGrpSpPr>
        <p:grpSpPr bwMode="auto">
          <a:xfrm>
            <a:off x="228600" y="2362200"/>
            <a:ext cx="1981200" cy="2133600"/>
            <a:chOff x="288" y="2688"/>
            <a:chExt cx="1248" cy="1344"/>
          </a:xfrm>
        </p:grpSpPr>
        <p:sp>
          <p:nvSpPr>
            <p:cNvPr id="163843" name="Rectangle 1027" descr="深色上对角线"/>
            <p:cNvSpPr>
              <a:spLocks noChangeArrowheads="1"/>
            </p:cNvSpPr>
            <p:nvPr/>
          </p:nvSpPr>
          <p:spPr bwMode="auto">
            <a:xfrm>
              <a:off x="288" y="3936"/>
              <a:ext cx="1248" cy="96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tx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4" name="AutoShape 1028"/>
            <p:cNvSpPr>
              <a:spLocks noChangeArrowheads="1"/>
            </p:cNvSpPr>
            <p:nvPr/>
          </p:nvSpPr>
          <p:spPr bwMode="auto">
            <a:xfrm flipV="1">
              <a:off x="528" y="3744"/>
              <a:ext cx="816" cy="192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6275"/>
                    <a:invGamma/>
                  </a:srgbClr>
                </a:gs>
                <a:gs pos="50000">
                  <a:srgbClr val="969696"/>
                </a:gs>
                <a:gs pos="100000">
                  <a:srgbClr val="969696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5" name="AutoShape 1029"/>
            <p:cNvSpPr>
              <a:spLocks noChangeArrowheads="1"/>
            </p:cNvSpPr>
            <p:nvPr/>
          </p:nvSpPr>
          <p:spPr bwMode="auto">
            <a:xfrm>
              <a:off x="816" y="3504"/>
              <a:ext cx="240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808000"/>
                </a:gs>
                <a:gs pos="50000">
                  <a:srgbClr val="FFFFFF"/>
                </a:gs>
                <a:gs pos="100000">
                  <a:srgbClr val="808000"/>
                </a:gs>
              </a:gsLst>
              <a:lin ang="0" scaled="1"/>
            </a:gradFill>
            <a:ln w="19050">
              <a:solidFill>
                <a:srgbClr val="66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6" name="AutoShape 1030"/>
            <p:cNvSpPr>
              <a:spLocks noChangeArrowheads="1"/>
            </p:cNvSpPr>
            <p:nvPr/>
          </p:nvSpPr>
          <p:spPr bwMode="auto">
            <a:xfrm>
              <a:off x="768" y="2928"/>
              <a:ext cx="336" cy="336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333333"/>
                </a:gs>
                <a:gs pos="50000">
                  <a:schemeClr val="bg1"/>
                </a:gs>
                <a:gs pos="100000">
                  <a:srgbClr val="333333"/>
                </a:gs>
              </a:gsLst>
              <a:lin ang="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7" name="Line 1031"/>
            <p:cNvSpPr>
              <a:spLocks noChangeShapeType="1"/>
            </p:cNvSpPr>
            <p:nvPr/>
          </p:nvSpPr>
          <p:spPr bwMode="auto">
            <a:xfrm flipV="1">
              <a:off x="480" y="2784"/>
              <a:ext cx="0" cy="115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48" name="Line 1032"/>
            <p:cNvSpPr>
              <a:spLocks noChangeShapeType="1"/>
            </p:cNvSpPr>
            <p:nvPr/>
          </p:nvSpPr>
          <p:spPr bwMode="auto">
            <a:xfrm>
              <a:off x="480" y="307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49" name="Line 1033"/>
            <p:cNvSpPr>
              <a:spLocks noChangeShapeType="1"/>
            </p:cNvSpPr>
            <p:nvPr/>
          </p:nvSpPr>
          <p:spPr bwMode="auto">
            <a:xfrm>
              <a:off x="480" y="364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50" name="Text Box 1034"/>
            <p:cNvSpPr txBox="1">
              <a:spLocks noChangeArrowheads="1"/>
            </p:cNvSpPr>
            <p:nvPr/>
          </p:nvSpPr>
          <p:spPr bwMode="auto">
            <a:xfrm>
              <a:off x="288" y="2688"/>
              <a:ext cx="3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z</a:t>
              </a:r>
            </a:p>
          </p:txBody>
        </p:sp>
        <p:sp>
          <p:nvSpPr>
            <p:cNvPr id="163851" name="Text Box 1035"/>
            <p:cNvSpPr txBox="1">
              <a:spLocks noChangeArrowheads="1"/>
            </p:cNvSpPr>
            <p:nvPr/>
          </p:nvSpPr>
          <p:spPr bwMode="auto">
            <a:xfrm>
              <a:off x="576" y="3216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h</a:t>
              </a:r>
            </a:p>
          </p:txBody>
        </p:sp>
        <p:sp>
          <p:nvSpPr>
            <p:cNvPr id="163852" name="Line 1036"/>
            <p:cNvSpPr>
              <a:spLocks noChangeShapeType="1"/>
            </p:cNvSpPr>
            <p:nvPr/>
          </p:nvSpPr>
          <p:spPr bwMode="auto">
            <a:xfrm>
              <a:off x="576" y="3072"/>
              <a:ext cx="0" cy="57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53" name="Text Box 1037"/>
            <p:cNvSpPr txBox="1">
              <a:spLocks noChangeArrowheads="1"/>
            </p:cNvSpPr>
            <p:nvPr/>
          </p:nvSpPr>
          <p:spPr bwMode="auto">
            <a:xfrm>
              <a:off x="1104" y="2928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m</a:t>
              </a:r>
            </a:p>
          </p:txBody>
        </p:sp>
      </p:grpSp>
      <p:grpSp>
        <p:nvGrpSpPr>
          <p:cNvPr id="3" name="Group 1038"/>
          <p:cNvGrpSpPr>
            <a:grpSpLocks/>
          </p:cNvGrpSpPr>
          <p:nvPr/>
        </p:nvGrpSpPr>
        <p:grpSpPr bwMode="auto">
          <a:xfrm>
            <a:off x="2209800" y="2049463"/>
            <a:ext cx="6553200" cy="574675"/>
            <a:chOff x="1440" y="1344"/>
            <a:chExt cx="4128" cy="362"/>
          </a:xfrm>
        </p:grpSpPr>
        <p:sp>
          <p:nvSpPr>
            <p:cNvPr id="163855" name="Text Box 1039"/>
            <p:cNvSpPr txBox="1">
              <a:spLocks noChangeArrowheads="1"/>
            </p:cNvSpPr>
            <p:nvPr/>
          </p:nvSpPr>
          <p:spPr bwMode="auto">
            <a:xfrm>
              <a:off x="1440" y="1350"/>
              <a:ext cx="41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解</a:t>
              </a:r>
              <a:r>
                <a:rPr lang="en-US" altLang="zh-CN" sz="2800">
                  <a:solidFill>
                    <a:srgbClr val="CC0000"/>
                  </a:solidFill>
                </a:rPr>
                <a:t>:</a:t>
              </a:r>
              <a:r>
                <a:rPr lang="en-US" altLang="zh-CN" sz="2800"/>
                <a:t>  </a:t>
              </a:r>
              <a:r>
                <a:rPr lang="zh-CN" altLang="en-US" sz="2800"/>
                <a:t>撞前锤速                      </a:t>
              </a:r>
              <a:r>
                <a:rPr lang="en-US" altLang="zh-CN" sz="2800"/>
                <a:t>,  </a:t>
              </a:r>
              <a:r>
                <a:rPr lang="zh-CN" altLang="en-US" sz="2800"/>
                <a:t>撞后锤速</a:t>
              </a:r>
              <a:r>
                <a:rPr lang="zh-CN" altLang="en-US" sz="2800">
                  <a:solidFill>
                    <a:srgbClr val="CC0000"/>
                  </a:solidFill>
                </a:rPr>
                <a:t>零</a:t>
              </a:r>
              <a:r>
                <a:rPr lang="en-US" altLang="zh-CN" sz="2800">
                  <a:solidFill>
                    <a:srgbClr val="CC0000"/>
                  </a:solidFill>
                </a:rPr>
                <a:t>.</a:t>
              </a:r>
            </a:p>
          </p:txBody>
        </p:sp>
        <p:graphicFrame>
          <p:nvGraphicFramePr>
            <p:cNvPr id="173070" name="Object 1038"/>
            <p:cNvGraphicFramePr>
              <a:graphicFrameLocks noChangeAspect="1"/>
            </p:cNvGraphicFramePr>
            <p:nvPr/>
          </p:nvGraphicFramePr>
          <p:xfrm>
            <a:off x="2784" y="1344"/>
            <a:ext cx="120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17" name="Equation" r:id="rId3" imgW="1511280" imgH="406080" progId="Equation.3">
                    <p:embed/>
                  </p:oleObj>
                </mc:Choice>
                <mc:Fallback>
                  <p:oleObj name="Equation" r:id="rId3" imgW="1511280" imgH="406080" progId="Equation.3">
                    <p:embed/>
                    <p:pic>
                      <p:nvPicPr>
                        <p:cNvPr id="0" name="Object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344"/>
                          <a:ext cx="1200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65"/>
          <p:cNvGrpSpPr>
            <a:grpSpLocks/>
          </p:cNvGrpSpPr>
          <p:nvPr/>
        </p:nvGrpSpPr>
        <p:grpSpPr bwMode="auto">
          <a:xfrm>
            <a:off x="76200" y="457200"/>
            <a:ext cx="8991600" cy="1701800"/>
            <a:chOff x="96" y="384"/>
            <a:chExt cx="5664" cy="1072"/>
          </a:xfrm>
        </p:grpSpPr>
        <p:sp>
          <p:nvSpPr>
            <p:cNvPr id="163858" name="Text Box 1042"/>
            <p:cNvSpPr txBox="1">
              <a:spLocks noChangeArrowheads="1"/>
            </p:cNvSpPr>
            <p:nvPr/>
          </p:nvSpPr>
          <p:spPr bwMode="auto">
            <a:xfrm>
              <a:off x="96" y="384"/>
              <a:ext cx="5664" cy="1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讨论：</a:t>
              </a:r>
              <a:r>
                <a:rPr lang="zh-CN" altLang="en-US" sz="2800" dirty="0"/>
                <a:t>一重锤从高度 </a:t>
              </a:r>
              <a:r>
                <a:rPr lang="en-US" altLang="zh-CN" sz="2800" i="1" dirty="0"/>
                <a:t>h </a:t>
              </a:r>
              <a:r>
                <a:rPr lang="en-US" altLang="zh-CN" sz="2800" dirty="0"/>
                <a:t>= </a:t>
              </a:r>
              <a:r>
                <a:rPr lang="en-US" altLang="zh-CN" sz="2800" b="0" dirty="0"/>
                <a:t>1.5m</a:t>
              </a:r>
              <a:r>
                <a:rPr lang="en-US" altLang="zh-CN" sz="2800" dirty="0"/>
                <a:t> </a:t>
              </a:r>
              <a:r>
                <a:rPr lang="zh-CN" altLang="en-US" sz="2800" dirty="0"/>
                <a:t>处自静止下落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锤与工件碰撞后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速度为零</a:t>
              </a:r>
              <a:r>
                <a:rPr lang="en-US" altLang="zh-CN" sz="2800" dirty="0"/>
                <a:t>.</a:t>
              </a:r>
              <a:r>
                <a:rPr lang="zh-CN" altLang="en-US" sz="2800" dirty="0"/>
                <a:t>对于不同的打击时间      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计算平均冲力和重力之比</a:t>
              </a:r>
              <a:r>
                <a:rPr lang="en-US" altLang="zh-CN" sz="2800" dirty="0"/>
                <a:t>.</a:t>
              </a:r>
            </a:p>
          </p:txBody>
        </p:sp>
        <p:graphicFrame>
          <p:nvGraphicFramePr>
            <p:cNvPr id="173069" name="Object 1037"/>
            <p:cNvGraphicFramePr>
              <a:graphicFrameLocks noChangeAspect="1"/>
            </p:cNvGraphicFramePr>
            <p:nvPr/>
          </p:nvGraphicFramePr>
          <p:xfrm>
            <a:off x="4155" y="720"/>
            <a:ext cx="35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18" name="Equation" r:id="rId5" imgW="330120" imgH="279360" progId="Equation.3">
                    <p:embed/>
                  </p:oleObj>
                </mc:Choice>
                <mc:Fallback>
                  <p:oleObj name="Equation" r:id="rId5" imgW="330120" imgH="279360" progId="Equation.3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5" y="720"/>
                          <a:ext cx="357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3056" name="Object 1024"/>
          <p:cNvGraphicFramePr>
            <a:graphicFrameLocks noChangeAspect="1"/>
          </p:cNvGraphicFramePr>
          <p:nvPr/>
        </p:nvGraphicFramePr>
        <p:xfrm>
          <a:off x="2286000" y="2517775"/>
          <a:ext cx="65786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619" name="Equation" r:id="rId7" imgW="4622760" imgH="609480" progId="Equation.3">
                  <p:embed/>
                </p:oleObj>
              </mc:Choice>
              <mc:Fallback>
                <p:oleObj name="Equation" r:id="rId7" imgW="4622760" imgH="60948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17775"/>
                        <a:ext cx="6578600" cy="97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57" name="Object 1025"/>
          <p:cNvGraphicFramePr>
            <a:graphicFrameLocks noChangeAspect="1"/>
          </p:cNvGraphicFramePr>
          <p:nvPr/>
        </p:nvGraphicFramePr>
        <p:xfrm>
          <a:off x="3200400" y="3421063"/>
          <a:ext cx="4343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620" name="Equation" r:id="rId9" imgW="2717640" imgH="406080" progId="Equation.3">
                  <p:embed/>
                </p:oleObj>
              </mc:Choice>
              <mc:Fallback>
                <p:oleObj name="Equation" r:id="rId9" imgW="2717640" imgH="40608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21063"/>
                        <a:ext cx="434340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58" name="Object 1026"/>
          <p:cNvGraphicFramePr>
            <a:graphicFrameLocks noChangeAspect="1"/>
          </p:cNvGraphicFramePr>
          <p:nvPr/>
        </p:nvGraphicFramePr>
        <p:xfrm>
          <a:off x="2971800" y="4011613"/>
          <a:ext cx="487680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621" name="Equation" r:id="rId11" imgW="3263760" imgH="825480" progId="Equation.3">
                  <p:embed/>
                </p:oleObj>
              </mc:Choice>
              <mc:Fallback>
                <p:oleObj name="Equation" r:id="rId11" imgW="3263760" imgH="82548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011613"/>
                        <a:ext cx="4876800" cy="1169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047"/>
          <p:cNvGrpSpPr>
            <a:grpSpLocks/>
          </p:cNvGrpSpPr>
          <p:nvPr/>
        </p:nvGrpSpPr>
        <p:grpSpPr bwMode="auto">
          <a:xfrm>
            <a:off x="228600" y="5257800"/>
            <a:ext cx="6553200" cy="1227138"/>
            <a:chOff x="816" y="3360"/>
            <a:chExt cx="4128" cy="773"/>
          </a:xfrm>
        </p:grpSpPr>
        <p:sp>
          <p:nvSpPr>
            <p:cNvPr id="163864" name="Rectangle 1048"/>
            <p:cNvSpPr>
              <a:spLocks noChangeArrowheads="1"/>
            </p:cNvSpPr>
            <p:nvPr/>
          </p:nvSpPr>
          <p:spPr bwMode="auto">
            <a:xfrm>
              <a:off x="816" y="3360"/>
              <a:ext cx="4128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65" name="Line 1049"/>
            <p:cNvSpPr>
              <a:spLocks noChangeShapeType="1"/>
            </p:cNvSpPr>
            <p:nvPr/>
          </p:nvSpPr>
          <p:spPr bwMode="auto">
            <a:xfrm>
              <a:off x="816" y="3744"/>
              <a:ext cx="412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6" name="Line 1050"/>
            <p:cNvSpPr>
              <a:spLocks noChangeShapeType="1"/>
            </p:cNvSpPr>
            <p:nvPr/>
          </p:nvSpPr>
          <p:spPr bwMode="auto">
            <a:xfrm>
              <a:off x="1680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7" name="Line 1051"/>
            <p:cNvSpPr>
              <a:spLocks noChangeShapeType="1"/>
            </p:cNvSpPr>
            <p:nvPr/>
          </p:nvSpPr>
          <p:spPr bwMode="auto">
            <a:xfrm>
              <a:off x="2352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8" name="Line 1052"/>
            <p:cNvSpPr>
              <a:spLocks noChangeShapeType="1"/>
            </p:cNvSpPr>
            <p:nvPr/>
          </p:nvSpPr>
          <p:spPr bwMode="auto">
            <a:xfrm>
              <a:off x="3072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9" name="Line 1053"/>
            <p:cNvSpPr>
              <a:spLocks noChangeShapeType="1"/>
            </p:cNvSpPr>
            <p:nvPr/>
          </p:nvSpPr>
          <p:spPr bwMode="auto">
            <a:xfrm>
              <a:off x="3984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3059" name="Object 1027"/>
            <p:cNvGraphicFramePr>
              <a:graphicFrameLocks noChangeAspect="1"/>
            </p:cNvGraphicFramePr>
            <p:nvPr/>
          </p:nvGraphicFramePr>
          <p:xfrm>
            <a:off x="960" y="3408"/>
            <a:ext cx="57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2" name="Equation" r:id="rId13" imgW="558720" imgH="368280" progId="Equation.3">
                    <p:embed/>
                  </p:oleObj>
                </mc:Choice>
                <mc:Fallback>
                  <p:oleObj name="Equation" r:id="rId13" imgW="558720" imgH="368280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408"/>
                          <a:ext cx="576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0" name="Object 1028"/>
            <p:cNvGraphicFramePr>
              <a:graphicFrameLocks noChangeAspect="1"/>
            </p:cNvGraphicFramePr>
            <p:nvPr/>
          </p:nvGraphicFramePr>
          <p:xfrm>
            <a:off x="816" y="3792"/>
            <a:ext cx="8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3" name="Equation" r:id="rId15" imgW="863280" imgH="368280" progId="Equation.3">
                    <p:embed/>
                  </p:oleObj>
                </mc:Choice>
                <mc:Fallback>
                  <p:oleObj name="Equation" r:id="rId15" imgW="863280" imgH="368280" progId="Equation.3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792"/>
                          <a:ext cx="864" cy="3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1" name="Object 1029"/>
            <p:cNvGraphicFramePr>
              <a:graphicFrameLocks noChangeAspect="1"/>
            </p:cNvGraphicFramePr>
            <p:nvPr/>
          </p:nvGraphicFramePr>
          <p:xfrm>
            <a:off x="1824" y="3458"/>
            <a:ext cx="33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4" name="Equation" r:id="rId17" imgW="393480" imgH="279360" progId="Equation.3">
                    <p:embed/>
                  </p:oleObj>
                </mc:Choice>
                <mc:Fallback>
                  <p:oleObj name="Equation" r:id="rId17" imgW="393480" imgH="27936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458"/>
                          <a:ext cx="33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2" name="Object 1030"/>
            <p:cNvGraphicFramePr>
              <a:graphicFrameLocks noChangeAspect="1"/>
            </p:cNvGraphicFramePr>
            <p:nvPr/>
          </p:nvGraphicFramePr>
          <p:xfrm>
            <a:off x="2496" y="3413"/>
            <a:ext cx="48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5" name="Equation" r:id="rId19" imgW="545760" imgH="368280" progId="Equation.3">
                    <p:embed/>
                  </p:oleObj>
                </mc:Choice>
                <mc:Fallback>
                  <p:oleObj name="Equation" r:id="rId19" imgW="545760" imgH="368280" progId="Equation.3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413"/>
                          <a:ext cx="48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3" name="Object 1031"/>
            <p:cNvGraphicFramePr>
              <a:graphicFrameLocks noChangeAspect="1"/>
            </p:cNvGraphicFramePr>
            <p:nvPr/>
          </p:nvGraphicFramePr>
          <p:xfrm>
            <a:off x="3221" y="3408"/>
            <a:ext cx="46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6" name="Equation" r:id="rId21" imgW="533160" imgH="368280" progId="Equation.3">
                    <p:embed/>
                  </p:oleObj>
                </mc:Choice>
                <mc:Fallback>
                  <p:oleObj name="Equation" r:id="rId21" imgW="533160" imgH="368280" progId="Equation.3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1" y="3408"/>
                          <a:ext cx="469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4" name="Object 1032"/>
            <p:cNvGraphicFramePr>
              <a:graphicFrameLocks noChangeAspect="1"/>
            </p:cNvGraphicFramePr>
            <p:nvPr/>
          </p:nvGraphicFramePr>
          <p:xfrm>
            <a:off x="4176" y="3408"/>
            <a:ext cx="48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7" name="Equation" r:id="rId23" imgW="545760" imgH="368280" progId="Equation.3">
                    <p:embed/>
                  </p:oleObj>
                </mc:Choice>
                <mc:Fallback>
                  <p:oleObj name="Equation" r:id="rId23" imgW="545760" imgH="368280" progId="Equation.3">
                    <p:embed/>
                    <p:pic>
                      <p:nvPicPr>
                        <p:cNvPr id="0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3408"/>
                          <a:ext cx="48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5" name="Object 1033"/>
            <p:cNvGraphicFramePr>
              <a:graphicFrameLocks noChangeAspect="1"/>
            </p:cNvGraphicFramePr>
            <p:nvPr/>
          </p:nvGraphicFramePr>
          <p:xfrm>
            <a:off x="1824" y="3849"/>
            <a:ext cx="336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8" name="Equation" r:id="rId25" imgW="406080" imgH="279360" progId="Equation.3">
                    <p:embed/>
                  </p:oleObj>
                </mc:Choice>
                <mc:Fallback>
                  <p:oleObj name="Equation" r:id="rId25" imgW="406080" imgH="279360" progId="Equation.3">
                    <p:embed/>
                    <p:pic>
                      <p:nvPicPr>
                        <p:cNvPr id="0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849"/>
                          <a:ext cx="336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6" name="Object 1034"/>
            <p:cNvGraphicFramePr>
              <a:graphicFrameLocks noChangeAspect="1"/>
            </p:cNvGraphicFramePr>
            <p:nvPr/>
          </p:nvGraphicFramePr>
          <p:xfrm>
            <a:off x="2496" y="3840"/>
            <a:ext cx="33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29" name="Equation" r:id="rId27" imgW="330120" imgH="279360" progId="Equation.3">
                    <p:embed/>
                  </p:oleObj>
                </mc:Choice>
                <mc:Fallback>
                  <p:oleObj name="Equation" r:id="rId27" imgW="330120" imgH="279360" progId="Equation.3">
                    <p:embed/>
                    <p:pic>
                      <p:nvPicPr>
                        <p:cNvPr id="0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840"/>
                          <a:ext cx="33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7" name="Object 1035"/>
            <p:cNvGraphicFramePr>
              <a:graphicFrameLocks noChangeAspect="1"/>
            </p:cNvGraphicFramePr>
            <p:nvPr/>
          </p:nvGraphicFramePr>
          <p:xfrm>
            <a:off x="3120" y="3797"/>
            <a:ext cx="81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30" name="Equation" r:id="rId29" imgW="1028520" imgH="368280" progId="Equation.3">
                    <p:embed/>
                  </p:oleObj>
                </mc:Choice>
                <mc:Fallback>
                  <p:oleObj name="Equation" r:id="rId29" imgW="1028520" imgH="368280" progId="Equation.3">
                    <p:embed/>
                    <p:pic>
                      <p:nvPicPr>
                        <p:cNvPr id="0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797"/>
                          <a:ext cx="816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8" name="Object 1036"/>
            <p:cNvGraphicFramePr>
              <a:graphicFrameLocks noChangeAspect="1"/>
            </p:cNvGraphicFramePr>
            <p:nvPr/>
          </p:nvGraphicFramePr>
          <p:xfrm>
            <a:off x="4037" y="3792"/>
            <a:ext cx="80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31" name="Equation" r:id="rId31" imgW="1015920" imgH="368280" progId="Equation.3">
                    <p:embed/>
                  </p:oleObj>
                </mc:Choice>
                <mc:Fallback>
                  <p:oleObj name="Equation" r:id="rId31" imgW="1015920" imgH="368280" progId="Equation.3">
                    <p:embed/>
                    <p:pic>
                      <p:nvPicPr>
                        <p:cNvPr id="0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3792"/>
                          <a:ext cx="806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80" name="Text Box 1064"/>
          <p:cNvSpPr txBox="1">
            <a:spLocks noChangeArrowheads="1"/>
          </p:cNvSpPr>
          <p:nvPr/>
        </p:nvSpPr>
        <p:spPr bwMode="auto">
          <a:xfrm>
            <a:off x="6858000" y="5180013"/>
            <a:ext cx="228600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在碰撞或打击瞬间常忽略重力作用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/>
          <p:cNvSpPr>
            <a:spLocks noChangeArrowheads="1"/>
          </p:cNvSpPr>
          <p:nvPr/>
        </p:nvSpPr>
        <p:spPr bwMode="auto">
          <a:xfrm>
            <a:off x="6477000" y="2286000"/>
            <a:ext cx="2362200" cy="3352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8458200" y="2514600"/>
            <a:ext cx="152400" cy="2209800"/>
          </a:xfrm>
          <a:prstGeom prst="rect">
            <a:avLst/>
          </a:prstGeom>
          <a:gradFill rotWithShape="0">
            <a:gsLst>
              <a:gs pos="0">
                <a:srgbClr val="003300"/>
              </a:gs>
              <a:gs pos="100000">
                <a:srgbClr val="003300">
                  <a:gamma/>
                  <a:tint val="63529"/>
                  <a:invGamma/>
                </a:srgbClr>
              </a:gs>
            </a:gsLst>
            <a:path path="rect">
              <a:fillToRect r="100000" b="100000"/>
            </a:path>
          </a:gradFill>
          <a:ln w="9525">
            <a:solidFill>
              <a:srgbClr val="00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162800" y="2667000"/>
            <a:ext cx="1143000" cy="914400"/>
            <a:chOff x="3648" y="1056"/>
            <a:chExt cx="720" cy="576"/>
          </a:xfrm>
        </p:grpSpPr>
        <p:sp>
          <p:nvSpPr>
            <p:cNvPr id="152582" name="Line 6"/>
            <p:cNvSpPr>
              <a:spLocks noChangeShapeType="1"/>
            </p:cNvSpPr>
            <p:nvPr/>
          </p:nvSpPr>
          <p:spPr bwMode="auto">
            <a:xfrm>
              <a:off x="3744" y="1152"/>
              <a:ext cx="624" cy="480"/>
            </a:xfrm>
            <a:prstGeom prst="line">
              <a:avLst/>
            </a:prstGeom>
            <a:noFill/>
            <a:ln w="22225">
              <a:solidFill>
                <a:srgbClr val="3333CC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4097" name="Object 1041"/>
            <p:cNvGraphicFramePr>
              <a:graphicFrameLocks noChangeAspect="1"/>
            </p:cNvGraphicFramePr>
            <p:nvPr/>
          </p:nvGraphicFramePr>
          <p:xfrm>
            <a:off x="3648" y="1056"/>
            <a:ext cx="18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68" name="Clip" r:id="rId3" imgW="380852" imgH="390270" progId="">
                    <p:embed/>
                  </p:oleObj>
                </mc:Choice>
                <mc:Fallback>
                  <p:oleObj name="Clip" r:id="rId3" imgW="380852" imgH="390270" progId="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056"/>
                          <a:ext cx="18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080" name="Object 1024"/>
          <p:cNvGraphicFramePr>
            <a:graphicFrameLocks noChangeAspect="1"/>
          </p:cNvGraphicFramePr>
          <p:nvPr/>
        </p:nvGraphicFramePr>
        <p:xfrm>
          <a:off x="7543800" y="2667000"/>
          <a:ext cx="8302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69" name="Equation" r:id="rId5" imgW="266400" imgH="215640" progId="Equation.3">
                  <p:embed/>
                </p:oleObj>
              </mc:Choice>
              <mc:Fallback>
                <p:oleObj name="Equation" r:id="rId5" imgW="266400" imgH="21564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667000"/>
                        <a:ext cx="830263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1" name="Object 1025"/>
          <p:cNvGraphicFramePr>
            <a:graphicFrameLocks noChangeAspect="1"/>
          </p:cNvGraphicFramePr>
          <p:nvPr/>
        </p:nvGraphicFramePr>
        <p:xfrm>
          <a:off x="7467600" y="3810000"/>
          <a:ext cx="8699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70" name="Equation" r:id="rId7" imgW="279360" imgH="215640" progId="Equation.3">
                  <p:embed/>
                </p:oleObj>
              </mc:Choice>
              <mc:Fallback>
                <p:oleObj name="Equation" r:id="rId7" imgW="279360" imgH="21564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0"/>
                        <a:ext cx="869950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7162800" y="2667000"/>
            <a:ext cx="1295400" cy="1066800"/>
            <a:chOff x="3648" y="1056"/>
            <a:chExt cx="816" cy="672"/>
          </a:xfrm>
        </p:grpSpPr>
        <p:graphicFrame>
          <p:nvGraphicFramePr>
            <p:cNvPr id="174095" name="Object 1039"/>
            <p:cNvGraphicFramePr>
              <a:graphicFrameLocks noChangeAspect="1"/>
            </p:cNvGraphicFramePr>
            <p:nvPr/>
          </p:nvGraphicFramePr>
          <p:xfrm>
            <a:off x="4276" y="1536"/>
            <a:ext cx="18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71" name="剪辑" r:id="rId9" imgW="380852" imgH="390270" progId="">
                    <p:embed/>
                  </p:oleObj>
                </mc:Choice>
                <mc:Fallback>
                  <p:oleObj name="剪辑" r:id="rId9" imgW="380852" imgH="390270" progId="">
                    <p:embed/>
                    <p:pic>
                      <p:nvPicPr>
                        <p:cNvPr id="0" name="Object 1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1536"/>
                          <a:ext cx="18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3648" y="1056"/>
              <a:ext cx="720" cy="576"/>
              <a:chOff x="2544" y="1728"/>
              <a:chExt cx="720" cy="576"/>
            </a:xfrm>
          </p:grpSpPr>
          <p:sp>
            <p:nvSpPr>
              <p:cNvPr id="152589" name="Line 13"/>
              <p:cNvSpPr>
                <a:spLocks noChangeShapeType="1"/>
              </p:cNvSpPr>
              <p:nvPr/>
            </p:nvSpPr>
            <p:spPr bwMode="auto">
              <a:xfrm>
                <a:off x="2640" y="1824"/>
                <a:ext cx="624" cy="480"/>
              </a:xfrm>
              <a:prstGeom prst="line">
                <a:avLst/>
              </a:prstGeom>
              <a:noFill/>
              <a:ln w="22225">
                <a:solidFill>
                  <a:srgbClr val="3333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4096" name="Object 1040"/>
              <p:cNvGraphicFramePr>
                <a:graphicFrameLocks noChangeAspect="1"/>
              </p:cNvGraphicFramePr>
              <p:nvPr/>
            </p:nvGraphicFramePr>
            <p:xfrm>
              <a:off x="2544" y="1728"/>
              <a:ext cx="188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1672" name="Clip" r:id="rId10" imgW="380852" imgH="390270" progId="">
                      <p:embed/>
                    </p:oleObj>
                  </mc:Choice>
                  <mc:Fallback>
                    <p:oleObj name="Clip" r:id="rId10" imgW="380852" imgH="390270" progId="">
                      <p:embed/>
                      <p:pic>
                        <p:nvPicPr>
                          <p:cNvPr id="0" name="Object 10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1728"/>
                            <a:ext cx="188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2591" name="Oval 15"/>
              <p:cNvSpPr>
                <a:spLocks noChangeArrowheads="1"/>
              </p:cNvSpPr>
              <p:nvPr/>
            </p:nvSpPr>
            <p:spPr bwMode="auto">
              <a:xfrm>
                <a:off x="2544" y="172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33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162800" y="2819400"/>
            <a:ext cx="1289050" cy="1676400"/>
            <a:chOff x="4416" y="1776"/>
            <a:chExt cx="812" cy="1056"/>
          </a:xfrm>
        </p:grpSpPr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4416" y="2160"/>
              <a:ext cx="812" cy="672"/>
              <a:chOff x="4416" y="2160"/>
              <a:chExt cx="812" cy="672"/>
            </a:xfrm>
          </p:grpSpPr>
          <p:graphicFrame>
            <p:nvGraphicFramePr>
              <p:cNvPr id="174094" name="Object 1038"/>
              <p:cNvGraphicFramePr>
                <a:graphicFrameLocks noChangeAspect="1"/>
              </p:cNvGraphicFramePr>
              <p:nvPr/>
            </p:nvGraphicFramePr>
            <p:xfrm>
              <a:off x="4416" y="2640"/>
              <a:ext cx="188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1673" name="Clip" r:id="rId11" imgW="380852" imgH="390270" progId="">
                      <p:embed/>
                    </p:oleObj>
                  </mc:Choice>
                  <mc:Fallback>
                    <p:oleObj name="Clip" r:id="rId11" imgW="380852" imgH="390270" progId="">
                      <p:embed/>
                      <p:pic>
                        <p:nvPicPr>
                          <p:cNvPr id="0" name="Object 10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640"/>
                            <a:ext cx="188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4560" y="2160"/>
                <a:ext cx="668" cy="671"/>
                <a:chOff x="4560" y="2160"/>
                <a:chExt cx="668" cy="671"/>
              </a:xfrm>
            </p:grpSpPr>
            <p:sp>
              <p:nvSpPr>
                <p:cNvPr id="152596" name="Oval 20"/>
                <p:cNvSpPr>
                  <a:spLocks noChangeArrowheads="1"/>
                </p:cNvSpPr>
                <p:nvPr/>
              </p:nvSpPr>
              <p:spPr bwMode="auto">
                <a:xfrm rot="6120688">
                  <a:off x="5036" y="2160"/>
                  <a:ext cx="192" cy="192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3300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2597" name="Line 21"/>
                <p:cNvSpPr>
                  <a:spLocks noChangeShapeType="1"/>
                </p:cNvSpPr>
                <p:nvPr/>
              </p:nvSpPr>
              <p:spPr bwMode="auto">
                <a:xfrm rot="6328702">
                  <a:off x="4465" y="2255"/>
                  <a:ext cx="671" cy="481"/>
                </a:xfrm>
                <a:prstGeom prst="line">
                  <a:avLst/>
                </a:prstGeom>
                <a:noFill/>
                <a:ln w="34925">
                  <a:solidFill>
                    <a:srgbClr val="3333CC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</p:grpSp>
        <p:sp>
          <p:nvSpPr>
            <p:cNvPr id="152598" name="Line 22"/>
            <p:cNvSpPr>
              <a:spLocks noChangeShapeType="1"/>
            </p:cNvSpPr>
            <p:nvPr/>
          </p:nvSpPr>
          <p:spPr bwMode="auto">
            <a:xfrm>
              <a:off x="4512" y="1776"/>
              <a:ext cx="624" cy="480"/>
            </a:xfrm>
            <a:prstGeom prst="line">
              <a:avLst/>
            </a:prstGeom>
            <a:noFill/>
            <a:ln w="34925">
              <a:solidFill>
                <a:srgbClr val="3333CC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629400" y="3206750"/>
            <a:ext cx="1676400" cy="374650"/>
            <a:chOff x="3792" y="2164"/>
            <a:chExt cx="1296" cy="236"/>
          </a:xfrm>
        </p:grpSpPr>
        <p:sp>
          <p:nvSpPr>
            <p:cNvPr id="152600" name="Line 24"/>
            <p:cNvSpPr>
              <a:spLocks noChangeShapeType="1"/>
            </p:cNvSpPr>
            <p:nvPr/>
          </p:nvSpPr>
          <p:spPr bwMode="auto">
            <a:xfrm flipH="1">
              <a:off x="3792" y="2400"/>
              <a:ext cx="1296" cy="0"/>
            </a:xfrm>
            <a:prstGeom prst="line">
              <a:avLst/>
            </a:prstGeom>
            <a:noFill/>
            <a:ln w="15875">
              <a:solidFill>
                <a:srgbClr val="0033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4093" name="Object 1037"/>
            <p:cNvGraphicFramePr>
              <a:graphicFrameLocks noChangeAspect="1"/>
            </p:cNvGraphicFramePr>
            <p:nvPr/>
          </p:nvGraphicFramePr>
          <p:xfrm>
            <a:off x="3792" y="2164"/>
            <a:ext cx="21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74" name="Equation" r:id="rId12" imgW="126720" imgH="139680" progId="Equation.3">
                    <p:embed/>
                  </p:oleObj>
                </mc:Choice>
                <mc:Fallback>
                  <p:oleObj name="Equation" r:id="rId12" imgW="126720" imgH="139680" progId="Equation.3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164"/>
                          <a:ext cx="215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7924800" y="3581400"/>
            <a:ext cx="385763" cy="1905000"/>
            <a:chOff x="4848" y="2400"/>
            <a:chExt cx="243" cy="1200"/>
          </a:xfrm>
        </p:grpSpPr>
        <p:sp>
          <p:nvSpPr>
            <p:cNvPr id="152603" name="Line 27"/>
            <p:cNvSpPr>
              <a:spLocks noChangeShapeType="1"/>
            </p:cNvSpPr>
            <p:nvPr/>
          </p:nvSpPr>
          <p:spPr bwMode="auto">
            <a:xfrm>
              <a:off x="5088" y="2400"/>
              <a:ext cx="0" cy="1056"/>
            </a:xfrm>
            <a:prstGeom prst="line">
              <a:avLst/>
            </a:prstGeom>
            <a:noFill/>
            <a:ln w="15875">
              <a:solidFill>
                <a:srgbClr val="0033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4092" name="Object 1036"/>
            <p:cNvGraphicFramePr>
              <a:graphicFrameLocks noChangeAspect="1"/>
            </p:cNvGraphicFramePr>
            <p:nvPr/>
          </p:nvGraphicFramePr>
          <p:xfrm>
            <a:off x="4848" y="3312"/>
            <a:ext cx="2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75" name="Equation" r:id="rId14" imgW="139680" imgH="164880" progId="Equation.3">
                    <p:embed/>
                  </p:oleObj>
                </mc:Choice>
                <mc:Fallback>
                  <p:oleObj name="Equation" r:id="rId14" imgW="139680" imgH="164880" progId="Equation.3">
                    <p:embed/>
                    <p:pic>
                      <p:nvPicPr>
                        <p:cNvPr id="0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312"/>
                          <a:ext cx="243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2605" name="Text Box 29"/>
          <p:cNvSpPr txBox="1">
            <a:spLocks noChangeArrowheads="1"/>
          </p:cNvSpPr>
          <p:nvPr/>
        </p:nvSpPr>
        <p:spPr bwMode="auto">
          <a:xfrm>
            <a:off x="914400" y="2438400"/>
            <a:ext cx="655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解   </a:t>
            </a:r>
            <a:r>
              <a:rPr lang="zh-CN" altLang="en-US" sz="2800">
                <a:solidFill>
                  <a:srgbClr val="003300"/>
                </a:solidFill>
              </a:rPr>
              <a:t>建立如图坐标系</a:t>
            </a:r>
            <a:r>
              <a:rPr lang="en-US" altLang="zh-CN" sz="2800">
                <a:solidFill>
                  <a:srgbClr val="003300"/>
                </a:solidFill>
              </a:rPr>
              <a:t>, </a:t>
            </a:r>
            <a:r>
              <a:rPr lang="zh-CN" altLang="en-US" sz="2800">
                <a:solidFill>
                  <a:srgbClr val="003300"/>
                </a:solidFill>
              </a:rPr>
              <a:t>由动量定理得</a:t>
            </a:r>
          </a:p>
        </p:txBody>
      </p:sp>
      <p:graphicFrame>
        <p:nvGraphicFramePr>
          <p:cNvPr id="174082" name="Object 1026"/>
          <p:cNvGraphicFramePr>
            <a:graphicFrameLocks noChangeAspect="1"/>
          </p:cNvGraphicFramePr>
          <p:nvPr/>
        </p:nvGraphicFramePr>
        <p:xfrm>
          <a:off x="1219200" y="3994150"/>
          <a:ext cx="2590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76" name="Equation" r:id="rId16" imgW="1549080" imgH="279360" progId="Equation.3">
                  <p:embed/>
                </p:oleObj>
              </mc:Choice>
              <mc:Fallback>
                <p:oleObj name="Equation" r:id="rId16" imgW="1549080" imgH="27936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994150"/>
                        <a:ext cx="25908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3" name="Object 1027"/>
          <p:cNvGraphicFramePr>
            <a:graphicFrameLocks noChangeAspect="1"/>
          </p:cNvGraphicFramePr>
          <p:nvPr/>
        </p:nvGraphicFramePr>
        <p:xfrm>
          <a:off x="1295400" y="5105400"/>
          <a:ext cx="42672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77" name="Equation" r:id="rId18" imgW="2971800" imgH="279360" progId="Equation.3">
                  <p:embed/>
                </p:oleObj>
              </mc:Choice>
              <mc:Fallback>
                <p:oleObj name="Equation" r:id="rId18" imgW="2971800" imgH="27936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105400"/>
                        <a:ext cx="42672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47"/>
          <p:cNvGrpSpPr>
            <a:grpSpLocks/>
          </p:cNvGrpSpPr>
          <p:nvPr/>
        </p:nvGrpSpPr>
        <p:grpSpPr bwMode="auto">
          <a:xfrm>
            <a:off x="228600" y="457200"/>
            <a:ext cx="8839200" cy="1971675"/>
            <a:chOff x="144" y="288"/>
            <a:chExt cx="5568" cy="1242"/>
          </a:xfrm>
        </p:grpSpPr>
        <p:sp>
          <p:nvSpPr>
            <p:cNvPr id="152578" name="Text Box 2"/>
            <p:cNvSpPr txBox="1">
              <a:spLocks noChangeArrowheads="1"/>
            </p:cNvSpPr>
            <p:nvPr/>
          </p:nvSpPr>
          <p:spPr bwMode="auto">
            <a:xfrm>
              <a:off x="144" y="288"/>
              <a:ext cx="5568" cy="1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例 </a:t>
              </a:r>
              <a:r>
                <a:rPr lang="en-US" altLang="zh-CN" sz="2800" b="1" dirty="0">
                  <a:solidFill>
                    <a:srgbClr val="C00000"/>
                  </a:solidFill>
                </a:rPr>
                <a:t>1   </a:t>
              </a:r>
              <a:r>
                <a:rPr lang="zh-CN" altLang="en-US" sz="2800" dirty="0">
                  <a:solidFill>
                    <a:schemeClr val="tx1"/>
                  </a:solidFill>
                </a:rPr>
                <a:t>一质量为 </a:t>
              </a:r>
              <a:r>
                <a:rPr lang="en-US" altLang="zh-CN" sz="2800" b="0" dirty="0">
                  <a:solidFill>
                    <a:schemeClr val="tx1"/>
                  </a:solidFill>
                </a:rPr>
                <a:t>0.05kg</a:t>
              </a:r>
              <a:r>
                <a:rPr lang="zh-CN" altLang="en-US" sz="2800" dirty="0">
                  <a:solidFill>
                    <a:schemeClr val="tx1"/>
                  </a:solidFill>
                </a:rPr>
                <a:t>、速率为</a:t>
              </a:r>
              <a:r>
                <a:rPr lang="en-US" altLang="zh-CN" sz="2800" b="0" dirty="0">
                  <a:solidFill>
                    <a:schemeClr val="tx1"/>
                  </a:solidFill>
                </a:rPr>
                <a:t>10m</a:t>
              </a:r>
              <a:r>
                <a:rPr lang="en-US" altLang="zh-CN" sz="2800" b="0" dirty="0">
                  <a:solidFill>
                    <a:schemeClr val="tx1"/>
                  </a:solidFill>
                  <a:cs typeface="Times New Roman" pitchFamily="18" charset="0"/>
                </a:rPr>
                <a:t>·s</a:t>
              </a:r>
              <a:r>
                <a:rPr lang="en-US" altLang="zh-CN" sz="2800" b="0" baseline="30000" dirty="0">
                  <a:solidFill>
                    <a:schemeClr val="tx1"/>
                  </a:solidFill>
                  <a:cs typeface="Times New Roman" pitchFamily="18" charset="0"/>
                </a:rPr>
                <a:t>-1 </a:t>
              </a:r>
              <a:r>
                <a:rPr lang="zh-CN" altLang="en-US" sz="2800" dirty="0">
                  <a:solidFill>
                    <a:schemeClr val="tx1"/>
                  </a:solidFill>
                </a:rPr>
                <a:t>的刚球 </a:t>
              </a:r>
              <a:r>
                <a:rPr lang="en-US" altLang="zh-CN" sz="2800" dirty="0">
                  <a:solidFill>
                    <a:schemeClr val="tx1"/>
                  </a:solidFill>
                </a:rPr>
                <a:t>,  </a:t>
              </a:r>
              <a:r>
                <a:rPr lang="zh-CN" altLang="en-US" sz="2800" dirty="0">
                  <a:solidFill>
                    <a:schemeClr val="tx1"/>
                  </a:solidFill>
                </a:rPr>
                <a:t>以与钢板法线呈 </a:t>
              </a:r>
              <a:r>
                <a:rPr lang="en-US" altLang="zh-CN" sz="2800" b="0" dirty="0">
                  <a:solidFill>
                    <a:schemeClr val="tx1"/>
                  </a:solidFill>
                </a:rPr>
                <a:t>45</a:t>
              </a:r>
              <a:r>
                <a:rPr lang="en-US" altLang="zh-CN" sz="2800" b="0" dirty="0">
                  <a:solidFill>
                    <a:schemeClr val="tx1"/>
                  </a:solidFill>
                  <a:cs typeface="Times New Roman" pitchFamily="18" charset="0"/>
                </a:rPr>
                <a:t>º </a:t>
              </a:r>
              <a:r>
                <a:rPr lang="zh-CN" altLang="en-US" sz="2800" dirty="0">
                  <a:solidFill>
                    <a:schemeClr val="tx1"/>
                  </a:solidFill>
                </a:rPr>
                <a:t>角的方向撞击在钢板上</a:t>
              </a:r>
              <a:r>
                <a:rPr lang="en-US" altLang="zh-CN" sz="2800" dirty="0">
                  <a:solidFill>
                    <a:schemeClr val="tx1"/>
                  </a:solidFill>
                </a:rPr>
                <a:t>,  </a:t>
              </a:r>
              <a:r>
                <a:rPr lang="zh-CN" altLang="en-US" sz="2800" dirty="0">
                  <a:solidFill>
                    <a:schemeClr val="tx1"/>
                  </a:solidFill>
                </a:rPr>
                <a:t>并以相同的速率和角度弹回来</a:t>
              </a:r>
              <a:r>
                <a:rPr lang="en-US" altLang="zh-CN" sz="2800" dirty="0">
                  <a:solidFill>
                    <a:schemeClr val="tx1"/>
                  </a:solidFill>
                </a:rPr>
                <a:t>.   </a:t>
              </a:r>
              <a:r>
                <a:rPr lang="zh-CN" altLang="en-US" sz="2800" dirty="0">
                  <a:solidFill>
                    <a:schemeClr val="tx1"/>
                  </a:solidFill>
                </a:rPr>
                <a:t>设碰撞时间为 </a:t>
              </a:r>
              <a:r>
                <a:rPr lang="en-US" altLang="zh-CN" sz="2800" b="0" dirty="0">
                  <a:solidFill>
                    <a:schemeClr val="tx1"/>
                  </a:solidFill>
                </a:rPr>
                <a:t>0.05s </a:t>
              </a:r>
              <a:r>
                <a:rPr lang="en-US" altLang="zh-CN" sz="2800" dirty="0">
                  <a:solidFill>
                    <a:schemeClr val="tx1"/>
                  </a:solidFill>
                </a:rPr>
                <a:t>.   </a:t>
              </a:r>
              <a:r>
                <a:rPr lang="zh-CN" altLang="en-US" sz="2800" dirty="0">
                  <a:solidFill>
                    <a:schemeClr val="tx1"/>
                  </a:solidFill>
                </a:rPr>
                <a:t>求在此时间内钢板所受到的平均冲力     </a:t>
              </a:r>
              <a:r>
                <a:rPr lang="en-US" altLang="zh-CN" sz="2800" dirty="0">
                  <a:solidFill>
                    <a:schemeClr val="tx1"/>
                  </a:solidFill>
                </a:rPr>
                <a:t>.</a:t>
              </a:r>
            </a:p>
          </p:txBody>
        </p:sp>
        <p:graphicFrame>
          <p:nvGraphicFramePr>
            <p:cNvPr id="174091" name="Object 1035"/>
            <p:cNvGraphicFramePr>
              <a:graphicFrameLocks noChangeAspect="1"/>
            </p:cNvGraphicFramePr>
            <p:nvPr/>
          </p:nvGraphicFramePr>
          <p:xfrm>
            <a:off x="2448" y="1152"/>
            <a:ext cx="268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78" name="Equation" r:id="rId20" imgW="164880" imgH="190440" progId="Equation.3">
                    <p:embed/>
                  </p:oleObj>
                </mc:Choice>
                <mc:Fallback>
                  <p:oleObj name="Equation" r:id="rId20" imgW="164880" imgH="190440" progId="Equation.3">
                    <p:embed/>
                    <p:pic>
                      <p:nvPicPr>
                        <p:cNvPr id="0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152"/>
                          <a:ext cx="268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084" name="Object 1028"/>
          <p:cNvGraphicFramePr>
            <a:graphicFrameLocks noChangeAspect="1"/>
          </p:cNvGraphicFramePr>
          <p:nvPr/>
        </p:nvGraphicFramePr>
        <p:xfrm>
          <a:off x="381000" y="5486400"/>
          <a:ext cx="52863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79" name="Equation" r:id="rId22" imgW="1790640" imgH="393480" progId="Equation.3">
                  <p:embed/>
                </p:oleObj>
              </mc:Choice>
              <mc:Fallback>
                <p:oleObj name="Equation" r:id="rId22" imgW="1790640" imgH="39348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86400"/>
                        <a:ext cx="5286375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34"/>
          <p:cNvGrpSpPr>
            <a:grpSpLocks/>
          </p:cNvGrpSpPr>
          <p:nvPr/>
        </p:nvGrpSpPr>
        <p:grpSpPr bwMode="auto">
          <a:xfrm>
            <a:off x="6019800" y="5867400"/>
            <a:ext cx="2971800" cy="527050"/>
            <a:chOff x="3888" y="3696"/>
            <a:chExt cx="1872" cy="332"/>
          </a:xfrm>
        </p:grpSpPr>
        <p:sp>
          <p:nvSpPr>
            <p:cNvPr id="152611" name="Text Box 35"/>
            <p:cNvSpPr txBox="1">
              <a:spLocks noChangeArrowheads="1"/>
            </p:cNvSpPr>
            <p:nvPr/>
          </p:nvSpPr>
          <p:spPr bwMode="auto">
            <a:xfrm>
              <a:off x="3888" y="3696"/>
              <a:ext cx="18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方向沿      轴反向</a:t>
              </a:r>
            </a:p>
          </p:txBody>
        </p:sp>
        <p:graphicFrame>
          <p:nvGraphicFramePr>
            <p:cNvPr id="174090" name="Object 1034"/>
            <p:cNvGraphicFramePr>
              <a:graphicFrameLocks noChangeAspect="1"/>
            </p:cNvGraphicFramePr>
            <p:nvPr/>
          </p:nvGraphicFramePr>
          <p:xfrm>
            <a:off x="4668" y="3744"/>
            <a:ext cx="22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80" name="Equation" r:id="rId24" imgW="126720" imgH="139680" progId="Equation.3">
                    <p:embed/>
                  </p:oleObj>
                </mc:Choice>
                <mc:Fallback>
                  <p:oleObj name="Equation" r:id="rId24" imgW="126720" imgH="139680" progId="Equation.3">
                    <p:embed/>
                    <p:pic>
                      <p:nvPicPr>
                        <p:cNvPr id="0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8" y="3744"/>
                          <a:ext cx="228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37"/>
          <p:cNvGrpSpPr>
            <a:grpSpLocks/>
          </p:cNvGrpSpPr>
          <p:nvPr/>
        </p:nvGrpSpPr>
        <p:grpSpPr bwMode="auto">
          <a:xfrm>
            <a:off x="7467600" y="3200400"/>
            <a:ext cx="457200" cy="738188"/>
            <a:chOff x="4608" y="2016"/>
            <a:chExt cx="288" cy="465"/>
          </a:xfrm>
        </p:grpSpPr>
        <p:grpSp>
          <p:nvGrpSpPr>
            <p:cNvPr id="13" name="Group 38"/>
            <p:cNvGrpSpPr>
              <a:grpSpLocks/>
            </p:cNvGrpSpPr>
            <p:nvPr/>
          </p:nvGrpSpPr>
          <p:grpSpPr bwMode="auto">
            <a:xfrm>
              <a:off x="4608" y="2016"/>
              <a:ext cx="240" cy="465"/>
              <a:chOff x="4608" y="2016"/>
              <a:chExt cx="240" cy="465"/>
            </a:xfrm>
          </p:grpSpPr>
          <p:sp>
            <p:nvSpPr>
              <p:cNvPr id="152615" name="Arc 39"/>
              <p:cNvSpPr>
                <a:spLocks/>
              </p:cNvSpPr>
              <p:nvPr/>
            </p:nvSpPr>
            <p:spPr bwMode="auto">
              <a:xfrm flipH="1">
                <a:off x="4800" y="2064"/>
                <a:ext cx="48" cy="19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14" name="Group 40"/>
              <p:cNvGrpSpPr>
                <a:grpSpLocks/>
              </p:cNvGrpSpPr>
              <p:nvPr/>
            </p:nvGrpSpPr>
            <p:grpSpPr bwMode="auto">
              <a:xfrm>
                <a:off x="4608" y="2016"/>
                <a:ext cx="240" cy="465"/>
                <a:chOff x="4608" y="2016"/>
                <a:chExt cx="240" cy="465"/>
              </a:xfrm>
            </p:grpSpPr>
            <p:graphicFrame>
              <p:nvGraphicFramePr>
                <p:cNvPr id="174088" name="Object 1032"/>
                <p:cNvGraphicFramePr>
                  <a:graphicFrameLocks noChangeAspect="1"/>
                </p:cNvGraphicFramePr>
                <p:nvPr/>
              </p:nvGraphicFramePr>
              <p:xfrm>
                <a:off x="4656" y="2304"/>
                <a:ext cx="192" cy="17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1681" name="Equation" r:id="rId25" imgW="152280" imgH="139680" progId="Equation.3">
                        <p:embed/>
                      </p:oleObj>
                    </mc:Choice>
                    <mc:Fallback>
                      <p:oleObj name="Equation" r:id="rId25" imgW="152280" imgH="139680" progId="Equation.3">
                        <p:embed/>
                        <p:pic>
                          <p:nvPicPr>
                            <p:cNvPr id="0" name="Object 10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56" y="2304"/>
                              <a:ext cx="192" cy="17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4089" name="Object 1033"/>
                <p:cNvGraphicFramePr>
                  <a:graphicFrameLocks noChangeAspect="1"/>
                </p:cNvGraphicFramePr>
                <p:nvPr/>
              </p:nvGraphicFramePr>
              <p:xfrm>
                <a:off x="4608" y="2016"/>
                <a:ext cx="192" cy="1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1682" name="Equation" r:id="rId27" imgW="152280" imgH="139680" progId="Equation.3">
                        <p:embed/>
                      </p:oleObj>
                    </mc:Choice>
                    <mc:Fallback>
                      <p:oleObj name="Equation" r:id="rId27" imgW="152280" imgH="139680" progId="Equation.3">
                        <p:embed/>
                        <p:pic>
                          <p:nvPicPr>
                            <p:cNvPr id="0" name="Object 10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08" y="2016"/>
                              <a:ext cx="192" cy="17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52619" name="Freeform 43"/>
            <p:cNvSpPr>
              <a:spLocks/>
            </p:cNvSpPr>
            <p:nvPr/>
          </p:nvSpPr>
          <p:spPr bwMode="auto">
            <a:xfrm>
              <a:off x="4848" y="2256"/>
              <a:ext cx="48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8"/>
                </a:cxn>
                <a:cxn ang="0">
                  <a:pos x="48" y="144"/>
                </a:cxn>
              </a:cxnLst>
              <a:rect l="0" t="0" r="r" b="b"/>
              <a:pathLst>
                <a:path w="48" h="144">
                  <a:moveTo>
                    <a:pt x="0" y="0"/>
                  </a:moveTo>
                  <a:cubicBezTo>
                    <a:pt x="1" y="15"/>
                    <a:pt x="0" y="64"/>
                    <a:pt x="8" y="88"/>
                  </a:cubicBezTo>
                  <a:cubicBezTo>
                    <a:pt x="16" y="112"/>
                    <a:pt x="40" y="132"/>
                    <a:pt x="48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aphicFrame>
        <p:nvGraphicFramePr>
          <p:cNvPr id="174085" name="Object 1029"/>
          <p:cNvGraphicFramePr>
            <a:graphicFrameLocks noChangeAspect="1"/>
          </p:cNvGraphicFramePr>
          <p:nvPr/>
        </p:nvGraphicFramePr>
        <p:xfrm>
          <a:off x="381000" y="2927350"/>
          <a:ext cx="350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83" name="Equation" r:id="rId28" imgW="1193760" imgH="241200" progId="Equation.3">
                  <p:embed/>
                </p:oleObj>
              </mc:Choice>
              <mc:Fallback>
                <p:oleObj name="Equation" r:id="rId28" imgW="1193760" imgH="24120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927350"/>
                        <a:ext cx="35052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6" name="Object 1030"/>
          <p:cNvGraphicFramePr>
            <a:graphicFrameLocks noChangeAspect="1"/>
          </p:cNvGraphicFramePr>
          <p:nvPr/>
        </p:nvGraphicFramePr>
        <p:xfrm>
          <a:off x="1371600" y="3536950"/>
          <a:ext cx="43434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84" name="Equation" r:id="rId30" imgW="3009600" imgH="342720" progId="Equation.3">
                  <p:embed/>
                </p:oleObj>
              </mc:Choice>
              <mc:Fallback>
                <p:oleObj name="Equation" r:id="rId30" imgW="3009600" imgH="34272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536950"/>
                        <a:ext cx="43434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1031"/>
          <p:cNvGraphicFramePr>
            <a:graphicFrameLocks noChangeAspect="1"/>
          </p:cNvGraphicFramePr>
          <p:nvPr/>
        </p:nvGraphicFramePr>
        <p:xfrm>
          <a:off x="304800" y="4419600"/>
          <a:ext cx="3581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85" name="Equation" r:id="rId32" imgW="1206360" imgH="253800" progId="Equation.3">
                  <p:embed/>
                </p:oleObj>
              </mc:Choice>
              <mc:Fallback>
                <p:oleObj name="Equation" r:id="rId32" imgW="1206360" imgH="25380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19600"/>
                        <a:ext cx="35814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0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323850" y="609600"/>
            <a:ext cx="8667750" cy="2143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  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2  </a:t>
            </a:r>
            <a:r>
              <a:rPr lang="zh-CN" altLang="en-US" sz="2800" dirty="0">
                <a:solidFill>
                  <a:schemeClr val="tx1"/>
                </a:solidFill>
              </a:rPr>
              <a:t>一长为 </a:t>
            </a:r>
            <a:r>
              <a:rPr lang="en-US" altLang="zh-CN" sz="2800" i="1" dirty="0">
                <a:solidFill>
                  <a:schemeClr val="tx1"/>
                </a:solidFill>
              </a:rPr>
              <a:t>l</a:t>
            </a:r>
            <a:r>
              <a:rPr lang="zh-CN" altLang="en-US" sz="2800" i="1" dirty="0">
                <a:solidFill>
                  <a:schemeClr val="tx1"/>
                </a:solidFill>
              </a:rPr>
              <a:t>、</a:t>
            </a:r>
            <a:r>
              <a:rPr lang="zh-CN" altLang="en-US" sz="2800" dirty="0">
                <a:solidFill>
                  <a:schemeClr val="tx1"/>
                </a:solidFill>
              </a:rPr>
              <a:t>密度均匀的柔软链条，其单位长度的质量为</a:t>
            </a:r>
            <a:r>
              <a:rPr lang="en-US" altLang="zh-CN" sz="2800" i="1" dirty="0">
                <a:solidFill>
                  <a:schemeClr val="tx1"/>
                </a:solidFill>
              </a:rPr>
              <a:t>λ</a:t>
            </a:r>
            <a:r>
              <a:rPr lang="zh-CN" altLang="en-US" sz="2800" dirty="0">
                <a:solidFill>
                  <a:schemeClr val="tx1"/>
                </a:solidFill>
              </a:rPr>
              <a:t>． 将其卷成一堆放在地面上 ．若手提链条的一端 ， 以匀速 </a:t>
            </a:r>
            <a:r>
              <a:rPr lang="en-US" altLang="zh-CN" sz="2800" i="1" dirty="0">
                <a:solidFill>
                  <a:schemeClr val="tx1"/>
                </a:solidFill>
                <a:latin typeface="Book Antiqua" pitchFamily="18" charset="0"/>
              </a:rPr>
              <a:t>v </a:t>
            </a:r>
            <a:r>
              <a:rPr lang="zh-CN" altLang="en-US" sz="2800" dirty="0">
                <a:solidFill>
                  <a:schemeClr val="tx1"/>
                </a:solidFill>
              </a:rPr>
              <a:t>将其上提．当一端被提离地面高度为 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时，</a:t>
            </a:r>
            <a:r>
              <a:rPr lang="zh-CN" altLang="en-US" sz="2800" dirty="0">
                <a:solidFill>
                  <a:srgbClr val="CC0000"/>
                </a:solidFill>
                <a:latin typeface="Arial" charset="0"/>
              </a:rPr>
              <a:t>求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手的提力．</a:t>
            </a:r>
          </a:p>
        </p:txBody>
      </p: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057400" y="5791200"/>
            <a:ext cx="609600" cy="762000"/>
            <a:chOff x="1296" y="3648"/>
            <a:chExt cx="384" cy="480"/>
          </a:xfrm>
        </p:grpSpPr>
        <p:sp>
          <p:nvSpPr>
            <p:cNvPr id="164915" name="Line 51"/>
            <p:cNvSpPr>
              <a:spLocks noChangeShapeType="1"/>
            </p:cNvSpPr>
            <p:nvPr/>
          </p:nvSpPr>
          <p:spPr bwMode="auto">
            <a:xfrm flipV="1">
              <a:off x="1296" y="3648"/>
              <a:ext cx="0" cy="3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5110" name="Object 6"/>
            <p:cNvGraphicFramePr>
              <a:graphicFrameLocks noChangeAspect="1"/>
            </p:cNvGraphicFramePr>
            <p:nvPr/>
          </p:nvGraphicFramePr>
          <p:xfrm>
            <a:off x="1344" y="3696"/>
            <a:ext cx="33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587" name="Equation" r:id="rId3" imgW="215640" imgH="241200" progId="Equation.3">
                    <p:embed/>
                  </p:oleObj>
                </mc:Choice>
                <mc:Fallback>
                  <p:oleObj name="Equation" r:id="rId3" imgW="21564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696"/>
                          <a:ext cx="33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685800" y="5784850"/>
            <a:ext cx="1219200" cy="628650"/>
            <a:chOff x="432" y="3644"/>
            <a:chExt cx="768" cy="396"/>
          </a:xfrm>
        </p:grpSpPr>
        <p:graphicFrame>
          <p:nvGraphicFramePr>
            <p:cNvPr id="175109" name="Object 5"/>
            <p:cNvGraphicFramePr>
              <a:graphicFrameLocks noChangeAspect="1"/>
            </p:cNvGraphicFramePr>
            <p:nvPr/>
          </p:nvGraphicFramePr>
          <p:xfrm>
            <a:off x="432" y="3721"/>
            <a:ext cx="72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588" name="Equation" r:id="rId5" imgW="609480" imgH="203040" progId="Equation.3">
                    <p:embed/>
                  </p:oleObj>
                </mc:Choice>
                <mc:Fallback>
                  <p:oleObj name="Equation" r:id="rId5" imgW="609480" imgH="2030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3721"/>
                          <a:ext cx="729" cy="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21" name="Line 57"/>
            <p:cNvSpPr>
              <a:spLocks noChangeShapeType="1"/>
            </p:cNvSpPr>
            <p:nvPr/>
          </p:nvSpPr>
          <p:spPr bwMode="auto">
            <a:xfrm flipH="1">
              <a:off x="1200" y="3644"/>
              <a:ext cx="0" cy="3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7" name="Group 62"/>
          <p:cNvGrpSpPr>
            <a:grpSpLocks/>
          </p:cNvGrpSpPr>
          <p:nvPr/>
        </p:nvGrpSpPr>
        <p:grpSpPr bwMode="auto">
          <a:xfrm>
            <a:off x="2133600" y="4794250"/>
            <a:ext cx="863600" cy="768350"/>
            <a:chOff x="1344" y="3020"/>
            <a:chExt cx="544" cy="484"/>
          </a:xfrm>
        </p:grpSpPr>
        <p:sp>
          <p:nvSpPr>
            <p:cNvPr id="164917" name="Line 53"/>
            <p:cNvSpPr>
              <a:spLocks noChangeShapeType="1"/>
            </p:cNvSpPr>
            <p:nvPr/>
          </p:nvSpPr>
          <p:spPr bwMode="auto">
            <a:xfrm flipH="1">
              <a:off x="1344" y="3020"/>
              <a:ext cx="0" cy="484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5107" name="Object 3"/>
            <p:cNvGraphicFramePr>
              <a:graphicFrameLocks noChangeAspect="1"/>
            </p:cNvGraphicFramePr>
            <p:nvPr/>
          </p:nvGraphicFramePr>
          <p:xfrm>
            <a:off x="1392" y="3108"/>
            <a:ext cx="49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589" name="Equation" r:id="rId7" imgW="279360" imgH="203040" progId="Equation.3">
                    <p:embed/>
                  </p:oleObj>
                </mc:Choice>
                <mc:Fallback>
                  <p:oleObj name="Equation" r:id="rId7" imgW="279360" imgH="20304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108"/>
                          <a:ext cx="496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Group 60"/>
          <p:cNvGrpSpPr>
            <a:grpSpLocks/>
          </p:cNvGrpSpPr>
          <p:nvPr/>
        </p:nvGrpSpPr>
        <p:grpSpPr bwMode="auto">
          <a:xfrm>
            <a:off x="457200" y="2819400"/>
            <a:ext cx="2590800" cy="3608388"/>
            <a:chOff x="288" y="1776"/>
            <a:chExt cx="1632" cy="2273"/>
          </a:xfrm>
        </p:grpSpPr>
        <p:sp>
          <p:nvSpPr>
            <p:cNvPr id="57" name="Line 6"/>
            <p:cNvSpPr>
              <a:spLocks noChangeShapeType="1"/>
            </p:cNvSpPr>
            <p:nvPr/>
          </p:nvSpPr>
          <p:spPr bwMode="auto">
            <a:xfrm flipV="1">
              <a:off x="480" y="1920"/>
              <a:ext cx="0" cy="17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7"/>
            <p:cNvSpPr>
              <a:spLocks noChangeShapeType="1"/>
            </p:cNvSpPr>
            <p:nvPr/>
          </p:nvSpPr>
          <p:spPr bwMode="auto">
            <a:xfrm>
              <a:off x="379" y="3687"/>
              <a:ext cx="1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Text Box 10"/>
            <p:cNvSpPr txBox="1">
              <a:spLocks noChangeArrowheads="1"/>
            </p:cNvSpPr>
            <p:nvPr/>
          </p:nvSpPr>
          <p:spPr bwMode="auto">
            <a:xfrm>
              <a:off x="576" y="1776"/>
              <a:ext cx="363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i="1">
                  <a:solidFill>
                    <a:schemeClr val="tx1"/>
                  </a:solidFill>
                </a:rPr>
                <a:t>y</a:t>
              </a:r>
              <a:endParaRPr lang="en-US" altLang="zh-CN" sz="3200">
                <a:solidFill>
                  <a:schemeClr val="tx1"/>
                </a:solidFill>
              </a:endParaRPr>
            </a:p>
          </p:txBody>
        </p:sp>
        <p:grpSp>
          <p:nvGrpSpPr>
            <p:cNvPr id="60" name="Group 11"/>
            <p:cNvGrpSpPr>
              <a:grpSpLocks/>
            </p:cNvGrpSpPr>
            <p:nvPr/>
          </p:nvGrpSpPr>
          <p:grpSpPr bwMode="auto">
            <a:xfrm>
              <a:off x="1060" y="2463"/>
              <a:ext cx="453" cy="1224"/>
              <a:chOff x="4195" y="1662"/>
              <a:chExt cx="453" cy="1224"/>
            </a:xfrm>
          </p:grpSpPr>
          <p:sp>
            <p:nvSpPr>
              <p:cNvPr id="68" name="Oval 12"/>
              <p:cNvSpPr>
                <a:spLocks noChangeArrowheads="1"/>
              </p:cNvSpPr>
              <p:nvPr/>
            </p:nvSpPr>
            <p:spPr bwMode="auto">
              <a:xfrm>
                <a:off x="4468" y="193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Oval 13"/>
              <p:cNvSpPr>
                <a:spLocks noChangeArrowheads="1"/>
              </p:cNvSpPr>
              <p:nvPr/>
            </p:nvSpPr>
            <p:spPr bwMode="auto">
              <a:xfrm>
                <a:off x="4468" y="2024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Oval 14"/>
              <p:cNvSpPr>
                <a:spLocks noChangeArrowheads="1"/>
              </p:cNvSpPr>
              <p:nvPr/>
            </p:nvSpPr>
            <p:spPr bwMode="auto">
              <a:xfrm>
                <a:off x="4468" y="2115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Oval 15"/>
              <p:cNvSpPr>
                <a:spLocks noChangeArrowheads="1"/>
              </p:cNvSpPr>
              <p:nvPr/>
            </p:nvSpPr>
            <p:spPr bwMode="auto">
              <a:xfrm>
                <a:off x="4468" y="2296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Oval 16"/>
              <p:cNvSpPr>
                <a:spLocks noChangeArrowheads="1"/>
              </p:cNvSpPr>
              <p:nvPr/>
            </p:nvSpPr>
            <p:spPr bwMode="auto">
              <a:xfrm>
                <a:off x="4468" y="2205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" name="Oval 17"/>
              <p:cNvSpPr>
                <a:spLocks noChangeArrowheads="1"/>
              </p:cNvSpPr>
              <p:nvPr/>
            </p:nvSpPr>
            <p:spPr bwMode="auto">
              <a:xfrm>
                <a:off x="4468" y="2704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Oval 18"/>
              <p:cNvSpPr>
                <a:spLocks noChangeArrowheads="1"/>
              </p:cNvSpPr>
              <p:nvPr/>
            </p:nvSpPr>
            <p:spPr bwMode="auto">
              <a:xfrm rot="-5400000">
                <a:off x="4354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Oval 19"/>
              <p:cNvSpPr>
                <a:spLocks noChangeArrowheads="1"/>
              </p:cNvSpPr>
              <p:nvPr/>
            </p:nvSpPr>
            <p:spPr bwMode="auto">
              <a:xfrm>
                <a:off x="4467" y="2794"/>
                <a:ext cx="46" cy="46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Oval 20"/>
              <p:cNvSpPr>
                <a:spLocks noChangeArrowheads="1"/>
              </p:cNvSpPr>
              <p:nvPr/>
            </p:nvSpPr>
            <p:spPr bwMode="auto">
              <a:xfrm>
                <a:off x="4468" y="2659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" name="Oval 21"/>
              <p:cNvSpPr>
                <a:spLocks noChangeArrowheads="1"/>
              </p:cNvSpPr>
              <p:nvPr/>
            </p:nvSpPr>
            <p:spPr bwMode="auto">
              <a:xfrm>
                <a:off x="4468" y="256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Oval 22"/>
              <p:cNvSpPr>
                <a:spLocks noChangeArrowheads="1"/>
              </p:cNvSpPr>
              <p:nvPr/>
            </p:nvSpPr>
            <p:spPr bwMode="auto">
              <a:xfrm>
                <a:off x="4468" y="247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Oval 23"/>
              <p:cNvSpPr>
                <a:spLocks noChangeArrowheads="1"/>
              </p:cNvSpPr>
              <p:nvPr/>
            </p:nvSpPr>
            <p:spPr bwMode="auto">
              <a:xfrm>
                <a:off x="4468" y="2387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Oval 24"/>
              <p:cNvSpPr>
                <a:spLocks noChangeArrowheads="1"/>
              </p:cNvSpPr>
              <p:nvPr/>
            </p:nvSpPr>
            <p:spPr bwMode="auto">
              <a:xfrm rot="-4948659">
                <a:off x="4273" y="2746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Oval 25"/>
              <p:cNvSpPr>
                <a:spLocks noChangeArrowheads="1"/>
              </p:cNvSpPr>
              <p:nvPr/>
            </p:nvSpPr>
            <p:spPr bwMode="auto">
              <a:xfrm rot="-5400000">
                <a:off x="4217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Oval 26"/>
              <p:cNvSpPr>
                <a:spLocks noChangeArrowheads="1"/>
              </p:cNvSpPr>
              <p:nvPr/>
            </p:nvSpPr>
            <p:spPr bwMode="auto">
              <a:xfrm rot="-5400000">
                <a:off x="4217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Oval 27"/>
              <p:cNvSpPr>
                <a:spLocks noChangeArrowheads="1"/>
              </p:cNvSpPr>
              <p:nvPr/>
            </p:nvSpPr>
            <p:spPr bwMode="auto">
              <a:xfrm rot="-5400000">
                <a:off x="4308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" name="Oval 28"/>
              <p:cNvSpPr>
                <a:spLocks noChangeArrowheads="1"/>
              </p:cNvSpPr>
              <p:nvPr/>
            </p:nvSpPr>
            <p:spPr bwMode="auto">
              <a:xfrm rot="-5400000">
                <a:off x="4490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5" name="Oval 29"/>
              <p:cNvSpPr>
                <a:spLocks noChangeArrowheads="1"/>
              </p:cNvSpPr>
              <p:nvPr/>
            </p:nvSpPr>
            <p:spPr bwMode="auto">
              <a:xfrm rot="-5400000">
                <a:off x="4580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6" name="Oval 30"/>
              <p:cNvSpPr>
                <a:spLocks noChangeArrowheads="1"/>
              </p:cNvSpPr>
              <p:nvPr/>
            </p:nvSpPr>
            <p:spPr bwMode="auto">
              <a:xfrm rot="-5400000">
                <a:off x="4399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" name="Oval 31"/>
              <p:cNvSpPr>
                <a:spLocks noChangeArrowheads="1"/>
              </p:cNvSpPr>
              <p:nvPr/>
            </p:nvSpPr>
            <p:spPr bwMode="auto">
              <a:xfrm rot="-5400000">
                <a:off x="4417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Oval 32"/>
              <p:cNvSpPr>
                <a:spLocks noChangeArrowheads="1"/>
              </p:cNvSpPr>
              <p:nvPr/>
            </p:nvSpPr>
            <p:spPr bwMode="auto">
              <a:xfrm>
                <a:off x="4468" y="166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9" name="Oval 33"/>
              <p:cNvSpPr>
                <a:spLocks noChangeArrowheads="1"/>
              </p:cNvSpPr>
              <p:nvPr/>
            </p:nvSpPr>
            <p:spPr bwMode="auto">
              <a:xfrm>
                <a:off x="4468" y="175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Oval 34"/>
              <p:cNvSpPr>
                <a:spLocks noChangeArrowheads="1"/>
              </p:cNvSpPr>
              <p:nvPr/>
            </p:nvSpPr>
            <p:spPr bwMode="auto">
              <a:xfrm>
                <a:off x="4468" y="184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1" name="Line 35"/>
            <p:cNvSpPr>
              <a:spLocks noChangeShapeType="1"/>
            </p:cNvSpPr>
            <p:nvPr/>
          </p:nvSpPr>
          <p:spPr bwMode="auto">
            <a:xfrm>
              <a:off x="480" y="244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37"/>
            <p:cNvSpPr>
              <a:spLocks noChangeShapeType="1"/>
            </p:cNvSpPr>
            <p:nvPr/>
          </p:nvSpPr>
          <p:spPr bwMode="auto">
            <a:xfrm>
              <a:off x="912" y="2448"/>
              <a:ext cx="0" cy="1225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Text Box 39"/>
            <p:cNvSpPr txBox="1">
              <a:spLocks noChangeArrowheads="1"/>
            </p:cNvSpPr>
            <p:nvPr/>
          </p:nvSpPr>
          <p:spPr bwMode="auto">
            <a:xfrm>
              <a:off x="687" y="2688"/>
              <a:ext cx="273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0" i="1">
                  <a:solidFill>
                    <a:srgbClr val="CC0099"/>
                  </a:solidFill>
                </a:rPr>
                <a:t>y</a:t>
              </a:r>
              <a:endParaRPr lang="en-US" altLang="zh-CN" sz="3600" b="0">
                <a:solidFill>
                  <a:srgbClr val="CC0099"/>
                </a:solidFill>
              </a:endParaRPr>
            </a:p>
          </p:txBody>
        </p:sp>
        <p:sp>
          <p:nvSpPr>
            <p:cNvPr id="64" name="Text Box 40"/>
            <p:cNvSpPr txBox="1">
              <a:spLocks noChangeArrowheads="1"/>
            </p:cNvSpPr>
            <p:nvPr/>
          </p:nvSpPr>
          <p:spPr bwMode="auto">
            <a:xfrm>
              <a:off x="288" y="3588"/>
              <a:ext cx="226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 flipV="1">
              <a:off x="1344" y="1968"/>
              <a:ext cx="0" cy="52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Rectangle 43"/>
            <p:cNvSpPr>
              <a:spLocks noChangeArrowheads="1"/>
            </p:cNvSpPr>
            <p:nvPr/>
          </p:nvSpPr>
          <p:spPr bwMode="auto">
            <a:xfrm>
              <a:off x="288" y="1776"/>
              <a:ext cx="1632" cy="2273"/>
            </a:xfrm>
            <a:prstGeom prst="rect">
              <a:avLst/>
            </a:prstGeom>
            <a:noFill/>
            <a:ln w="9525" algn="ctr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67" name="Object 4"/>
            <p:cNvGraphicFramePr>
              <a:graphicFrameLocks noChangeAspect="1"/>
            </p:cNvGraphicFramePr>
            <p:nvPr/>
          </p:nvGraphicFramePr>
          <p:xfrm>
            <a:off x="1392" y="1872"/>
            <a:ext cx="31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590" name="Equation" r:id="rId9" imgW="164880" imgH="190440" progId="Equation.3">
                    <p:embed/>
                  </p:oleObj>
                </mc:Choice>
                <mc:Fallback>
                  <p:oleObj name="Equation" r:id="rId9" imgW="164880" imgH="1904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872"/>
                          <a:ext cx="312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323850" y="609600"/>
            <a:ext cx="8667750" cy="2143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  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2  </a:t>
            </a:r>
            <a:r>
              <a:rPr lang="zh-CN" altLang="en-US" sz="2800" dirty="0">
                <a:solidFill>
                  <a:schemeClr val="tx1"/>
                </a:solidFill>
              </a:rPr>
              <a:t>一长为 </a:t>
            </a:r>
            <a:r>
              <a:rPr lang="en-US" altLang="zh-CN" sz="2800" i="1" dirty="0">
                <a:solidFill>
                  <a:schemeClr val="tx1"/>
                </a:solidFill>
              </a:rPr>
              <a:t>l</a:t>
            </a:r>
            <a:r>
              <a:rPr lang="zh-CN" altLang="en-US" sz="2800" i="1" dirty="0">
                <a:solidFill>
                  <a:schemeClr val="tx1"/>
                </a:solidFill>
              </a:rPr>
              <a:t>、</a:t>
            </a:r>
            <a:r>
              <a:rPr lang="zh-CN" altLang="en-US" sz="2800" dirty="0">
                <a:solidFill>
                  <a:schemeClr val="tx1"/>
                </a:solidFill>
              </a:rPr>
              <a:t>密度均匀的柔软链条，其单位长度的质量为</a:t>
            </a:r>
            <a:r>
              <a:rPr lang="en-US" altLang="zh-CN" sz="2800" i="1" dirty="0">
                <a:solidFill>
                  <a:schemeClr val="tx1"/>
                </a:solidFill>
              </a:rPr>
              <a:t>λ</a:t>
            </a:r>
            <a:r>
              <a:rPr lang="zh-CN" altLang="en-US" sz="2800" dirty="0">
                <a:solidFill>
                  <a:schemeClr val="tx1"/>
                </a:solidFill>
              </a:rPr>
              <a:t>． 将其卷成一堆放在地面上 ．若手提链条的一端 ， 以匀速 </a:t>
            </a:r>
            <a:r>
              <a:rPr lang="en-US" altLang="zh-CN" sz="2800" i="1" dirty="0">
                <a:solidFill>
                  <a:schemeClr val="tx1"/>
                </a:solidFill>
                <a:latin typeface="Book Antiqua" pitchFamily="18" charset="0"/>
              </a:rPr>
              <a:t>v </a:t>
            </a:r>
            <a:r>
              <a:rPr lang="zh-CN" altLang="en-US" sz="2800" dirty="0">
                <a:solidFill>
                  <a:schemeClr val="tx1"/>
                </a:solidFill>
              </a:rPr>
              <a:t>将其上提．当一端被提离地面高度为 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时，</a:t>
            </a:r>
            <a:r>
              <a:rPr lang="zh-CN" altLang="en-US" sz="2800" dirty="0">
                <a:solidFill>
                  <a:srgbClr val="CC0000"/>
                </a:solidFill>
                <a:latin typeface="Arial" charset="0"/>
              </a:rPr>
              <a:t>求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手的提力．</a:t>
            </a:r>
          </a:p>
        </p:txBody>
      </p: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057400" y="5791200"/>
            <a:ext cx="609600" cy="762000"/>
            <a:chOff x="1296" y="3648"/>
            <a:chExt cx="384" cy="480"/>
          </a:xfrm>
        </p:grpSpPr>
        <p:sp>
          <p:nvSpPr>
            <p:cNvPr id="164915" name="Line 51"/>
            <p:cNvSpPr>
              <a:spLocks noChangeShapeType="1"/>
            </p:cNvSpPr>
            <p:nvPr/>
          </p:nvSpPr>
          <p:spPr bwMode="auto">
            <a:xfrm flipV="1">
              <a:off x="1296" y="3648"/>
              <a:ext cx="0" cy="3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5110" name="Object 6"/>
            <p:cNvGraphicFramePr>
              <a:graphicFrameLocks noChangeAspect="1"/>
            </p:cNvGraphicFramePr>
            <p:nvPr/>
          </p:nvGraphicFramePr>
          <p:xfrm>
            <a:off x="1344" y="3696"/>
            <a:ext cx="33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14" name="Equation" r:id="rId3" imgW="215640" imgH="241200" progId="Equation.3">
                    <p:embed/>
                  </p:oleObj>
                </mc:Choice>
                <mc:Fallback>
                  <p:oleObj name="Equation" r:id="rId3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696"/>
                          <a:ext cx="33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685800" y="5784850"/>
            <a:ext cx="1219200" cy="628650"/>
            <a:chOff x="432" y="3644"/>
            <a:chExt cx="768" cy="396"/>
          </a:xfrm>
        </p:grpSpPr>
        <p:graphicFrame>
          <p:nvGraphicFramePr>
            <p:cNvPr id="175109" name="Object 5"/>
            <p:cNvGraphicFramePr>
              <a:graphicFrameLocks noChangeAspect="1"/>
            </p:cNvGraphicFramePr>
            <p:nvPr/>
          </p:nvGraphicFramePr>
          <p:xfrm>
            <a:off x="432" y="3721"/>
            <a:ext cx="72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15" name="Equation" r:id="rId5" imgW="609480" imgH="203040" progId="Equation.3">
                    <p:embed/>
                  </p:oleObj>
                </mc:Choice>
                <mc:Fallback>
                  <p:oleObj name="Equation" r:id="rId5" imgW="6094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3721"/>
                          <a:ext cx="729" cy="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21" name="Line 57"/>
            <p:cNvSpPr>
              <a:spLocks noChangeShapeType="1"/>
            </p:cNvSpPr>
            <p:nvPr/>
          </p:nvSpPr>
          <p:spPr bwMode="auto">
            <a:xfrm flipH="1">
              <a:off x="1200" y="3644"/>
              <a:ext cx="0" cy="3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7" name="Group 62"/>
          <p:cNvGrpSpPr>
            <a:grpSpLocks/>
          </p:cNvGrpSpPr>
          <p:nvPr/>
        </p:nvGrpSpPr>
        <p:grpSpPr bwMode="auto">
          <a:xfrm>
            <a:off x="2133600" y="4794250"/>
            <a:ext cx="863600" cy="768350"/>
            <a:chOff x="1344" y="3020"/>
            <a:chExt cx="544" cy="484"/>
          </a:xfrm>
        </p:grpSpPr>
        <p:sp>
          <p:nvSpPr>
            <p:cNvPr id="164917" name="Line 53"/>
            <p:cNvSpPr>
              <a:spLocks noChangeShapeType="1"/>
            </p:cNvSpPr>
            <p:nvPr/>
          </p:nvSpPr>
          <p:spPr bwMode="auto">
            <a:xfrm flipH="1">
              <a:off x="1344" y="3020"/>
              <a:ext cx="0" cy="484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5107" name="Object 3"/>
            <p:cNvGraphicFramePr>
              <a:graphicFrameLocks noChangeAspect="1"/>
            </p:cNvGraphicFramePr>
            <p:nvPr/>
          </p:nvGraphicFramePr>
          <p:xfrm>
            <a:off x="1392" y="3108"/>
            <a:ext cx="49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16" name="Equation" r:id="rId7" imgW="279360" imgH="203040" progId="Equation.3">
                    <p:embed/>
                  </p:oleObj>
                </mc:Choice>
                <mc:Fallback>
                  <p:oleObj name="Equation" r:id="rId7" imgW="2793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108"/>
                          <a:ext cx="496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Group 60"/>
          <p:cNvGrpSpPr>
            <a:grpSpLocks/>
          </p:cNvGrpSpPr>
          <p:nvPr/>
        </p:nvGrpSpPr>
        <p:grpSpPr bwMode="auto">
          <a:xfrm>
            <a:off x="457200" y="2819400"/>
            <a:ext cx="2590800" cy="3608388"/>
            <a:chOff x="288" y="1776"/>
            <a:chExt cx="1632" cy="2273"/>
          </a:xfrm>
        </p:grpSpPr>
        <p:sp>
          <p:nvSpPr>
            <p:cNvPr id="57" name="Line 6"/>
            <p:cNvSpPr>
              <a:spLocks noChangeShapeType="1"/>
            </p:cNvSpPr>
            <p:nvPr/>
          </p:nvSpPr>
          <p:spPr bwMode="auto">
            <a:xfrm flipV="1">
              <a:off x="480" y="1920"/>
              <a:ext cx="0" cy="17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7"/>
            <p:cNvSpPr>
              <a:spLocks noChangeShapeType="1"/>
            </p:cNvSpPr>
            <p:nvPr/>
          </p:nvSpPr>
          <p:spPr bwMode="auto">
            <a:xfrm>
              <a:off x="379" y="3687"/>
              <a:ext cx="1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Text Box 10"/>
            <p:cNvSpPr txBox="1">
              <a:spLocks noChangeArrowheads="1"/>
            </p:cNvSpPr>
            <p:nvPr/>
          </p:nvSpPr>
          <p:spPr bwMode="auto">
            <a:xfrm>
              <a:off x="576" y="1776"/>
              <a:ext cx="363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i="1">
                  <a:solidFill>
                    <a:schemeClr val="tx1"/>
                  </a:solidFill>
                </a:rPr>
                <a:t>y</a:t>
              </a:r>
              <a:endParaRPr lang="en-US" altLang="zh-CN" sz="3200">
                <a:solidFill>
                  <a:schemeClr val="tx1"/>
                </a:solidFill>
              </a:endParaRPr>
            </a:p>
          </p:txBody>
        </p:sp>
        <p:grpSp>
          <p:nvGrpSpPr>
            <p:cNvPr id="60" name="Group 11"/>
            <p:cNvGrpSpPr>
              <a:grpSpLocks/>
            </p:cNvGrpSpPr>
            <p:nvPr/>
          </p:nvGrpSpPr>
          <p:grpSpPr bwMode="auto">
            <a:xfrm>
              <a:off x="1060" y="2463"/>
              <a:ext cx="453" cy="1224"/>
              <a:chOff x="4195" y="1662"/>
              <a:chExt cx="453" cy="1224"/>
            </a:xfrm>
          </p:grpSpPr>
          <p:sp>
            <p:nvSpPr>
              <p:cNvPr id="68" name="Oval 12"/>
              <p:cNvSpPr>
                <a:spLocks noChangeArrowheads="1"/>
              </p:cNvSpPr>
              <p:nvPr/>
            </p:nvSpPr>
            <p:spPr bwMode="auto">
              <a:xfrm>
                <a:off x="4468" y="193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Oval 13"/>
              <p:cNvSpPr>
                <a:spLocks noChangeArrowheads="1"/>
              </p:cNvSpPr>
              <p:nvPr/>
            </p:nvSpPr>
            <p:spPr bwMode="auto">
              <a:xfrm>
                <a:off x="4468" y="2024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Oval 14"/>
              <p:cNvSpPr>
                <a:spLocks noChangeArrowheads="1"/>
              </p:cNvSpPr>
              <p:nvPr/>
            </p:nvSpPr>
            <p:spPr bwMode="auto">
              <a:xfrm>
                <a:off x="4468" y="2115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Oval 15"/>
              <p:cNvSpPr>
                <a:spLocks noChangeArrowheads="1"/>
              </p:cNvSpPr>
              <p:nvPr/>
            </p:nvSpPr>
            <p:spPr bwMode="auto">
              <a:xfrm>
                <a:off x="4468" y="2296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Oval 16"/>
              <p:cNvSpPr>
                <a:spLocks noChangeArrowheads="1"/>
              </p:cNvSpPr>
              <p:nvPr/>
            </p:nvSpPr>
            <p:spPr bwMode="auto">
              <a:xfrm>
                <a:off x="4468" y="2205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" name="Oval 17"/>
              <p:cNvSpPr>
                <a:spLocks noChangeArrowheads="1"/>
              </p:cNvSpPr>
              <p:nvPr/>
            </p:nvSpPr>
            <p:spPr bwMode="auto">
              <a:xfrm>
                <a:off x="4468" y="2704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Oval 18"/>
              <p:cNvSpPr>
                <a:spLocks noChangeArrowheads="1"/>
              </p:cNvSpPr>
              <p:nvPr/>
            </p:nvSpPr>
            <p:spPr bwMode="auto">
              <a:xfrm rot="-5400000">
                <a:off x="4354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Oval 19"/>
              <p:cNvSpPr>
                <a:spLocks noChangeArrowheads="1"/>
              </p:cNvSpPr>
              <p:nvPr/>
            </p:nvSpPr>
            <p:spPr bwMode="auto">
              <a:xfrm>
                <a:off x="4467" y="2794"/>
                <a:ext cx="46" cy="46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Oval 20"/>
              <p:cNvSpPr>
                <a:spLocks noChangeArrowheads="1"/>
              </p:cNvSpPr>
              <p:nvPr/>
            </p:nvSpPr>
            <p:spPr bwMode="auto">
              <a:xfrm>
                <a:off x="4468" y="2659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" name="Oval 21"/>
              <p:cNvSpPr>
                <a:spLocks noChangeArrowheads="1"/>
              </p:cNvSpPr>
              <p:nvPr/>
            </p:nvSpPr>
            <p:spPr bwMode="auto">
              <a:xfrm>
                <a:off x="4468" y="256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Oval 22"/>
              <p:cNvSpPr>
                <a:spLocks noChangeArrowheads="1"/>
              </p:cNvSpPr>
              <p:nvPr/>
            </p:nvSpPr>
            <p:spPr bwMode="auto">
              <a:xfrm>
                <a:off x="4468" y="247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Oval 23"/>
              <p:cNvSpPr>
                <a:spLocks noChangeArrowheads="1"/>
              </p:cNvSpPr>
              <p:nvPr/>
            </p:nvSpPr>
            <p:spPr bwMode="auto">
              <a:xfrm>
                <a:off x="4468" y="2387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Oval 24"/>
              <p:cNvSpPr>
                <a:spLocks noChangeArrowheads="1"/>
              </p:cNvSpPr>
              <p:nvPr/>
            </p:nvSpPr>
            <p:spPr bwMode="auto">
              <a:xfrm rot="-4948659">
                <a:off x="4273" y="2746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Oval 25"/>
              <p:cNvSpPr>
                <a:spLocks noChangeArrowheads="1"/>
              </p:cNvSpPr>
              <p:nvPr/>
            </p:nvSpPr>
            <p:spPr bwMode="auto">
              <a:xfrm rot="-5400000">
                <a:off x="4217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Oval 26"/>
              <p:cNvSpPr>
                <a:spLocks noChangeArrowheads="1"/>
              </p:cNvSpPr>
              <p:nvPr/>
            </p:nvSpPr>
            <p:spPr bwMode="auto">
              <a:xfrm rot="-5400000">
                <a:off x="4217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Oval 27"/>
              <p:cNvSpPr>
                <a:spLocks noChangeArrowheads="1"/>
              </p:cNvSpPr>
              <p:nvPr/>
            </p:nvSpPr>
            <p:spPr bwMode="auto">
              <a:xfrm rot="-5400000">
                <a:off x="4308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" name="Oval 28"/>
              <p:cNvSpPr>
                <a:spLocks noChangeArrowheads="1"/>
              </p:cNvSpPr>
              <p:nvPr/>
            </p:nvSpPr>
            <p:spPr bwMode="auto">
              <a:xfrm rot="-5400000">
                <a:off x="4490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5" name="Oval 29"/>
              <p:cNvSpPr>
                <a:spLocks noChangeArrowheads="1"/>
              </p:cNvSpPr>
              <p:nvPr/>
            </p:nvSpPr>
            <p:spPr bwMode="auto">
              <a:xfrm rot="-5400000">
                <a:off x="4580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6" name="Oval 30"/>
              <p:cNvSpPr>
                <a:spLocks noChangeArrowheads="1"/>
              </p:cNvSpPr>
              <p:nvPr/>
            </p:nvSpPr>
            <p:spPr bwMode="auto">
              <a:xfrm rot="-5400000">
                <a:off x="4399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" name="Oval 31"/>
              <p:cNvSpPr>
                <a:spLocks noChangeArrowheads="1"/>
              </p:cNvSpPr>
              <p:nvPr/>
            </p:nvSpPr>
            <p:spPr bwMode="auto">
              <a:xfrm rot="-5400000">
                <a:off x="4417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Oval 32"/>
              <p:cNvSpPr>
                <a:spLocks noChangeArrowheads="1"/>
              </p:cNvSpPr>
              <p:nvPr/>
            </p:nvSpPr>
            <p:spPr bwMode="auto">
              <a:xfrm>
                <a:off x="4468" y="166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9" name="Oval 33"/>
              <p:cNvSpPr>
                <a:spLocks noChangeArrowheads="1"/>
              </p:cNvSpPr>
              <p:nvPr/>
            </p:nvSpPr>
            <p:spPr bwMode="auto">
              <a:xfrm>
                <a:off x="4468" y="175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Oval 34"/>
              <p:cNvSpPr>
                <a:spLocks noChangeArrowheads="1"/>
              </p:cNvSpPr>
              <p:nvPr/>
            </p:nvSpPr>
            <p:spPr bwMode="auto">
              <a:xfrm>
                <a:off x="4468" y="184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1" name="Line 35"/>
            <p:cNvSpPr>
              <a:spLocks noChangeShapeType="1"/>
            </p:cNvSpPr>
            <p:nvPr/>
          </p:nvSpPr>
          <p:spPr bwMode="auto">
            <a:xfrm>
              <a:off x="480" y="244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37"/>
            <p:cNvSpPr>
              <a:spLocks noChangeShapeType="1"/>
            </p:cNvSpPr>
            <p:nvPr/>
          </p:nvSpPr>
          <p:spPr bwMode="auto">
            <a:xfrm>
              <a:off x="912" y="2448"/>
              <a:ext cx="0" cy="1225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Text Box 39"/>
            <p:cNvSpPr txBox="1">
              <a:spLocks noChangeArrowheads="1"/>
            </p:cNvSpPr>
            <p:nvPr/>
          </p:nvSpPr>
          <p:spPr bwMode="auto">
            <a:xfrm>
              <a:off x="687" y="2688"/>
              <a:ext cx="273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0" i="1">
                  <a:solidFill>
                    <a:srgbClr val="CC0099"/>
                  </a:solidFill>
                </a:rPr>
                <a:t>y</a:t>
              </a:r>
              <a:endParaRPr lang="en-US" altLang="zh-CN" sz="3600" b="0">
                <a:solidFill>
                  <a:srgbClr val="CC0099"/>
                </a:solidFill>
              </a:endParaRPr>
            </a:p>
          </p:txBody>
        </p:sp>
        <p:sp>
          <p:nvSpPr>
            <p:cNvPr id="64" name="Text Box 40"/>
            <p:cNvSpPr txBox="1">
              <a:spLocks noChangeArrowheads="1"/>
            </p:cNvSpPr>
            <p:nvPr/>
          </p:nvSpPr>
          <p:spPr bwMode="auto">
            <a:xfrm>
              <a:off x="288" y="3588"/>
              <a:ext cx="226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 flipV="1">
              <a:off x="1344" y="1968"/>
              <a:ext cx="0" cy="52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Rectangle 43"/>
            <p:cNvSpPr>
              <a:spLocks noChangeArrowheads="1"/>
            </p:cNvSpPr>
            <p:nvPr/>
          </p:nvSpPr>
          <p:spPr bwMode="auto">
            <a:xfrm>
              <a:off x="288" y="1776"/>
              <a:ext cx="1632" cy="2273"/>
            </a:xfrm>
            <a:prstGeom prst="rect">
              <a:avLst/>
            </a:prstGeom>
            <a:noFill/>
            <a:ln w="9525" algn="ctr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67" name="Object 4"/>
            <p:cNvGraphicFramePr>
              <a:graphicFrameLocks noChangeAspect="1"/>
            </p:cNvGraphicFramePr>
            <p:nvPr/>
          </p:nvGraphicFramePr>
          <p:xfrm>
            <a:off x="1392" y="1872"/>
            <a:ext cx="31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17" name="Equation" r:id="rId9" imgW="164880" imgH="190440" progId="Equation.3">
                    <p:embed/>
                  </p:oleObj>
                </mc:Choice>
                <mc:Fallback>
                  <p:oleObj name="Equation" r:id="rId9" imgW="1648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872"/>
                          <a:ext cx="312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8445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323850" y="609600"/>
            <a:ext cx="8667750" cy="2143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  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2  </a:t>
            </a:r>
            <a:r>
              <a:rPr lang="zh-CN" altLang="en-US" sz="2800" dirty="0">
                <a:solidFill>
                  <a:schemeClr val="tx1"/>
                </a:solidFill>
              </a:rPr>
              <a:t>一长为 </a:t>
            </a:r>
            <a:r>
              <a:rPr lang="en-US" altLang="zh-CN" sz="2800" i="1" dirty="0">
                <a:solidFill>
                  <a:schemeClr val="tx1"/>
                </a:solidFill>
              </a:rPr>
              <a:t>l</a:t>
            </a:r>
            <a:r>
              <a:rPr lang="zh-CN" altLang="en-US" sz="2800" i="1" dirty="0">
                <a:solidFill>
                  <a:schemeClr val="tx1"/>
                </a:solidFill>
              </a:rPr>
              <a:t>、</a:t>
            </a:r>
            <a:r>
              <a:rPr lang="zh-CN" altLang="en-US" sz="2800" dirty="0">
                <a:solidFill>
                  <a:schemeClr val="tx1"/>
                </a:solidFill>
              </a:rPr>
              <a:t>密度均匀的柔软链条，其单位长度的质量为</a:t>
            </a:r>
            <a:r>
              <a:rPr lang="en-US" altLang="zh-CN" sz="2800" i="1" dirty="0">
                <a:solidFill>
                  <a:schemeClr val="tx1"/>
                </a:solidFill>
              </a:rPr>
              <a:t>λ</a:t>
            </a:r>
            <a:r>
              <a:rPr lang="zh-CN" altLang="en-US" sz="2800" dirty="0">
                <a:solidFill>
                  <a:schemeClr val="tx1"/>
                </a:solidFill>
              </a:rPr>
              <a:t>． 将其卷成一堆放在地面上 ．若手提链条的一端 ， 以匀速 </a:t>
            </a:r>
            <a:r>
              <a:rPr lang="en-US" altLang="zh-CN" sz="2800" i="1" dirty="0">
                <a:solidFill>
                  <a:schemeClr val="tx1"/>
                </a:solidFill>
                <a:latin typeface="Book Antiqua" pitchFamily="18" charset="0"/>
              </a:rPr>
              <a:t>v </a:t>
            </a:r>
            <a:r>
              <a:rPr lang="zh-CN" altLang="en-US" sz="2800" dirty="0">
                <a:solidFill>
                  <a:schemeClr val="tx1"/>
                </a:solidFill>
              </a:rPr>
              <a:t>将其上提．当一端被提离地面高度为 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时，</a:t>
            </a:r>
            <a:r>
              <a:rPr lang="zh-CN" altLang="en-US" sz="2800" dirty="0">
                <a:solidFill>
                  <a:srgbClr val="CC0000"/>
                </a:solidFill>
                <a:latin typeface="Arial" charset="0"/>
              </a:rPr>
              <a:t>求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手的提力．</a:t>
            </a:r>
          </a:p>
        </p:txBody>
      </p:sp>
      <p:sp>
        <p:nvSpPr>
          <p:cNvPr id="164908" name="Rectangle 44"/>
          <p:cNvSpPr>
            <a:spLocks noChangeArrowheads="1"/>
          </p:cNvSpPr>
          <p:nvPr/>
        </p:nvSpPr>
        <p:spPr bwMode="auto">
          <a:xfrm>
            <a:off x="3429000" y="2667000"/>
            <a:ext cx="5638800" cy="604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CC0000"/>
                </a:solidFill>
                <a:latin typeface="Arial" charset="0"/>
              </a:rPr>
              <a:t>  </a:t>
            </a:r>
            <a:r>
              <a:rPr lang="zh-CN" altLang="en-US" sz="2800">
                <a:solidFill>
                  <a:srgbClr val="CC0000"/>
                </a:solidFill>
                <a:latin typeface="Arial" charset="0"/>
              </a:rPr>
              <a:t>解</a:t>
            </a: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   取地面参考系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,  </a:t>
            </a: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链条为系统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.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048000" y="3292475"/>
            <a:ext cx="5562600" cy="669925"/>
            <a:chOff x="1872" y="2122"/>
            <a:chExt cx="3504" cy="422"/>
          </a:xfrm>
        </p:grpSpPr>
        <p:sp>
          <p:nvSpPr>
            <p:cNvPr id="164909" name="Rectangle 45"/>
            <p:cNvSpPr>
              <a:spLocks noChangeArrowheads="1"/>
            </p:cNvSpPr>
            <p:nvPr/>
          </p:nvSpPr>
          <p:spPr bwMode="auto">
            <a:xfrm>
              <a:off x="1872" y="2160"/>
              <a:ext cx="23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在 </a:t>
              </a:r>
              <a:r>
                <a:rPr lang="en-US" altLang="zh-CN" sz="2800" i="1">
                  <a:solidFill>
                    <a:schemeClr val="tx1"/>
                  </a:solidFill>
                  <a:latin typeface="Arial" charset="0"/>
                </a:rPr>
                <a:t>t</a:t>
              </a:r>
              <a:r>
                <a:rPr lang="en-US" altLang="zh-CN" sz="2800">
                  <a:solidFill>
                    <a:schemeClr val="tx1"/>
                  </a:solidFill>
                  <a:latin typeface="Arial" charset="0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时刻链条动量</a:t>
              </a:r>
            </a:p>
          </p:txBody>
        </p:sp>
        <p:graphicFrame>
          <p:nvGraphicFramePr>
            <p:cNvPr id="175111" name="Object 7"/>
            <p:cNvGraphicFramePr>
              <a:graphicFrameLocks noChangeAspect="1"/>
            </p:cNvGraphicFramePr>
            <p:nvPr/>
          </p:nvGraphicFramePr>
          <p:xfrm>
            <a:off x="3840" y="2122"/>
            <a:ext cx="1536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54" name="Equation" r:id="rId3" imgW="787320" imgH="215640" progId="Equation.3">
                    <p:embed/>
                  </p:oleObj>
                </mc:Choice>
                <mc:Fallback>
                  <p:oleObj name="Equation" r:id="rId3" imgW="7873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122"/>
                          <a:ext cx="1536" cy="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5104" name="Object 0"/>
          <p:cNvGraphicFramePr>
            <a:graphicFrameLocks noChangeAspect="1"/>
          </p:cNvGraphicFramePr>
          <p:nvPr/>
        </p:nvGraphicFramePr>
        <p:xfrm>
          <a:off x="4267200" y="3886200"/>
          <a:ext cx="37338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55" name="Equation" r:id="rId5" imgW="1307880" imgH="393480" progId="Equation.3">
                  <p:embed/>
                </p:oleObj>
              </mc:Choice>
              <mc:Fallback>
                <p:oleObj name="Equation" r:id="rId5" imgW="1307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886200"/>
                        <a:ext cx="37338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5" name="Object 1"/>
          <p:cNvGraphicFramePr>
            <a:graphicFrameLocks noChangeAspect="1"/>
          </p:cNvGraphicFramePr>
          <p:nvPr/>
        </p:nvGraphicFramePr>
        <p:xfrm>
          <a:off x="3581400" y="4724400"/>
          <a:ext cx="48768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56" name="Equation" r:id="rId7" imgW="1714320" imgH="419040" progId="Equation.3">
                  <p:embed/>
                </p:oleObj>
              </mc:Choice>
              <mc:Fallback>
                <p:oleObj name="Equation" r:id="rId7" imgW="17143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724400"/>
                        <a:ext cx="4876800" cy="119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057400" y="5791200"/>
            <a:ext cx="609600" cy="762000"/>
            <a:chOff x="1296" y="3648"/>
            <a:chExt cx="384" cy="480"/>
          </a:xfrm>
        </p:grpSpPr>
        <p:sp>
          <p:nvSpPr>
            <p:cNvPr id="164915" name="Line 51"/>
            <p:cNvSpPr>
              <a:spLocks noChangeShapeType="1"/>
            </p:cNvSpPr>
            <p:nvPr/>
          </p:nvSpPr>
          <p:spPr bwMode="auto">
            <a:xfrm flipV="1">
              <a:off x="1296" y="3648"/>
              <a:ext cx="0" cy="3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5110" name="Object 6"/>
            <p:cNvGraphicFramePr>
              <a:graphicFrameLocks noChangeAspect="1"/>
            </p:cNvGraphicFramePr>
            <p:nvPr/>
          </p:nvGraphicFramePr>
          <p:xfrm>
            <a:off x="1344" y="3696"/>
            <a:ext cx="33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57" name="Equation" r:id="rId9" imgW="215640" imgH="241200" progId="Equation.3">
                    <p:embed/>
                  </p:oleObj>
                </mc:Choice>
                <mc:Fallback>
                  <p:oleObj name="Equation" r:id="rId9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696"/>
                          <a:ext cx="33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685800" y="5784850"/>
            <a:ext cx="1219200" cy="628650"/>
            <a:chOff x="432" y="3644"/>
            <a:chExt cx="768" cy="396"/>
          </a:xfrm>
        </p:grpSpPr>
        <p:graphicFrame>
          <p:nvGraphicFramePr>
            <p:cNvPr id="175109" name="Object 5"/>
            <p:cNvGraphicFramePr>
              <a:graphicFrameLocks noChangeAspect="1"/>
            </p:cNvGraphicFramePr>
            <p:nvPr/>
          </p:nvGraphicFramePr>
          <p:xfrm>
            <a:off x="432" y="3721"/>
            <a:ext cx="72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58" name="Equation" r:id="rId11" imgW="609480" imgH="203040" progId="Equation.3">
                    <p:embed/>
                  </p:oleObj>
                </mc:Choice>
                <mc:Fallback>
                  <p:oleObj name="Equation" r:id="rId11" imgW="6094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3721"/>
                          <a:ext cx="729" cy="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21" name="Line 57"/>
            <p:cNvSpPr>
              <a:spLocks noChangeShapeType="1"/>
            </p:cNvSpPr>
            <p:nvPr/>
          </p:nvSpPr>
          <p:spPr bwMode="auto">
            <a:xfrm flipH="1">
              <a:off x="1200" y="3644"/>
              <a:ext cx="0" cy="3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7" name="Group 62"/>
          <p:cNvGrpSpPr>
            <a:grpSpLocks/>
          </p:cNvGrpSpPr>
          <p:nvPr/>
        </p:nvGrpSpPr>
        <p:grpSpPr bwMode="auto">
          <a:xfrm>
            <a:off x="2133600" y="4794250"/>
            <a:ext cx="863600" cy="768350"/>
            <a:chOff x="1344" y="3020"/>
            <a:chExt cx="544" cy="484"/>
          </a:xfrm>
        </p:grpSpPr>
        <p:sp>
          <p:nvSpPr>
            <p:cNvPr id="164917" name="Line 53"/>
            <p:cNvSpPr>
              <a:spLocks noChangeShapeType="1"/>
            </p:cNvSpPr>
            <p:nvPr/>
          </p:nvSpPr>
          <p:spPr bwMode="auto">
            <a:xfrm flipH="1">
              <a:off x="1344" y="3020"/>
              <a:ext cx="0" cy="484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5107" name="Object 3"/>
            <p:cNvGraphicFramePr>
              <a:graphicFrameLocks noChangeAspect="1"/>
            </p:cNvGraphicFramePr>
            <p:nvPr/>
          </p:nvGraphicFramePr>
          <p:xfrm>
            <a:off x="1392" y="3108"/>
            <a:ext cx="49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59" name="Equation" r:id="rId13" imgW="279360" imgH="203040" progId="Equation.3">
                    <p:embed/>
                  </p:oleObj>
                </mc:Choice>
                <mc:Fallback>
                  <p:oleObj name="Equation" r:id="rId13" imgW="2793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108"/>
                          <a:ext cx="496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5"/>
          <p:cNvGrpSpPr>
            <a:grpSpLocks/>
          </p:cNvGrpSpPr>
          <p:nvPr/>
        </p:nvGrpSpPr>
        <p:grpSpPr bwMode="auto">
          <a:xfrm>
            <a:off x="3810000" y="5761038"/>
            <a:ext cx="4114800" cy="792162"/>
            <a:chOff x="2304" y="3600"/>
            <a:chExt cx="2592" cy="499"/>
          </a:xfrm>
        </p:grpSpPr>
        <p:graphicFrame>
          <p:nvGraphicFramePr>
            <p:cNvPr id="175106" name="Object 2"/>
            <p:cNvGraphicFramePr>
              <a:graphicFrameLocks noChangeAspect="1"/>
            </p:cNvGraphicFramePr>
            <p:nvPr/>
          </p:nvGraphicFramePr>
          <p:xfrm>
            <a:off x="2976" y="3600"/>
            <a:ext cx="1920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60" name="Equation" r:id="rId15" imgW="927000" imgH="241200" progId="Equation.3">
                    <p:embed/>
                  </p:oleObj>
                </mc:Choice>
                <mc:Fallback>
                  <p:oleObj name="Equation" r:id="rId15" imgW="9270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600"/>
                          <a:ext cx="1920" cy="4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28" name="Text Box 64"/>
            <p:cNvSpPr txBox="1">
              <a:spLocks noChangeArrowheads="1"/>
            </p:cNvSpPr>
            <p:nvPr/>
          </p:nvSpPr>
          <p:spPr bwMode="auto">
            <a:xfrm>
              <a:off x="2304" y="3696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可得</a:t>
              </a:r>
            </a:p>
          </p:txBody>
        </p:sp>
      </p:grpSp>
      <p:grpSp>
        <p:nvGrpSpPr>
          <p:cNvPr id="56" name="Group 60"/>
          <p:cNvGrpSpPr>
            <a:grpSpLocks/>
          </p:cNvGrpSpPr>
          <p:nvPr/>
        </p:nvGrpSpPr>
        <p:grpSpPr bwMode="auto">
          <a:xfrm>
            <a:off x="457200" y="2819400"/>
            <a:ext cx="2590800" cy="3608388"/>
            <a:chOff x="288" y="1776"/>
            <a:chExt cx="1632" cy="2273"/>
          </a:xfrm>
        </p:grpSpPr>
        <p:sp>
          <p:nvSpPr>
            <p:cNvPr id="57" name="Line 6"/>
            <p:cNvSpPr>
              <a:spLocks noChangeShapeType="1"/>
            </p:cNvSpPr>
            <p:nvPr/>
          </p:nvSpPr>
          <p:spPr bwMode="auto">
            <a:xfrm flipV="1">
              <a:off x="480" y="1920"/>
              <a:ext cx="0" cy="17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7"/>
            <p:cNvSpPr>
              <a:spLocks noChangeShapeType="1"/>
            </p:cNvSpPr>
            <p:nvPr/>
          </p:nvSpPr>
          <p:spPr bwMode="auto">
            <a:xfrm>
              <a:off x="379" y="3687"/>
              <a:ext cx="1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Text Box 10"/>
            <p:cNvSpPr txBox="1">
              <a:spLocks noChangeArrowheads="1"/>
            </p:cNvSpPr>
            <p:nvPr/>
          </p:nvSpPr>
          <p:spPr bwMode="auto">
            <a:xfrm>
              <a:off x="576" y="1776"/>
              <a:ext cx="363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i="1">
                  <a:solidFill>
                    <a:schemeClr val="tx1"/>
                  </a:solidFill>
                </a:rPr>
                <a:t>y</a:t>
              </a:r>
              <a:endParaRPr lang="en-US" altLang="zh-CN" sz="3200">
                <a:solidFill>
                  <a:schemeClr val="tx1"/>
                </a:solidFill>
              </a:endParaRPr>
            </a:p>
          </p:txBody>
        </p:sp>
        <p:grpSp>
          <p:nvGrpSpPr>
            <p:cNvPr id="60" name="Group 11"/>
            <p:cNvGrpSpPr>
              <a:grpSpLocks/>
            </p:cNvGrpSpPr>
            <p:nvPr/>
          </p:nvGrpSpPr>
          <p:grpSpPr bwMode="auto">
            <a:xfrm>
              <a:off x="1060" y="2463"/>
              <a:ext cx="453" cy="1224"/>
              <a:chOff x="4195" y="1662"/>
              <a:chExt cx="453" cy="1224"/>
            </a:xfrm>
          </p:grpSpPr>
          <p:sp>
            <p:nvSpPr>
              <p:cNvPr id="68" name="Oval 12"/>
              <p:cNvSpPr>
                <a:spLocks noChangeArrowheads="1"/>
              </p:cNvSpPr>
              <p:nvPr/>
            </p:nvSpPr>
            <p:spPr bwMode="auto">
              <a:xfrm>
                <a:off x="4468" y="193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Oval 13"/>
              <p:cNvSpPr>
                <a:spLocks noChangeArrowheads="1"/>
              </p:cNvSpPr>
              <p:nvPr/>
            </p:nvSpPr>
            <p:spPr bwMode="auto">
              <a:xfrm>
                <a:off x="4468" y="2024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Oval 14"/>
              <p:cNvSpPr>
                <a:spLocks noChangeArrowheads="1"/>
              </p:cNvSpPr>
              <p:nvPr/>
            </p:nvSpPr>
            <p:spPr bwMode="auto">
              <a:xfrm>
                <a:off x="4468" y="2115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Oval 15"/>
              <p:cNvSpPr>
                <a:spLocks noChangeArrowheads="1"/>
              </p:cNvSpPr>
              <p:nvPr/>
            </p:nvSpPr>
            <p:spPr bwMode="auto">
              <a:xfrm>
                <a:off x="4468" y="2296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Oval 16"/>
              <p:cNvSpPr>
                <a:spLocks noChangeArrowheads="1"/>
              </p:cNvSpPr>
              <p:nvPr/>
            </p:nvSpPr>
            <p:spPr bwMode="auto">
              <a:xfrm>
                <a:off x="4468" y="2205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" name="Oval 17"/>
              <p:cNvSpPr>
                <a:spLocks noChangeArrowheads="1"/>
              </p:cNvSpPr>
              <p:nvPr/>
            </p:nvSpPr>
            <p:spPr bwMode="auto">
              <a:xfrm>
                <a:off x="4468" y="2704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Oval 18"/>
              <p:cNvSpPr>
                <a:spLocks noChangeArrowheads="1"/>
              </p:cNvSpPr>
              <p:nvPr/>
            </p:nvSpPr>
            <p:spPr bwMode="auto">
              <a:xfrm rot="-5400000">
                <a:off x="4354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Oval 19"/>
              <p:cNvSpPr>
                <a:spLocks noChangeArrowheads="1"/>
              </p:cNvSpPr>
              <p:nvPr/>
            </p:nvSpPr>
            <p:spPr bwMode="auto">
              <a:xfrm>
                <a:off x="4467" y="2794"/>
                <a:ext cx="46" cy="46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Oval 20"/>
              <p:cNvSpPr>
                <a:spLocks noChangeArrowheads="1"/>
              </p:cNvSpPr>
              <p:nvPr/>
            </p:nvSpPr>
            <p:spPr bwMode="auto">
              <a:xfrm>
                <a:off x="4468" y="2659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" name="Oval 21"/>
              <p:cNvSpPr>
                <a:spLocks noChangeArrowheads="1"/>
              </p:cNvSpPr>
              <p:nvPr/>
            </p:nvSpPr>
            <p:spPr bwMode="auto">
              <a:xfrm>
                <a:off x="4468" y="256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Oval 22"/>
              <p:cNvSpPr>
                <a:spLocks noChangeArrowheads="1"/>
              </p:cNvSpPr>
              <p:nvPr/>
            </p:nvSpPr>
            <p:spPr bwMode="auto">
              <a:xfrm>
                <a:off x="4468" y="247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Oval 23"/>
              <p:cNvSpPr>
                <a:spLocks noChangeArrowheads="1"/>
              </p:cNvSpPr>
              <p:nvPr/>
            </p:nvSpPr>
            <p:spPr bwMode="auto">
              <a:xfrm>
                <a:off x="4468" y="2387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Oval 24"/>
              <p:cNvSpPr>
                <a:spLocks noChangeArrowheads="1"/>
              </p:cNvSpPr>
              <p:nvPr/>
            </p:nvSpPr>
            <p:spPr bwMode="auto">
              <a:xfrm rot="-4948659">
                <a:off x="4273" y="2746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Oval 25"/>
              <p:cNvSpPr>
                <a:spLocks noChangeArrowheads="1"/>
              </p:cNvSpPr>
              <p:nvPr/>
            </p:nvSpPr>
            <p:spPr bwMode="auto">
              <a:xfrm rot="-5400000">
                <a:off x="4217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Oval 26"/>
              <p:cNvSpPr>
                <a:spLocks noChangeArrowheads="1"/>
              </p:cNvSpPr>
              <p:nvPr/>
            </p:nvSpPr>
            <p:spPr bwMode="auto">
              <a:xfrm rot="-5400000">
                <a:off x="4217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Oval 27"/>
              <p:cNvSpPr>
                <a:spLocks noChangeArrowheads="1"/>
              </p:cNvSpPr>
              <p:nvPr/>
            </p:nvSpPr>
            <p:spPr bwMode="auto">
              <a:xfrm rot="-5400000">
                <a:off x="4308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" name="Oval 28"/>
              <p:cNvSpPr>
                <a:spLocks noChangeArrowheads="1"/>
              </p:cNvSpPr>
              <p:nvPr/>
            </p:nvSpPr>
            <p:spPr bwMode="auto">
              <a:xfrm rot="-5400000">
                <a:off x="4490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5" name="Oval 29"/>
              <p:cNvSpPr>
                <a:spLocks noChangeArrowheads="1"/>
              </p:cNvSpPr>
              <p:nvPr/>
            </p:nvSpPr>
            <p:spPr bwMode="auto">
              <a:xfrm rot="-5400000">
                <a:off x="4580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6" name="Oval 30"/>
              <p:cNvSpPr>
                <a:spLocks noChangeArrowheads="1"/>
              </p:cNvSpPr>
              <p:nvPr/>
            </p:nvSpPr>
            <p:spPr bwMode="auto">
              <a:xfrm rot="-5400000">
                <a:off x="4399" y="2818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" name="Oval 31"/>
              <p:cNvSpPr>
                <a:spLocks noChangeArrowheads="1"/>
              </p:cNvSpPr>
              <p:nvPr/>
            </p:nvSpPr>
            <p:spPr bwMode="auto">
              <a:xfrm rot="-5400000">
                <a:off x="4417" y="2773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Oval 32"/>
              <p:cNvSpPr>
                <a:spLocks noChangeArrowheads="1"/>
              </p:cNvSpPr>
              <p:nvPr/>
            </p:nvSpPr>
            <p:spPr bwMode="auto">
              <a:xfrm>
                <a:off x="4468" y="166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9" name="Oval 33"/>
              <p:cNvSpPr>
                <a:spLocks noChangeArrowheads="1"/>
              </p:cNvSpPr>
              <p:nvPr/>
            </p:nvSpPr>
            <p:spPr bwMode="auto">
              <a:xfrm>
                <a:off x="4468" y="175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Oval 34"/>
              <p:cNvSpPr>
                <a:spLocks noChangeArrowheads="1"/>
              </p:cNvSpPr>
              <p:nvPr/>
            </p:nvSpPr>
            <p:spPr bwMode="auto">
              <a:xfrm>
                <a:off x="4468" y="1842"/>
                <a:ext cx="46" cy="9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9900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996633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1" name="Line 35"/>
            <p:cNvSpPr>
              <a:spLocks noChangeShapeType="1"/>
            </p:cNvSpPr>
            <p:nvPr/>
          </p:nvSpPr>
          <p:spPr bwMode="auto">
            <a:xfrm>
              <a:off x="480" y="244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37"/>
            <p:cNvSpPr>
              <a:spLocks noChangeShapeType="1"/>
            </p:cNvSpPr>
            <p:nvPr/>
          </p:nvSpPr>
          <p:spPr bwMode="auto">
            <a:xfrm>
              <a:off x="912" y="2448"/>
              <a:ext cx="0" cy="1225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Text Box 39"/>
            <p:cNvSpPr txBox="1">
              <a:spLocks noChangeArrowheads="1"/>
            </p:cNvSpPr>
            <p:nvPr/>
          </p:nvSpPr>
          <p:spPr bwMode="auto">
            <a:xfrm>
              <a:off x="687" y="2688"/>
              <a:ext cx="273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0" i="1">
                  <a:solidFill>
                    <a:srgbClr val="CC0099"/>
                  </a:solidFill>
                </a:rPr>
                <a:t>y</a:t>
              </a:r>
              <a:endParaRPr lang="en-US" altLang="zh-CN" sz="3600" b="0">
                <a:solidFill>
                  <a:srgbClr val="CC0099"/>
                </a:solidFill>
              </a:endParaRPr>
            </a:p>
          </p:txBody>
        </p:sp>
        <p:sp>
          <p:nvSpPr>
            <p:cNvPr id="64" name="Text Box 40"/>
            <p:cNvSpPr txBox="1">
              <a:spLocks noChangeArrowheads="1"/>
            </p:cNvSpPr>
            <p:nvPr/>
          </p:nvSpPr>
          <p:spPr bwMode="auto">
            <a:xfrm>
              <a:off x="288" y="3588"/>
              <a:ext cx="226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 flipV="1">
              <a:off x="1344" y="1968"/>
              <a:ext cx="0" cy="52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Rectangle 43"/>
            <p:cNvSpPr>
              <a:spLocks noChangeArrowheads="1"/>
            </p:cNvSpPr>
            <p:nvPr/>
          </p:nvSpPr>
          <p:spPr bwMode="auto">
            <a:xfrm>
              <a:off x="288" y="1776"/>
              <a:ext cx="1632" cy="2273"/>
            </a:xfrm>
            <a:prstGeom prst="rect">
              <a:avLst/>
            </a:prstGeom>
            <a:noFill/>
            <a:ln w="9525" algn="ctr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67" name="Object 4"/>
            <p:cNvGraphicFramePr>
              <a:graphicFrameLocks noChangeAspect="1"/>
            </p:cNvGraphicFramePr>
            <p:nvPr/>
          </p:nvGraphicFramePr>
          <p:xfrm>
            <a:off x="1392" y="1872"/>
            <a:ext cx="31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61" name="Equation" r:id="rId17" imgW="164880" imgH="190440" progId="Equation.3">
                    <p:embed/>
                  </p:oleObj>
                </mc:Choice>
                <mc:Fallback>
                  <p:oleObj name="Equation" r:id="rId17" imgW="1648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872"/>
                          <a:ext cx="312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4406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0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52400" y="701675"/>
            <a:ext cx="8763000" cy="1127125"/>
            <a:chOff x="96" y="471"/>
            <a:chExt cx="5520" cy="710"/>
          </a:xfrm>
        </p:grpSpPr>
        <p:graphicFrame>
          <p:nvGraphicFramePr>
            <p:cNvPr id="168963" name="Object 1027"/>
            <p:cNvGraphicFramePr>
              <a:graphicFrameLocks noChangeAspect="1"/>
            </p:cNvGraphicFramePr>
            <p:nvPr/>
          </p:nvGraphicFramePr>
          <p:xfrm>
            <a:off x="2112" y="471"/>
            <a:ext cx="3504" cy="7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3579" name="Equation" r:id="rId3" imgW="1942920" imgH="406080" progId="Equation.3">
                    <p:embed/>
                  </p:oleObj>
                </mc:Choice>
                <mc:Fallback>
                  <p:oleObj name="Equation" r:id="rId3" imgW="1942920" imgH="406080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471"/>
                          <a:ext cx="3504" cy="7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52" name="Text Box 4"/>
            <p:cNvSpPr txBox="1">
              <a:spLocks noChangeArrowheads="1"/>
            </p:cNvSpPr>
            <p:nvPr/>
          </p:nvSpPr>
          <p:spPr bwMode="auto">
            <a:xfrm>
              <a:off x="96" y="576"/>
              <a:ext cx="25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0000FF"/>
                </a:buClr>
                <a:buFont typeface="Wingdings" pitchFamily="2" charset="2"/>
                <a:buChar char="Ø"/>
              </a:pPr>
              <a:r>
                <a:rPr lang="en-US" altLang="zh-CN" sz="2800">
                  <a:solidFill>
                    <a:schemeClr val="tx1"/>
                  </a:solidFill>
                  <a:latin typeface="Arial" charset="0"/>
                </a:rPr>
                <a:t>  </a:t>
              </a: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质点系动量定理</a:t>
              </a: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152400" y="1752600"/>
            <a:ext cx="8458200" cy="2362200"/>
            <a:chOff x="144" y="1104"/>
            <a:chExt cx="5328" cy="1488"/>
          </a:xfrm>
        </p:grpSpPr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240" y="1440"/>
              <a:ext cx="5232" cy="1152"/>
              <a:chOff x="240" y="1440"/>
              <a:chExt cx="5232" cy="1152"/>
            </a:xfrm>
          </p:grpSpPr>
          <p:sp>
            <p:nvSpPr>
              <p:cNvPr id="155655" name="Text Box 7"/>
              <p:cNvSpPr txBox="1">
                <a:spLocks noChangeArrowheads="1"/>
              </p:cNvSpPr>
              <p:nvPr/>
            </p:nvSpPr>
            <p:spPr bwMode="auto">
              <a:xfrm>
                <a:off x="240" y="1440"/>
                <a:ext cx="5184" cy="9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40000"/>
                  </a:lnSpc>
                  <a:spcBef>
                    <a:spcPct val="50000"/>
                  </a:spcBef>
                </a:pPr>
                <a:r>
                  <a:rPr lang="en-US" altLang="zh-CN" sz="2800" b="0" dirty="0">
                    <a:solidFill>
                      <a:srgbClr val="990033"/>
                    </a:solidFill>
                    <a:latin typeface="Arial" charset="0"/>
                  </a:rPr>
                  <a:t>       </a:t>
                </a:r>
                <a:r>
                  <a:rPr lang="en-US" altLang="zh-CN" sz="2800" b="0" dirty="0">
                    <a:solidFill>
                      <a:srgbClr val="FF0000"/>
                    </a:solidFill>
                    <a:latin typeface="Arial" charset="0"/>
                  </a:rPr>
                  <a:t> </a:t>
                </a:r>
                <a:r>
                  <a:rPr lang="zh-CN" altLang="en-US" sz="2800" dirty="0">
                    <a:latin typeface="Arial" charset="0"/>
                  </a:rPr>
                  <a:t>若质点系所受的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Arial" charset="0"/>
                  </a:rPr>
                  <a:t>合外力为零                                     </a:t>
                </a:r>
              </a:p>
              <a:p>
                <a:pPr>
                  <a:lnSpc>
                    <a:spcPct val="14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chemeClr val="tx1"/>
                    </a:solidFill>
                    <a:latin typeface="Arial" charset="0"/>
                  </a:rPr>
                  <a:t> </a:t>
                </a:r>
                <a:r>
                  <a:rPr lang="zh-CN" altLang="en-US" sz="2800" dirty="0">
                    <a:latin typeface="Arial" charset="0"/>
                  </a:rPr>
                  <a:t>则系统的总动量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Arial" charset="0"/>
                  </a:rPr>
                  <a:t>守恒</a:t>
                </a:r>
                <a:r>
                  <a:rPr lang="zh-CN" altLang="en-US" sz="2800" dirty="0">
                    <a:latin typeface="Arial" charset="0"/>
                  </a:rPr>
                  <a:t>，即                       保持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Arial" charset="0"/>
                  </a:rPr>
                  <a:t>不变 </a:t>
                </a:r>
                <a:r>
                  <a:rPr lang="en-US" altLang="zh-CN" sz="2800" dirty="0">
                    <a:latin typeface="Arial" charset="0"/>
                  </a:rPr>
                  <a:t>.</a:t>
                </a:r>
              </a:p>
            </p:txBody>
          </p:sp>
          <p:graphicFrame>
            <p:nvGraphicFramePr>
              <p:cNvPr id="168961" name="Object 1025"/>
              <p:cNvGraphicFramePr>
                <a:graphicFrameLocks noChangeAspect="1"/>
              </p:cNvGraphicFramePr>
              <p:nvPr/>
            </p:nvGraphicFramePr>
            <p:xfrm>
              <a:off x="3544" y="1488"/>
              <a:ext cx="1928" cy="6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3580" name="Equation" r:id="rId5" imgW="1054080" imgH="342720" progId="Equation.3">
                      <p:embed/>
                    </p:oleObj>
                  </mc:Choice>
                  <mc:Fallback>
                    <p:oleObj name="Equation" r:id="rId5" imgW="1054080" imgH="342720" progId="Equation.3">
                      <p:embed/>
                      <p:pic>
                        <p:nvPicPr>
                          <p:cNvPr id="0" name="Object 10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4" y="1488"/>
                            <a:ext cx="1928" cy="6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962" name="Object 1026"/>
              <p:cNvGraphicFramePr>
                <a:graphicFrameLocks noChangeAspect="1"/>
              </p:cNvGraphicFramePr>
              <p:nvPr/>
            </p:nvGraphicFramePr>
            <p:xfrm>
              <a:off x="2928" y="1983"/>
              <a:ext cx="1200" cy="6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3581" name="Equation" r:id="rId7" imgW="1180800" imgH="660240" progId="Equation.3">
                      <p:embed/>
                    </p:oleObj>
                  </mc:Choice>
                  <mc:Fallback>
                    <p:oleObj name="Equation" r:id="rId7" imgW="1180800" imgH="660240" progId="Equation.3">
                      <p:embed/>
                      <p:pic>
                        <p:nvPicPr>
                          <p:cNvPr id="0" name="Object 10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1983"/>
                            <a:ext cx="1200" cy="6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5658" name="Rectangle 10"/>
            <p:cNvSpPr>
              <a:spLocks noChangeArrowheads="1"/>
            </p:cNvSpPr>
            <p:nvPr/>
          </p:nvSpPr>
          <p:spPr bwMode="auto">
            <a:xfrm>
              <a:off x="144" y="1104"/>
              <a:ext cx="225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Clr>
                  <a:srgbClr val="0000FF"/>
                </a:buClr>
                <a:buFont typeface="Wingdings" pitchFamily="2" charset="2"/>
                <a:buChar char="Ø"/>
              </a:pPr>
              <a:r>
                <a:rPr lang="en-US" altLang="zh-CN" sz="2800" dirty="0">
                  <a:solidFill>
                    <a:srgbClr val="C00000"/>
                  </a:solidFill>
                  <a:latin typeface="Arial" charset="0"/>
                </a:rPr>
                <a:t>     </a:t>
              </a:r>
              <a:r>
                <a:rPr lang="zh-CN" altLang="en-US" sz="2800" b="1" dirty="0">
                  <a:solidFill>
                    <a:srgbClr val="C00000"/>
                  </a:solidFill>
                  <a:latin typeface="Arial" charset="0"/>
                </a:rPr>
                <a:t>动量守恒定律</a:t>
              </a:r>
            </a:p>
          </p:txBody>
        </p:sp>
      </p:grpSp>
      <p:sp>
        <p:nvSpPr>
          <p:cNvPr id="155662" name="Text Box 14"/>
          <p:cNvSpPr txBox="1">
            <a:spLocks noChangeArrowheads="1"/>
          </p:cNvSpPr>
          <p:nvPr/>
        </p:nvSpPr>
        <p:spPr bwMode="auto">
          <a:xfrm>
            <a:off x="152400" y="4191000"/>
            <a:ext cx="88392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         </a:t>
            </a:r>
            <a:r>
              <a:rPr lang="en-US" altLang="zh-CN" sz="2800" dirty="0">
                <a:solidFill>
                  <a:srgbClr val="CC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r>
              <a:rPr lang="zh-CN" altLang="en-US" sz="2800" dirty="0"/>
              <a:t>系统的</a:t>
            </a:r>
            <a:r>
              <a:rPr lang="zh-CN" altLang="en-US" sz="2800" dirty="0">
                <a:solidFill>
                  <a:srgbClr val="000000"/>
                </a:solidFill>
              </a:rPr>
              <a:t>动量守恒</a:t>
            </a:r>
            <a:r>
              <a:rPr lang="zh-CN" altLang="en-US" sz="2800" dirty="0"/>
              <a:t>是指系统的</a:t>
            </a:r>
            <a:r>
              <a:rPr lang="zh-CN" altLang="en-US" sz="2800" dirty="0">
                <a:solidFill>
                  <a:schemeClr val="tx1"/>
                </a:solidFill>
              </a:rPr>
              <a:t>总动量不变，系统内任一物体的动量是可变的</a:t>
            </a:r>
            <a:r>
              <a:rPr lang="en-US" altLang="zh-CN" sz="2800" dirty="0">
                <a:solidFill>
                  <a:schemeClr val="tx1"/>
                </a:solidFill>
              </a:rPr>
              <a:t>,  </a:t>
            </a:r>
            <a:r>
              <a:rPr lang="zh-CN" altLang="en-US" sz="2800" dirty="0">
                <a:solidFill>
                  <a:schemeClr val="tx1"/>
                </a:solidFill>
              </a:rPr>
              <a:t>各物体的动量必</a:t>
            </a:r>
            <a:r>
              <a:rPr lang="zh-CN" altLang="en-US" sz="2800" dirty="0"/>
              <a:t>相对于</a:t>
            </a:r>
            <a:r>
              <a:rPr lang="zh-CN" altLang="en-US" sz="2800" dirty="0">
                <a:solidFill>
                  <a:schemeClr val="tx1"/>
                </a:solidFill>
              </a:rPr>
              <a:t>同一惯性参考</a:t>
            </a:r>
            <a:r>
              <a:rPr lang="zh-CN" altLang="en-US" sz="2800" dirty="0">
                <a:solidFill>
                  <a:srgbClr val="000000"/>
                </a:solidFill>
              </a:rPr>
              <a:t>系 </a:t>
            </a:r>
            <a:r>
              <a:rPr lang="en-US" altLang="zh-CN" sz="28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6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990600" y="2362200"/>
            <a:ext cx="807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）</a:t>
            </a:r>
            <a:r>
              <a:rPr lang="zh-CN" altLang="en-US" sz="2800" dirty="0">
                <a:latin typeface="Arial" charset="0"/>
              </a:rPr>
              <a:t>若</a:t>
            </a:r>
            <a:r>
              <a:rPr lang="zh-CN" altLang="en-US" sz="2800" dirty="0">
                <a:solidFill>
                  <a:srgbClr val="C00000"/>
                </a:solidFill>
                <a:latin typeface="Arial" charset="0"/>
              </a:rPr>
              <a:t>某一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方向</a:t>
            </a:r>
            <a:r>
              <a:rPr lang="zh-CN" altLang="en-US" sz="2800" dirty="0">
                <a:latin typeface="Arial" charset="0"/>
              </a:rPr>
              <a:t>合外力为零</a:t>
            </a:r>
            <a:r>
              <a:rPr lang="en-US" altLang="zh-CN" sz="2800" dirty="0">
                <a:latin typeface="Arial" charset="0"/>
              </a:rPr>
              <a:t>, </a:t>
            </a:r>
            <a:r>
              <a:rPr lang="zh-CN" altLang="en-US" sz="2800" dirty="0">
                <a:latin typeface="Arial" charset="0"/>
              </a:rPr>
              <a:t>则</a:t>
            </a:r>
            <a:r>
              <a:rPr lang="zh-CN" altLang="en-US" sz="2800" dirty="0">
                <a:solidFill>
                  <a:srgbClr val="C00000"/>
                </a:solidFill>
                <a:latin typeface="Arial" charset="0"/>
              </a:rPr>
              <a:t>此</a:t>
            </a:r>
            <a:r>
              <a:rPr lang="zh-CN" altLang="en-US" sz="2800" dirty="0">
                <a:latin typeface="Arial" charset="0"/>
              </a:rPr>
              <a:t>方向动量</a:t>
            </a:r>
            <a:r>
              <a:rPr lang="zh-CN" altLang="en-US" sz="2800" dirty="0">
                <a:solidFill>
                  <a:srgbClr val="C00000"/>
                </a:solidFill>
                <a:latin typeface="Arial" charset="0"/>
              </a:rPr>
              <a:t>守恒</a:t>
            </a:r>
            <a:r>
              <a:rPr lang="zh-CN" altLang="en-US" sz="2800" dirty="0">
                <a:solidFill>
                  <a:srgbClr val="CC0000"/>
                </a:solidFill>
                <a:latin typeface="Arial" charset="0"/>
              </a:rPr>
              <a:t> </a:t>
            </a:r>
            <a:r>
              <a:rPr lang="en-US" altLang="zh-CN" sz="2800" dirty="0">
                <a:latin typeface="Arial" charset="0"/>
              </a:rPr>
              <a:t>.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228600" y="5105400"/>
            <a:ext cx="8991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        4</a:t>
            </a: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）</a:t>
            </a:r>
            <a:r>
              <a:rPr lang="zh-CN" altLang="en-US" sz="2800" dirty="0">
                <a:solidFill>
                  <a:srgbClr val="990033"/>
                </a:solidFill>
                <a:latin typeface="Arial" charset="0"/>
              </a:rPr>
              <a:t> </a:t>
            </a:r>
            <a:r>
              <a:rPr lang="zh-CN" altLang="en-US" sz="2800" dirty="0">
                <a:latin typeface="Arial" charset="0"/>
              </a:rPr>
              <a:t>动量守恒定律只在</a:t>
            </a:r>
            <a:r>
              <a:rPr lang="zh-CN" altLang="en-US" sz="2800" dirty="0">
                <a:solidFill>
                  <a:srgbClr val="C00000"/>
                </a:solidFill>
                <a:latin typeface="Arial" charset="0"/>
              </a:rPr>
              <a:t>惯性参考系</a:t>
            </a:r>
            <a:r>
              <a:rPr lang="zh-CN" altLang="en-US" sz="2800" dirty="0">
                <a:latin typeface="Arial" charset="0"/>
              </a:rPr>
              <a:t>中成立</a:t>
            </a:r>
            <a:r>
              <a:rPr lang="en-US" altLang="zh-CN" sz="2800" dirty="0">
                <a:latin typeface="Arial" charset="0"/>
              </a:rPr>
              <a:t>,  </a:t>
            </a:r>
            <a:r>
              <a:rPr lang="zh-CN" altLang="en-US" sz="2800" dirty="0">
                <a:latin typeface="Arial" charset="0"/>
              </a:rPr>
              <a:t>是自然界最普遍，最基本的定律之一 </a:t>
            </a:r>
            <a:r>
              <a:rPr lang="en-US" altLang="zh-CN" sz="2800" dirty="0">
                <a:latin typeface="Arial" charset="0"/>
              </a:rPr>
              <a:t>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828800" y="2881313"/>
            <a:ext cx="5791200" cy="2300287"/>
            <a:chOff x="1152" y="1959"/>
            <a:chExt cx="3648" cy="1449"/>
          </a:xfrm>
        </p:grpSpPr>
        <p:graphicFrame>
          <p:nvGraphicFramePr>
            <p:cNvPr id="169986" name="Object 2"/>
            <p:cNvGraphicFramePr>
              <a:graphicFrameLocks noChangeAspect="1"/>
            </p:cNvGraphicFramePr>
            <p:nvPr/>
          </p:nvGraphicFramePr>
          <p:xfrm>
            <a:off x="1500" y="1959"/>
            <a:ext cx="3300" cy="1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4602" name="Equation" r:id="rId3" imgW="1815840" imgH="787320" progId="Equation.3">
                    <p:embed/>
                  </p:oleObj>
                </mc:Choice>
                <mc:Fallback>
                  <p:oleObj name="Equation" r:id="rId3" imgW="1815840" imgH="78732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0" y="1959"/>
                          <a:ext cx="3300" cy="14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678" name="AutoShape 6"/>
            <p:cNvSpPr>
              <a:spLocks/>
            </p:cNvSpPr>
            <p:nvPr/>
          </p:nvSpPr>
          <p:spPr bwMode="auto">
            <a:xfrm>
              <a:off x="1152" y="2154"/>
              <a:ext cx="285" cy="1014"/>
            </a:xfrm>
            <a:prstGeom prst="leftBrace">
              <a:avLst>
                <a:gd name="adj1" fmla="val 2964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 sz="280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0" y="457200"/>
            <a:ext cx="8534400" cy="1847850"/>
            <a:chOff x="96" y="384"/>
            <a:chExt cx="5376" cy="1164"/>
          </a:xfrm>
        </p:grpSpPr>
        <p:sp>
          <p:nvSpPr>
            <p:cNvPr id="156680" name="Text Box 8"/>
            <p:cNvSpPr txBox="1">
              <a:spLocks noChangeArrowheads="1"/>
            </p:cNvSpPr>
            <p:nvPr/>
          </p:nvSpPr>
          <p:spPr bwMode="auto">
            <a:xfrm>
              <a:off x="96" y="440"/>
              <a:ext cx="5376" cy="1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Arial" charset="0"/>
                </a:rPr>
                <a:t>          2</a:t>
              </a:r>
              <a:r>
                <a:rPr lang="zh-CN" altLang="en-US" sz="2800" dirty="0">
                  <a:solidFill>
                    <a:schemeClr val="tx1"/>
                  </a:solidFill>
                  <a:latin typeface="Arial" charset="0"/>
                </a:rPr>
                <a:t>）</a:t>
              </a:r>
              <a:r>
                <a:rPr lang="zh-CN" altLang="en-US" sz="2800" dirty="0">
                  <a:solidFill>
                    <a:srgbClr val="000000"/>
                  </a:solidFill>
                  <a:latin typeface="Arial" charset="0"/>
                </a:rPr>
                <a:t>守恒条件   </a:t>
              </a:r>
              <a:r>
                <a:rPr lang="zh-CN" altLang="en-US" sz="2800" dirty="0">
                  <a:latin typeface="Arial" charset="0"/>
                </a:rPr>
                <a:t>合外力为零</a:t>
              </a: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Arial" charset="0"/>
                </a:rPr>
                <a:t>        当 </a:t>
              </a:r>
              <a:r>
                <a:rPr lang="zh-CN" altLang="zh-CN" sz="2800" dirty="0">
                  <a:latin typeface="Arial" charset="0"/>
                </a:rPr>
                <a:t>                 </a:t>
              </a:r>
              <a:r>
                <a:rPr lang="zh-CN" altLang="en-US" sz="2800" dirty="0">
                  <a:latin typeface="Arial" charset="0"/>
                </a:rPr>
                <a:t>   时，可略去外力的作用</a:t>
              </a:r>
              <a:r>
                <a:rPr lang="en-US" altLang="zh-CN" sz="2800" dirty="0">
                  <a:latin typeface="Arial" charset="0"/>
                </a:rPr>
                <a:t>,   </a:t>
              </a:r>
              <a:r>
                <a:rPr lang="zh-CN" altLang="en-US" sz="2800" dirty="0">
                  <a:latin typeface="Arial" charset="0"/>
                </a:rPr>
                <a:t>近似地认为系统动量守恒 </a:t>
              </a:r>
              <a:r>
                <a:rPr lang="en-US" altLang="zh-CN" sz="2800" dirty="0">
                  <a:latin typeface="Arial" charset="0"/>
                </a:rPr>
                <a:t>. </a:t>
              </a:r>
              <a:r>
                <a:rPr lang="zh-CN" altLang="en-US" sz="2800" dirty="0">
                  <a:latin typeface="Arial" charset="0"/>
                </a:rPr>
                <a:t>例如在碰撞</a:t>
              </a:r>
              <a:r>
                <a:rPr lang="en-US" altLang="zh-CN" sz="2800" dirty="0">
                  <a:latin typeface="Arial" charset="0"/>
                </a:rPr>
                <a:t>, </a:t>
              </a:r>
              <a:r>
                <a:rPr lang="zh-CN" altLang="en-US" sz="2800" dirty="0">
                  <a:latin typeface="Arial" charset="0"/>
                </a:rPr>
                <a:t>打击</a:t>
              </a:r>
              <a:r>
                <a:rPr lang="en-US" altLang="zh-CN" sz="2800" dirty="0">
                  <a:latin typeface="Arial" charset="0"/>
                </a:rPr>
                <a:t>, </a:t>
              </a:r>
              <a:r>
                <a:rPr lang="zh-CN" altLang="en-US" sz="2800" dirty="0">
                  <a:latin typeface="Arial" charset="0"/>
                </a:rPr>
                <a:t>爆炸等问题中</a:t>
              </a:r>
              <a:r>
                <a:rPr lang="en-US" altLang="zh-CN" sz="2800" dirty="0">
                  <a:latin typeface="Arial" charset="0"/>
                </a:rPr>
                <a:t>.  </a:t>
              </a:r>
            </a:p>
          </p:txBody>
        </p:sp>
        <p:graphicFrame>
          <p:nvGraphicFramePr>
            <p:cNvPr id="169984" name="Object 0"/>
            <p:cNvGraphicFramePr>
              <a:graphicFrameLocks noChangeAspect="1"/>
            </p:cNvGraphicFramePr>
            <p:nvPr/>
          </p:nvGraphicFramePr>
          <p:xfrm>
            <a:off x="3312" y="384"/>
            <a:ext cx="2160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4603" name="Equation" r:id="rId5" imgW="1104840" imgH="279360" progId="Equation.3">
                    <p:embed/>
                  </p:oleObj>
                </mc:Choice>
                <mc:Fallback>
                  <p:oleObj name="Equation" r:id="rId5" imgW="1104840" imgH="279360" progId="Equation.3">
                    <p:embed/>
                    <p:pic>
                      <p:nvPicPr>
                        <p:cNvPr id="0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84"/>
                          <a:ext cx="2160" cy="5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85" name="Object 1"/>
            <p:cNvGraphicFramePr>
              <a:graphicFrameLocks noChangeAspect="1"/>
            </p:cNvGraphicFramePr>
            <p:nvPr/>
          </p:nvGraphicFramePr>
          <p:xfrm>
            <a:off x="912" y="864"/>
            <a:ext cx="124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4604" name="Equation" r:id="rId7" imgW="698400" imgH="190440" progId="Equation.3">
                    <p:embed/>
                  </p:oleObj>
                </mc:Choice>
                <mc:Fallback>
                  <p:oleObj name="Equation" r:id="rId7" imgW="698400" imgH="190440" progId="Equation.3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864"/>
                          <a:ext cx="1248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Box 10"/>
          <p:cNvSpPr txBox="1"/>
          <p:nvPr/>
        </p:nvSpPr>
        <p:spPr>
          <a:xfrm>
            <a:off x="228600" y="33528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以平抛运动为例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autoUpdateAnimBg="0"/>
      <p:bldP spid="156675" grpId="0" autoUpdateAnimBg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152400" y="685800"/>
            <a:ext cx="8839200" cy="265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C00000"/>
                </a:solidFill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</a:rPr>
              <a:t>1   </a:t>
            </a:r>
            <a:r>
              <a:rPr lang="zh-CN" altLang="en-US" sz="2800" dirty="0"/>
              <a:t>设有一静止的原子核</a:t>
            </a:r>
            <a:r>
              <a:rPr lang="en-US" altLang="zh-CN" sz="2800" dirty="0"/>
              <a:t>,   </a:t>
            </a:r>
            <a:r>
              <a:rPr lang="zh-CN" altLang="en-US" sz="2800" dirty="0"/>
              <a:t>衰变辐射出一个电子和一个中微子后成为一个新的原子核</a:t>
            </a:r>
            <a:r>
              <a:rPr lang="en-US" altLang="zh-CN" sz="2800" dirty="0"/>
              <a:t>. </a:t>
            </a:r>
            <a:r>
              <a:rPr lang="zh-CN" altLang="en-US" sz="2800" dirty="0"/>
              <a:t>已知电子和中微子的运动方向互相垂直</a:t>
            </a:r>
            <a:r>
              <a:rPr lang="en-US" altLang="zh-CN" sz="2800" dirty="0"/>
              <a:t>,   </a:t>
            </a:r>
            <a:r>
              <a:rPr lang="zh-CN" altLang="en-US" sz="2800" dirty="0"/>
              <a:t>电子动量为</a:t>
            </a:r>
            <a:r>
              <a:rPr lang="en-US" altLang="zh-CN" sz="2800" b="0" dirty="0"/>
              <a:t>1.2</a:t>
            </a:r>
            <a:r>
              <a:rPr lang="en-US" altLang="zh-CN" sz="2800" b="0" dirty="0">
                <a:sym typeface="Symbol" pitchFamily="18" charset="2"/>
              </a:rPr>
              <a:t></a:t>
            </a:r>
            <a:r>
              <a:rPr lang="en-US" altLang="zh-CN" sz="2800" b="0" dirty="0"/>
              <a:t>10</a:t>
            </a:r>
            <a:r>
              <a:rPr lang="en-US" altLang="zh-CN" sz="2800" b="0" baseline="30000" dirty="0"/>
              <a:t>-22</a:t>
            </a:r>
            <a:r>
              <a:rPr lang="en-US" altLang="zh-CN" sz="2800" b="0" dirty="0"/>
              <a:t> kg</a:t>
            </a:r>
            <a:r>
              <a:rPr lang="en-US" altLang="zh-CN" sz="2800" b="0" dirty="0">
                <a:cs typeface="Times New Roman" pitchFamily="18" charset="0"/>
              </a:rPr>
              <a:t>·</a:t>
            </a:r>
            <a:r>
              <a:rPr lang="en-US" altLang="zh-CN" sz="2800" b="0" dirty="0"/>
              <a:t>m</a:t>
            </a:r>
            <a:r>
              <a:rPr lang="en-US" altLang="zh-CN" sz="2800" b="0" dirty="0">
                <a:cs typeface="Times New Roman" pitchFamily="18" charset="0"/>
              </a:rPr>
              <a:t>·</a:t>
            </a:r>
            <a:r>
              <a:rPr lang="en-US" altLang="zh-CN" sz="2800" b="0" dirty="0"/>
              <a:t>s</a:t>
            </a:r>
            <a:r>
              <a:rPr lang="en-US" altLang="zh-CN" sz="2800" b="0" baseline="30000" dirty="0"/>
              <a:t>-1</a:t>
            </a:r>
            <a:r>
              <a:rPr lang="en-US" altLang="zh-CN" sz="2800" dirty="0"/>
              <a:t>,</a:t>
            </a:r>
            <a:r>
              <a:rPr lang="zh-CN" altLang="en-US" sz="2800" dirty="0"/>
              <a:t>中微子的动量为  </a:t>
            </a:r>
            <a:r>
              <a:rPr lang="en-US" altLang="zh-CN" sz="2800" b="0" dirty="0"/>
              <a:t>6.4</a:t>
            </a:r>
            <a:r>
              <a:rPr lang="en-US" altLang="zh-CN" sz="2800" b="0" dirty="0">
                <a:sym typeface="Symbol" pitchFamily="18" charset="2"/>
              </a:rPr>
              <a:t></a:t>
            </a:r>
            <a:r>
              <a:rPr lang="en-US" altLang="zh-CN" sz="2800" b="0" dirty="0"/>
              <a:t>10</a:t>
            </a:r>
            <a:r>
              <a:rPr lang="en-US" altLang="zh-CN" sz="2800" b="0" baseline="30000" dirty="0"/>
              <a:t>-23</a:t>
            </a:r>
            <a:r>
              <a:rPr lang="en-US" altLang="zh-CN" sz="2800" b="0" dirty="0"/>
              <a:t> kg</a:t>
            </a:r>
            <a:r>
              <a:rPr lang="en-US" altLang="zh-CN" sz="2800" b="0" dirty="0">
                <a:cs typeface="Times New Roman" pitchFamily="18" charset="0"/>
              </a:rPr>
              <a:t>·</a:t>
            </a:r>
            <a:r>
              <a:rPr lang="en-US" altLang="zh-CN" sz="2800" b="0" dirty="0"/>
              <a:t>m</a:t>
            </a:r>
            <a:r>
              <a:rPr lang="en-US" altLang="zh-CN" sz="2800" b="0" dirty="0">
                <a:cs typeface="Times New Roman" pitchFamily="18" charset="0"/>
              </a:rPr>
              <a:t>·</a:t>
            </a:r>
            <a:r>
              <a:rPr lang="en-US" altLang="zh-CN" sz="2800" b="0" dirty="0"/>
              <a:t>s</a:t>
            </a:r>
            <a:r>
              <a:rPr lang="en-US" altLang="zh-CN" sz="2800" b="0" baseline="30000" dirty="0"/>
              <a:t>-1 </a:t>
            </a:r>
            <a:r>
              <a:rPr lang="en-US" altLang="zh-CN" sz="2800" dirty="0"/>
              <a:t>.  </a:t>
            </a:r>
            <a:r>
              <a:rPr lang="zh-CN" altLang="en-US" sz="2800" dirty="0"/>
              <a:t>问新的原子核的动量的值和方向如何</a:t>
            </a:r>
            <a:r>
              <a:rPr lang="en-US" altLang="zh-CN" sz="2800" dirty="0"/>
              <a:t>?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838200" y="3595688"/>
            <a:ext cx="1295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解</a:t>
            </a:r>
          </a:p>
        </p:txBody>
      </p:sp>
      <p:graphicFrame>
        <p:nvGraphicFramePr>
          <p:cNvPr id="164868" name="Object 4"/>
          <p:cNvGraphicFramePr>
            <a:graphicFrameLocks noChangeAspect="1"/>
          </p:cNvGraphicFramePr>
          <p:nvPr/>
        </p:nvGraphicFramePr>
        <p:xfrm>
          <a:off x="1524000" y="3505200"/>
          <a:ext cx="399573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56" name="Equation" r:id="rId3" imgW="1206360" imgH="253800" progId="Equation.3">
                  <p:embed/>
                </p:oleObj>
              </mc:Choice>
              <mc:Fallback>
                <p:oleObj name="Equation" r:id="rId3" imgW="120636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05200"/>
                        <a:ext cx="3995738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43000" y="5715000"/>
            <a:ext cx="4038600" cy="644525"/>
            <a:chOff x="624" y="3438"/>
            <a:chExt cx="2544" cy="406"/>
          </a:xfrm>
        </p:grpSpPr>
        <p:graphicFrame>
          <p:nvGraphicFramePr>
            <p:cNvPr id="164870" name="Object 6"/>
            <p:cNvGraphicFramePr>
              <a:graphicFrameLocks noChangeAspect="1"/>
            </p:cNvGraphicFramePr>
            <p:nvPr/>
          </p:nvGraphicFramePr>
          <p:xfrm>
            <a:off x="1056" y="3438"/>
            <a:ext cx="2112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57" name="Equation" r:id="rId5" imgW="2197080" imgH="380880" progId="Equation.3">
                    <p:embed/>
                  </p:oleObj>
                </mc:Choice>
                <mc:Fallback>
                  <p:oleObj name="Equation" r:id="rId5" imgW="2197080" imgH="3808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438"/>
                          <a:ext cx="2112" cy="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71" name="Text Box 7"/>
            <p:cNvSpPr txBox="1">
              <a:spLocks noChangeArrowheads="1"/>
            </p:cNvSpPr>
            <p:nvPr/>
          </p:nvSpPr>
          <p:spPr bwMode="auto">
            <a:xfrm>
              <a:off x="624" y="3473"/>
              <a:ext cx="101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即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791200" y="3505200"/>
            <a:ext cx="2895600" cy="2438400"/>
            <a:chOff x="3696" y="2160"/>
            <a:chExt cx="1824" cy="1536"/>
          </a:xfrm>
        </p:grpSpPr>
        <p:sp>
          <p:nvSpPr>
            <p:cNvPr id="164873" name="Rectangle 9"/>
            <p:cNvSpPr>
              <a:spLocks noChangeArrowheads="1"/>
            </p:cNvSpPr>
            <p:nvPr/>
          </p:nvSpPr>
          <p:spPr bwMode="auto">
            <a:xfrm>
              <a:off x="3696" y="2160"/>
              <a:ext cx="1824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4" name="Line 10"/>
            <p:cNvSpPr>
              <a:spLocks noChangeShapeType="1"/>
            </p:cNvSpPr>
            <p:nvPr/>
          </p:nvSpPr>
          <p:spPr bwMode="auto">
            <a:xfrm>
              <a:off x="4416" y="2880"/>
              <a:ext cx="100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75" name="Line 11"/>
            <p:cNvSpPr>
              <a:spLocks noChangeShapeType="1"/>
            </p:cNvSpPr>
            <p:nvPr/>
          </p:nvSpPr>
          <p:spPr bwMode="auto">
            <a:xfrm flipH="1" flipV="1">
              <a:off x="3984" y="2448"/>
              <a:ext cx="432" cy="432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76" name="Line 12"/>
            <p:cNvSpPr>
              <a:spLocks noChangeShapeType="1"/>
            </p:cNvSpPr>
            <p:nvPr/>
          </p:nvSpPr>
          <p:spPr bwMode="auto">
            <a:xfrm flipH="1">
              <a:off x="3840" y="2880"/>
              <a:ext cx="576" cy="576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77" name="Line 13"/>
            <p:cNvSpPr>
              <a:spLocks noChangeShapeType="1"/>
            </p:cNvSpPr>
            <p:nvPr/>
          </p:nvSpPr>
          <p:spPr bwMode="auto">
            <a:xfrm flipH="1">
              <a:off x="3840" y="2880"/>
              <a:ext cx="624" cy="0"/>
            </a:xfrm>
            <a:prstGeom prst="line">
              <a:avLst/>
            </a:prstGeom>
            <a:noFill/>
            <a:ln w="9525">
              <a:solidFill>
                <a:srgbClr val="1C1C1C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78" name="Arc 14"/>
            <p:cNvSpPr>
              <a:spLocks/>
            </p:cNvSpPr>
            <p:nvPr/>
          </p:nvSpPr>
          <p:spPr bwMode="auto">
            <a:xfrm rot="936395" flipH="1" flipV="1">
              <a:off x="4134" y="2900"/>
              <a:ext cx="192" cy="166"/>
            </a:xfrm>
            <a:custGeom>
              <a:avLst/>
              <a:gdLst>
                <a:gd name="G0" fmla="+- 0 0 0"/>
                <a:gd name="G1" fmla="+- 20004 0 0"/>
                <a:gd name="G2" fmla="+- 21600 0 0"/>
                <a:gd name="T0" fmla="*/ 8149 w 21600"/>
                <a:gd name="T1" fmla="*/ 0 h 24985"/>
                <a:gd name="T2" fmla="*/ 21018 w 21600"/>
                <a:gd name="T3" fmla="*/ 24985 h 24985"/>
                <a:gd name="T4" fmla="*/ 0 w 21600"/>
                <a:gd name="T5" fmla="*/ 20004 h 24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4985" fill="none" extrusionOk="0">
                  <a:moveTo>
                    <a:pt x="8148" y="0"/>
                  </a:moveTo>
                  <a:cubicBezTo>
                    <a:pt x="16282" y="3313"/>
                    <a:pt x="21600" y="11221"/>
                    <a:pt x="21600" y="20004"/>
                  </a:cubicBezTo>
                  <a:cubicBezTo>
                    <a:pt x="21600" y="21681"/>
                    <a:pt x="21404" y="23352"/>
                    <a:pt x="21017" y="24984"/>
                  </a:cubicBezTo>
                </a:path>
                <a:path w="21600" h="24985" stroke="0" extrusionOk="0">
                  <a:moveTo>
                    <a:pt x="8148" y="0"/>
                  </a:moveTo>
                  <a:cubicBezTo>
                    <a:pt x="16282" y="3313"/>
                    <a:pt x="21600" y="11221"/>
                    <a:pt x="21600" y="20004"/>
                  </a:cubicBezTo>
                  <a:cubicBezTo>
                    <a:pt x="21600" y="21681"/>
                    <a:pt x="21404" y="23352"/>
                    <a:pt x="21017" y="24984"/>
                  </a:cubicBezTo>
                  <a:lnTo>
                    <a:pt x="0" y="20004"/>
                  </a:lnTo>
                  <a:close/>
                </a:path>
              </a:pathLst>
            </a:custGeom>
            <a:noFill/>
            <a:ln w="19050">
              <a:solidFill>
                <a:srgbClr val="1C1C1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9" name="Arc 15"/>
            <p:cNvSpPr>
              <a:spLocks/>
            </p:cNvSpPr>
            <p:nvPr/>
          </p:nvSpPr>
          <p:spPr bwMode="auto">
            <a:xfrm flipV="1">
              <a:off x="4272" y="2879"/>
              <a:ext cx="288" cy="145"/>
            </a:xfrm>
            <a:custGeom>
              <a:avLst/>
              <a:gdLst>
                <a:gd name="G0" fmla="+- 0 0 0"/>
                <a:gd name="G1" fmla="+- 21594 0 0"/>
                <a:gd name="G2" fmla="+- 21600 0 0"/>
                <a:gd name="T0" fmla="*/ 527 w 21600"/>
                <a:gd name="T1" fmla="*/ 0 h 21594"/>
                <a:gd name="T2" fmla="*/ 21600 w 21600"/>
                <a:gd name="T3" fmla="*/ 21594 h 21594"/>
                <a:gd name="T4" fmla="*/ 0 w 21600"/>
                <a:gd name="T5" fmla="*/ 21594 h 2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</a:path>
                <a:path w="21600" h="2159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19050">
              <a:solidFill>
                <a:srgbClr val="1C1C1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80" name="Text Box 16"/>
            <p:cNvSpPr txBox="1">
              <a:spLocks noChangeArrowheads="1"/>
            </p:cNvSpPr>
            <p:nvPr/>
          </p:nvSpPr>
          <p:spPr bwMode="auto">
            <a:xfrm>
              <a:off x="3936" y="2880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ym typeface="Symbol" pitchFamily="18" charset="2"/>
                </a:rPr>
                <a:t></a:t>
              </a:r>
              <a:endParaRPr lang="en-US" altLang="zh-CN" sz="2800" i="1"/>
            </a:p>
          </p:txBody>
        </p:sp>
        <p:sp>
          <p:nvSpPr>
            <p:cNvPr id="164881" name="Text Box 17"/>
            <p:cNvSpPr txBox="1">
              <a:spLocks noChangeArrowheads="1"/>
            </p:cNvSpPr>
            <p:nvPr/>
          </p:nvSpPr>
          <p:spPr bwMode="auto">
            <a:xfrm>
              <a:off x="4416" y="292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ym typeface="Symbol" pitchFamily="18" charset="2"/>
                </a:rPr>
                <a:t></a:t>
              </a:r>
              <a:endParaRPr lang="en-US" altLang="zh-CN" sz="2800" i="1"/>
            </a:p>
          </p:txBody>
        </p:sp>
        <p:graphicFrame>
          <p:nvGraphicFramePr>
            <p:cNvPr id="164882" name="Object 18"/>
            <p:cNvGraphicFramePr>
              <a:graphicFrameLocks noChangeAspect="1"/>
            </p:cNvGraphicFramePr>
            <p:nvPr/>
          </p:nvGraphicFramePr>
          <p:xfrm>
            <a:off x="4128" y="2256"/>
            <a:ext cx="27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58" name="Equation" r:id="rId7" imgW="330120" imgH="380880" progId="Equation.3">
                    <p:embed/>
                  </p:oleObj>
                </mc:Choice>
                <mc:Fallback>
                  <p:oleObj name="Equation" r:id="rId7" imgW="330120" imgH="3808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256"/>
                          <a:ext cx="27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3" name="Object 19"/>
            <p:cNvGraphicFramePr>
              <a:graphicFrameLocks noChangeAspect="1"/>
            </p:cNvGraphicFramePr>
            <p:nvPr/>
          </p:nvGraphicFramePr>
          <p:xfrm>
            <a:off x="4992" y="2976"/>
            <a:ext cx="39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59" name="Equation" r:id="rId9" imgW="419040" imgH="380880" progId="Equation.3">
                    <p:embed/>
                  </p:oleObj>
                </mc:Choice>
                <mc:Fallback>
                  <p:oleObj name="Equation" r:id="rId9" imgW="419040" imgH="380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976"/>
                          <a:ext cx="392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4" name="Object 20"/>
            <p:cNvGraphicFramePr>
              <a:graphicFrameLocks noChangeAspect="1"/>
            </p:cNvGraphicFramePr>
            <p:nvPr/>
          </p:nvGraphicFramePr>
          <p:xfrm>
            <a:off x="3936" y="3312"/>
            <a:ext cx="32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60" name="Equation" r:id="rId11" imgW="368280" imgH="368280" progId="Equation.3">
                    <p:embed/>
                  </p:oleObj>
                </mc:Choice>
                <mc:Fallback>
                  <p:oleObj name="Equation" r:id="rId11" imgW="368280" imgH="3682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3312"/>
                          <a:ext cx="327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4224" y="2784"/>
              <a:ext cx="96" cy="192"/>
              <a:chOff x="4272" y="2544"/>
              <a:chExt cx="96" cy="192"/>
            </a:xfrm>
          </p:grpSpPr>
          <p:sp>
            <p:nvSpPr>
              <p:cNvPr id="164886" name="Line 22"/>
              <p:cNvSpPr>
                <a:spLocks noChangeShapeType="1"/>
              </p:cNvSpPr>
              <p:nvPr/>
            </p:nvSpPr>
            <p:spPr bwMode="auto">
              <a:xfrm flipH="1">
                <a:off x="4272" y="254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1C1C1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4887" name="Line 23"/>
              <p:cNvSpPr>
                <a:spLocks noChangeShapeType="1"/>
              </p:cNvSpPr>
              <p:nvPr/>
            </p:nvSpPr>
            <p:spPr bwMode="auto">
              <a:xfrm>
                <a:off x="4272" y="2640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1C1C1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85800" y="4343400"/>
            <a:ext cx="5164138" cy="1339850"/>
            <a:chOff x="539" y="2592"/>
            <a:chExt cx="3253" cy="844"/>
          </a:xfrm>
        </p:grpSpPr>
        <p:graphicFrame>
          <p:nvGraphicFramePr>
            <p:cNvPr id="164889" name="Object 25"/>
            <p:cNvGraphicFramePr>
              <a:graphicFrameLocks noChangeAspect="1"/>
            </p:cNvGraphicFramePr>
            <p:nvPr/>
          </p:nvGraphicFramePr>
          <p:xfrm>
            <a:off x="539" y="2592"/>
            <a:ext cx="2116" cy="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61" name="Equation" r:id="rId13" imgW="1917360" imgH="812520" progId="Equation.3">
                    <p:embed/>
                  </p:oleObj>
                </mc:Choice>
                <mc:Fallback>
                  <p:oleObj name="Equation" r:id="rId13" imgW="1917360" imgH="81252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" y="2592"/>
                          <a:ext cx="2116" cy="8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90" name="Text Box 26"/>
            <p:cNvSpPr txBox="1">
              <a:spLocks noChangeArrowheads="1"/>
            </p:cNvSpPr>
            <p:nvPr/>
          </p:nvSpPr>
          <p:spPr bwMode="auto">
            <a:xfrm>
              <a:off x="2640" y="2832"/>
              <a:ext cx="11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恒矢量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457200" y="3810000"/>
            <a:ext cx="3810000" cy="619125"/>
            <a:chOff x="432" y="1104"/>
            <a:chExt cx="2400" cy="390"/>
          </a:xfrm>
        </p:grpSpPr>
        <p:sp>
          <p:nvSpPr>
            <p:cNvPr id="158741" name="Text Box 21"/>
            <p:cNvSpPr txBox="1">
              <a:spLocks noChangeArrowheads="1"/>
            </p:cNvSpPr>
            <p:nvPr/>
          </p:nvSpPr>
          <p:spPr bwMode="auto">
            <a:xfrm>
              <a:off x="432" y="1104"/>
              <a:ext cx="17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又因为</a:t>
              </a:r>
            </a:p>
          </p:txBody>
        </p:sp>
        <p:graphicFrame>
          <p:nvGraphicFramePr>
            <p:cNvPr id="158742" name="Object 22"/>
            <p:cNvGraphicFramePr>
              <a:graphicFrameLocks noChangeAspect="1"/>
            </p:cNvGraphicFramePr>
            <p:nvPr/>
          </p:nvGraphicFramePr>
          <p:xfrm>
            <a:off x="1728" y="1104"/>
            <a:ext cx="1104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16" name="Equation" r:id="rId3" imgW="1028520" imgH="380880" progId="Equation.3">
                    <p:embed/>
                  </p:oleObj>
                </mc:Choice>
                <mc:Fallback>
                  <p:oleObj name="Equation" r:id="rId3" imgW="1028520" imgH="3808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104"/>
                          <a:ext cx="1104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743" name="Object 23"/>
          <p:cNvGraphicFramePr>
            <a:graphicFrameLocks noChangeAspect="1"/>
          </p:cNvGraphicFramePr>
          <p:nvPr/>
        </p:nvGraphicFramePr>
        <p:xfrm>
          <a:off x="4953000" y="3733800"/>
          <a:ext cx="3733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17" name="Equation" r:id="rId5" imgW="1244520" imgH="241200" progId="Equation.3">
                  <p:embed/>
                </p:oleObj>
              </mc:Choice>
              <mc:Fallback>
                <p:oleObj name="Equation" r:id="rId5" imgW="1244520" imgH="241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733800"/>
                        <a:ext cx="3733800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2" name="Object 2"/>
          <p:cNvGraphicFramePr>
            <a:graphicFrameLocks noChangeAspect="1"/>
          </p:cNvGraphicFramePr>
          <p:nvPr/>
        </p:nvGraphicFramePr>
        <p:xfrm>
          <a:off x="2514600" y="5257800"/>
          <a:ext cx="396240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18" name="Equation" r:id="rId7" imgW="1358640" imgH="431640" progId="Equation.3">
                  <p:embed/>
                </p:oleObj>
              </mc:Choice>
              <mc:Fallback>
                <p:oleObj name="Equation" r:id="rId7" imgW="135864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257800"/>
                        <a:ext cx="3962400" cy="1281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457200" y="4648200"/>
            <a:ext cx="8001000" cy="677863"/>
            <a:chOff x="288" y="2976"/>
            <a:chExt cx="5040" cy="427"/>
          </a:xfrm>
        </p:grpSpPr>
        <p:graphicFrame>
          <p:nvGraphicFramePr>
            <p:cNvPr id="158761" name="Object 41"/>
            <p:cNvGraphicFramePr>
              <a:graphicFrameLocks noChangeAspect="1"/>
            </p:cNvGraphicFramePr>
            <p:nvPr/>
          </p:nvGraphicFramePr>
          <p:xfrm>
            <a:off x="2304" y="2976"/>
            <a:ext cx="3024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19" name="Equation" r:id="rId9" imgW="1600200" imgH="241200" progId="Equation.3">
                    <p:embed/>
                  </p:oleObj>
                </mc:Choice>
                <mc:Fallback>
                  <p:oleObj name="Equation" r:id="rId9" imgW="1600200" imgH="2412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976"/>
                          <a:ext cx="3024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8764" name="Text Box 44"/>
            <p:cNvSpPr txBox="1">
              <a:spLocks noChangeArrowheads="1"/>
            </p:cNvSpPr>
            <p:nvPr/>
          </p:nvSpPr>
          <p:spPr bwMode="auto">
            <a:xfrm>
              <a:off x="288" y="3024"/>
              <a:ext cx="24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代入数据计算得</a:t>
              </a:r>
            </a:p>
          </p:txBody>
        </p:sp>
      </p:grp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457200" y="2438400"/>
            <a:ext cx="4348163" cy="1111250"/>
            <a:chOff x="288" y="1392"/>
            <a:chExt cx="2739" cy="700"/>
          </a:xfrm>
        </p:grpSpPr>
        <p:sp>
          <p:nvSpPr>
            <p:cNvPr id="158760" name="Text Box 40"/>
            <p:cNvSpPr txBox="1">
              <a:spLocks noChangeArrowheads="1"/>
            </p:cNvSpPr>
            <p:nvPr/>
          </p:nvSpPr>
          <p:spPr bwMode="auto">
            <a:xfrm>
              <a:off x="288" y="1392"/>
              <a:ext cx="24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系统动量守恒 </a:t>
              </a:r>
              <a:r>
                <a:rPr lang="en-US" altLang="zh-CN" sz="2800"/>
                <a:t>,  </a:t>
              </a:r>
              <a:r>
                <a:rPr lang="zh-CN" altLang="en-US" sz="2800"/>
                <a:t>即</a:t>
              </a:r>
            </a:p>
          </p:txBody>
        </p:sp>
        <p:graphicFrame>
          <p:nvGraphicFramePr>
            <p:cNvPr id="158769" name="Object 49"/>
            <p:cNvGraphicFramePr>
              <a:graphicFrameLocks noChangeAspect="1"/>
            </p:cNvGraphicFramePr>
            <p:nvPr/>
          </p:nvGraphicFramePr>
          <p:xfrm>
            <a:off x="908" y="1728"/>
            <a:ext cx="211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20" name="Equation" r:id="rId11" imgW="2108160" imgH="380880" progId="Equation.3">
                    <p:embed/>
                  </p:oleObj>
                </mc:Choice>
                <mc:Fallback>
                  <p:oleObj name="Equation" r:id="rId11" imgW="2108160" imgH="38088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1728"/>
                          <a:ext cx="2119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5638800" y="914400"/>
            <a:ext cx="2895600" cy="2438400"/>
            <a:chOff x="3696" y="2160"/>
            <a:chExt cx="1824" cy="1536"/>
          </a:xfrm>
        </p:grpSpPr>
        <p:sp>
          <p:nvSpPr>
            <p:cNvPr id="158773" name="Rectangle 53"/>
            <p:cNvSpPr>
              <a:spLocks noChangeArrowheads="1"/>
            </p:cNvSpPr>
            <p:nvPr/>
          </p:nvSpPr>
          <p:spPr bwMode="auto">
            <a:xfrm>
              <a:off x="3696" y="2160"/>
              <a:ext cx="1824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8774" name="Line 54"/>
            <p:cNvSpPr>
              <a:spLocks noChangeShapeType="1"/>
            </p:cNvSpPr>
            <p:nvPr/>
          </p:nvSpPr>
          <p:spPr bwMode="auto">
            <a:xfrm>
              <a:off x="4416" y="2880"/>
              <a:ext cx="100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8775" name="Line 55"/>
            <p:cNvSpPr>
              <a:spLocks noChangeShapeType="1"/>
            </p:cNvSpPr>
            <p:nvPr/>
          </p:nvSpPr>
          <p:spPr bwMode="auto">
            <a:xfrm flipH="1" flipV="1">
              <a:off x="3984" y="2448"/>
              <a:ext cx="432" cy="432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8776" name="Line 56"/>
            <p:cNvSpPr>
              <a:spLocks noChangeShapeType="1"/>
            </p:cNvSpPr>
            <p:nvPr/>
          </p:nvSpPr>
          <p:spPr bwMode="auto">
            <a:xfrm flipH="1">
              <a:off x="3840" y="2880"/>
              <a:ext cx="576" cy="576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8777" name="Line 57"/>
            <p:cNvSpPr>
              <a:spLocks noChangeShapeType="1"/>
            </p:cNvSpPr>
            <p:nvPr/>
          </p:nvSpPr>
          <p:spPr bwMode="auto">
            <a:xfrm flipH="1">
              <a:off x="3840" y="2880"/>
              <a:ext cx="624" cy="0"/>
            </a:xfrm>
            <a:prstGeom prst="line">
              <a:avLst/>
            </a:prstGeom>
            <a:noFill/>
            <a:ln w="9525">
              <a:solidFill>
                <a:srgbClr val="1C1C1C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8778" name="Arc 58"/>
            <p:cNvSpPr>
              <a:spLocks/>
            </p:cNvSpPr>
            <p:nvPr/>
          </p:nvSpPr>
          <p:spPr bwMode="auto">
            <a:xfrm rot="936395" flipH="1" flipV="1">
              <a:off x="4134" y="2900"/>
              <a:ext cx="192" cy="166"/>
            </a:xfrm>
            <a:custGeom>
              <a:avLst/>
              <a:gdLst>
                <a:gd name="G0" fmla="+- 0 0 0"/>
                <a:gd name="G1" fmla="+- 20004 0 0"/>
                <a:gd name="G2" fmla="+- 21600 0 0"/>
                <a:gd name="T0" fmla="*/ 8149 w 21600"/>
                <a:gd name="T1" fmla="*/ 0 h 24985"/>
                <a:gd name="T2" fmla="*/ 21018 w 21600"/>
                <a:gd name="T3" fmla="*/ 24985 h 24985"/>
                <a:gd name="T4" fmla="*/ 0 w 21600"/>
                <a:gd name="T5" fmla="*/ 20004 h 24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4985" fill="none" extrusionOk="0">
                  <a:moveTo>
                    <a:pt x="8148" y="0"/>
                  </a:moveTo>
                  <a:cubicBezTo>
                    <a:pt x="16282" y="3313"/>
                    <a:pt x="21600" y="11221"/>
                    <a:pt x="21600" y="20004"/>
                  </a:cubicBezTo>
                  <a:cubicBezTo>
                    <a:pt x="21600" y="21681"/>
                    <a:pt x="21404" y="23352"/>
                    <a:pt x="21017" y="24984"/>
                  </a:cubicBezTo>
                </a:path>
                <a:path w="21600" h="24985" stroke="0" extrusionOk="0">
                  <a:moveTo>
                    <a:pt x="8148" y="0"/>
                  </a:moveTo>
                  <a:cubicBezTo>
                    <a:pt x="16282" y="3313"/>
                    <a:pt x="21600" y="11221"/>
                    <a:pt x="21600" y="20004"/>
                  </a:cubicBezTo>
                  <a:cubicBezTo>
                    <a:pt x="21600" y="21681"/>
                    <a:pt x="21404" y="23352"/>
                    <a:pt x="21017" y="24984"/>
                  </a:cubicBezTo>
                  <a:lnTo>
                    <a:pt x="0" y="20004"/>
                  </a:lnTo>
                  <a:close/>
                </a:path>
              </a:pathLst>
            </a:custGeom>
            <a:noFill/>
            <a:ln w="19050">
              <a:solidFill>
                <a:srgbClr val="1C1C1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8779" name="Arc 59"/>
            <p:cNvSpPr>
              <a:spLocks/>
            </p:cNvSpPr>
            <p:nvPr/>
          </p:nvSpPr>
          <p:spPr bwMode="auto">
            <a:xfrm flipV="1">
              <a:off x="4272" y="2879"/>
              <a:ext cx="288" cy="145"/>
            </a:xfrm>
            <a:custGeom>
              <a:avLst/>
              <a:gdLst>
                <a:gd name="G0" fmla="+- 0 0 0"/>
                <a:gd name="G1" fmla="+- 21594 0 0"/>
                <a:gd name="G2" fmla="+- 21600 0 0"/>
                <a:gd name="T0" fmla="*/ 527 w 21600"/>
                <a:gd name="T1" fmla="*/ 0 h 21594"/>
                <a:gd name="T2" fmla="*/ 21600 w 21600"/>
                <a:gd name="T3" fmla="*/ 21594 h 21594"/>
                <a:gd name="T4" fmla="*/ 0 w 21600"/>
                <a:gd name="T5" fmla="*/ 21594 h 2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</a:path>
                <a:path w="21600" h="2159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19050">
              <a:solidFill>
                <a:srgbClr val="1C1C1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8780" name="Text Box 60"/>
            <p:cNvSpPr txBox="1">
              <a:spLocks noChangeArrowheads="1"/>
            </p:cNvSpPr>
            <p:nvPr/>
          </p:nvSpPr>
          <p:spPr bwMode="auto">
            <a:xfrm>
              <a:off x="3936" y="2880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ym typeface="Symbol" pitchFamily="18" charset="2"/>
                </a:rPr>
                <a:t></a:t>
              </a:r>
              <a:endParaRPr lang="en-US" altLang="zh-CN" sz="2800" i="1"/>
            </a:p>
          </p:txBody>
        </p:sp>
        <p:sp>
          <p:nvSpPr>
            <p:cNvPr id="158781" name="Text Box 61"/>
            <p:cNvSpPr txBox="1">
              <a:spLocks noChangeArrowheads="1"/>
            </p:cNvSpPr>
            <p:nvPr/>
          </p:nvSpPr>
          <p:spPr bwMode="auto">
            <a:xfrm>
              <a:off x="4416" y="292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ym typeface="Symbol" pitchFamily="18" charset="2"/>
                </a:rPr>
                <a:t></a:t>
              </a:r>
              <a:endParaRPr lang="en-US" altLang="zh-CN" sz="2800" i="1"/>
            </a:p>
          </p:txBody>
        </p:sp>
        <p:graphicFrame>
          <p:nvGraphicFramePr>
            <p:cNvPr id="158782" name="Object 62"/>
            <p:cNvGraphicFramePr>
              <a:graphicFrameLocks noChangeAspect="1"/>
            </p:cNvGraphicFramePr>
            <p:nvPr/>
          </p:nvGraphicFramePr>
          <p:xfrm>
            <a:off x="4128" y="2256"/>
            <a:ext cx="27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21" name="Equation" r:id="rId13" imgW="330120" imgH="380880" progId="Equation.3">
                    <p:embed/>
                  </p:oleObj>
                </mc:Choice>
                <mc:Fallback>
                  <p:oleObj name="Equation" r:id="rId13" imgW="330120" imgH="38088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256"/>
                          <a:ext cx="27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83" name="Object 63"/>
            <p:cNvGraphicFramePr>
              <a:graphicFrameLocks noChangeAspect="1"/>
            </p:cNvGraphicFramePr>
            <p:nvPr/>
          </p:nvGraphicFramePr>
          <p:xfrm>
            <a:off x="4992" y="2976"/>
            <a:ext cx="39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22" name="Equation" r:id="rId15" imgW="419040" imgH="380880" progId="Equation.3">
                    <p:embed/>
                  </p:oleObj>
                </mc:Choice>
                <mc:Fallback>
                  <p:oleObj name="Equation" r:id="rId15" imgW="419040" imgH="38088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976"/>
                          <a:ext cx="392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84" name="Object 64"/>
            <p:cNvGraphicFramePr>
              <a:graphicFrameLocks noChangeAspect="1"/>
            </p:cNvGraphicFramePr>
            <p:nvPr/>
          </p:nvGraphicFramePr>
          <p:xfrm>
            <a:off x="3936" y="3312"/>
            <a:ext cx="32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23" name="Equation" r:id="rId17" imgW="368280" imgH="368280" progId="Equation.3">
                    <p:embed/>
                  </p:oleObj>
                </mc:Choice>
                <mc:Fallback>
                  <p:oleObj name="Equation" r:id="rId17" imgW="368280" imgH="36828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3312"/>
                          <a:ext cx="327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65"/>
            <p:cNvGrpSpPr>
              <a:grpSpLocks/>
            </p:cNvGrpSpPr>
            <p:nvPr/>
          </p:nvGrpSpPr>
          <p:grpSpPr bwMode="auto">
            <a:xfrm>
              <a:off x="4224" y="2784"/>
              <a:ext cx="96" cy="192"/>
              <a:chOff x="4272" y="2544"/>
              <a:chExt cx="96" cy="192"/>
            </a:xfrm>
          </p:grpSpPr>
          <p:sp>
            <p:nvSpPr>
              <p:cNvPr id="158786" name="Line 66"/>
              <p:cNvSpPr>
                <a:spLocks noChangeShapeType="1"/>
              </p:cNvSpPr>
              <p:nvPr/>
            </p:nvSpPr>
            <p:spPr bwMode="auto">
              <a:xfrm flipH="1">
                <a:off x="4272" y="254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1C1C1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8787" name="Line 67"/>
              <p:cNvSpPr>
                <a:spLocks noChangeShapeType="1"/>
              </p:cNvSpPr>
              <p:nvPr/>
            </p:nvSpPr>
            <p:spPr bwMode="auto">
              <a:xfrm>
                <a:off x="4272" y="2640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1C1C1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</p:grpSp>
      <p:graphicFrame>
        <p:nvGraphicFramePr>
          <p:cNvPr id="158789" name="Object 69"/>
          <p:cNvGraphicFramePr>
            <a:graphicFrameLocks noChangeAspect="1"/>
          </p:cNvGraphicFramePr>
          <p:nvPr/>
        </p:nvGraphicFramePr>
        <p:xfrm>
          <a:off x="838200" y="838200"/>
          <a:ext cx="4343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24" name="Equation" r:id="rId19" imgW="2984400" imgH="419040" progId="Equation.3">
                  <p:embed/>
                </p:oleObj>
              </mc:Choice>
              <mc:Fallback>
                <p:oleObj name="Equation" r:id="rId19" imgW="2984400" imgH="41904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838200"/>
                        <a:ext cx="4343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90" name="Object 70"/>
          <p:cNvGraphicFramePr>
            <a:graphicFrameLocks noChangeAspect="1"/>
          </p:cNvGraphicFramePr>
          <p:nvPr/>
        </p:nvGraphicFramePr>
        <p:xfrm>
          <a:off x="838200" y="1597025"/>
          <a:ext cx="44196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25" name="Equation" r:id="rId21" imgW="3022560" imgH="419040" progId="Equation.3">
                  <p:embed/>
                </p:oleObj>
              </mc:Choice>
              <mc:Fallback>
                <p:oleObj name="Equation" r:id="rId21" imgW="3022560" imgH="41904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97025"/>
                        <a:ext cx="44196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76200" y="533400"/>
            <a:ext cx="891540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       </a:t>
            </a:r>
            <a:r>
              <a:rPr lang="zh-CN" altLang="en-US" sz="2800" b="1" dirty="0">
                <a:solidFill>
                  <a:srgbClr val="C00000"/>
                </a:solidFill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</a:rPr>
              <a:t>2   </a:t>
            </a:r>
            <a:r>
              <a:rPr lang="zh-CN" altLang="en-US" sz="2800" dirty="0"/>
              <a:t>一枚返回式火箭以 </a:t>
            </a:r>
            <a:r>
              <a:rPr lang="en-US" altLang="zh-CN" sz="2800" b="0" dirty="0"/>
              <a:t>2.5 </a:t>
            </a:r>
            <a:r>
              <a:rPr lang="en-US" altLang="zh-CN" sz="2800" b="0" dirty="0">
                <a:sym typeface="Symbol" pitchFamily="18" charset="2"/>
              </a:rPr>
              <a:t></a:t>
            </a:r>
            <a:r>
              <a:rPr lang="en-US" altLang="zh-CN" sz="2800" b="0" dirty="0"/>
              <a:t>10</a:t>
            </a:r>
            <a:r>
              <a:rPr lang="en-US" altLang="zh-CN" sz="2800" b="0" baseline="30000" dirty="0"/>
              <a:t>3</a:t>
            </a:r>
            <a:r>
              <a:rPr lang="en-US" altLang="zh-CN" sz="2800" b="0" dirty="0"/>
              <a:t> m</a:t>
            </a:r>
            <a:r>
              <a:rPr lang="en-US" altLang="zh-CN" sz="2800" b="0" dirty="0">
                <a:cs typeface="Times New Roman" pitchFamily="18" charset="0"/>
              </a:rPr>
              <a:t>·</a:t>
            </a:r>
            <a:r>
              <a:rPr lang="en-US" altLang="zh-CN" sz="2800" b="0" dirty="0"/>
              <a:t>s</a:t>
            </a:r>
            <a:r>
              <a:rPr lang="en-US" altLang="zh-CN" sz="2800" b="0" baseline="30000" dirty="0"/>
              <a:t>-1 </a:t>
            </a:r>
            <a:r>
              <a:rPr lang="zh-CN" altLang="en-US" sz="2800" dirty="0"/>
              <a:t>的速率相对惯性系 </a:t>
            </a:r>
            <a:r>
              <a:rPr lang="en-US" altLang="zh-CN" sz="2800" dirty="0"/>
              <a:t>S </a:t>
            </a:r>
            <a:r>
              <a:rPr lang="zh-CN" altLang="en-US" sz="2800" dirty="0"/>
              <a:t>沿 </a:t>
            </a:r>
            <a:r>
              <a:rPr lang="en-US" altLang="zh-CN" sz="2800" i="1" dirty="0"/>
              <a:t>Ox </a:t>
            </a:r>
            <a:r>
              <a:rPr lang="zh-CN" altLang="en-US" sz="2800" dirty="0"/>
              <a:t>轴正向飞行</a:t>
            </a:r>
            <a:r>
              <a:rPr lang="en-US" altLang="zh-CN" sz="2800" dirty="0"/>
              <a:t>.  </a:t>
            </a:r>
            <a:r>
              <a:rPr lang="zh-CN" altLang="en-US" sz="2800" dirty="0"/>
              <a:t>设空气阻力不计</a:t>
            </a:r>
            <a:r>
              <a:rPr lang="en-US" altLang="zh-CN" sz="2800" dirty="0"/>
              <a:t>.  </a:t>
            </a:r>
            <a:r>
              <a:rPr lang="zh-CN" altLang="en-US" sz="2800" dirty="0"/>
              <a:t>现由控制系统使火箭分离为两部分</a:t>
            </a:r>
            <a:r>
              <a:rPr lang="en-US" altLang="zh-CN" sz="2800" dirty="0"/>
              <a:t>,   </a:t>
            </a:r>
            <a:r>
              <a:rPr lang="zh-CN" altLang="en-US" sz="2800" dirty="0"/>
              <a:t>前方部分是质量为 </a:t>
            </a:r>
            <a:r>
              <a:rPr lang="en-US" altLang="zh-CN" sz="2800" b="0" dirty="0"/>
              <a:t>100kg  </a:t>
            </a:r>
            <a:r>
              <a:rPr lang="zh-CN" altLang="en-US" sz="2800" dirty="0"/>
              <a:t>的仪器舱</a:t>
            </a:r>
            <a:r>
              <a:rPr lang="en-US" altLang="zh-CN" sz="2800" dirty="0"/>
              <a:t>,  </a:t>
            </a:r>
            <a:r>
              <a:rPr lang="zh-CN" altLang="en-US" sz="2800" dirty="0"/>
              <a:t>后方部分是质量为 </a:t>
            </a:r>
            <a:r>
              <a:rPr lang="en-US" altLang="zh-CN" sz="2800" b="0" dirty="0"/>
              <a:t>200kg </a:t>
            </a:r>
            <a:r>
              <a:rPr lang="zh-CN" altLang="en-US" sz="2800" dirty="0"/>
              <a:t>的火箭容器</a:t>
            </a:r>
            <a:r>
              <a:rPr lang="en-US" altLang="zh-CN" sz="2800" dirty="0"/>
              <a:t>. </a:t>
            </a:r>
            <a:r>
              <a:rPr lang="zh-CN" altLang="en-US" sz="2800" dirty="0"/>
              <a:t>若仪器舱相对火箭容器的水平速率为   </a:t>
            </a:r>
            <a:r>
              <a:rPr lang="en-US" altLang="zh-CN" sz="2800" b="0" dirty="0"/>
              <a:t>1.0 </a:t>
            </a:r>
            <a:r>
              <a:rPr lang="en-US" altLang="zh-CN" sz="2800" b="0" dirty="0">
                <a:sym typeface="Symbol" pitchFamily="18" charset="2"/>
              </a:rPr>
              <a:t></a:t>
            </a:r>
            <a:r>
              <a:rPr lang="en-US" altLang="zh-CN" sz="2800" b="0" dirty="0"/>
              <a:t>10</a:t>
            </a:r>
            <a:r>
              <a:rPr lang="en-US" altLang="zh-CN" sz="2800" b="0" baseline="30000" dirty="0"/>
              <a:t>3</a:t>
            </a:r>
            <a:r>
              <a:rPr lang="en-US" altLang="zh-CN" sz="2800" b="0" dirty="0"/>
              <a:t> m</a:t>
            </a:r>
            <a:r>
              <a:rPr lang="en-US" altLang="zh-CN" sz="2800" b="0" dirty="0">
                <a:cs typeface="Times New Roman" pitchFamily="18" charset="0"/>
              </a:rPr>
              <a:t>·</a:t>
            </a:r>
            <a:r>
              <a:rPr lang="en-US" altLang="zh-CN" sz="2800" b="0" dirty="0"/>
              <a:t>s</a:t>
            </a:r>
            <a:r>
              <a:rPr lang="en-US" altLang="zh-CN" sz="2800" b="0" baseline="30000" dirty="0"/>
              <a:t>-1 </a:t>
            </a:r>
            <a:r>
              <a:rPr lang="en-US" altLang="zh-CN" sz="2800" dirty="0"/>
              <a:t>.  </a:t>
            </a:r>
            <a:r>
              <a:rPr lang="zh-CN" altLang="en-US" sz="2800" dirty="0"/>
              <a:t>求仪器舱和火箭容器相对惯性系的速度 </a:t>
            </a:r>
            <a:r>
              <a:rPr lang="en-US" altLang="zh-CN" sz="2800" dirty="0"/>
              <a:t>.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1219200" y="3657600"/>
            <a:ext cx="6781800" cy="2895600"/>
            <a:chOff x="768" y="2208"/>
            <a:chExt cx="4272" cy="1824"/>
          </a:xfrm>
        </p:grpSpPr>
        <p:sp>
          <p:nvSpPr>
            <p:cNvPr id="159748" name="Rectangle 4"/>
            <p:cNvSpPr>
              <a:spLocks noChangeArrowheads="1"/>
            </p:cNvSpPr>
            <p:nvPr/>
          </p:nvSpPr>
          <p:spPr bwMode="auto">
            <a:xfrm>
              <a:off x="768" y="2208"/>
              <a:ext cx="4272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49" name="Line 5"/>
            <p:cNvSpPr>
              <a:spLocks noChangeShapeType="1"/>
            </p:cNvSpPr>
            <p:nvPr/>
          </p:nvSpPr>
          <p:spPr bwMode="auto">
            <a:xfrm flipV="1">
              <a:off x="1632" y="2304"/>
              <a:ext cx="0" cy="1104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0" name="Line 6"/>
            <p:cNvSpPr>
              <a:spLocks noChangeShapeType="1"/>
            </p:cNvSpPr>
            <p:nvPr/>
          </p:nvSpPr>
          <p:spPr bwMode="auto">
            <a:xfrm flipH="1">
              <a:off x="1152" y="3385"/>
              <a:ext cx="483" cy="503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51" name="Object 7"/>
            <p:cNvGraphicFramePr>
              <a:graphicFrameLocks noChangeAspect="1"/>
            </p:cNvGraphicFramePr>
            <p:nvPr/>
          </p:nvGraphicFramePr>
          <p:xfrm>
            <a:off x="4241" y="3456"/>
            <a:ext cx="2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46" name="公式" r:id="rId3" imgW="177480" imgH="190440" progId="Equation.3">
                    <p:embed/>
                  </p:oleObj>
                </mc:Choice>
                <mc:Fallback>
                  <p:oleObj name="公式" r:id="rId3" imgW="177480" imgH="1904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456"/>
                          <a:ext cx="2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52" name="Object 8"/>
            <p:cNvGraphicFramePr>
              <a:graphicFrameLocks noChangeAspect="1"/>
            </p:cNvGraphicFramePr>
            <p:nvPr/>
          </p:nvGraphicFramePr>
          <p:xfrm>
            <a:off x="935" y="3720"/>
            <a:ext cx="26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47" name="Equation" r:id="rId5" imgW="126720" imgH="126720" progId="Equation.3">
                    <p:embed/>
                  </p:oleObj>
                </mc:Choice>
                <mc:Fallback>
                  <p:oleObj name="Equation" r:id="rId5" imgW="126720" imgH="12672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3720"/>
                          <a:ext cx="265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53" name="Object 9"/>
            <p:cNvGraphicFramePr>
              <a:graphicFrameLocks noChangeAspect="1"/>
            </p:cNvGraphicFramePr>
            <p:nvPr/>
          </p:nvGraphicFramePr>
          <p:xfrm>
            <a:off x="1344" y="2332"/>
            <a:ext cx="2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48" name="公式" r:id="rId7" imgW="190440" imgH="241200" progId="Equation.3">
                    <p:embed/>
                  </p:oleObj>
                </mc:Choice>
                <mc:Fallback>
                  <p:oleObj name="公式" r:id="rId7" imgW="190440" imgH="241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332"/>
                          <a:ext cx="287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54" name="Object 10"/>
            <p:cNvGraphicFramePr>
              <a:graphicFrameLocks noChangeAspect="1"/>
            </p:cNvGraphicFramePr>
            <p:nvPr/>
          </p:nvGraphicFramePr>
          <p:xfrm>
            <a:off x="1514" y="3408"/>
            <a:ext cx="26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49" name="Equation" r:id="rId9" imgW="126720" imgH="139680" progId="">
                    <p:embed/>
                  </p:oleObj>
                </mc:Choice>
                <mc:Fallback>
                  <p:oleObj name="Equation" r:id="rId9" imgW="126720" imgH="139680" progId="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4" y="3408"/>
                          <a:ext cx="26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55" name="Line 11"/>
            <p:cNvSpPr>
              <a:spLocks noChangeShapeType="1"/>
            </p:cNvSpPr>
            <p:nvPr/>
          </p:nvSpPr>
          <p:spPr bwMode="auto">
            <a:xfrm flipV="1">
              <a:off x="3216" y="2304"/>
              <a:ext cx="0" cy="1104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>
              <a:off x="3216" y="3408"/>
              <a:ext cx="1344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7" name="Line 13"/>
            <p:cNvSpPr>
              <a:spLocks noChangeShapeType="1"/>
            </p:cNvSpPr>
            <p:nvPr/>
          </p:nvSpPr>
          <p:spPr bwMode="auto">
            <a:xfrm flipH="1">
              <a:off x="2736" y="3385"/>
              <a:ext cx="483" cy="503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58" name="Object 14"/>
            <p:cNvGraphicFramePr>
              <a:graphicFrameLocks noChangeAspect="1"/>
            </p:cNvGraphicFramePr>
            <p:nvPr/>
          </p:nvGraphicFramePr>
          <p:xfrm>
            <a:off x="4416" y="3360"/>
            <a:ext cx="33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0" name="Equation" r:id="rId11" imgW="152280" imgH="177480" progId="Equation.3">
                    <p:embed/>
                  </p:oleObj>
                </mc:Choice>
                <mc:Fallback>
                  <p:oleObj name="Equation" r:id="rId11" imgW="15228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3360"/>
                          <a:ext cx="336" cy="3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59" name="Object 15"/>
            <p:cNvGraphicFramePr>
              <a:graphicFrameLocks noChangeAspect="1"/>
            </p:cNvGraphicFramePr>
            <p:nvPr/>
          </p:nvGraphicFramePr>
          <p:xfrm>
            <a:off x="2499" y="3696"/>
            <a:ext cx="28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1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" y="3696"/>
                          <a:ext cx="285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60" name="Object 16"/>
            <p:cNvGraphicFramePr>
              <a:graphicFrameLocks noChangeAspect="1"/>
            </p:cNvGraphicFramePr>
            <p:nvPr/>
          </p:nvGraphicFramePr>
          <p:xfrm>
            <a:off x="2880" y="2304"/>
            <a:ext cx="365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2" name="Equation" r:id="rId15" imgW="164880" imgH="203040" progId="Equation.3">
                    <p:embed/>
                  </p:oleObj>
                </mc:Choice>
                <mc:Fallback>
                  <p:oleObj name="Equation" r:id="rId15" imgW="164880" imgH="2030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304"/>
                          <a:ext cx="365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61" name="Line 17"/>
            <p:cNvSpPr>
              <a:spLocks noChangeShapeType="1"/>
            </p:cNvSpPr>
            <p:nvPr/>
          </p:nvSpPr>
          <p:spPr bwMode="auto">
            <a:xfrm flipH="1">
              <a:off x="1632" y="3408"/>
              <a:ext cx="1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59762" name="Object 18"/>
            <p:cNvGraphicFramePr>
              <a:graphicFrameLocks noChangeAspect="1"/>
            </p:cNvGraphicFramePr>
            <p:nvPr/>
          </p:nvGraphicFramePr>
          <p:xfrm>
            <a:off x="1756" y="2284"/>
            <a:ext cx="20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3" name="Equation" r:id="rId17" imgW="152280" imgH="215640" progId="Equation.3">
                    <p:embed/>
                  </p:oleObj>
                </mc:Choice>
                <mc:Fallback>
                  <p:oleObj name="Equation" r:id="rId17" imgW="152280" imgH="2156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6" y="2284"/>
                          <a:ext cx="20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63" name="Object 19"/>
            <p:cNvGraphicFramePr>
              <a:graphicFrameLocks noChangeAspect="1"/>
            </p:cNvGraphicFramePr>
            <p:nvPr/>
          </p:nvGraphicFramePr>
          <p:xfrm>
            <a:off x="3310" y="2286"/>
            <a:ext cx="25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4" name="Equation" r:id="rId19" imgW="203040" imgH="279360" progId="Equation.3">
                    <p:embed/>
                  </p:oleObj>
                </mc:Choice>
                <mc:Fallback>
                  <p:oleObj name="Equation" r:id="rId19" imgW="203040" imgH="27936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0" y="2286"/>
                          <a:ext cx="255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64" name="Object 20"/>
            <p:cNvGraphicFramePr>
              <a:graphicFrameLocks noChangeAspect="1"/>
            </p:cNvGraphicFramePr>
            <p:nvPr/>
          </p:nvGraphicFramePr>
          <p:xfrm>
            <a:off x="3072" y="3377"/>
            <a:ext cx="318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5" name="Equation" r:id="rId21" imgW="152280" imgH="177480" progId="Equation.3">
                    <p:embed/>
                  </p:oleObj>
                </mc:Choice>
                <mc:Fallback>
                  <p:oleObj name="Equation" r:id="rId21" imgW="152280" imgH="1774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377"/>
                          <a:ext cx="318" cy="3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65" name="Line 21"/>
            <p:cNvSpPr>
              <a:spLocks noChangeShapeType="1"/>
            </p:cNvSpPr>
            <p:nvPr/>
          </p:nvSpPr>
          <p:spPr bwMode="auto">
            <a:xfrm>
              <a:off x="2016" y="2976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9766" name="Line 22"/>
            <p:cNvSpPr>
              <a:spLocks noChangeShapeType="1"/>
            </p:cNvSpPr>
            <p:nvPr/>
          </p:nvSpPr>
          <p:spPr bwMode="auto">
            <a:xfrm>
              <a:off x="3792" y="297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9767" name="Freeform 23"/>
            <p:cNvSpPr>
              <a:spLocks/>
            </p:cNvSpPr>
            <p:nvPr/>
          </p:nvSpPr>
          <p:spPr bwMode="auto">
            <a:xfrm>
              <a:off x="2400" y="3158"/>
              <a:ext cx="288" cy="11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9768" name="Rectangle 24"/>
            <p:cNvSpPr>
              <a:spLocks noChangeArrowheads="1"/>
            </p:cNvSpPr>
            <p:nvPr/>
          </p:nvSpPr>
          <p:spPr bwMode="auto">
            <a:xfrm>
              <a:off x="2030" y="3158"/>
              <a:ext cx="411" cy="11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1824" y="3120"/>
              <a:ext cx="370" cy="192"/>
              <a:chOff x="672" y="2688"/>
              <a:chExt cx="432" cy="240"/>
            </a:xfrm>
          </p:grpSpPr>
          <p:sp>
            <p:nvSpPr>
              <p:cNvPr id="159770" name="AutoShape 26"/>
              <p:cNvSpPr>
                <a:spLocks noChangeArrowheads="1"/>
              </p:cNvSpPr>
              <p:nvPr/>
            </p:nvSpPr>
            <p:spPr bwMode="auto">
              <a:xfrm flipH="1">
                <a:off x="672" y="283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9771" name="AutoShape 27"/>
              <p:cNvSpPr>
                <a:spLocks noChangeArrowheads="1"/>
              </p:cNvSpPr>
              <p:nvPr/>
            </p:nvSpPr>
            <p:spPr bwMode="auto">
              <a:xfrm>
                <a:off x="672" y="288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9772" name="AutoShape 28"/>
              <p:cNvSpPr>
                <a:spLocks noChangeArrowheads="1"/>
              </p:cNvSpPr>
              <p:nvPr/>
            </p:nvSpPr>
            <p:spPr bwMode="auto">
              <a:xfrm flipH="1">
                <a:off x="672" y="268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9773" name="AutoShape 29"/>
              <p:cNvSpPr>
                <a:spLocks noChangeArrowheads="1"/>
              </p:cNvSpPr>
              <p:nvPr/>
            </p:nvSpPr>
            <p:spPr bwMode="auto">
              <a:xfrm>
                <a:off x="672" y="2736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59774" name="Freeform 30"/>
            <p:cNvSpPr>
              <a:spLocks/>
            </p:cNvSpPr>
            <p:nvPr/>
          </p:nvSpPr>
          <p:spPr bwMode="auto">
            <a:xfrm>
              <a:off x="3792" y="3168"/>
              <a:ext cx="288" cy="11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2832" y="3120"/>
              <a:ext cx="617" cy="192"/>
              <a:chOff x="672" y="2688"/>
              <a:chExt cx="720" cy="240"/>
            </a:xfrm>
          </p:grpSpPr>
          <p:sp>
            <p:nvSpPr>
              <p:cNvPr id="159776" name="Rectangle 32"/>
              <p:cNvSpPr>
                <a:spLocks noChangeArrowheads="1"/>
              </p:cNvSpPr>
              <p:nvPr/>
            </p:nvSpPr>
            <p:spPr bwMode="auto">
              <a:xfrm>
                <a:off x="912" y="2736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672" y="2688"/>
                <a:ext cx="432" cy="240"/>
                <a:chOff x="672" y="2688"/>
                <a:chExt cx="432" cy="240"/>
              </a:xfrm>
            </p:grpSpPr>
            <p:sp>
              <p:nvSpPr>
                <p:cNvPr id="159778" name="AutoShape 34"/>
                <p:cNvSpPr>
                  <a:spLocks noChangeArrowheads="1"/>
                </p:cNvSpPr>
                <p:nvPr/>
              </p:nvSpPr>
              <p:spPr bwMode="auto">
                <a:xfrm flipH="1">
                  <a:off x="672" y="283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9779" name="AutoShape 35"/>
                <p:cNvSpPr>
                  <a:spLocks noChangeArrowheads="1"/>
                </p:cNvSpPr>
                <p:nvPr/>
              </p:nvSpPr>
              <p:spPr bwMode="auto">
                <a:xfrm>
                  <a:off x="672" y="288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9780" name="AutoShape 36"/>
                <p:cNvSpPr>
                  <a:spLocks noChangeArrowheads="1"/>
                </p:cNvSpPr>
                <p:nvPr/>
              </p:nvSpPr>
              <p:spPr bwMode="auto">
                <a:xfrm flipH="1">
                  <a:off x="672" y="268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9781" name="AutoShape 37"/>
                <p:cNvSpPr>
                  <a:spLocks noChangeArrowheads="1"/>
                </p:cNvSpPr>
                <p:nvPr/>
              </p:nvSpPr>
              <p:spPr bwMode="auto">
                <a:xfrm>
                  <a:off x="672" y="2736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</p:grpSp>
        <p:graphicFrame>
          <p:nvGraphicFramePr>
            <p:cNvPr id="159782" name="Object 38"/>
            <p:cNvGraphicFramePr>
              <a:graphicFrameLocks noChangeAspect="1"/>
            </p:cNvGraphicFramePr>
            <p:nvPr/>
          </p:nvGraphicFramePr>
          <p:xfrm>
            <a:off x="2163" y="2592"/>
            <a:ext cx="27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6" name="Equation" r:id="rId23" imgW="203040" imgH="253800" progId="Equation.3">
                    <p:embed/>
                  </p:oleObj>
                </mc:Choice>
                <mc:Fallback>
                  <p:oleObj name="Equation" r:id="rId23" imgW="203040" imgH="2538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3" y="2592"/>
                          <a:ext cx="27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83" name="Object 39"/>
            <p:cNvGraphicFramePr>
              <a:graphicFrameLocks noChangeAspect="1"/>
            </p:cNvGraphicFramePr>
            <p:nvPr/>
          </p:nvGraphicFramePr>
          <p:xfrm>
            <a:off x="3792" y="2592"/>
            <a:ext cx="32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57" name="Equation" r:id="rId25" imgW="266400" imgH="279360" progId="Equation.3">
                    <p:embed/>
                  </p:oleObj>
                </mc:Choice>
                <mc:Fallback>
                  <p:oleObj name="Equation" r:id="rId25" imgW="266400" imgH="27936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592"/>
                          <a:ext cx="322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3733800" y="846138"/>
            <a:ext cx="5181600" cy="2590800"/>
            <a:chOff x="2352" y="533"/>
            <a:chExt cx="3264" cy="1632"/>
          </a:xfrm>
        </p:grpSpPr>
        <p:sp>
          <p:nvSpPr>
            <p:cNvPr id="160772" name="Rectangle 4"/>
            <p:cNvSpPr>
              <a:spLocks noChangeArrowheads="1"/>
            </p:cNvSpPr>
            <p:nvPr/>
          </p:nvSpPr>
          <p:spPr bwMode="auto">
            <a:xfrm>
              <a:off x="2352" y="533"/>
              <a:ext cx="3247" cy="16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73" name="Line 5"/>
            <p:cNvSpPr>
              <a:spLocks noChangeShapeType="1"/>
            </p:cNvSpPr>
            <p:nvPr/>
          </p:nvSpPr>
          <p:spPr bwMode="auto">
            <a:xfrm flipV="1">
              <a:off x="2957" y="652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74" name="Line 6"/>
            <p:cNvSpPr>
              <a:spLocks noChangeShapeType="1"/>
            </p:cNvSpPr>
            <p:nvPr/>
          </p:nvSpPr>
          <p:spPr bwMode="auto">
            <a:xfrm flipH="1">
              <a:off x="2548" y="1628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0" name="Object 12"/>
            <p:cNvGraphicFramePr>
              <a:graphicFrameLocks noChangeAspect="1"/>
            </p:cNvGraphicFramePr>
            <p:nvPr/>
          </p:nvGraphicFramePr>
          <p:xfrm>
            <a:off x="5181" y="1687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998" name="公式" r:id="rId3" imgW="177480" imgH="190440" progId="Equation.3">
                    <p:embed/>
                  </p:oleObj>
                </mc:Choice>
                <mc:Fallback>
                  <p:oleObj name="公式" r:id="rId3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" y="1687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1" name="Object 13"/>
            <p:cNvGraphicFramePr>
              <a:graphicFrameLocks noChangeAspect="1"/>
            </p:cNvGraphicFramePr>
            <p:nvPr/>
          </p:nvGraphicFramePr>
          <p:xfrm>
            <a:off x="2363" y="1906"/>
            <a:ext cx="22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999" name="Equation" r:id="rId5" imgW="126720" imgH="126720" progId="Equation.3">
                    <p:embed/>
                  </p:oleObj>
                </mc:Choice>
                <mc:Fallback>
                  <p:oleObj name="Equation" r:id="rId5" imgW="1267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3" y="1906"/>
                          <a:ext cx="226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2" name="Object 14"/>
            <p:cNvGraphicFramePr>
              <a:graphicFrameLocks noChangeAspect="1"/>
            </p:cNvGraphicFramePr>
            <p:nvPr/>
          </p:nvGraphicFramePr>
          <p:xfrm>
            <a:off x="2711" y="692"/>
            <a:ext cx="24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0" name="公式" r:id="rId7" imgW="190440" imgH="241200" progId="Equation.3">
                    <p:embed/>
                  </p:oleObj>
                </mc:Choice>
                <mc:Fallback>
                  <p:oleObj name="公式" r:id="rId7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692"/>
                          <a:ext cx="24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3" name="Object 15"/>
            <p:cNvGraphicFramePr>
              <a:graphicFrameLocks noChangeAspect="1"/>
            </p:cNvGraphicFramePr>
            <p:nvPr/>
          </p:nvGraphicFramePr>
          <p:xfrm>
            <a:off x="2857" y="1647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1" name="Equation" r:id="rId9" imgW="126720" imgH="139680" progId="">
                    <p:embed/>
                  </p:oleObj>
                </mc:Choice>
                <mc:Fallback>
                  <p:oleObj name="Equation" r:id="rId9" imgW="126720" imgH="1396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1647"/>
                          <a:ext cx="22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79" name="Line 11"/>
            <p:cNvSpPr>
              <a:spLocks noChangeShapeType="1"/>
            </p:cNvSpPr>
            <p:nvPr/>
          </p:nvSpPr>
          <p:spPr bwMode="auto">
            <a:xfrm flipV="1">
              <a:off x="4307" y="652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80" name="Line 12"/>
            <p:cNvSpPr>
              <a:spLocks noChangeShapeType="1"/>
            </p:cNvSpPr>
            <p:nvPr/>
          </p:nvSpPr>
          <p:spPr bwMode="auto">
            <a:xfrm>
              <a:off x="4307" y="1647"/>
              <a:ext cx="1145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81" name="Line 13"/>
            <p:cNvSpPr>
              <a:spLocks noChangeShapeType="1"/>
            </p:cNvSpPr>
            <p:nvPr/>
          </p:nvSpPr>
          <p:spPr bwMode="auto">
            <a:xfrm flipH="1">
              <a:off x="3898" y="1628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4" name="Object 16"/>
            <p:cNvGraphicFramePr>
              <a:graphicFrameLocks noChangeAspect="1"/>
            </p:cNvGraphicFramePr>
            <p:nvPr/>
          </p:nvGraphicFramePr>
          <p:xfrm>
            <a:off x="5330" y="1608"/>
            <a:ext cx="28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2" name="Equation" r:id="rId11" imgW="152280" imgH="177480" progId="Equation.3">
                    <p:embed/>
                  </p:oleObj>
                </mc:Choice>
                <mc:Fallback>
                  <p:oleObj name="Equation" r:id="rId11" imgW="152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0" y="1608"/>
                          <a:ext cx="28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5" name="Object 17"/>
            <p:cNvGraphicFramePr>
              <a:graphicFrameLocks noChangeAspect="1"/>
            </p:cNvGraphicFramePr>
            <p:nvPr/>
          </p:nvGraphicFramePr>
          <p:xfrm>
            <a:off x="3696" y="1886"/>
            <a:ext cx="2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3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886"/>
                          <a:ext cx="243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6" name="Object 18"/>
            <p:cNvGraphicFramePr>
              <a:graphicFrameLocks noChangeAspect="1"/>
            </p:cNvGraphicFramePr>
            <p:nvPr/>
          </p:nvGraphicFramePr>
          <p:xfrm>
            <a:off x="4021" y="652"/>
            <a:ext cx="31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4" name="Equation" r:id="rId15" imgW="164880" imgH="203040" progId="Equation.3">
                    <p:embed/>
                  </p:oleObj>
                </mc:Choice>
                <mc:Fallback>
                  <p:oleObj name="Equation" r:id="rId15" imgW="164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" y="652"/>
                          <a:ext cx="31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85" name="Line 17"/>
            <p:cNvSpPr>
              <a:spLocks noChangeShapeType="1"/>
            </p:cNvSpPr>
            <p:nvPr/>
          </p:nvSpPr>
          <p:spPr bwMode="auto">
            <a:xfrm flipH="1">
              <a:off x="2957" y="1647"/>
              <a:ext cx="1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1027" name="Object 19"/>
            <p:cNvGraphicFramePr>
              <a:graphicFrameLocks noChangeAspect="1"/>
            </p:cNvGraphicFramePr>
            <p:nvPr/>
          </p:nvGraphicFramePr>
          <p:xfrm>
            <a:off x="3077" y="672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5" name="Equation" r:id="rId17" imgW="152280" imgH="215640" progId="Equation.3">
                    <p:embed/>
                  </p:oleObj>
                </mc:Choice>
                <mc:Fallback>
                  <p:oleObj name="Equation" r:id="rId17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7" y="672"/>
                          <a:ext cx="17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8" name="Object 20"/>
            <p:cNvGraphicFramePr>
              <a:graphicFrameLocks noChangeAspect="1"/>
            </p:cNvGraphicFramePr>
            <p:nvPr/>
          </p:nvGraphicFramePr>
          <p:xfrm>
            <a:off x="4402" y="624"/>
            <a:ext cx="22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6" name="Equation" r:id="rId19" imgW="203040" imgH="279360" progId="Equation.3">
                    <p:embed/>
                  </p:oleObj>
                </mc:Choice>
                <mc:Fallback>
                  <p:oleObj name="Equation" r:id="rId19" imgW="2030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2" y="624"/>
                          <a:ext cx="226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9" name="Object 21"/>
            <p:cNvGraphicFramePr>
              <a:graphicFrameLocks noChangeAspect="1"/>
            </p:cNvGraphicFramePr>
            <p:nvPr/>
          </p:nvGraphicFramePr>
          <p:xfrm>
            <a:off x="4185" y="1622"/>
            <a:ext cx="27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7" name="Equation" r:id="rId21" imgW="152280" imgH="177480" progId="Equation.3">
                    <p:embed/>
                  </p:oleObj>
                </mc:Choice>
                <mc:Fallback>
                  <p:oleObj name="Equation" r:id="rId21" imgW="152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1622"/>
                          <a:ext cx="27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89" name="Line 21"/>
            <p:cNvSpPr>
              <a:spLocks noChangeShapeType="1"/>
            </p:cNvSpPr>
            <p:nvPr/>
          </p:nvSpPr>
          <p:spPr bwMode="auto">
            <a:xfrm>
              <a:off x="3284" y="1211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0" name="Line 22"/>
            <p:cNvSpPr>
              <a:spLocks noChangeShapeType="1"/>
            </p:cNvSpPr>
            <p:nvPr/>
          </p:nvSpPr>
          <p:spPr bwMode="auto">
            <a:xfrm>
              <a:off x="4798" y="1203"/>
              <a:ext cx="3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1" name="Freeform 23"/>
            <p:cNvSpPr>
              <a:spLocks/>
            </p:cNvSpPr>
            <p:nvPr/>
          </p:nvSpPr>
          <p:spPr bwMode="auto">
            <a:xfrm>
              <a:off x="3612" y="1440"/>
              <a:ext cx="245" cy="9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2" name="Rectangle 24"/>
            <p:cNvSpPr>
              <a:spLocks noChangeArrowheads="1"/>
            </p:cNvSpPr>
            <p:nvPr/>
          </p:nvSpPr>
          <p:spPr bwMode="auto">
            <a:xfrm>
              <a:off x="3296" y="1440"/>
              <a:ext cx="350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3121" y="1408"/>
              <a:ext cx="315" cy="160"/>
              <a:chOff x="672" y="2688"/>
              <a:chExt cx="432" cy="240"/>
            </a:xfrm>
          </p:grpSpPr>
          <p:sp>
            <p:nvSpPr>
              <p:cNvPr id="160794" name="AutoShape 26"/>
              <p:cNvSpPr>
                <a:spLocks noChangeArrowheads="1"/>
              </p:cNvSpPr>
              <p:nvPr/>
            </p:nvSpPr>
            <p:spPr bwMode="auto">
              <a:xfrm flipH="1">
                <a:off x="672" y="283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5" name="AutoShape 27"/>
              <p:cNvSpPr>
                <a:spLocks noChangeArrowheads="1"/>
              </p:cNvSpPr>
              <p:nvPr/>
            </p:nvSpPr>
            <p:spPr bwMode="auto">
              <a:xfrm>
                <a:off x="672" y="288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6" name="AutoShape 28"/>
              <p:cNvSpPr>
                <a:spLocks noChangeArrowheads="1"/>
              </p:cNvSpPr>
              <p:nvPr/>
            </p:nvSpPr>
            <p:spPr bwMode="auto">
              <a:xfrm flipH="1">
                <a:off x="672" y="268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7" name="AutoShape 29"/>
              <p:cNvSpPr>
                <a:spLocks noChangeArrowheads="1"/>
              </p:cNvSpPr>
              <p:nvPr/>
            </p:nvSpPr>
            <p:spPr bwMode="auto">
              <a:xfrm>
                <a:off x="672" y="2736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60798" name="Freeform 30"/>
            <p:cNvSpPr>
              <a:spLocks/>
            </p:cNvSpPr>
            <p:nvPr/>
          </p:nvSpPr>
          <p:spPr bwMode="auto">
            <a:xfrm>
              <a:off x="4798" y="1448"/>
              <a:ext cx="246" cy="97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3980" y="1408"/>
              <a:ext cx="525" cy="160"/>
              <a:chOff x="672" y="2688"/>
              <a:chExt cx="720" cy="240"/>
            </a:xfrm>
          </p:grpSpPr>
          <p:sp>
            <p:nvSpPr>
              <p:cNvPr id="160800" name="Rectangle 32"/>
              <p:cNvSpPr>
                <a:spLocks noChangeArrowheads="1"/>
              </p:cNvSpPr>
              <p:nvPr/>
            </p:nvSpPr>
            <p:spPr bwMode="auto">
              <a:xfrm>
                <a:off x="912" y="2736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672" y="2688"/>
                <a:ext cx="432" cy="240"/>
                <a:chOff x="672" y="2688"/>
                <a:chExt cx="432" cy="240"/>
              </a:xfrm>
            </p:grpSpPr>
            <p:sp>
              <p:nvSpPr>
                <p:cNvPr id="160802" name="AutoShape 34"/>
                <p:cNvSpPr>
                  <a:spLocks noChangeArrowheads="1"/>
                </p:cNvSpPr>
                <p:nvPr/>
              </p:nvSpPr>
              <p:spPr bwMode="auto">
                <a:xfrm flipH="1">
                  <a:off x="672" y="283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3" name="AutoShape 35"/>
                <p:cNvSpPr>
                  <a:spLocks noChangeArrowheads="1"/>
                </p:cNvSpPr>
                <p:nvPr/>
              </p:nvSpPr>
              <p:spPr bwMode="auto">
                <a:xfrm>
                  <a:off x="672" y="288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4" name="AutoShape 36"/>
                <p:cNvSpPr>
                  <a:spLocks noChangeArrowheads="1"/>
                </p:cNvSpPr>
                <p:nvPr/>
              </p:nvSpPr>
              <p:spPr bwMode="auto">
                <a:xfrm flipH="1">
                  <a:off x="672" y="268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5" name="AutoShape 37"/>
                <p:cNvSpPr>
                  <a:spLocks noChangeArrowheads="1"/>
                </p:cNvSpPr>
                <p:nvPr/>
              </p:nvSpPr>
              <p:spPr bwMode="auto">
                <a:xfrm>
                  <a:off x="672" y="2736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</p:grpSp>
        <p:graphicFrame>
          <p:nvGraphicFramePr>
            <p:cNvPr id="171030" name="Object 22"/>
            <p:cNvGraphicFramePr>
              <a:graphicFrameLocks noChangeAspect="1"/>
            </p:cNvGraphicFramePr>
            <p:nvPr/>
          </p:nvGraphicFramePr>
          <p:xfrm>
            <a:off x="3366" y="912"/>
            <a:ext cx="24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8" name="Equation" r:id="rId23" imgW="126720" imgH="177480" progId="Equation.3">
                    <p:embed/>
                  </p:oleObj>
                </mc:Choice>
                <mc:Fallback>
                  <p:oleObj name="Equation" r:id="rId23" imgW="1267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912"/>
                          <a:ext cx="242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1" name="Object 23"/>
            <p:cNvGraphicFramePr>
              <a:graphicFrameLocks noChangeAspect="1"/>
            </p:cNvGraphicFramePr>
            <p:nvPr/>
          </p:nvGraphicFramePr>
          <p:xfrm>
            <a:off x="4839" y="864"/>
            <a:ext cx="3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09" name="Equation" r:id="rId25" imgW="164880" imgH="177480" progId="Equation.3">
                    <p:embed/>
                  </p:oleObj>
                </mc:Choice>
                <mc:Fallback>
                  <p:oleObj name="Equation" r:id="rId25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9" y="864"/>
                          <a:ext cx="307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2" name="Object 24"/>
            <p:cNvGraphicFramePr>
              <a:graphicFrameLocks noChangeAspect="1"/>
            </p:cNvGraphicFramePr>
            <p:nvPr/>
          </p:nvGraphicFramePr>
          <p:xfrm>
            <a:off x="4853" y="1149"/>
            <a:ext cx="32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10" name="Equation" r:id="rId27" imgW="190440" imgH="215640" progId="Equation.3">
                    <p:embed/>
                  </p:oleObj>
                </mc:Choice>
                <mc:Fallback>
                  <p:oleObj name="Equation" r:id="rId27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149"/>
                          <a:ext cx="32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3" name="Object 25"/>
            <p:cNvGraphicFramePr>
              <a:graphicFrameLocks noChangeAspect="1"/>
            </p:cNvGraphicFramePr>
            <p:nvPr/>
          </p:nvGraphicFramePr>
          <p:xfrm>
            <a:off x="4326" y="1193"/>
            <a:ext cx="30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11" name="Equation" r:id="rId29" imgW="203040" imgH="215640" progId="Equation.3">
                    <p:embed/>
                  </p:oleObj>
                </mc:Choice>
                <mc:Fallback>
                  <p:oleObj name="Equation" r:id="rId29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6" y="1193"/>
                          <a:ext cx="30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7343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3733800" y="846138"/>
            <a:ext cx="5181600" cy="2590800"/>
            <a:chOff x="2352" y="533"/>
            <a:chExt cx="3264" cy="1632"/>
          </a:xfrm>
        </p:grpSpPr>
        <p:sp>
          <p:nvSpPr>
            <p:cNvPr id="160772" name="Rectangle 4"/>
            <p:cNvSpPr>
              <a:spLocks noChangeArrowheads="1"/>
            </p:cNvSpPr>
            <p:nvPr/>
          </p:nvSpPr>
          <p:spPr bwMode="auto">
            <a:xfrm>
              <a:off x="2352" y="533"/>
              <a:ext cx="3247" cy="16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73" name="Line 5"/>
            <p:cNvSpPr>
              <a:spLocks noChangeShapeType="1"/>
            </p:cNvSpPr>
            <p:nvPr/>
          </p:nvSpPr>
          <p:spPr bwMode="auto">
            <a:xfrm flipV="1">
              <a:off x="2957" y="652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74" name="Line 6"/>
            <p:cNvSpPr>
              <a:spLocks noChangeShapeType="1"/>
            </p:cNvSpPr>
            <p:nvPr/>
          </p:nvSpPr>
          <p:spPr bwMode="auto">
            <a:xfrm flipH="1">
              <a:off x="2548" y="1628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0" name="Object 12"/>
            <p:cNvGraphicFramePr>
              <a:graphicFrameLocks noChangeAspect="1"/>
            </p:cNvGraphicFramePr>
            <p:nvPr/>
          </p:nvGraphicFramePr>
          <p:xfrm>
            <a:off x="5181" y="1687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88" name="公式" r:id="rId3" imgW="177480" imgH="190440" progId="Equation.3">
                    <p:embed/>
                  </p:oleObj>
                </mc:Choice>
                <mc:Fallback>
                  <p:oleObj name="公式" r:id="rId3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" y="1687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1" name="Object 13"/>
            <p:cNvGraphicFramePr>
              <a:graphicFrameLocks noChangeAspect="1"/>
            </p:cNvGraphicFramePr>
            <p:nvPr/>
          </p:nvGraphicFramePr>
          <p:xfrm>
            <a:off x="2363" y="1906"/>
            <a:ext cx="22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89" name="Equation" r:id="rId5" imgW="126720" imgH="126720" progId="Equation.3">
                    <p:embed/>
                  </p:oleObj>
                </mc:Choice>
                <mc:Fallback>
                  <p:oleObj name="Equation" r:id="rId5" imgW="1267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3" y="1906"/>
                          <a:ext cx="226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2" name="Object 14"/>
            <p:cNvGraphicFramePr>
              <a:graphicFrameLocks noChangeAspect="1"/>
            </p:cNvGraphicFramePr>
            <p:nvPr/>
          </p:nvGraphicFramePr>
          <p:xfrm>
            <a:off x="2711" y="692"/>
            <a:ext cx="24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0" name="公式" r:id="rId7" imgW="190440" imgH="241200" progId="Equation.3">
                    <p:embed/>
                  </p:oleObj>
                </mc:Choice>
                <mc:Fallback>
                  <p:oleObj name="公式" r:id="rId7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692"/>
                          <a:ext cx="24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3" name="Object 15"/>
            <p:cNvGraphicFramePr>
              <a:graphicFrameLocks noChangeAspect="1"/>
            </p:cNvGraphicFramePr>
            <p:nvPr/>
          </p:nvGraphicFramePr>
          <p:xfrm>
            <a:off x="2857" y="1647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1" name="Equation" r:id="rId9" imgW="126720" imgH="139680" progId="">
                    <p:embed/>
                  </p:oleObj>
                </mc:Choice>
                <mc:Fallback>
                  <p:oleObj name="Equation" r:id="rId9" imgW="126720" imgH="1396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1647"/>
                          <a:ext cx="22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79" name="Line 11"/>
            <p:cNvSpPr>
              <a:spLocks noChangeShapeType="1"/>
            </p:cNvSpPr>
            <p:nvPr/>
          </p:nvSpPr>
          <p:spPr bwMode="auto">
            <a:xfrm flipV="1">
              <a:off x="4307" y="652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80" name="Line 12"/>
            <p:cNvSpPr>
              <a:spLocks noChangeShapeType="1"/>
            </p:cNvSpPr>
            <p:nvPr/>
          </p:nvSpPr>
          <p:spPr bwMode="auto">
            <a:xfrm>
              <a:off x="4307" y="1647"/>
              <a:ext cx="1145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81" name="Line 13"/>
            <p:cNvSpPr>
              <a:spLocks noChangeShapeType="1"/>
            </p:cNvSpPr>
            <p:nvPr/>
          </p:nvSpPr>
          <p:spPr bwMode="auto">
            <a:xfrm flipH="1">
              <a:off x="3898" y="1628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4" name="Object 16"/>
            <p:cNvGraphicFramePr>
              <a:graphicFrameLocks noChangeAspect="1"/>
            </p:cNvGraphicFramePr>
            <p:nvPr/>
          </p:nvGraphicFramePr>
          <p:xfrm>
            <a:off x="5330" y="1608"/>
            <a:ext cx="28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2" name="Equation" r:id="rId11" imgW="152280" imgH="177480" progId="Equation.3">
                    <p:embed/>
                  </p:oleObj>
                </mc:Choice>
                <mc:Fallback>
                  <p:oleObj name="Equation" r:id="rId11" imgW="152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0" y="1608"/>
                          <a:ext cx="28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5" name="Object 17"/>
            <p:cNvGraphicFramePr>
              <a:graphicFrameLocks noChangeAspect="1"/>
            </p:cNvGraphicFramePr>
            <p:nvPr/>
          </p:nvGraphicFramePr>
          <p:xfrm>
            <a:off x="3696" y="1886"/>
            <a:ext cx="2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3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886"/>
                          <a:ext cx="243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6" name="Object 18"/>
            <p:cNvGraphicFramePr>
              <a:graphicFrameLocks noChangeAspect="1"/>
            </p:cNvGraphicFramePr>
            <p:nvPr/>
          </p:nvGraphicFramePr>
          <p:xfrm>
            <a:off x="4021" y="652"/>
            <a:ext cx="31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4" name="Equation" r:id="rId15" imgW="164880" imgH="203040" progId="Equation.3">
                    <p:embed/>
                  </p:oleObj>
                </mc:Choice>
                <mc:Fallback>
                  <p:oleObj name="Equation" r:id="rId15" imgW="164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" y="652"/>
                          <a:ext cx="31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85" name="Line 17"/>
            <p:cNvSpPr>
              <a:spLocks noChangeShapeType="1"/>
            </p:cNvSpPr>
            <p:nvPr/>
          </p:nvSpPr>
          <p:spPr bwMode="auto">
            <a:xfrm flipH="1">
              <a:off x="2957" y="1647"/>
              <a:ext cx="1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1027" name="Object 19"/>
            <p:cNvGraphicFramePr>
              <a:graphicFrameLocks noChangeAspect="1"/>
            </p:cNvGraphicFramePr>
            <p:nvPr/>
          </p:nvGraphicFramePr>
          <p:xfrm>
            <a:off x="3077" y="672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5" name="Equation" r:id="rId17" imgW="152280" imgH="215640" progId="Equation.3">
                    <p:embed/>
                  </p:oleObj>
                </mc:Choice>
                <mc:Fallback>
                  <p:oleObj name="Equation" r:id="rId17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7" y="672"/>
                          <a:ext cx="17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8" name="Object 20"/>
            <p:cNvGraphicFramePr>
              <a:graphicFrameLocks noChangeAspect="1"/>
            </p:cNvGraphicFramePr>
            <p:nvPr/>
          </p:nvGraphicFramePr>
          <p:xfrm>
            <a:off x="4402" y="624"/>
            <a:ext cx="22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6" name="Equation" r:id="rId19" imgW="203040" imgH="279360" progId="Equation.3">
                    <p:embed/>
                  </p:oleObj>
                </mc:Choice>
                <mc:Fallback>
                  <p:oleObj name="Equation" r:id="rId19" imgW="2030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2" y="624"/>
                          <a:ext cx="226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9" name="Object 21"/>
            <p:cNvGraphicFramePr>
              <a:graphicFrameLocks noChangeAspect="1"/>
            </p:cNvGraphicFramePr>
            <p:nvPr/>
          </p:nvGraphicFramePr>
          <p:xfrm>
            <a:off x="4185" y="1622"/>
            <a:ext cx="27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7" name="Equation" r:id="rId21" imgW="152280" imgH="177480" progId="Equation.3">
                    <p:embed/>
                  </p:oleObj>
                </mc:Choice>
                <mc:Fallback>
                  <p:oleObj name="Equation" r:id="rId21" imgW="152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1622"/>
                          <a:ext cx="27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89" name="Line 21"/>
            <p:cNvSpPr>
              <a:spLocks noChangeShapeType="1"/>
            </p:cNvSpPr>
            <p:nvPr/>
          </p:nvSpPr>
          <p:spPr bwMode="auto">
            <a:xfrm>
              <a:off x="3284" y="1211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0" name="Line 22"/>
            <p:cNvSpPr>
              <a:spLocks noChangeShapeType="1"/>
            </p:cNvSpPr>
            <p:nvPr/>
          </p:nvSpPr>
          <p:spPr bwMode="auto">
            <a:xfrm>
              <a:off x="4798" y="1203"/>
              <a:ext cx="3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1" name="Freeform 23"/>
            <p:cNvSpPr>
              <a:spLocks/>
            </p:cNvSpPr>
            <p:nvPr/>
          </p:nvSpPr>
          <p:spPr bwMode="auto">
            <a:xfrm>
              <a:off x="3612" y="1440"/>
              <a:ext cx="245" cy="9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2" name="Rectangle 24"/>
            <p:cNvSpPr>
              <a:spLocks noChangeArrowheads="1"/>
            </p:cNvSpPr>
            <p:nvPr/>
          </p:nvSpPr>
          <p:spPr bwMode="auto">
            <a:xfrm>
              <a:off x="3296" y="1440"/>
              <a:ext cx="350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3121" y="1408"/>
              <a:ext cx="315" cy="160"/>
              <a:chOff x="672" y="2688"/>
              <a:chExt cx="432" cy="240"/>
            </a:xfrm>
          </p:grpSpPr>
          <p:sp>
            <p:nvSpPr>
              <p:cNvPr id="160794" name="AutoShape 26"/>
              <p:cNvSpPr>
                <a:spLocks noChangeArrowheads="1"/>
              </p:cNvSpPr>
              <p:nvPr/>
            </p:nvSpPr>
            <p:spPr bwMode="auto">
              <a:xfrm flipH="1">
                <a:off x="672" y="283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5" name="AutoShape 27"/>
              <p:cNvSpPr>
                <a:spLocks noChangeArrowheads="1"/>
              </p:cNvSpPr>
              <p:nvPr/>
            </p:nvSpPr>
            <p:spPr bwMode="auto">
              <a:xfrm>
                <a:off x="672" y="288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6" name="AutoShape 28"/>
              <p:cNvSpPr>
                <a:spLocks noChangeArrowheads="1"/>
              </p:cNvSpPr>
              <p:nvPr/>
            </p:nvSpPr>
            <p:spPr bwMode="auto">
              <a:xfrm flipH="1">
                <a:off x="672" y="268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7" name="AutoShape 29"/>
              <p:cNvSpPr>
                <a:spLocks noChangeArrowheads="1"/>
              </p:cNvSpPr>
              <p:nvPr/>
            </p:nvSpPr>
            <p:spPr bwMode="auto">
              <a:xfrm>
                <a:off x="672" y="2736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60798" name="Freeform 30"/>
            <p:cNvSpPr>
              <a:spLocks/>
            </p:cNvSpPr>
            <p:nvPr/>
          </p:nvSpPr>
          <p:spPr bwMode="auto">
            <a:xfrm>
              <a:off x="4798" y="1448"/>
              <a:ext cx="246" cy="97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3980" y="1408"/>
              <a:ext cx="525" cy="160"/>
              <a:chOff x="672" y="2688"/>
              <a:chExt cx="720" cy="240"/>
            </a:xfrm>
          </p:grpSpPr>
          <p:sp>
            <p:nvSpPr>
              <p:cNvPr id="160800" name="Rectangle 32"/>
              <p:cNvSpPr>
                <a:spLocks noChangeArrowheads="1"/>
              </p:cNvSpPr>
              <p:nvPr/>
            </p:nvSpPr>
            <p:spPr bwMode="auto">
              <a:xfrm>
                <a:off x="912" y="2736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672" y="2688"/>
                <a:ext cx="432" cy="240"/>
                <a:chOff x="672" y="2688"/>
                <a:chExt cx="432" cy="240"/>
              </a:xfrm>
            </p:grpSpPr>
            <p:sp>
              <p:nvSpPr>
                <p:cNvPr id="160802" name="AutoShape 34"/>
                <p:cNvSpPr>
                  <a:spLocks noChangeArrowheads="1"/>
                </p:cNvSpPr>
                <p:nvPr/>
              </p:nvSpPr>
              <p:spPr bwMode="auto">
                <a:xfrm flipH="1">
                  <a:off x="672" y="283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3" name="AutoShape 35"/>
                <p:cNvSpPr>
                  <a:spLocks noChangeArrowheads="1"/>
                </p:cNvSpPr>
                <p:nvPr/>
              </p:nvSpPr>
              <p:spPr bwMode="auto">
                <a:xfrm>
                  <a:off x="672" y="288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4" name="AutoShape 36"/>
                <p:cNvSpPr>
                  <a:spLocks noChangeArrowheads="1"/>
                </p:cNvSpPr>
                <p:nvPr/>
              </p:nvSpPr>
              <p:spPr bwMode="auto">
                <a:xfrm flipH="1">
                  <a:off x="672" y="268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5" name="AutoShape 37"/>
                <p:cNvSpPr>
                  <a:spLocks noChangeArrowheads="1"/>
                </p:cNvSpPr>
                <p:nvPr/>
              </p:nvSpPr>
              <p:spPr bwMode="auto">
                <a:xfrm>
                  <a:off x="672" y="2736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</p:grpSp>
        <p:graphicFrame>
          <p:nvGraphicFramePr>
            <p:cNvPr id="171030" name="Object 22"/>
            <p:cNvGraphicFramePr>
              <a:graphicFrameLocks noChangeAspect="1"/>
            </p:cNvGraphicFramePr>
            <p:nvPr/>
          </p:nvGraphicFramePr>
          <p:xfrm>
            <a:off x="3366" y="912"/>
            <a:ext cx="24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8" name="Equation" r:id="rId23" imgW="126720" imgH="177480" progId="Equation.3">
                    <p:embed/>
                  </p:oleObj>
                </mc:Choice>
                <mc:Fallback>
                  <p:oleObj name="Equation" r:id="rId23" imgW="1267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912"/>
                          <a:ext cx="242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1" name="Object 23"/>
            <p:cNvGraphicFramePr>
              <a:graphicFrameLocks noChangeAspect="1"/>
            </p:cNvGraphicFramePr>
            <p:nvPr/>
          </p:nvGraphicFramePr>
          <p:xfrm>
            <a:off x="4839" y="864"/>
            <a:ext cx="3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999" name="Equation" r:id="rId25" imgW="164880" imgH="177480" progId="Equation.3">
                    <p:embed/>
                  </p:oleObj>
                </mc:Choice>
                <mc:Fallback>
                  <p:oleObj name="Equation" r:id="rId25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9" y="864"/>
                          <a:ext cx="307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2" name="Object 24"/>
            <p:cNvGraphicFramePr>
              <a:graphicFrameLocks noChangeAspect="1"/>
            </p:cNvGraphicFramePr>
            <p:nvPr/>
          </p:nvGraphicFramePr>
          <p:xfrm>
            <a:off x="4853" y="1149"/>
            <a:ext cx="32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000" name="Equation" r:id="rId27" imgW="190440" imgH="215640" progId="Equation.3">
                    <p:embed/>
                  </p:oleObj>
                </mc:Choice>
                <mc:Fallback>
                  <p:oleObj name="Equation" r:id="rId27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149"/>
                          <a:ext cx="32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3" name="Object 25"/>
            <p:cNvGraphicFramePr>
              <a:graphicFrameLocks noChangeAspect="1"/>
            </p:cNvGraphicFramePr>
            <p:nvPr/>
          </p:nvGraphicFramePr>
          <p:xfrm>
            <a:off x="4326" y="1193"/>
            <a:ext cx="30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001" name="Equation" r:id="rId29" imgW="203040" imgH="215640" progId="Equation.3">
                    <p:embed/>
                  </p:oleObj>
                </mc:Choice>
                <mc:Fallback>
                  <p:oleObj name="Equation" r:id="rId29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6" y="1193"/>
                          <a:ext cx="30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8213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3733800" y="846138"/>
            <a:ext cx="5181600" cy="2590800"/>
            <a:chOff x="2352" y="533"/>
            <a:chExt cx="3264" cy="1632"/>
          </a:xfrm>
        </p:grpSpPr>
        <p:sp>
          <p:nvSpPr>
            <p:cNvPr id="160772" name="Rectangle 4"/>
            <p:cNvSpPr>
              <a:spLocks noChangeArrowheads="1"/>
            </p:cNvSpPr>
            <p:nvPr/>
          </p:nvSpPr>
          <p:spPr bwMode="auto">
            <a:xfrm>
              <a:off x="2352" y="533"/>
              <a:ext cx="3247" cy="16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73" name="Line 5"/>
            <p:cNvSpPr>
              <a:spLocks noChangeShapeType="1"/>
            </p:cNvSpPr>
            <p:nvPr/>
          </p:nvSpPr>
          <p:spPr bwMode="auto">
            <a:xfrm flipV="1">
              <a:off x="2957" y="652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74" name="Line 6"/>
            <p:cNvSpPr>
              <a:spLocks noChangeShapeType="1"/>
            </p:cNvSpPr>
            <p:nvPr/>
          </p:nvSpPr>
          <p:spPr bwMode="auto">
            <a:xfrm flipH="1">
              <a:off x="2548" y="1628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0" name="Object 12"/>
            <p:cNvGraphicFramePr>
              <a:graphicFrameLocks noChangeAspect="1"/>
            </p:cNvGraphicFramePr>
            <p:nvPr/>
          </p:nvGraphicFramePr>
          <p:xfrm>
            <a:off x="5181" y="1687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2" name="公式" r:id="rId3" imgW="177480" imgH="190440" progId="Equation.3">
                    <p:embed/>
                  </p:oleObj>
                </mc:Choice>
                <mc:Fallback>
                  <p:oleObj name="公式" r:id="rId3" imgW="177480" imgH="1904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" y="1687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1" name="Object 13"/>
            <p:cNvGraphicFramePr>
              <a:graphicFrameLocks noChangeAspect="1"/>
            </p:cNvGraphicFramePr>
            <p:nvPr/>
          </p:nvGraphicFramePr>
          <p:xfrm>
            <a:off x="2363" y="1906"/>
            <a:ext cx="22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3" name="Equation" r:id="rId5" imgW="126720" imgH="126720" progId="Equation.3">
                    <p:embed/>
                  </p:oleObj>
                </mc:Choice>
                <mc:Fallback>
                  <p:oleObj name="Equation" r:id="rId5" imgW="126720" imgH="12672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3" y="1906"/>
                          <a:ext cx="226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2" name="Object 14"/>
            <p:cNvGraphicFramePr>
              <a:graphicFrameLocks noChangeAspect="1"/>
            </p:cNvGraphicFramePr>
            <p:nvPr/>
          </p:nvGraphicFramePr>
          <p:xfrm>
            <a:off x="2711" y="692"/>
            <a:ext cx="24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4" name="公式" r:id="rId7" imgW="190440" imgH="241200" progId="Equation.3">
                    <p:embed/>
                  </p:oleObj>
                </mc:Choice>
                <mc:Fallback>
                  <p:oleObj name="公式" r:id="rId7" imgW="190440" imgH="241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692"/>
                          <a:ext cx="24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3" name="Object 15"/>
            <p:cNvGraphicFramePr>
              <a:graphicFrameLocks noChangeAspect="1"/>
            </p:cNvGraphicFramePr>
            <p:nvPr/>
          </p:nvGraphicFramePr>
          <p:xfrm>
            <a:off x="2857" y="1647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5" name="Equation" r:id="rId9" imgW="126720" imgH="139680" progId="">
                    <p:embed/>
                  </p:oleObj>
                </mc:Choice>
                <mc:Fallback>
                  <p:oleObj name="Equation" r:id="rId9" imgW="126720" imgH="139680" progId="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1647"/>
                          <a:ext cx="22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79" name="Line 11"/>
            <p:cNvSpPr>
              <a:spLocks noChangeShapeType="1"/>
            </p:cNvSpPr>
            <p:nvPr/>
          </p:nvSpPr>
          <p:spPr bwMode="auto">
            <a:xfrm flipV="1">
              <a:off x="4307" y="652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80" name="Line 12"/>
            <p:cNvSpPr>
              <a:spLocks noChangeShapeType="1"/>
            </p:cNvSpPr>
            <p:nvPr/>
          </p:nvSpPr>
          <p:spPr bwMode="auto">
            <a:xfrm>
              <a:off x="4307" y="1647"/>
              <a:ext cx="1145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781" name="Line 13"/>
            <p:cNvSpPr>
              <a:spLocks noChangeShapeType="1"/>
            </p:cNvSpPr>
            <p:nvPr/>
          </p:nvSpPr>
          <p:spPr bwMode="auto">
            <a:xfrm flipH="1">
              <a:off x="3898" y="1628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1024" name="Object 16"/>
            <p:cNvGraphicFramePr>
              <a:graphicFrameLocks noChangeAspect="1"/>
            </p:cNvGraphicFramePr>
            <p:nvPr/>
          </p:nvGraphicFramePr>
          <p:xfrm>
            <a:off x="5330" y="1608"/>
            <a:ext cx="28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6" name="Equation" r:id="rId11" imgW="152280" imgH="177480" progId="Equation.3">
                    <p:embed/>
                  </p:oleObj>
                </mc:Choice>
                <mc:Fallback>
                  <p:oleObj name="Equation" r:id="rId11" imgW="152280" imgH="1774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0" y="1608"/>
                          <a:ext cx="28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5" name="Object 17"/>
            <p:cNvGraphicFramePr>
              <a:graphicFrameLocks noChangeAspect="1"/>
            </p:cNvGraphicFramePr>
            <p:nvPr/>
          </p:nvGraphicFramePr>
          <p:xfrm>
            <a:off x="3696" y="1886"/>
            <a:ext cx="2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7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886"/>
                          <a:ext cx="243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6" name="Object 18"/>
            <p:cNvGraphicFramePr>
              <a:graphicFrameLocks noChangeAspect="1"/>
            </p:cNvGraphicFramePr>
            <p:nvPr/>
          </p:nvGraphicFramePr>
          <p:xfrm>
            <a:off x="4021" y="652"/>
            <a:ext cx="31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8" name="Equation" r:id="rId15" imgW="164880" imgH="203040" progId="Equation.3">
                    <p:embed/>
                  </p:oleObj>
                </mc:Choice>
                <mc:Fallback>
                  <p:oleObj name="Equation" r:id="rId15" imgW="164880" imgH="2030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" y="652"/>
                          <a:ext cx="31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85" name="Line 17"/>
            <p:cNvSpPr>
              <a:spLocks noChangeShapeType="1"/>
            </p:cNvSpPr>
            <p:nvPr/>
          </p:nvSpPr>
          <p:spPr bwMode="auto">
            <a:xfrm flipH="1">
              <a:off x="2957" y="1647"/>
              <a:ext cx="1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1027" name="Object 19"/>
            <p:cNvGraphicFramePr>
              <a:graphicFrameLocks noChangeAspect="1"/>
            </p:cNvGraphicFramePr>
            <p:nvPr/>
          </p:nvGraphicFramePr>
          <p:xfrm>
            <a:off x="3077" y="672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89" name="Equation" r:id="rId17" imgW="152280" imgH="215640" progId="Equation.3">
                    <p:embed/>
                  </p:oleObj>
                </mc:Choice>
                <mc:Fallback>
                  <p:oleObj name="Equation" r:id="rId17" imgW="152280" imgH="215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7" y="672"/>
                          <a:ext cx="17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8" name="Object 20"/>
            <p:cNvGraphicFramePr>
              <a:graphicFrameLocks noChangeAspect="1"/>
            </p:cNvGraphicFramePr>
            <p:nvPr/>
          </p:nvGraphicFramePr>
          <p:xfrm>
            <a:off x="4402" y="624"/>
            <a:ext cx="22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0" name="Equation" r:id="rId19" imgW="203040" imgH="279360" progId="Equation.3">
                    <p:embed/>
                  </p:oleObj>
                </mc:Choice>
                <mc:Fallback>
                  <p:oleObj name="Equation" r:id="rId19" imgW="203040" imgH="2793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2" y="624"/>
                          <a:ext cx="226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9" name="Object 21"/>
            <p:cNvGraphicFramePr>
              <a:graphicFrameLocks noChangeAspect="1"/>
            </p:cNvGraphicFramePr>
            <p:nvPr/>
          </p:nvGraphicFramePr>
          <p:xfrm>
            <a:off x="4185" y="1622"/>
            <a:ext cx="27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1" name="Equation" r:id="rId21" imgW="152280" imgH="177480" progId="Equation.3">
                    <p:embed/>
                  </p:oleObj>
                </mc:Choice>
                <mc:Fallback>
                  <p:oleObj name="Equation" r:id="rId21" imgW="152280" imgH="1774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1622"/>
                          <a:ext cx="27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789" name="Line 21"/>
            <p:cNvSpPr>
              <a:spLocks noChangeShapeType="1"/>
            </p:cNvSpPr>
            <p:nvPr/>
          </p:nvSpPr>
          <p:spPr bwMode="auto">
            <a:xfrm>
              <a:off x="3284" y="1211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0" name="Line 22"/>
            <p:cNvSpPr>
              <a:spLocks noChangeShapeType="1"/>
            </p:cNvSpPr>
            <p:nvPr/>
          </p:nvSpPr>
          <p:spPr bwMode="auto">
            <a:xfrm>
              <a:off x="4798" y="1203"/>
              <a:ext cx="3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1" name="Freeform 23"/>
            <p:cNvSpPr>
              <a:spLocks/>
            </p:cNvSpPr>
            <p:nvPr/>
          </p:nvSpPr>
          <p:spPr bwMode="auto">
            <a:xfrm>
              <a:off x="3612" y="1440"/>
              <a:ext cx="245" cy="9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792" name="Rectangle 24"/>
            <p:cNvSpPr>
              <a:spLocks noChangeArrowheads="1"/>
            </p:cNvSpPr>
            <p:nvPr/>
          </p:nvSpPr>
          <p:spPr bwMode="auto">
            <a:xfrm>
              <a:off x="3296" y="1440"/>
              <a:ext cx="350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3121" y="1408"/>
              <a:ext cx="315" cy="160"/>
              <a:chOff x="672" y="2688"/>
              <a:chExt cx="432" cy="240"/>
            </a:xfrm>
          </p:grpSpPr>
          <p:sp>
            <p:nvSpPr>
              <p:cNvPr id="160794" name="AutoShape 26"/>
              <p:cNvSpPr>
                <a:spLocks noChangeArrowheads="1"/>
              </p:cNvSpPr>
              <p:nvPr/>
            </p:nvSpPr>
            <p:spPr bwMode="auto">
              <a:xfrm flipH="1">
                <a:off x="672" y="283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5" name="AutoShape 27"/>
              <p:cNvSpPr>
                <a:spLocks noChangeArrowheads="1"/>
              </p:cNvSpPr>
              <p:nvPr/>
            </p:nvSpPr>
            <p:spPr bwMode="auto">
              <a:xfrm>
                <a:off x="672" y="288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6" name="AutoShape 28"/>
              <p:cNvSpPr>
                <a:spLocks noChangeArrowheads="1"/>
              </p:cNvSpPr>
              <p:nvPr/>
            </p:nvSpPr>
            <p:spPr bwMode="auto">
              <a:xfrm flipH="1">
                <a:off x="672" y="268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7" name="AutoShape 29"/>
              <p:cNvSpPr>
                <a:spLocks noChangeArrowheads="1"/>
              </p:cNvSpPr>
              <p:nvPr/>
            </p:nvSpPr>
            <p:spPr bwMode="auto">
              <a:xfrm>
                <a:off x="672" y="2736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60798" name="Freeform 30"/>
            <p:cNvSpPr>
              <a:spLocks/>
            </p:cNvSpPr>
            <p:nvPr/>
          </p:nvSpPr>
          <p:spPr bwMode="auto">
            <a:xfrm>
              <a:off x="4798" y="1448"/>
              <a:ext cx="246" cy="97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3980" y="1408"/>
              <a:ext cx="525" cy="160"/>
              <a:chOff x="672" y="2688"/>
              <a:chExt cx="720" cy="240"/>
            </a:xfrm>
          </p:grpSpPr>
          <p:sp>
            <p:nvSpPr>
              <p:cNvPr id="160800" name="Rectangle 32"/>
              <p:cNvSpPr>
                <a:spLocks noChangeArrowheads="1"/>
              </p:cNvSpPr>
              <p:nvPr/>
            </p:nvSpPr>
            <p:spPr bwMode="auto">
              <a:xfrm>
                <a:off x="912" y="2736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672" y="2688"/>
                <a:ext cx="432" cy="240"/>
                <a:chOff x="672" y="2688"/>
                <a:chExt cx="432" cy="240"/>
              </a:xfrm>
            </p:grpSpPr>
            <p:sp>
              <p:nvSpPr>
                <p:cNvPr id="160802" name="AutoShape 34"/>
                <p:cNvSpPr>
                  <a:spLocks noChangeArrowheads="1"/>
                </p:cNvSpPr>
                <p:nvPr/>
              </p:nvSpPr>
              <p:spPr bwMode="auto">
                <a:xfrm flipH="1">
                  <a:off x="672" y="283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3" name="AutoShape 35"/>
                <p:cNvSpPr>
                  <a:spLocks noChangeArrowheads="1"/>
                </p:cNvSpPr>
                <p:nvPr/>
              </p:nvSpPr>
              <p:spPr bwMode="auto">
                <a:xfrm>
                  <a:off x="672" y="288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4" name="AutoShape 36"/>
                <p:cNvSpPr>
                  <a:spLocks noChangeArrowheads="1"/>
                </p:cNvSpPr>
                <p:nvPr/>
              </p:nvSpPr>
              <p:spPr bwMode="auto">
                <a:xfrm flipH="1">
                  <a:off x="672" y="268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0805" name="AutoShape 37"/>
                <p:cNvSpPr>
                  <a:spLocks noChangeArrowheads="1"/>
                </p:cNvSpPr>
                <p:nvPr/>
              </p:nvSpPr>
              <p:spPr bwMode="auto">
                <a:xfrm>
                  <a:off x="672" y="2736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</p:grpSp>
        <p:graphicFrame>
          <p:nvGraphicFramePr>
            <p:cNvPr id="171030" name="Object 22"/>
            <p:cNvGraphicFramePr>
              <a:graphicFrameLocks noChangeAspect="1"/>
            </p:cNvGraphicFramePr>
            <p:nvPr/>
          </p:nvGraphicFramePr>
          <p:xfrm>
            <a:off x="3366" y="912"/>
            <a:ext cx="24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2" name="Equation" r:id="rId23" imgW="126720" imgH="177480" progId="Equation.3">
                    <p:embed/>
                  </p:oleObj>
                </mc:Choice>
                <mc:Fallback>
                  <p:oleObj name="Equation" r:id="rId23" imgW="126720" imgH="1774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912"/>
                          <a:ext cx="242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1" name="Object 23"/>
            <p:cNvGraphicFramePr>
              <a:graphicFrameLocks noChangeAspect="1"/>
            </p:cNvGraphicFramePr>
            <p:nvPr/>
          </p:nvGraphicFramePr>
          <p:xfrm>
            <a:off x="4839" y="864"/>
            <a:ext cx="3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3" name="Equation" r:id="rId25" imgW="164880" imgH="177480" progId="Equation.3">
                    <p:embed/>
                  </p:oleObj>
                </mc:Choice>
                <mc:Fallback>
                  <p:oleObj name="Equation" r:id="rId25" imgW="164880" imgH="1774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9" y="864"/>
                          <a:ext cx="307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2" name="Object 24"/>
            <p:cNvGraphicFramePr>
              <a:graphicFrameLocks noChangeAspect="1"/>
            </p:cNvGraphicFramePr>
            <p:nvPr/>
          </p:nvGraphicFramePr>
          <p:xfrm>
            <a:off x="4853" y="1149"/>
            <a:ext cx="32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4" name="Equation" r:id="rId27" imgW="190440" imgH="215640" progId="Equation.3">
                    <p:embed/>
                  </p:oleObj>
                </mc:Choice>
                <mc:Fallback>
                  <p:oleObj name="Equation" r:id="rId27" imgW="190440" imgH="2156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149"/>
                          <a:ext cx="32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3" name="Object 25"/>
            <p:cNvGraphicFramePr>
              <a:graphicFrameLocks noChangeAspect="1"/>
            </p:cNvGraphicFramePr>
            <p:nvPr/>
          </p:nvGraphicFramePr>
          <p:xfrm>
            <a:off x="4326" y="1193"/>
            <a:ext cx="30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5" name="Equation" r:id="rId29" imgW="203040" imgH="215640" progId="Equation.3">
                    <p:embed/>
                  </p:oleObj>
                </mc:Choice>
                <mc:Fallback>
                  <p:oleObj name="Equation" r:id="rId29" imgW="203040" imgH="2156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6" y="1193"/>
                          <a:ext cx="30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381000" y="3505200"/>
            <a:ext cx="8534400" cy="630238"/>
            <a:chOff x="0" y="2291"/>
            <a:chExt cx="5376" cy="397"/>
          </a:xfrm>
        </p:grpSpPr>
        <p:sp>
          <p:nvSpPr>
            <p:cNvPr id="160813" name="Text Box 45"/>
            <p:cNvSpPr txBox="1">
              <a:spLocks noChangeArrowheads="1"/>
            </p:cNvSpPr>
            <p:nvPr/>
          </p:nvSpPr>
          <p:spPr bwMode="auto">
            <a:xfrm>
              <a:off x="0" y="2304"/>
              <a:ext cx="53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rgbClr val="CC0000"/>
                  </a:solidFill>
                </a:rPr>
                <a:t> </a:t>
              </a:r>
              <a:r>
                <a:rPr lang="zh-CN" altLang="en-US" sz="2800">
                  <a:solidFill>
                    <a:srgbClr val="CC0000"/>
                  </a:solidFill>
                </a:rPr>
                <a:t>设</a:t>
              </a:r>
              <a:r>
                <a:rPr lang="en-US" altLang="zh-CN" sz="2800">
                  <a:solidFill>
                    <a:srgbClr val="CC0000"/>
                  </a:solidFill>
                </a:rPr>
                <a:t>:  </a:t>
              </a:r>
              <a:r>
                <a:rPr lang="zh-CN" altLang="en-US" sz="2800"/>
                <a:t>仪器舱和火箭容器分离后的速度分别为</a:t>
              </a:r>
              <a:r>
                <a:rPr lang="zh-CN" altLang="en-US" sz="2800">
                  <a:solidFill>
                    <a:srgbClr val="000000"/>
                  </a:solidFill>
                </a:rPr>
                <a:t>     ，    </a:t>
              </a: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</p:txBody>
        </p:sp>
        <p:graphicFrame>
          <p:nvGraphicFramePr>
            <p:cNvPr id="171018" name="Object 10"/>
            <p:cNvGraphicFramePr>
              <a:graphicFrameLocks noChangeAspect="1"/>
            </p:cNvGraphicFramePr>
            <p:nvPr/>
          </p:nvGraphicFramePr>
          <p:xfrm>
            <a:off x="4368" y="2291"/>
            <a:ext cx="31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6" name="Equation" r:id="rId31" imgW="164880" imgH="215640" progId="Equation.3">
                    <p:embed/>
                  </p:oleObj>
                </mc:Choice>
                <mc:Fallback>
                  <p:oleObj name="Equation" r:id="rId31" imgW="164880" imgH="2156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291"/>
                          <a:ext cx="315" cy="3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9" name="Object 11"/>
            <p:cNvGraphicFramePr>
              <a:graphicFrameLocks noChangeAspect="1"/>
            </p:cNvGraphicFramePr>
            <p:nvPr/>
          </p:nvGraphicFramePr>
          <p:xfrm>
            <a:off x="4752" y="2291"/>
            <a:ext cx="339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7" name="Equation" r:id="rId33" imgW="177480" imgH="215640" progId="Equation.3">
                    <p:embed/>
                  </p:oleObj>
                </mc:Choice>
                <mc:Fallback>
                  <p:oleObj name="Equation" r:id="rId33" imgW="177480" imgH="2156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291"/>
                          <a:ext cx="339" cy="3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228600" y="685800"/>
            <a:ext cx="3276600" cy="2819400"/>
            <a:chOff x="192" y="384"/>
            <a:chExt cx="2064" cy="1776"/>
          </a:xfrm>
        </p:grpSpPr>
        <p:sp>
          <p:nvSpPr>
            <p:cNvPr id="160810" name="Text Box 42"/>
            <p:cNvSpPr txBox="1">
              <a:spLocks noChangeArrowheads="1"/>
            </p:cNvSpPr>
            <p:nvPr/>
          </p:nvSpPr>
          <p:spPr bwMode="auto">
            <a:xfrm>
              <a:off x="432" y="384"/>
              <a:ext cx="13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已知</a:t>
              </a:r>
              <a:r>
                <a:rPr lang="en-US" altLang="zh-CN" sz="2800">
                  <a:solidFill>
                    <a:srgbClr val="CC0000"/>
                  </a:solidFill>
                </a:rPr>
                <a:t>:</a:t>
              </a:r>
            </a:p>
          </p:txBody>
        </p:sp>
        <p:graphicFrame>
          <p:nvGraphicFramePr>
            <p:cNvPr id="171014" name="Object 6"/>
            <p:cNvGraphicFramePr>
              <a:graphicFrameLocks noChangeAspect="1"/>
            </p:cNvGraphicFramePr>
            <p:nvPr/>
          </p:nvGraphicFramePr>
          <p:xfrm>
            <a:off x="192" y="650"/>
            <a:ext cx="201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8" name="Equation" r:id="rId35" imgW="1117440" imgH="203040" progId="Equation.3">
                    <p:embed/>
                  </p:oleObj>
                </mc:Choice>
                <mc:Fallback>
                  <p:oleObj name="Equation" r:id="rId35" imgW="1117440" imgH="203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650"/>
                          <a:ext cx="2016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5" name="Object 7"/>
            <p:cNvGraphicFramePr>
              <a:graphicFrameLocks noChangeAspect="1"/>
            </p:cNvGraphicFramePr>
            <p:nvPr/>
          </p:nvGraphicFramePr>
          <p:xfrm>
            <a:off x="192" y="995"/>
            <a:ext cx="2064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899" name="Equation" r:id="rId37" imgW="1130040" imgH="203040" progId="Equation.3">
                    <p:embed/>
                  </p:oleObj>
                </mc:Choice>
                <mc:Fallback>
                  <p:oleObj name="Equation" r:id="rId37" imgW="1130040" imgH="2030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995"/>
                          <a:ext cx="2064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6" name="Object 8"/>
            <p:cNvGraphicFramePr>
              <a:graphicFrameLocks noChangeAspect="1"/>
            </p:cNvGraphicFramePr>
            <p:nvPr/>
          </p:nvGraphicFramePr>
          <p:xfrm>
            <a:off x="240" y="1777"/>
            <a:ext cx="1344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900" name="Equation" r:id="rId39" imgW="787320" imgH="215640" progId="Equation.3">
                    <p:embed/>
                  </p:oleObj>
                </mc:Choice>
                <mc:Fallback>
                  <p:oleObj name="Equation" r:id="rId39" imgW="787320" imgH="2156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777"/>
                          <a:ext cx="1344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7" name="Object 9"/>
            <p:cNvGraphicFramePr>
              <a:graphicFrameLocks noChangeAspect="1"/>
            </p:cNvGraphicFramePr>
            <p:nvPr/>
          </p:nvGraphicFramePr>
          <p:xfrm>
            <a:off x="240" y="1389"/>
            <a:ext cx="139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901" name="Equation" r:id="rId41" imgW="749160" imgH="215640" progId="Equation.3">
                    <p:embed/>
                  </p:oleObj>
                </mc:Choice>
                <mc:Fallback>
                  <p:oleObj name="Equation" r:id="rId41" imgW="749160" imgH="2156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389"/>
                          <a:ext cx="1392" cy="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71"/>
          <p:cNvGrpSpPr>
            <a:grpSpLocks/>
          </p:cNvGrpSpPr>
          <p:nvPr/>
        </p:nvGrpSpPr>
        <p:grpSpPr bwMode="auto">
          <a:xfrm>
            <a:off x="533400" y="4114800"/>
            <a:ext cx="3276600" cy="723900"/>
            <a:chOff x="336" y="2592"/>
            <a:chExt cx="2064" cy="456"/>
          </a:xfrm>
        </p:grpSpPr>
        <p:sp>
          <p:nvSpPr>
            <p:cNvPr id="160818" name="Text Box 50"/>
            <p:cNvSpPr txBox="1">
              <a:spLocks noChangeArrowheads="1"/>
            </p:cNvSpPr>
            <p:nvPr/>
          </p:nvSpPr>
          <p:spPr bwMode="auto">
            <a:xfrm>
              <a:off x="336" y="2640"/>
              <a:ext cx="4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解</a:t>
              </a:r>
              <a:r>
                <a:rPr lang="en-US" altLang="zh-CN" sz="2800">
                  <a:solidFill>
                    <a:srgbClr val="CC0000"/>
                  </a:solidFill>
                </a:rPr>
                <a:t>: </a:t>
              </a:r>
            </a:p>
          </p:txBody>
        </p:sp>
        <p:graphicFrame>
          <p:nvGraphicFramePr>
            <p:cNvPr id="171013" name="Object 5"/>
            <p:cNvGraphicFramePr>
              <a:graphicFrameLocks noChangeAspect="1"/>
            </p:cNvGraphicFramePr>
            <p:nvPr/>
          </p:nvGraphicFramePr>
          <p:xfrm>
            <a:off x="816" y="2592"/>
            <a:ext cx="158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902" name="Equation" r:id="rId43" imgW="723600" imgH="215640" progId="Equation.3">
                    <p:embed/>
                  </p:oleObj>
                </mc:Choice>
                <mc:Fallback>
                  <p:oleObj name="Equation" r:id="rId43" imgW="72360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592"/>
                          <a:ext cx="1584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1008" name="Object 0"/>
          <p:cNvGraphicFramePr>
            <a:graphicFrameLocks noChangeAspect="1"/>
          </p:cNvGraphicFramePr>
          <p:nvPr/>
        </p:nvGraphicFramePr>
        <p:xfrm>
          <a:off x="838200" y="4953000"/>
          <a:ext cx="2730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903" name="Equation" r:id="rId45" imgW="1574640" imgH="482400" progId="Equation.3">
                  <p:embed/>
                </p:oleObj>
              </mc:Choice>
              <mc:Fallback>
                <p:oleObj name="Equation" r:id="rId45" imgW="1574640" imgH="482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953000"/>
                        <a:ext cx="27305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09" name="Object 1"/>
          <p:cNvGraphicFramePr>
            <a:graphicFrameLocks noChangeAspect="1"/>
          </p:cNvGraphicFramePr>
          <p:nvPr/>
        </p:nvGraphicFramePr>
        <p:xfrm>
          <a:off x="228600" y="5867400"/>
          <a:ext cx="44196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904" name="Equation" r:id="rId47" imgW="1663560" imgH="215640" progId="Equation.3">
                  <p:embed/>
                </p:oleObj>
              </mc:Choice>
              <mc:Fallback>
                <p:oleObj name="Equation" r:id="rId47" imgW="166356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867400"/>
                        <a:ext cx="4419600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0" name="Object 2"/>
          <p:cNvGraphicFramePr>
            <a:graphicFrameLocks noChangeAspect="1"/>
          </p:cNvGraphicFramePr>
          <p:nvPr/>
        </p:nvGraphicFramePr>
        <p:xfrm>
          <a:off x="5029200" y="5867400"/>
          <a:ext cx="37338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905" name="Equation" r:id="rId49" imgW="1218960" imgH="228600" progId="Equation.3">
                  <p:embed/>
                </p:oleObj>
              </mc:Choice>
              <mc:Fallback>
                <p:oleObj name="Equation" r:id="rId49" imgW="121896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867400"/>
                        <a:ext cx="3733800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1" name="Object 3"/>
          <p:cNvGraphicFramePr>
            <a:graphicFrameLocks noChangeAspect="1"/>
          </p:cNvGraphicFramePr>
          <p:nvPr/>
        </p:nvGraphicFramePr>
        <p:xfrm>
          <a:off x="5029200" y="5181600"/>
          <a:ext cx="38862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906" name="Equation" r:id="rId51" imgW="1244520" imgH="228600" progId="Equation.3">
                  <p:embed/>
                </p:oleObj>
              </mc:Choice>
              <mc:Fallback>
                <p:oleObj name="Equation" r:id="rId51" imgW="124452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181600"/>
                        <a:ext cx="3886200" cy="671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68"/>
          <p:cNvGrpSpPr>
            <a:grpSpLocks/>
          </p:cNvGrpSpPr>
          <p:nvPr/>
        </p:nvGrpSpPr>
        <p:grpSpPr bwMode="auto">
          <a:xfrm>
            <a:off x="4419600" y="4038600"/>
            <a:ext cx="4191000" cy="1143000"/>
            <a:chOff x="2784" y="2256"/>
            <a:chExt cx="2640" cy="720"/>
          </a:xfrm>
        </p:grpSpPr>
        <p:graphicFrame>
          <p:nvGraphicFramePr>
            <p:cNvPr id="171012" name="Object 4"/>
            <p:cNvGraphicFramePr>
              <a:graphicFrameLocks noChangeAspect="1"/>
            </p:cNvGraphicFramePr>
            <p:nvPr/>
          </p:nvGraphicFramePr>
          <p:xfrm>
            <a:off x="3216" y="2256"/>
            <a:ext cx="2208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907" name="Equation" r:id="rId53" imgW="2323800" imgH="799920" progId="Equation.3">
                    <p:embed/>
                  </p:oleObj>
                </mc:Choice>
                <mc:Fallback>
                  <p:oleObj name="Equation" r:id="rId53" imgW="2323800" imgH="79992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256"/>
                          <a:ext cx="2208" cy="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827" name="Text Box 59"/>
            <p:cNvSpPr txBox="1">
              <a:spLocks noChangeArrowheads="1"/>
            </p:cNvSpPr>
            <p:nvPr/>
          </p:nvSpPr>
          <p:spPr bwMode="auto">
            <a:xfrm>
              <a:off x="2784" y="2402"/>
              <a:ext cx="5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则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7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7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33400" y="762000"/>
            <a:ext cx="8153400" cy="5638800"/>
            <a:chOff x="2304" y="1536"/>
            <a:chExt cx="3240" cy="2455"/>
          </a:xfrm>
        </p:grpSpPr>
        <p:pic>
          <p:nvPicPr>
            <p:cNvPr id="161795" name="Picture 3" descr="54327"/>
            <p:cNvPicPr>
              <a:picLocks noChangeAspect="1" noChangeArrowheads="1"/>
            </p:cNvPicPr>
            <p:nvPr/>
          </p:nvPicPr>
          <p:blipFill>
            <a:blip r:embed="rId2">
              <a:lum contrast="12000"/>
            </a:blip>
            <a:srcRect/>
            <a:stretch>
              <a:fillRect/>
            </a:stretch>
          </p:blipFill>
          <p:spPr bwMode="auto">
            <a:xfrm>
              <a:off x="2304" y="1536"/>
              <a:ext cx="3240" cy="2455"/>
            </a:xfrm>
            <a:prstGeom prst="rect">
              <a:avLst/>
            </a:prstGeom>
            <a:noFill/>
          </p:spPr>
        </p:pic>
        <p:sp>
          <p:nvSpPr>
            <p:cNvPr id="161796" name="Text Box 4"/>
            <p:cNvSpPr txBox="1">
              <a:spLocks noChangeArrowheads="1"/>
            </p:cNvSpPr>
            <p:nvPr/>
          </p:nvSpPr>
          <p:spPr bwMode="auto">
            <a:xfrm>
              <a:off x="3456" y="1536"/>
              <a:ext cx="2064" cy="173"/>
            </a:xfrm>
            <a:prstGeom prst="rect">
              <a:avLst/>
            </a:prstGeom>
            <a:noFill/>
            <a:ln w="19050">
              <a:noFill/>
              <a:miter lim="800000"/>
              <a:headEnd type="none" w="sm" len="lg"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幼圆" pitchFamily="49" charset="-122"/>
                </a:rPr>
                <a:t>我国长征系列火箭升空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81000" y="9538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作业：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2186428"/>
            <a:ext cx="7772400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 smtClean="0"/>
              <a:t> </a:t>
            </a:r>
            <a:r>
              <a:rPr kumimoji="1" lang="en-US" altLang="zh-CN" sz="2800" dirty="0" smtClean="0"/>
              <a:t>3-9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3-10</a:t>
            </a:r>
            <a:r>
              <a:rPr kumimoji="1" lang="zh-CN" altLang="en-US" sz="2800" dirty="0" smtClean="0"/>
              <a:t>。</a:t>
            </a:r>
            <a:endParaRPr kumimoji="1" lang="en-US" altLang="zh-CN" sz="2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304800" y="1920875"/>
            <a:ext cx="8534400" cy="11271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       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恒力的功：</a:t>
            </a:r>
            <a:r>
              <a:rPr lang="zh-CN" altLang="en-US" sz="2800" dirty="0" smtClean="0">
                <a:latin typeface="Arial" charset="0"/>
              </a:rPr>
              <a:t>力</a:t>
            </a:r>
            <a:r>
              <a:rPr lang="zh-CN" altLang="en-US" sz="2800" dirty="0">
                <a:latin typeface="Arial" charset="0"/>
              </a:rPr>
              <a:t>在质点位移方向的分量与位移大小的乘积 </a:t>
            </a:r>
            <a:r>
              <a:rPr lang="en-US" altLang="zh-CN" sz="2800" dirty="0">
                <a:latin typeface="Arial" charset="0"/>
              </a:rPr>
              <a:t>. </a:t>
            </a:r>
            <a:r>
              <a:rPr lang="zh-CN" altLang="en-US" sz="2800" dirty="0">
                <a:latin typeface="Arial" charset="0"/>
              </a:rPr>
              <a:t>（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功是标量，过程量）</a:t>
            </a:r>
          </a:p>
        </p:txBody>
      </p:sp>
      <p:graphicFrame>
        <p:nvGraphicFramePr>
          <p:cNvPr id="165888" name="Object 0"/>
          <p:cNvGraphicFramePr>
            <a:graphicFrameLocks noChangeAspect="1"/>
          </p:cNvGraphicFramePr>
          <p:nvPr/>
        </p:nvGraphicFramePr>
        <p:xfrm>
          <a:off x="533400" y="3100388"/>
          <a:ext cx="45974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844" name="Equation" r:id="rId3" imgW="1511280" imgH="203040" progId="Equation.3">
                  <p:embed/>
                </p:oleObj>
              </mc:Choice>
              <mc:Fallback>
                <p:oleObj name="Equation" r:id="rId3" imgW="1511280" imgH="20304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00388"/>
                        <a:ext cx="4597400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89" name="Object 1"/>
          <p:cNvGraphicFramePr>
            <a:graphicFrameLocks noChangeAspect="1"/>
          </p:cNvGraphicFramePr>
          <p:nvPr/>
        </p:nvGraphicFramePr>
        <p:xfrm>
          <a:off x="2590800" y="3746500"/>
          <a:ext cx="16843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845" name="Equation" r:id="rId5" imgW="495000" imgH="177480" progId="Equation.3">
                  <p:embed/>
                </p:oleObj>
              </mc:Choice>
              <mc:Fallback>
                <p:oleObj name="Equation" r:id="rId5" imgW="495000" imgH="1774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746500"/>
                        <a:ext cx="1684337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304800" y="1371600"/>
            <a:ext cx="1981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1.</a:t>
            </a:r>
            <a:r>
              <a:rPr lang="zh-CN" altLang="en-US" sz="2800" b="1" dirty="0" smtClean="0">
                <a:solidFill>
                  <a:srgbClr val="C00000"/>
                </a:solidFill>
                <a:latin typeface="+mj-lt"/>
              </a:rPr>
              <a:t>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功 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57200" y="838200"/>
            <a:ext cx="8305800" cy="584200"/>
            <a:chOff x="480" y="528"/>
            <a:chExt cx="5232" cy="368"/>
          </a:xfrm>
        </p:grpSpPr>
        <p:sp>
          <p:nvSpPr>
            <p:cNvPr id="155657" name="Text Box 9"/>
            <p:cNvSpPr txBox="1">
              <a:spLocks noChangeArrowheads="1"/>
            </p:cNvSpPr>
            <p:nvPr/>
          </p:nvSpPr>
          <p:spPr bwMode="auto">
            <a:xfrm>
              <a:off x="480" y="528"/>
              <a:ext cx="20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Arial" charset="0"/>
                </a:rPr>
                <a:t>力的</a:t>
              </a:r>
              <a:r>
                <a:rPr lang="zh-CN" altLang="en-US" sz="2800" dirty="0">
                  <a:solidFill>
                    <a:srgbClr val="010000"/>
                  </a:solidFill>
                  <a:latin typeface="Arial" charset="0"/>
                </a:rPr>
                <a:t>空间累积</a:t>
              </a:r>
              <a:r>
                <a:rPr lang="zh-CN" altLang="en-US" sz="2800" dirty="0">
                  <a:latin typeface="Arial" charset="0"/>
                </a:rPr>
                <a:t>效应 </a:t>
              </a:r>
              <a:r>
                <a:rPr lang="zh-CN" altLang="en-US" sz="2800" b="0" dirty="0">
                  <a:solidFill>
                    <a:schemeClr val="tx1"/>
                  </a:solidFill>
                  <a:latin typeface="Arial" charset="0"/>
                </a:rPr>
                <a:t> </a:t>
              </a:r>
            </a:p>
          </p:txBody>
        </p:sp>
        <p:graphicFrame>
          <p:nvGraphicFramePr>
            <p:cNvPr id="165902" name="Object 14"/>
            <p:cNvGraphicFramePr>
              <a:graphicFrameLocks noChangeAspect="1"/>
            </p:cNvGraphicFramePr>
            <p:nvPr/>
          </p:nvGraphicFramePr>
          <p:xfrm>
            <a:off x="3216" y="528"/>
            <a:ext cx="7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2846" name="Equation" r:id="rId7" imgW="444240" imgH="203040" progId="Equation.3">
                    <p:embed/>
                  </p:oleObj>
                </mc:Choice>
                <mc:Fallback>
                  <p:oleObj name="Equation" r:id="rId7" imgW="44424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528"/>
                          <a:ext cx="720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59" name="Text Box 11"/>
            <p:cNvSpPr txBox="1">
              <a:spLocks noChangeArrowheads="1"/>
            </p:cNvSpPr>
            <p:nvPr/>
          </p:nvSpPr>
          <p:spPr bwMode="auto">
            <a:xfrm>
              <a:off x="3936" y="528"/>
              <a:ext cx="17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tx1"/>
                  </a:solidFill>
                  <a:latin typeface="Arial" charset="0"/>
                </a:rPr>
                <a:t>，</a:t>
              </a:r>
              <a:r>
                <a:rPr lang="zh-CN" altLang="en-US" sz="2800" dirty="0">
                  <a:latin typeface="Arial" charset="0"/>
                </a:rPr>
                <a:t>动能定理等</a:t>
              </a:r>
              <a:r>
                <a:rPr lang="en-US" altLang="zh-CN" sz="2800" dirty="0">
                  <a:latin typeface="Arial" charset="0"/>
                </a:rPr>
                <a:t>.</a:t>
              </a:r>
            </a:p>
          </p:txBody>
        </p:sp>
        <p:sp>
          <p:nvSpPr>
            <p:cNvPr id="155660" name="AutoShape 12"/>
            <p:cNvSpPr>
              <a:spLocks noChangeArrowheads="1"/>
            </p:cNvSpPr>
            <p:nvPr/>
          </p:nvSpPr>
          <p:spPr bwMode="auto">
            <a:xfrm>
              <a:off x="2448" y="624"/>
              <a:ext cx="672" cy="144"/>
            </a:xfrm>
            <a:prstGeom prst="rightArrow">
              <a:avLst>
                <a:gd name="adj1" fmla="val 50000"/>
                <a:gd name="adj2" fmla="val 116667"/>
              </a:avLst>
            </a:prstGeom>
            <a:gradFill rotWithShape="0">
              <a:gsLst>
                <a:gs pos="0">
                  <a:srgbClr val="000082"/>
                </a:gs>
                <a:gs pos="15000">
                  <a:srgbClr val="66008F"/>
                </a:gs>
                <a:gs pos="32499">
                  <a:srgbClr val="BA0066"/>
                </a:gs>
                <a:gs pos="45000">
                  <a:srgbClr val="FF0000"/>
                </a:gs>
                <a:gs pos="50000">
                  <a:srgbClr val="FF8200"/>
                </a:gs>
                <a:gs pos="55001">
                  <a:srgbClr val="FF0000"/>
                </a:gs>
                <a:gs pos="67501">
                  <a:srgbClr val="BA0066"/>
                </a:gs>
                <a:gs pos="85000">
                  <a:srgbClr val="66008F"/>
                </a:gs>
                <a:gs pos="100000">
                  <a:srgbClr val="000082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457200" y="4343400"/>
            <a:ext cx="4419600" cy="1989138"/>
            <a:chOff x="288" y="2805"/>
            <a:chExt cx="2784" cy="1253"/>
          </a:xfrm>
        </p:grpSpPr>
        <p:graphicFrame>
          <p:nvGraphicFramePr>
            <p:cNvPr id="165890" name="Object 2"/>
            <p:cNvGraphicFramePr>
              <a:graphicFrameLocks noChangeAspect="1"/>
            </p:cNvGraphicFramePr>
            <p:nvPr/>
          </p:nvGraphicFramePr>
          <p:xfrm>
            <a:off x="528" y="2805"/>
            <a:ext cx="218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2847" name="Equation" r:id="rId9" imgW="1218960" imgH="203040" progId="Equation.3">
                    <p:embed/>
                  </p:oleObj>
                </mc:Choice>
                <mc:Fallback>
                  <p:oleObj name="Equation" r:id="rId9" imgW="1218960" imgH="20304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805"/>
                          <a:ext cx="2180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1" name="Object 3"/>
            <p:cNvGraphicFramePr>
              <a:graphicFrameLocks noChangeAspect="1"/>
            </p:cNvGraphicFramePr>
            <p:nvPr/>
          </p:nvGraphicFramePr>
          <p:xfrm>
            <a:off x="528" y="3237"/>
            <a:ext cx="2377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2848" name="Equation" r:id="rId11" imgW="1346040" imgH="203040" progId="Equation.3">
                    <p:embed/>
                  </p:oleObj>
                </mc:Choice>
                <mc:Fallback>
                  <p:oleObj name="Equation" r:id="rId11" imgW="1346040" imgH="20304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237"/>
                          <a:ext cx="2377" cy="3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2" name="Object 4"/>
            <p:cNvGraphicFramePr>
              <a:graphicFrameLocks noChangeAspect="1"/>
            </p:cNvGraphicFramePr>
            <p:nvPr/>
          </p:nvGraphicFramePr>
          <p:xfrm>
            <a:off x="518" y="3659"/>
            <a:ext cx="2554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2849" name="Equation" r:id="rId13" imgW="1384200" imgH="215640" progId="Equation.3">
                    <p:embed/>
                  </p:oleObj>
                </mc:Choice>
                <mc:Fallback>
                  <p:oleObj name="Equation" r:id="rId13" imgW="1384200" imgH="2156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" y="3659"/>
                          <a:ext cx="2554" cy="3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91" name="AutoShape 43"/>
            <p:cNvSpPr>
              <a:spLocks/>
            </p:cNvSpPr>
            <p:nvPr/>
          </p:nvSpPr>
          <p:spPr bwMode="auto">
            <a:xfrm>
              <a:off x="288" y="2928"/>
              <a:ext cx="192" cy="96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152400" y="76200"/>
            <a:ext cx="5029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第二部分：能量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3" name="Picture 42" descr="work-of-constant-forc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5399" y="3352800"/>
            <a:ext cx="4086225" cy="2514600"/>
          </a:xfrm>
          <a:prstGeom prst="rect">
            <a:avLst/>
          </a:prstGeom>
        </p:spPr>
      </p:pic>
      <p:graphicFrame>
        <p:nvGraphicFramePr>
          <p:cNvPr id="672786" name="Object 1"/>
          <p:cNvGraphicFramePr>
            <a:graphicFrameLocks noChangeAspect="1"/>
          </p:cNvGraphicFramePr>
          <p:nvPr/>
        </p:nvGraphicFramePr>
        <p:xfrm>
          <a:off x="6781800" y="5105400"/>
          <a:ext cx="4746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850" name="Equation" r:id="rId16" imgW="139680" imgH="152280" progId="Equation.3">
                  <p:embed/>
                </p:oleObj>
              </mc:Choice>
              <mc:Fallback>
                <p:oleObj name="Equation" r:id="rId16" imgW="139680" imgH="152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105400"/>
                        <a:ext cx="47466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87" name="Object 0"/>
          <p:cNvGraphicFramePr>
            <a:graphicFrameLocks noChangeAspect="1"/>
          </p:cNvGraphicFramePr>
          <p:nvPr/>
        </p:nvGraphicFramePr>
        <p:xfrm>
          <a:off x="6553200" y="4179888"/>
          <a:ext cx="3873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851" name="Equation" r:id="rId18" imgW="126720" imgH="164880" progId="Equation.3">
                  <p:embed/>
                </p:oleObj>
              </mc:Choice>
              <mc:Fallback>
                <p:oleObj name="Equation" r:id="rId18" imgW="126720" imgH="164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179888"/>
                        <a:ext cx="387350" cy="46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7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7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16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nimBg="1" autoUpdateAnimBg="0"/>
      <p:bldP spid="15565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943600" y="685800"/>
            <a:ext cx="2895600" cy="3505200"/>
            <a:chOff x="3696" y="1536"/>
            <a:chExt cx="1824" cy="2208"/>
          </a:xfrm>
        </p:grpSpPr>
        <p:sp>
          <p:nvSpPr>
            <p:cNvPr id="155665" name="Rectangle 17"/>
            <p:cNvSpPr>
              <a:spLocks noChangeArrowheads="1"/>
            </p:cNvSpPr>
            <p:nvPr/>
          </p:nvSpPr>
          <p:spPr bwMode="auto">
            <a:xfrm>
              <a:off x="3696" y="1536"/>
              <a:ext cx="1824" cy="22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7" name="Freeform 19"/>
            <p:cNvSpPr>
              <a:spLocks/>
            </p:cNvSpPr>
            <p:nvPr/>
          </p:nvSpPr>
          <p:spPr bwMode="auto">
            <a:xfrm>
              <a:off x="4000" y="1904"/>
              <a:ext cx="1520" cy="1600"/>
            </a:xfrm>
            <a:custGeom>
              <a:avLst/>
              <a:gdLst/>
              <a:ahLst/>
              <a:cxnLst>
                <a:cxn ang="0">
                  <a:pos x="0" y="1600"/>
                </a:cxn>
                <a:cxn ang="0">
                  <a:pos x="72" y="1112"/>
                </a:cxn>
                <a:cxn ang="0">
                  <a:pos x="98" y="976"/>
                </a:cxn>
                <a:cxn ang="0">
                  <a:pos x="249" y="646"/>
                </a:cxn>
                <a:cxn ang="0">
                  <a:pos x="391" y="400"/>
                </a:cxn>
                <a:cxn ang="0">
                  <a:pos x="630" y="176"/>
                </a:cxn>
                <a:cxn ang="0">
                  <a:pos x="1146" y="22"/>
                </a:cxn>
                <a:cxn ang="0">
                  <a:pos x="1520" y="43"/>
                </a:cxn>
              </a:cxnLst>
              <a:rect l="0" t="0" r="r" b="b"/>
              <a:pathLst>
                <a:path w="1520" h="1600">
                  <a:moveTo>
                    <a:pt x="0" y="1600"/>
                  </a:moveTo>
                  <a:cubicBezTo>
                    <a:pt x="12" y="1519"/>
                    <a:pt x="56" y="1216"/>
                    <a:pt x="72" y="1112"/>
                  </a:cubicBezTo>
                  <a:cubicBezTo>
                    <a:pt x="88" y="1008"/>
                    <a:pt x="69" y="1054"/>
                    <a:pt x="98" y="976"/>
                  </a:cubicBezTo>
                  <a:cubicBezTo>
                    <a:pt x="127" y="898"/>
                    <a:pt x="200" y="742"/>
                    <a:pt x="249" y="646"/>
                  </a:cubicBezTo>
                  <a:cubicBezTo>
                    <a:pt x="298" y="550"/>
                    <a:pt x="327" y="478"/>
                    <a:pt x="391" y="400"/>
                  </a:cubicBezTo>
                  <a:cubicBezTo>
                    <a:pt x="455" y="322"/>
                    <a:pt x="504" y="239"/>
                    <a:pt x="630" y="176"/>
                  </a:cubicBezTo>
                  <a:cubicBezTo>
                    <a:pt x="756" y="113"/>
                    <a:pt x="998" y="44"/>
                    <a:pt x="1146" y="22"/>
                  </a:cubicBezTo>
                  <a:cubicBezTo>
                    <a:pt x="1294" y="0"/>
                    <a:pt x="1442" y="39"/>
                    <a:pt x="1520" y="43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8" name="Line 20"/>
            <p:cNvSpPr>
              <a:spLocks noChangeShapeType="1"/>
            </p:cNvSpPr>
            <p:nvPr/>
          </p:nvSpPr>
          <p:spPr bwMode="auto">
            <a:xfrm>
              <a:off x="4120" y="2832"/>
              <a:ext cx="652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69" name="Line 21"/>
            <p:cNvSpPr>
              <a:spLocks noChangeShapeType="1"/>
            </p:cNvSpPr>
            <p:nvPr/>
          </p:nvSpPr>
          <p:spPr bwMode="auto">
            <a:xfrm rot="21199633" flipV="1">
              <a:off x="4080" y="2544"/>
              <a:ext cx="130" cy="288"/>
            </a:xfrm>
            <a:prstGeom prst="line">
              <a:avLst/>
            </a:prstGeom>
            <a:noFill/>
            <a:ln w="34925">
              <a:solidFill>
                <a:srgbClr val="00808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893" name="Object 5"/>
            <p:cNvGraphicFramePr>
              <a:graphicFrameLocks noChangeAspect="1"/>
            </p:cNvGraphicFramePr>
            <p:nvPr/>
          </p:nvGraphicFramePr>
          <p:xfrm>
            <a:off x="4598" y="2832"/>
            <a:ext cx="32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44" name="公式" r:id="rId3" imgW="126720" imgH="152280" progId="Equation.3">
                    <p:embed/>
                  </p:oleObj>
                </mc:Choice>
                <mc:Fallback>
                  <p:oleObj name="公式" r:id="rId3" imgW="126720" imgH="1522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2832"/>
                          <a:ext cx="325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4" name="Object 6"/>
            <p:cNvGraphicFramePr>
              <a:graphicFrameLocks noChangeAspect="1"/>
            </p:cNvGraphicFramePr>
            <p:nvPr/>
          </p:nvGraphicFramePr>
          <p:xfrm>
            <a:off x="3892" y="2496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45" name="公式" r:id="rId5" imgW="291960" imgH="253800" progId="Equation.3">
                    <p:embed/>
                  </p:oleObj>
                </mc:Choice>
                <mc:Fallback>
                  <p:oleObj name="公式" r:id="rId5" imgW="291960" imgH="253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2" y="2496"/>
                          <a:ext cx="25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72" name="Arc 24"/>
            <p:cNvSpPr>
              <a:spLocks/>
            </p:cNvSpPr>
            <p:nvPr/>
          </p:nvSpPr>
          <p:spPr bwMode="auto">
            <a:xfrm>
              <a:off x="4164" y="2655"/>
              <a:ext cx="130" cy="180"/>
            </a:xfrm>
            <a:custGeom>
              <a:avLst/>
              <a:gdLst>
                <a:gd name="G0" fmla="+- 0 0 0"/>
                <a:gd name="G1" fmla="+- 20168 0 0"/>
                <a:gd name="G2" fmla="+- 21600 0 0"/>
                <a:gd name="T0" fmla="*/ 7735 w 21600"/>
                <a:gd name="T1" fmla="*/ 0 h 20168"/>
                <a:gd name="T2" fmla="*/ 21600 w 21600"/>
                <a:gd name="T3" fmla="*/ 20168 h 20168"/>
                <a:gd name="T4" fmla="*/ 0 w 21600"/>
                <a:gd name="T5" fmla="*/ 20168 h 20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168" fill="none" extrusionOk="0">
                  <a:moveTo>
                    <a:pt x="7734" y="0"/>
                  </a:moveTo>
                  <a:cubicBezTo>
                    <a:pt x="16086" y="3203"/>
                    <a:pt x="21600" y="11223"/>
                    <a:pt x="21600" y="20168"/>
                  </a:cubicBezTo>
                </a:path>
                <a:path w="21600" h="20168" stroke="0" extrusionOk="0">
                  <a:moveTo>
                    <a:pt x="7734" y="0"/>
                  </a:moveTo>
                  <a:cubicBezTo>
                    <a:pt x="16086" y="3203"/>
                    <a:pt x="21600" y="11223"/>
                    <a:pt x="21600" y="20168"/>
                  </a:cubicBezTo>
                  <a:lnTo>
                    <a:pt x="0" y="20168"/>
                  </a:lnTo>
                  <a:close/>
                </a:path>
              </a:pathLst>
            </a:custGeom>
            <a:noFill/>
            <a:ln w="28575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895" name="Object 7"/>
            <p:cNvGraphicFramePr>
              <a:graphicFrameLocks noChangeAspect="1"/>
            </p:cNvGraphicFramePr>
            <p:nvPr/>
          </p:nvGraphicFramePr>
          <p:xfrm>
            <a:off x="4251" y="2496"/>
            <a:ext cx="21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46" name="公式" r:id="rId7" imgW="101520" imgH="139680" progId="Equation.3">
                    <p:embed/>
                  </p:oleObj>
                </mc:Choice>
                <mc:Fallback>
                  <p:oleObj name="公式" r:id="rId7" imgW="101520" imgH="1396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1" y="2496"/>
                          <a:ext cx="214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74" name="Line 26"/>
            <p:cNvSpPr>
              <a:spLocks noChangeShapeType="1"/>
            </p:cNvSpPr>
            <p:nvPr/>
          </p:nvSpPr>
          <p:spPr bwMode="auto">
            <a:xfrm flipV="1">
              <a:off x="3990" y="3216"/>
              <a:ext cx="347" cy="144"/>
            </a:xfrm>
            <a:prstGeom prst="line">
              <a:avLst/>
            </a:prstGeom>
            <a:noFill/>
            <a:ln w="34925">
              <a:solidFill>
                <a:srgbClr val="FF66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75" name="Line 27"/>
            <p:cNvSpPr>
              <a:spLocks noChangeShapeType="1"/>
            </p:cNvSpPr>
            <p:nvPr/>
          </p:nvSpPr>
          <p:spPr bwMode="auto">
            <a:xfrm>
              <a:off x="4651" y="2064"/>
              <a:ext cx="478" cy="432"/>
            </a:xfrm>
            <a:prstGeom prst="line">
              <a:avLst/>
            </a:prstGeom>
            <a:noFill/>
            <a:ln w="34925">
              <a:solidFill>
                <a:srgbClr val="CC0099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76" name="Line 28"/>
            <p:cNvSpPr>
              <a:spLocks noChangeShapeType="1"/>
            </p:cNvSpPr>
            <p:nvPr/>
          </p:nvSpPr>
          <p:spPr bwMode="auto">
            <a:xfrm rot="20890679" flipV="1">
              <a:off x="3979" y="3072"/>
              <a:ext cx="53" cy="288"/>
            </a:xfrm>
            <a:prstGeom prst="line">
              <a:avLst/>
            </a:prstGeom>
            <a:noFill/>
            <a:ln w="34925">
              <a:solidFill>
                <a:srgbClr val="00808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77" name="Line 29"/>
            <p:cNvSpPr>
              <a:spLocks noChangeShapeType="1"/>
            </p:cNvSpPr>
            <p:nvPr/>
          </p:nvSpPr>
          <p:spPr bwMode="auto">
            <a:xfrm flipV="1">
              <a:off x="4651" y="1920"/>
              <a:ext cx="261" cy="144"/>
            </a:xfrm>
            <a:prstGeom prst="line">
              <a:avLst/>
            </a:prstGeom>
            <a:noFill/>
            <a:ln w="34925">
              <a:solidFill>
                <a:srgbClr val="00808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896" name="Object 8"/>
            <p:cNvGraphicFramePr>
              <a:graphicFrameLocks noChangeAspect="1"/>
            </p:cNvGraphicFramePr>
            <p:nvPr/>
          </p:nvGraphicFramePr>
          <p:xfrm>
            <a:off x="4869" y="2400"/>
            <a:ext cx="31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47" name="公式" r:id="rId9" imgW="126720" imgH="190440" progId="Equation.3">
                    <p:embed/>
                  </p:oleObj>
                </mc:Choice>
                <mc:Fallback>
                  <p:oleObj name="公式" r:id="rId9" imgW="126720" imgH="1904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2400"/>
                          <a:ext cx="314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7" name="Object 9"/>
            <p:cNvGraphicFramePr>
              <a:graphicFrameLocks noChangeAspect="1"/>
            </p:cNvGraphicFramePr>
            <p:nvPr/>
          </p:nvGraphicFramePr>
          <p:xfrm>
            <a:off x="3696" y="3072"/>
            <a:ext cx="26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48" name="公式" r:id="rId11" imgW="291960" imgH="317160" progId="Equation.3">
                    <p:embed/>
                  </p:oleObj>
                </mc:Choice>
                <mc:Fallback>
                  <p:oleObj name="公式" r:id="rId11" imgW="291960" imgH="31716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072"/>
                          <a:ext cx="269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8" name="Object 10"/>
            <p:cNvGraphicFramePr>
              <a:graphicFrameLocks noChangeAspect="1"/>
            </p:cNvGraphicFramePr>
            <p:nvPr/>
          </p:nvGraphicFramePr>
          <p:xfrm>
            <a:off x="4434" y="1632"/>
            <a:ext cx="30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49" name="公式" r:id="rId13" imgW="291960" imgH="330120" progId="Equation.3">
                    <p:embed/>
                  </p:oleObj>
                </mc:Choice>
                <mc:Fallback>
                  <p:oleObj name="公式" r:id="rId13" imgW="291960" imgH="33012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1632"/>
                          <a:ext cx="30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81" name="Text Box 33"/>
            <p:cNvSpPr txBox="1">
              <a:spLocks noChangeArrowheads="1"/>
            </p:cNvSpPr>
            <p:nvPr/>
          </p:nvSpPr>
          <p:spPr bwMode="auto">
            <a:xfrm>
              <a:off x="4992" y="1641"/>
              <a:ext cx="3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rgbClr val="A50021"/>
                  </a:solidFill>
                </a:rPr>
                <a:t>B</a:t>
              </a:r>
              <a:endParaRPr lang="en-US" altLang="zh-CN" sz="2800" b="0" i="1">
                <a:solidFill>
                  <a:schemeClr val="tx1"/>
                </a:solidFill>
              </a:endParaRPr>
            </a:p>
          </p:txBody>
        </p:sp>
        <p:sp>
          <p:nvSpPr>
            <p:cNvPr id="155682" name="Line 34"/>
            <p:cNvSpPr>
              <a:spLocks noChangeShapeType="1"/>
            </p:cNvSpPr>
            <p:nvPr/>
          </p:nvSpPr>
          <p:spPr bwMode="auto">
            <a:xfrm flipH="1" flipV="1">
              <a:off x="4251" y="2544"/>
              <a:ext cx="477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5683" name="Text Box 35"/>
            <p:cNvSpPr txBox="1">
              <a:spLocks noChangeArrowheads="1"/>
            </p:cNvSpPr>
            <p:nvPr/>
          </p:nvSpPr>
          <p:spPr bwMode="auto">
            <a:xfrm>
              <a:off x="4912" y="1824"/>
              <a:ext cx="39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155684" name="Text Box 36"/>
            <p:cNvSpPr txBox="1">
              <a:spLocks noChangeArrowheads="1"/>
            </p:cNvSpPr>
            <p:nvPr/>
          </p:nvSpPr>
          <p:spPr bwMode="auto">
            <a:xfrm>
              <a:off x="3870" y="3264"/>
              <a:ext cx="2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</a:rPr>
                <a:t>*</a:t>
              </a:r>
            </a:p>
          </p:txBody>
        </p:sp>
        <p:graphicFrame>
          <p:nvGraphicFramePr>
            <p:cNvPr id="165899" name="Object 11"/>
            <p:cNvGraphicFramePr>
              <a:graphicFrameLocks noChangeAspect="1"/>
            </p:cNvGraphicFramePr>
            <p:nvPr/>
          </p:nvGraphicFramePr>
          <p:xfrm>
            <a:off x="4813" y="1920"/>
            <a:ext cx="18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50" name="公式" r:id="rId15" imgW="203040" imgH="330120" progId="Equation.3">
                    <p:embed/>
                  </p:oleObj>
                </mc:Choice>
                <mc:Fallback>
                  <p:oleObj name="公式" r:id="rId15" imgW="203040" imgH="33012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3" y="1920"/>
                          <a:ext cx="18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00" name="Object 12"/>
            <p:cNvGraphicFramePr>
              <a:graphicFrameLocks noChangeAspect="1"/>
            </p:cNvGraphicFramePr>
            <p:nvPr/>
          </p:nvGraphicFramePr>
          <p:xfrm>
            <a:off x="4087" y="2976"/>
            <a:ext cx="18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51" name="公式" r:id="rId17" imgW="215640" imgH="317160" progId="Equation.3">
                    <p:embed/>
                  </p:oleObj>
                </mc:Choice>
                <mc:Fallback>
                  <p:oleObj name="公式" r:id="rId17" imgW="215640" imgH="3171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2976"/>
                          <a:ext cx="18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63" name="Text Box 15"/>
            <p:cNvSpPr txBox="1">
              <a:spLocks noChangeArrowheads="1"/>
            </p:cNvSpPr>
            <p:nvPr/>
          </p:nvSpPr>
          <p:spPr bwMode="auto">
            <a:xfrm>
              <a:off x="3984" y="3360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rgbClr val="A50021"/>
                  </a:solidFill>
                </a:rPr>
                <a:t>A</a:t>
              </a:r>
              <a:endParaRPr lang="en-US" altLang="zh-CN" sz="2800" b="0" i="1">
                <a:solidFill>
                  <a:schemeClr val="tx1"/>
                </a:solidFill>
              </a:endParaRPr>
            </a:p>
          </p:txBody>
        </p:sp>
        <p:graphicFrame>
          <p:nvGraphicFramePr>
            <p:cNvPr id="165901" name="Object 13"/>
            <p:cNvGraphicFramePr>
              <a:graphicFrameLocks noChangeAspect="1"/>
            </p:cNvGraphicFramePr>
            <p:nvPr/>
          </p:nvGraphicFramePr>
          <p:xfrm>
            <a:off x="4272" y="3168"/>
            <a:ext cx="34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52" name="公式" r:id="rId19" imgW="126720" imgH="177480" progId="Equation.3">
                    <p:embed/>
                  </p:oleObj>
                </mc:Choice>
                <mc:Fallback>
                  <p:oleObj name="公式" r:id="rId19" imgW="126720" imgH="1774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168"/>
                          <a:ext cx="342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47"/>
          <p:cNvSpPr txBox="1">
            <a:spLocks noChangeArrowheads="1"/>
          </p:cNvSpPr>
          <p:nvPr/>
        </p:nvSpPr>
        <p:spPr bwMode="auto">
          <a:xfrm>
            <a:off x="457200" y="609600"/>
            <a:ext cx="2667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buClr>
                <a:srgbClr val="1C1C1C"/>
              </a:buClr>
              <a:buSzPts val="2400"/>
            </a:pP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变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力的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功</a:t>
            </a:r>
            <a:r>
              <a:rPr lang="en-US" altLang="zh-CN" sz="2800" dirty="0" smtClean="0">
                <a:solidFill>
                  <a:srgbClr val="C00000"/>
                </a:solidFill>
                <a:latin typeface="Arial" charset="0"/>
              </a:rPr>
              <a:t>=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？</a:t>
            </a:r>
            <a:endParaRPr lang="zh-CN" altLang="en-US" sz="2800" b="1" dirty="0">
              <a:solidFill>
                <a:srgbClr val="C00000"/>
              </a:solidFill>
              <a:latin typeface="Arial" charset="0"/>
            </a:endParaRPr>
          </a:p>
        </p:txBody>
      </p:sp>
      <p:graphicFrame>
        <p:nvGraphicFramePr>
          <p:cNvPr id="43" name="Object 48"/>
          <p:cNvGraphicFramePr>
            <a:graphicFrameLocks noChangeAspect="1"/>
          </p:cNvGraphicFramePr>
          <p:nvPr/>
        </p:nvGraphicFramePr>
        <p:xfrm>
          <a:off x="762000" y="1524000"/>
          <a:ext cx="22161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53" name="Equation" r:id="rId21" imgW="1244520" imgH="279360" progId="Equation.3">
                  <p:embed/>
                </p:oleObj>
              </mc:Choice>
              <mc:Fallback>
                <p:oleObj name="Equation" r:id="rId21" imgW="1244520" imgH="27936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0"/>
                        <a:ext cx="221615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42" name="Object 29"/>
          <p:cNvGraphicFramePr>
            <a:graphicFrameLocks noChangeAspect="1"/>
          </p:cNvGraphicFramePr>
          <p:nvPr/>
        </p:nvGraphicFramePr>
        <p:xfrm>
          <a:off x="893763" y="2362200"/>
          <a:ext cx="41560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54" name="Equation" r:id="rId23" imgW="1307880" imgH="330120" progId="Equation.3">
                  <p:embed/>
                </p:oleObj>
              </mc:Choice>
              <mc:Fallback>
                <p:oleObj name="Equation" r:id="rId23" imgW="1307880" imgH="33012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2362200"/>
                        <a:ext cx="4156075" cy="9779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457200" y="4889500"/>
          <a:ext cx="6248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55" name="公式" r:id="rId25" imgW="3263760" imgH="431640" progId="Equation.3">
                  <p:embed/>
                </p:oleObj>
              </mc:Choice>
              <mc:Fallback>
                <p:oleObj name="公式" r:id="rId25" imgW="3263760" imgH="43164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89500"/>
                        <a:ext cx="62484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30"/>
          <p:cNvSpPr txBox="1">
            <a:spLocks noChangeArrowheads="1"/>
          </p:cNvSpPr>
          <p:nvPr/>
        </p:nvSpPr>
        <p:spPr bwMode="auto">
          <a:xfrm>
            <a:off x="228600" y="3886200"/>
            <a:ext cx="533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1C1C1C"/>
              </a:buClr>
              <a:buSzPts val="2400"/>
            </a:pP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合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力的功 </a:t>
            </a: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= </a:t>
            </a:r>
            <a:r>
              <a:rPr lang="zh-CN" altLang="en-US" sz="2800" dirty="0">
                <a:latin typeface="Arial" charset="0"/>
              </a:rPr>
              <a:t>分力的功的代数和</a:t>
            </a:r>
            <a:endParaRPr lang="zh-CN" altLang="en-US" sz="2800" b="0" dirty="0">
              <a:latin typeface="Arial" charset="0"/>
            </a:endParaRPr>
          </a:p>
        </p:txBody>
      </p:sp>
      <p:graphicFrame>
        <p:nvGraphicFramePr>
          <p:cNvPr id="717844" name="Object 48"/>
          <p:cNvGraphicFramePr>
            <a:graphicFrameLocks noChangeAspect="1"/>
          </p:cNvGraphicFramePr>
          <p:nvPr/>
        </p:nvGraphicFramePr>
        <p:xfrm>
          <a:off x="2895600" y="1485900"/>
          <a:ext cx="16748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56" name="Equation" r:id="rId27" imgW="558720" imgH="215640" progId="Equation.3">
                  <p:embed/>
                </p:oleObj>
              </mc:Choice>
              <mc:Fallback>
                <p:oleObj name="Equation" r:id="rId27" imgW="558720" imgH="2156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85900"/>
                        <a:ext cx="167481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45" name="Object 21"/>
          <p:cNvGraphicFramePr>
            <a:graphicFrameLocks noChangeAspect="1"/>
          </p:cNvGraphicFramePr>
          <p:nvPr/>
        </p:nvGraphicFramePr>
        <p:xfrm>
          <a:off x="4572000" y="1524000"/>
          <a:ext cx="12176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57" name="Equation" r:id="rId29" imgW="406080" imgH="203040" progId="Equation.3">
                  <p:embed/>
                </p:oleObj>
              </mc:Choice>
              <mc:Fallback>
                <p:oleObj name="Equation" r:id="rId29" imgW="406080" imgH="20304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524000"/>
                        <a:ext cx="12176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1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457200" y="6096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800" dirty="0">
                <a:latin typeface="Arial" charset="0"/>
              </a:rPr>
              <a:t>  </a:t>
            </a:r>
            <a:r>
              <a:rPr lang="zh-CN" altLang="en-US" sz="2800" dirty="0">
                <a:latin typeface="Arial" charset="0"/>
              </a:rPr>
              <a:t>功的大小与参照系有关</a:t>
            </a:r>
          </a:p>
        </p:txBody>
      </p:sp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3581400" y="1447800"/>
          <a:ext cx="48768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866" name="Equation" r:id="rId4" imgW="3632040" imgH="444240" progId="Equation.3">
                  <p:embed/>
                </p:oleObj>
              </mc:Choice>
              <mc:Fallback>
                <p:oleObj name="Equation" r:id="rId4" imgW="363204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447800"/>
                        <a:ext cx="4876800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457200" y="1516063"/>
            <a:ext cx="46910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800" dirty="0">
                <a:latin typeface="Arial" charset="0"/>
              </a:rPr>
              <a:t>  </a:t>
            </a:r>
            <a:r>
              <a:rPr lang="zh-CN" altLang="en-US" sz="2800" dirty="0">
                <a:latin typeface="Arial" charset="0"/>
              </a:rPr>
              <a:t>功的量纲和单位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57200" y="2286000"/>
            <a:ext cx="4114800" cy="996950"/>
            <a:chOff x="384" y="1578"/>
            <a:chExt cx="2592" cy="628"/>
          </a:xfrm>
        </p:grpSpPr>
        <p:graphicFrame>
          <p:nvGraphicFramePr>
            <p:cNvPr id="157703" name="Object 7"/>
            <p:cNvGraphicFramePr>
              <a:graphicFrameLocks noChangeAspect="1"/>
            </p:cNvGraphicFramePr>
            <p:nvPr/>
          </p:nvGraphicFramePr>
          <p:xfrm>
            <a:off x="1824" y="1578"/>
            <a:ext cx="1152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867" name="公式" r:id="rId6" imgW="914400" imgH="609480" progId="Equation.3">
                    <p:embed/>
                  </p:oleObj>
                </mc:Choice>
                <mc:Fallback>
                  <p:oleObj name="公式" r:id="rId6" imgW="914400" imgH="6094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578"/>
                          <a:ext cx="1152" cy="6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7704" name="Rectangle 8"/>
            <p:cNvSpPr>
              <a:spLocks noChangeArrowheads="1"/>
            </p:cNvSpPr>
            <p:nvPr/>
          </p:nvSpPr>
          <p:spPr bwMode="auto">
            <a:xfrm>
              <a:off x="384" y="1731"/>
              <a:ext cx="19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altLang="zh-CN" sz="2800">
                  <a:latin typeface="Arial" charset="0"/>
                </a:rPr>
                <a:t>  </a:t>
              </a:r>
              <a:r>
                <a:rPr lang="zh-CN" altLang="en-US" sz="2800">
                  <a:latin typeface="Arial" charset="0"/>
                </a:rPr>
                <a:t>平均功率</a:t>
              </a:r>
            </a:p>
          </p:txBody>
        </p:sp>
      </p:grp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457201" y="3568700"/>
            <a:ext cx="2286000" cy="519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   </a:t>
            </a:r>
            <a:r>
              <a:rPr lang="zh-CN" altLang="en-US" sz="2800" dirty="0">
                <a:latin typeface="Arial" charset="0"/>
              </a:rPr>
              <a:t>瞬时功率</a:t>
            </a:r>
          </a:p>
        </p:txBody>
      </p:sp>
      <p:graphicFrame>
        <p:nvGraphicFramePr>
          <p:cNvPr id="157707" name="Object 11"/>
          <p:cNvGraphicFramePr>
            <a:graphicFrameLocks noChangeAspect="1"/>
          </p:cNvGraphicFramePr>
          <p:nvPr/>
        </p:nvGraphicFramePr>
        <p:xfrm>
          <a:off x="2743200" y="3298825"/>
          <a:ext cx="583723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868" name="Equation" r:id="rId8" imgW="1993680" imgH="380880" progId="Equation.3">
                  <p:embed/>
                </p:oleObj>
              </mc:Choice>
              <mc:Fallback>
                <p:oleObj name="Equation" r:id="rId8" imgW="1993680" imgH="380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98825"/>
                        <a:ext cx="5837237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8" name="Object 12"/>
          <p:cNvGraphicFramePr>
            <a:graphicFrameLocks noChangeAspect="1"/>
          </p:cNvGraphicFramePr>
          <p:nvPr/>
        </p:nvGraphicFramePr>
        <p:xfrm>
          <a:off x="2765612" y="4492368"/>
          <a:ext cx="2693147" cy="53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869" name="Equation" r:id="rId10" imgW="799920" imgH="177480" progId="Equation.3">
                  <p:embed/>
                </p:oleObj>
              </mc:Choice>
              <mc:Fallback>
                <p:oleObj name="Equation" r:id="rId10" imgW="7999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612" y="4492368"/>
                        <a:ext cx="2693147" cy="5368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457200" y="5181600"/>
            <a:ext cx="7924800" cy="519112"/>
            <a:chOff x="288" y="3546"/>
            <a:chExt cx="4992" cy="327"/>
          </a:xfrm>
        </p:grpSpPr>
        <p:sp>
          <p:nvSpPr>
            <p:cNvPr id="157710" name="Rectangle 14"/>
            <p:cNvSpPr>
              <a:spLocks noChangeArrowheads="1"/>
            </p:cNvSpPr>
            <p:nvPr/>
          </p:nvSpPr>
          <p:spPr bwMode="auto">
            <a:xfrm>
              <a:off x="288" y="3546"/>
              <a:ext cx="187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altLang="zh-CN" sz="2800">
                  <a:latin typeface="Arial" charset="0"/>
                </a:rPr>
                <a:t>  </a:t>
              </a:r>
              <a:r>
                <a:rPr lang="zh-CN" altLang="en-US" sz="2800">
                  <a:latin typeface="Arial" charset="0"/>
                </a:rPr>
                <a:t>功率的单位</a:t>
              </a:r>
            </a:p>
          </p:txBody>
        </p:sp>
        <p:sp>
          <p:nvSpPr>
            <p:cNvPr id="157711" name="Text Box 15"/>
            <p:cNvSpPr txBox="1">
              <a:spLocks noChangeArrowheads="1"/>
            </p:cNvSpPr>
            <p:nvPr/>
          </p:nvSpPr>
          <p:spPr bwMode="auto">
            <a:xfrm>
              <a:off x="1680" y="3546"/>
              <a:ext cx="1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</a:rPr>
                <a:t> </a:t>
              </a:r>
              <a:r>
                <a:rPr lang="zh-CN" altLang="en-US" sz="2800">
                  <a:solidFill>
                    <a:srgbClr val="000000"/>
                  </a:solidFill>
                </a:rPr>
                <a:t>（</a:t>
              </a:r>
              <a:r>
                <a:rPr lang="zh-CN" altLang="en-US" sz="2800"/>
                <a:t>瓦特）</a:t>
              </a:r>
            </a:p>
          </p:txBody>
        </p:sp>
        <p:graphicFrame>
          <p:nvGraphicFramePr>
            <p:cNvPr id="157712" name="Object 16"/>
            <p:cNvGraphicFramePr>
              <a:graphicFrameLocks noChangeAspect="1"/>
            </p:cNvGraphicFramePr>
            <p:nvPr/>
          </p:nvGraphicFramePr>
          <p:xfrm>
            <a:off x="4032" y="3579"/>
            <a:ext cx="1248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870" name="公式" r:id="rId12" imgW="1333440" imgH="279360" progId="Equation.3">
                    <p:embed/>
                  </p:oleObj>
                </mc:Choice>
                <mc:Fallback>
                  <p:oleObj name="公式" r:id="rId12" imgW="1333440" imgH="2793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579"/>
                          <a:ext cx="1248" cy="2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713" name="Object 17"/>
            <p:cNvGraphicFramePr>
              <a:graphicFrameLocks noChangeAspect="1"/>
            </p:cNvGraphicFramePr>
            <p:nvPr/>
          </p:nvGraphicFramePr>
          <p:xfrm>
            <a:off x="2688" y="3552"/>
            <a:ext cx="115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871" name="Equation" r:id="rId14" imgW="736560" imgH="203040" progId="Equation.3">
                    <p:embed/>
                  </p:oleObj>
                </mc:Choice>
                <mc:Fallback>
                  <p:oleObj name="Equation" r:id="rId14" imgW="736560" imgH="20304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552"/>
                          <a:ext cx="115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1" grpId="0"/>
      <p:bldP spid="15770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152400" y="660400"/>
            <a:ext cx="9001125" cy="1720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   </a:t>
            </a:r>
            <a:r>
              <a:rPr lang="zh-CN" altLang="en-US" sz="2800" dirty="0"/>
              <a:t>质量为 </a:t>
            </a:r>
            <a:r>
              <a:rPr lang="en-US" altLang="zh-CN" sz="2800" dirty="0"/>
              <a:t>2kg </a:t>
            </a:r>
            <a:r>
              <a:rPr lang="zh-CN" altLang="en-US" sz="2800" dirty="0"/>
              <a:t>的物体由静止出发沿直线运动</a:t>
            </a:r>
            <a:r>
              <a:rPr lang="en-US" altLang="zh-CN" sz="2800" dirty="0"/>
              <a:t>,  </a:t>
            </a:r>
            <a:r>
              <a:rPr lang="zh-CN" altLang="en-US" sz="2800" dirty="0"/>
              <a:t>作用在物体上的力为 </a:t>
            </a:r>
            <a:r>
              <a:rPr lang="en-US" altLang="zh-CN" sz="2800" i="1" dirty="0"/>
              <a:t>F </a:t>
            </a:r>
            <a:r>
              <a:rPr lang="en-US" altLang="zh-CN" sz="2800" dirty="0"/>
              <a:t>= 6 </a:t>
            </a:r>
            <a:r>
              <a:rPr lang="en-US" altLang="zh-CN" sz="2800" i="1" dirty="0"/>
              <a:t>t</a:t>
            </a:r>
            <a:r>
              <a:rPr lang="en-US" altLang="zh-CN" sz="2800" dirty="0"/>
              <a:t> (N) .  </a:t>
            </a:r>
            <a:r>
              <a:rPr lang="zh-CN" altLang="en-US" sz="2800" dirty="0"/>
              <a:t>试求在头 </a:t>
            </a:r>
            <a:r>
              <a:rPr lang="en-US" altLang="zh-CN" sz="2800" dirty="0"/>
              <a:t>2 </a:t>
            </a:r>
            <a:r>
              <a:rPr lang="zh-CN" altLang="en-US" sz="2800" dirty="0"/>
              <a:t>秒内</a:t>
            </a:r>
            <a:r>
              <a:rPr lang="en-US" altLang="zh-CN" sz="2800" dirty="0"/>
              <a:t>,   </a:t>
            </a:r>
            <a:r>
              <a:rPr lang="zh-CN" altLang="en-US" sz="2800" dirty="0"/>
              <a:t>此力对物体做的功</a:t>
            </a:r>
            <a:r>
              <a:rPr lang="en-US" altLang="zh-CN" sz="2800" dirty="0"/>
              <a:t>.</a:t>
            </a:r>
          </a:p>
        </p:txBody>
      </p:sp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2057400" y="2667000"/>
          <a:ext cx="28956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0" name="公式" r:id="rId3" imgW="939600" imgH="228600" progId="Equation.3">
                  <p:embed/>
                </p:oleObj>
              </mc:Choice>
              <mc:Fallback>
                <p:oleObj name="公式" r:id="rId3" imgW="939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67000"/>
                        <a:ext cx="2895600" cy="760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5715000" y="2419350"/>
          <a:ext cx="1439863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1" name="公式" r:id="rId5" imgW="457200" imgH="393480" progId="Equation.3">
                  <p:embed/>
                </p:oleObj>
              </mc:Choice>
              <mc:Fallback>
                <p:oleObj name="公式" r:id="rId5" imgW="4572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419350"/>
                        <a:ext cx="1439863" cy="123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2" name="Object 8"/>
          <p:cNvGraphicFramePr>
            <a:graphicFrameLocks noChangeAspect="1"/>
          </p:cNvGraphicFramePr>
          <p:nvPr/>
        </p:nvGraphicFramePr>
        <p:xfrm>
          <a:off x="1143000" y="3511550"/>
          <a:ext cx="32766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2" name="公式" r:id="rId7" imgW="901440" imgH="330120" progId="Equation.3">
                  <p:embed/>
                </p:oleObj>
              </mc:Choice>
              <mc:Fallback>
                <p:oleObj name="公式" r:id="rId7" imgW="901440" imgH="3301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11550"/>
                        <a:ext cx="3276600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3" name="Object 9"/>
          <p:cNvGraphicFramePr>
            <a:graphicFrameLocks noChangeAspect="1"/>
          </p:cNvGraphicFramePr>
          <p:nvPr/>
        </p:nvGraphicFramePr>
        <p:xfrm>
          <a:off x="5334000" y="3663950"/>
          <a:ext cx="21336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3" name="公式" r:id="rId9" imgW="622080" imgH="241200" progId="Equation.3">
                  <p:embed/>
                </p:oleObj>
              </mc:Choice>
              <mc:Fallback>
                <p:oleObj name="公式" r:id="rId9" imgW="62208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663950"/>
                        <a:ext cx="2133600" cy="79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2362200" y="4648200"/>
          <a:ext cx="39624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4" name="公式" r:id="rId11" imgW="1155600" imgH="241200" progId="Equation.3">
                  <p:embed/>
                </p:oleObj>
              </mc:Choice>
              <mc:Fallback>
                <p:oleObj name="公式" r:id="rId11" imgW="115560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48200"/>
                        <a:ext cx="3962400" cy="77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1809750" y="5546725"/>
          <a:ext cx="537368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5" name="Equation" r:id="rId13" imgW="1752480" imgH="330120" progId="Equation.3">
                  <p:embed/>
                </p:oleObj>
              </mc:Choice>
              <mc:Fallback>
                <p:oleObj name="Equation" r:id="rId13" imgW="1752480" imgH="3301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5546725"/>
                        <a:ext cx="537368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6" name="Text Box 12"/>
          <p:cNvSpPr txBox="1">
            <a:spLocks noChangeArrowheads="1"/>
          </p:cNvSpPr>
          <p:nvPr/>
        </p:nvSpPr>
        <p:spPr bwMode="auto">
          <a:xfrm>
            <a:off x="838200" y="2730500"/>
            <a:ext cx="99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CC0000"/>
                </a:solidFill>
              </a:rPr>
              <a:t>解</a:t>
            </a:r>
            <a:r>
              <a:rPr lang="en-US" altLang="zh-CN" sz="2800">
                <a:solidFill>
                  <a:srgbClr val="CC0000"/>
                </a:solidFill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一对作用力和反作用力在同一时间段的的做功的和为（ 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一定不为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可能为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，也可能不为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，需要具体情况具体分析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168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0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464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2.  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质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点的动能定理</a:t>
            </a:r>
          </a:p>
        </p:txBody>
      </p:sp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750888" y="1711325"/>
          <a:ext cx="76565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06" name="Equation" r:id="rId3" imgW="2463480" imgH="368280" progId="Equation.3">
                  <p:embed/>
                </p:oleObj>
              </mc:Choice>
              <mc:Fallback>
                <p:oleObj name="Equation" r:id="rId3" imgW="2463480" imgH="368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1711325"/>
                        <a:ext cx="7656512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85800" y="2819400"/>
            <a:ext cx="7467600" cy="1117600"/>
            <a:chOff x="480" y="1984"/>
            <a:chExt cx="4704" cy="704"/>
          </a:xfrm>
        </p:grpSpPr>
        <p:sp>
          <p:nvSpPr>
            <p:cNvPr id="159749" name="Text Box 5"/>
            <p:cNvSpPr txBox="1">
              <a:spLocks noChangeArrowheads="1"/>
            </p:cNvSpPr>
            <p:nvPr/>
          </p:nvSpPr>
          <p:spPr bwMode="auto">
            <a:xfrm>
              <a:off x="480" y="2106"/>
              <a:ext cx="24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lang="en-US" altLang="zh-CN" sz="2800" dirty="0">
                  <a:latin typeface="Arial" charset="0"/>
                </a:rPr>
                <a:t>    </a:t>
              </a:r>
              <a:r>
                <a:rPr lang="zh-CN" altLang="en-US" sz="2800" dirty="0">
                  <a:latin typeface="Arial" charset="0"/>
                </a:rPr>
                <a:t>动能（</a:t>
              </a:r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状态</a:t>
              </a:r>
              <a:r>
                <a:rPr lang="zh-CN" altLang="en-US" sz="2800" dirty="0">
                  <a:solidFill>
                    <a:srgbClr val="000000"/>
                  </a:solidFill>
                  <a:latin typeface="Arial" charset="0"/>
                </a:rPr>
                <a:t>函数</a:t>
              </a:r>
              <a:r>
                <a:rPr lang="zh-CN" altLang="en-US" sz="2800" dirty="0">
                  <a:latin typeface="Arial" charset="0"/>
                </a:rPr>
                <a:t>）</a:t>
              </a:r>
              <a:endParaRPr lang="zh-CN" altLang="en-US" sz="2800" b="0" dirty="0">
                <a:latin typeface="Arial" charset="0"/>
              </a:endParaRPr>
            </a:p>
          </p:txBody>
        </p:sp>
        <p:graphicFrame>
          <p:nvGraphicFramePr>
            <p:cNvPr id="159750" name="Object 6"/>
            <p:cNvGraphicFramePr>
              <a:graphicFrameLocks noChangeAspect="1"/>
            </p:cNvGraphicFramePr>
            <p:nvPr/>
          </p:nvGraphicFramePr>
          <p:xfrm>
            <a:off x="3024" y="1984"/>
            <a:ext cx="2160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907" name="Equation" r:id="rId6" imgW="1104840" imgH="419040" progId="Equation.3">
                    <p:embed/>
                  </p:oleObj>
                </mc:Choice>
                <mc:Fallback>
                  <p:oleObj name="Equation" r:id="rId6" imgW="1104840" imgH="419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984"/>
                          <a:ext cx="2160" cy="70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9751" name="Object 7"/>
          <p:cNvGraphicFramePr>
            <a:graphicFrameLocks noChangeAspect="1"/>
          </p:cNvGraphicFramePr>
          <p:nvPr/>
        </p:nvGraphicFramePr>
        <p:xfrm>
          <a:off x="5000624" y="685801"/>
          <a:ext cx="3457576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08" name="Equation" r:id="rId8" imgW="977760" imgH="368280" progId="Equation.3">
                  <p:embed/>
                </p:oleObj>
              </mc:Choice>
              <mc:Fallback>
                <p:oleObj name="Equation" r:id="rId8" imgW="977760" imgH="368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4" y="685801"/>
                        <a:ext cx="3457576" cy="110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8"/>
          <p:cNvGraphicFramePr>
            <a:graphicFrameLocks noChangeAspect="1"/>
          </p:cNvGraphicFramePr>
          <p:nvPr/>
        </p:nvGraphicFramePr>
        <p:xfrm>
          <a:off x="1219200" y="914400"/>
          <a:ext cx="33131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09" name="Equation" r:id="rId10" imgW="1180800" imgH="291960" progId="Equation.3">
                  <p:embed/>
                </p:oleObj>
              </mc:Choice>
              <mc:Fallback>
                <p:oleObj name="Equation" r:id="rId10" imgW="1180800" imgH="291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914400"/>
                        <a:ext cx="3313112" cy="82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609600" y="3581400"/>
            <a:ext cx="7772400" cy="1574800"/>
            <a:chOff x="384" y="2496"/>
            <a:chExt cx="4896" cy="992"/>
          </a:xfrm>
        </p:grpSpPr>
        <p:sp>
          <p:nvSpPr>
            <p:cNvPr id="159755" name="Text Box 11"/>
            <p:cNvSpPr txBox="1">
              <a:spLocks noChangeArrowheads="1"/>
            </p:cNvSpPr>
            <p:nvPr/>
          </p:nvSpPr>
          <p:spPr bwMode="auto">
            <a:xfrm>
              <a:off x="432" y="2496"/>
              <a:ext cx="17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lang="en-US" altLang="zh-CN" sz="2800" dirty="0">
                  <a:latin typeface="Arial" charset="0"/>
                </a:rPr>
                <a:t>    </a:t>
              </a:r>
              <a:r>
                <a:rPr lang="zh-CN" altLang="en-US" sz="2800" b="1" dirty="0">
                  <a:solidFill>
                    <a:srgbClr val="C00000"/>
                  </a:solidFill>
                  <a:latin typeface="Arial" charset="0"/>
                </a:rPr>
                <a:t>动能定理</a:t>
              </a:r>
            </a:p>
          </p:txBody>
        </p:sp>
        <p:graphicFrame>
          <p:nvGraphicFramePr>
            <p:cNvPr id="159756" name="Object 12"/>
            <p:cNvGraphicFramePr>
              <a:graphicFrameLocks noChangeAspect="1"/>
            </p:cNvGraphicFramePr>
            <p:nvPr/>
          </p:nvGraphicFramePr>
          <p:xfrm>
            <a:off x="3456" y="2880"/>
            <a:ext cx="1824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910" name="Equation" r:id="rId12" imgW="850680" imgH="215640" progId="Equation.3">
                    <p:embed/>
                  </p:oleObj>
                </mc:Choice>
                <mc:Fallback>
                  <p:oleObj name="Equation" r:id="rId12" imgW="85068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880"/>
                          <a:ext cx="1824" cy="44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57" name="Rectangle 13"/>
            <p:cNvSpPr>
              <a:spLocks noChangeArrowheads="1"/>
            </p:cNvSpPr>
            <p:nvPr/>
          </p:nvSpPr>
          <p:spPr bwMode="auto">
            <a:xfrm>
              <a:off x="384" y="2784"/>
              <a:ext cx="2976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0000"/>
                  </a:solidFill>
                  <a:latin typeface="Arial" charset="0"/>
                </a:rPr>
                <a:t>       </a:t>
              </a:r>
              <a:r>
                <a:rPr lang="zh-CN" altLang="en-US" sz="2800" dirty="0">
                  <a:solidFill>
                    <a:srgbClr val="000000"/>
                  </a:solidFill>
                  <a:latin typeface="Arial" charset="0"/>
                </a:rPr>
                <a:t>合</a:t>
              </a:r>
              <a:r>
                <a:rPr lang="zh-CN" altLang="en-US" sz="2800" dirty="0">
                  <a:latin typeface="Arial" charset="0"/>
                </a:rPr>
                <a:t>外力对</a:t>
              </a:r>
              <a:r>
                <a:rPr lang="zh-CN" altLang="en-US" sz="2800" dirty="0">
                  <a:solidFill>
                    <a:srgbClr val="000000"/>
                  </a:solidFill>
                  <a:latin typeface="Arial" charset="0"/>
                </a:rPr>
                <a:t>质点</a:t>
              </a:r>
              <a:r>
                <a:rPr lang="zh-CN" altLang="en-US" sz="2800" dirty="0">
                  <a:latin typeface="Arial" charset="0"/>
                </a:rPr>
                <a:t>所作的功</a:t>
              </a:r>
              <a:r>
                <a:rPr lang="en-US" altLang="zh-CN" sz="2800" dirty="0">
                  <a:latin typeface="Arial" charset="0"/>
                </a:rPr>
                <a:t>,</a:t>
              </a:r>
              <a:r>
                <a:rPr lang="zh-CN" altLang="en-US" sz="2800" dirty="0">
                  <a:latin typeface="Arial" charset="0"/>
                </a:rPr>
                <a:t>等于质点动能的</a:t>
              </a:r>
              <a:r>
                <a:rPr lang="zh-CN" altLang="en-US" sz="2800" dirty="0">
                  <a:solidFill>
                    <a:srgbClr val="000000"/>
                  </a:solidFill>
                  <a:latin typeface="Arial" charset="0"/>
                </a:rPr>
                <a:t>增量 </a:t>
              </a:r>
              <a:r>
                <a:rPr lang="en-US" altLang="zh-CN" sz="2800" dirty="0">
                  <a:latin typeface="Arial" charset="0"/>
                </a:rPr>
                <a:t>.</a:t>
              </a: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381000" y="5181600"/>
            <a:ext cx="8686800" cy="1117600"/>
            <a:chOff x="240" y="3408"/>
            <a:chExt cx="5472" cy="704"/>
          </a:xfrm>
        </p:grpSpPr>
        <p:sp>
          <p:nvSpPr>
            <p:cNvPr id="159759" name="Text Box 15"/>
            <p:cNvSpPr txBox="1">
              <a:spLocks noChangeArrowheads="1"/>
            </p:cNvSpPr>
            <p:nvPr/>
          </p:nvSpPr>
          <p:spPr bwMode="auto">
            <a:xfrm>
              <a:off x="1344" y="3408"/>
              <a:ext cx="4368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Arial" charset="0"/>
                </a:rPr>
                <a:t>       </a:t>
              </a:r>
              <a:r>
                <a:rPr lang="zh-CN" altLang="en-US" sz="2800" dirty="0">
                  <a:latin typeface="Arial" charset="0"/>
                </a:rPr>
                <a:t>功和动能都与</a:t>
              </a:r>
              <a:r>
                <a:rPr lang="zh-CN" altLang="en-US" sz="2800" dirty="0">
                  <a:solidFill>
                    <a:srgbClr val="A50021"/>
                  </a:solidFill>
                  <a:latin typeface="Arial" charset="0"/>
                </a:rPr>
                <a:t> </a:t>
              </a:r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参考系</a:t>
              </a:r>
              <a:r>
                <a:rPr lang="zh-CN" altLang="en-US" sz="2800" dirty="0">
                  <a:latin typeface="Arial" charset="0"/>
                </a:rPr>
                <a:t>有关；动能定理仅适用于</a:t>
              </a:r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惯性系 </a:t>
              </a:r>
              <a:r>
                <a:rPr lang="en-US" altLang="zh-CN" sz="2800" dirty="0">
                  <a:solidFill>
                    <a:srgbClr val="000000"/>
                  </a:solidFill>
                  <a:latin typeface="Arial" charset="0"/>
                </a:rPr>
                <a:t>.</a:t>
              </a:r>
            </a:p>
          </p:txBody>
        </p:sp>
        <p:grpSp>
          <p:nvGrpSpPr>
            <p:cNvPr id="5" name="Group 28"/>
            <p:cNvGrpSpPr>
              <a:grpSpLocks/>
            </p:cNvGrpSpPr>
            <p:nvPr/>
          </p:nvGrpSpPr>
          <p:grpSpPr bwMode="auto">
            <a:xfrm>
              <a:off x="240" y="3408"/>
              <a:ext cx="1056" cy="624"/>
              <a:chOff x="240" y="3408"/>
              <a:chExt cx="1056" cy="624"/>
            </a:xfrm>
          </p:grpSpPr>
          <p:sp>
            <p:nvSpPr>
              <p:cNvPr id="159761" name="AutoShape 17"/>
              <p:cNvSpPr>
                <a:spLocks noChangeArrowheads="1"/>
              </p:cNvSpPr>
              <p:nvPr/>
            </p:nvSpPr>
            <p:spPr bwMode="auto">
              <a:xfrm>
                <a:off x="240" y="3408"/>
                <a:ext cx="1056" cy="624"/>
              </a:xfrm>
              <a:prstGeom prst="irregularSeal1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EEAF1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9762" name="Text Box 18"/>
              <p:cNvSpPr txBox="1">
                <a:spLocks noChangeArrowheads="1"/>
              </p:cNvSpPr>
              <p:nvPr/>
            </p:nvSpPr>
            <p:spPr bwMode="auto">
              <a:xfrm>
                <a:off x="504" y="3552"/>
                <a:ext cx="66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注意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2"/>
          <p:cNvGrpSpPr>
            <a:grpSpLocks/>
          </p:cNvGrpSpPr>
          <p:nvPr/>
        </p:nvGrpSpPr>
        <p:grpSpPr bwMode="auto">
          <a:xfrm>
            <a:off x="7292975" y="5395913"/>
            <a:ext cx="631825" cy="1233487"/>
            <a:chOff x="4594" y="3307"/>
            <a:chExt cx="398" cy="777"/>
          </a:xfrm>
        </p:grpSpPr>
        <p:sp>
          <p:nvSpPr>
            <p:cNvPr id="160925" name="Line 157"/>
            <p:cNvSpPr>
              <a:spLocks noChangeShapeType="1"/>
            </p:cNvSpPr>
            <p:nvPr/>
          </p:nvSpPr>
          <p:spPr bwMode="auto">
            <a:xfrm>
              <a:off x="4944" y="3307"/>
              <a:ext cx="0" cy="65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23" name="Object 155"/>
            <p:cNvGraphicFramePr>
              <a:graphicFrameLocks noChangeAspect="1"/>
            </p:cNvGraphicFramePr>
            <p:nvPr/>
          </p:nvGraphicFramePr>
          <p:xfrm>
            <a:off x="4594" y="3691"/>
            <a:ext cx="398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34" name="Equation" r:id="rId3" imgW="152280" imgH="190440" progId="Equation.3">
                    <p:embed/>
                  </p:oleObj>
                </mc:Choice>
                <mc:Fallback>
                  <p:oleObj name="Equation" r:id="rId3" imgW="152280" imgH="190440" progId="Equation.3">
                    <p:embed/>
                    <p:pic>
                      <p:nvPicPr>
                        <p:cNvPr id="0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4" y="3691"/>
                          <a:ext cx="398" cy="3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00"/>
          <p:cNvGrpSpPr>
            <a:grpSpLocks/>
          </p:cNvGrpSpPr>
          <p:nvPr/>
        </p:nvGrpSpPr>
        <p:grpSpPr bwMode="auto">
          <a:xfrm>
            <a:off x="152400" y="533400"/>
            <a:ext cx="8915400" cy="2143125"/>
            <a:chOff x="96" y="336"/>
            <a:chExt cx="5616" cy="1350"/>
          </a:xfrm>
        </p:grpSpPr>
        <p:sp>
          <p:nvSpPr>
            <p:cNvPr id="160772" name="Text Box 4"/>
            <p:cNvSpPr txBox="1">
              <a:spLocks noChangeArrowheads="1"/>
            </p:cNvSpPr>
            <p:nvPr/>
          </p:nvSpPr>
          <p:spPr bwMode="auto">
            <a:xfrm>
              <a:off x="96" y="336"/>
              <a:ext cx="5616" cy="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C0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例 </a:t>
              </a:r>
              <a:r>
                <a:rPr lang="en-US" altLang="zh-CN" sz="2800" b="1" dirty="0">
                  <a:solidFill>
                    <a:srgbClr val="C00000"/>
                  </a:solidFill>
                </a:rPr>
                <a:t>2    </a:t>
              </a:r>
              <a:r>
                <a:rPr lang="zh-CN" altLang="en-US" sz="2800" dirty="0"/>
                <a:t>一质量为</a:t>
              </a:r>
              <a:r>
                <a:rPr lang="en-US" altLang="zh-CN" sz="2800" b="0" dirty="0"/>
                <a:t>1.0kg </a:t>
              </a:r>
              <a:r>
                <a:rPr lang="zh-CN" altLang="en-US" sz="2800" dirty="0"/>
                <a:t>的小球系在长为</a:t>
              </a:r>
              <a:r>
                <a:rPr lang="en-US" altLang="zh-CN" sz="2800" b="0" dirty="0"/>
                <a:t>1.0m </a:t>
              </a:r>
              <a:r>
                <a:rPr lang="zh-CN" altLang="en-US" sz="2800" dirty="0"/>
                <a:t>细绳下   端 </a:t>
              </a:r>
              <a:r>
                <a:rPr lang="en-US" altLang="zh-CN" sz="2800" dirty="0"/>
                <a:t>, </a:t>
              </a:r>
              <a:r>
                <a:rPr lang="zh-CN" altLang="en-US" sz="2800" dirty="0"/>
                <a:t>绳的上端固定在天花板上 </a:t>
              </a:r>
              <a:r>
                <a:rPr lang="en-US" altLang="zh-CN" sz="2800" dirty="0"/>
                <a:t>.  </a:t>
              </a:r>
              <a:r>
                <a:rPr lang="zh-CN" altLang="en-US" sz="2800" dirty="0"/>
                <a:t>起初把绳子放在与竖直线成        角处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然后放手使小球沿圆弧下落 </a:t>
              </a:r>
              <a:r>
                <a:rPr lang="en-US" altLang="zh-CN" sz="2800" dirty="0"/>
                <a:t>.  </a:t>
              </a:r>
              <a:r>
                <a:rPr lang="zh-CN" altLang="en-US" sz="2800" dirty="0"/>
                <a:t>试求绳与竖直线成       角时小球的速率 </a:t>
              </a:r>
              <a:r>
                <a:rPr lang="en-US" altLang="zh-CN" sz="2800" dirty="0"/>
                <a:t>.</a:t>
              </a:r>
            </a:p>
          </p:txBody>
        </p:sp>
        <p:graphicFrame>
          <p:nvGraphicFramePr>
            <p:cNvPr id="160773" name="Object 5"/>
            <p:cNvGraphicFramePr>
              <a:graphicFrameLocks noChangeAspect="1"/>
            </p:cNvGraphicFramePr>
            <p:nvPr/>
          </p:nvGraphicFramePr>
          <p:xfrm>
            <a:off x="646" y="1056"/>
            <a:ext cx="41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35" name="Equation" r:id="rId5" imgW="253800" imgH="177480" progId="Equation.3">
                    <p:embed/>
                  </p:oleObj>
                </mc:Choice>
                <mc:Fallback>
                  <p:oleObj name="Equation" r:id="rId5" imgW="253800" imgH="1774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" y="1056"/>
                          <a:ext cx="410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0774" name="Object 6"/>
            <p:cNvGraphicFramePr>
              <a:graphicFrameLocks noChangeAspect="1"/>
            </p:cNvGraphicFramePr>
            <p:nvPr/>
          </p:nvGraphicFramePr>
          <p:xfrm>
            <a:off x="816" y="1344"/>
            <a:ext cx="39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36" name="Equation" r:id="rId7" imgW="241200" imgH="177480" progId="Equation.3">
                    <p:embed/>
                  </p:oleObj>
                </mc:Choice>
                <mc:Fallback>
                  <p:oleObj name="Equation" r:id="rId7" imgW="241200" imgH="1774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344"/>
                          <a:ext cx="391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0821" name="Object 53"/>
          <p:cNvGraphicFramePr>
            <a:graphicFrameLocks noChangeAspect="1"/>
          </p:cNvGraphicFramePr>
          <p:nvPr/>
        </p:nvGraphicFramePr>
        <p:xfrm>
          <a:off x="1219200" y="2819400"/>
          <a:ext cx="47244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37" name="Equation" r:id="rId9" imgW="1841400" imgH="228600" progId="Equation.3">
                  <p:embed/>
                </p:oleObj>
              </mc:Choice>
              <mc:Fallback>
                <p:oleObj name="Equation" r:id="rId9" imgW="184140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19400"/>
                        <a:ext cx="4724400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822" name="Text Box 54"/>
          <p:cNvSpPr txBox="1">
            <a:spLocks noChangeArrowheads="1"/>
          </p:cNvSpPr>
          <p:nvPr/>
        </p:nvSpPr>
        <p:spPr bwMode="auto">
          <a:xfrm>
            <a:off x="533400" y="2895600"/>
            <a:ext cx="91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解</a:t>
            </a:r>
            <a:r>
              <a:rPr lang="en-US" altLang="zh-CN" sz="2800">
                <a:solidFill>
                  <a:srgbClr val="CC0000"/>
                </a:solidFill>
              </a:rPr>
              <a:t>:</a:t>
            </a:r>
            <a:r>
              <a:rPr lang="en-US" altLang="zh-CN" sz="2800"/>
              <a:t> </a:t>
            </a:r>
          </a:p>
        </p:txBody>
      </p:sp>
      <p:graphicFrame>
        <p:nvGraphicFramePr>
          <p:cNvPr id="160823" name="Object 55"/>
          <p:cNvGraphicFramePr>
            <a:graphicFrameLocks noChangeAspect="1"/>
          </p:cNvGraphicFramePr>
          <p:nvPr/>
        </p:nvGraphicFramePr>
        <p:xfrm>
          <a:off x="1511300" y="5867400"/>
          <a:ext cx="39751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38" name="Equation" r:id="rId11" imgW="1307880" imgH="228600" progId="Equation.3">
                  <p:embed/>
                </p:oleObj>
              </mc:Choice>
              <mc:Fallback>
                <p:oleObj name="Equation" r:id="rId11" imgW="130788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5867400"/>
                        <a:ext cx="3975100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24" name="Object 56"/>
          <p:cNvGraphicFramePr>
            <a:graphicFrameLocks noChangeAspect="1"/>
          </p:cNvGraphicFramePr>
          <p:nvPr/>
        </p:nvGraphicFramePr>
        <p:xfrm>
          <a:off x="1905000" y="3505200"/>
          <a:ext cx="42878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39" name="Equation" r:id="rId13" imgW="1536480" imgH="228600" progId="Equation.3">
                  <p:embed/>
                </p:oleObj>
              </mc:Choice>
              <mc:Fallback>
                <p:oleObj name="Equation" r:id="rId13" imgW="1536480" imgH="2286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05200"/>
                        <a:ext cx="4287838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25" name="Object 57"/>
          <p:cNvGraphicFramePr>
            <a:graphicFrameLocks noChangeAspect="1"/>
          </p:cNvGraphicFramePr>
          <p:nvPr/>
        </p:nvGraphicFramePr>
        <p:xfrm>
          <a:off x="1905000" y="4267200"/>
          <a:ext cx="30099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40" name="Equation" r:id="rId15" imgW="1002960" imgH="203040" progId="Equation.3">
                  <p:embed/>
                </p:oleObj>
              </mc:Choice>
              <mc:Fallback>
                <p:oleObj name="Equation" r:id="rId15" imgW="1002960" imgH="20304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267200"/>
                        <a:ext cx="3009900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26" name="Object 58"/>
          <p:cNvGraphicFramePr>
            <a:graphicFrameLocks noChangeAspect="1"/>
          </p:cNvGraphicFramePr>
          <p:nvPr/>
        </p:nvGraphicFramePr>
        <p:xfrm>
          <a:off x="914400" y="4876800"/>
          <a:ext cx="4419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41" name="Equation" r:id="rId17" imgW="1295280" imgH="355320" progId="Equation.3">
                  <p:embed/>
                </p:oleObj>
              </mc:Choice>
              <mc:Fallback>
                <p:oleObj name="Equation" r:id="rId17" imgW="1295280" imgH="35532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76800"/>
                        <a:ext cx="44196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0"/>
          <p:cNvGrpSpPr>
            <a:grpSpLocks/>
          </p:cNvGrpSpPr>
          <p:nvPr/>
        </p:nvGrpSpPr>
        <p:grpSpPr bwMode="auto">
          <a:xfrm>
            <a:off x="7827963" y="5988050"/>
            <a:ext cx="325437" cy="558800"/>
            <a:chOff x="3299" y="3200"/>
            <a:chExt cx="205" cy="352"/>
          </a:xfrm>
        </p:grpSpPr>
        <p:sp>
          <p:nvSpPr>
            <p:cNvPr id="160919" name="Freeform 151"/>
            <p:cNvSpPr>
              <a:spLocks/>
            </p:cNvSpPr>
            <p:nvPr/>
          </p:nvSpPr>
          <p:spPr bwMode="auto">
            <a:xfrm>
              <a:off x="3316" y="3200"/>
              <a:ext cx="116" cy="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28"/>
                </a:cxn>
                <a:cxn ang="0">
                  <a:pos x="68" y="32"/>
                </a:cxn>
                <a:cxn ang="0">
                  <a:pos x="92" y="20"/>
                </a:cxn>
                <a:cxn ang="0">
                  <a:pos x="116" y="8"/>
                </a:cxn>
              </a:cxnLst>
              <a:rect l="0" t="0" r="r" b="b"/>
              <a:pathLst>
                <a:path w="116" h="32">
                  <a:moveTo>
                    <a:pt x="0" y="0"/>
                  </a:moveTo>
                  <a:lnTo>
                    <a:pt x="36" y="28"/>
                  </a:lnTo>
                  <a:lnTo>
                    <a:pt x="68" y="32"/>
                  </a:lnTo>
                  <a:lnTo>
                    <a:pt x="92" y="20"/>
                  </a:lnTo>
                  <a:lnTo>
                    <a:pt x="116" y="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20" name="Object 152"/>
            <p:cNvGraphicFramePr>
              <a:graphicFrameLocks noChangeAspect="1"/>
            </p:cNvGraphicFramePr>
            <p:nvPr/>
          </p:nvGraphicFramePr>
          <p:xfrm>
            <a:off x="3299" y="3264"/>
            <a:ext cx="20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2" name="Equation" r:id="rId19" imgW="126720" imgH="177480" progId="Equation.3">
                    <p:embed/>
                  </p:oleObj>
                </mc:Choice>
                <mc:Fallback>
                  <p:oleObj name="Equation" r:id="rId19" imgW="126720" imgH="177480" progId="Equation.3">
                    <p:embed/>
                    <p:pic>
                      <p:nvPicPr>
                        <p:cNvPr id="0" name="Object 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9" y="3264"/>
                          <a:ext cx="205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8"/>
          <p:cNvGrpSpPr>
            <a:grpSpLocks/>
          </p:cNvGrpSpPr>
          <p:nvPr/>
        </p:nvGrpSpPr>
        <p:grpSpPr bwMode="auto">
          <a:xfrm>
            <a:off x="7361238" y="5418138"/>
            <a:ext cx="487362" cy="569912"/>
            <a:chOff x="4781" y="2937"/>
            <a:chExt cx="307" cy="359"/>
          </a:xfrm>
        </p:grpSpPr>
        <p:sp>
          <p:nvSpPr>
            <p:cNvPr id="160927" name="Freeform 159"/>
            <p:cNvSpPr>
              <a:spLocks/>
            </p:cNvSpPr>
            <p:nvPr/>
          </p:nvSpPr>
          <p:spPr bwMode="auto">
            <a:xfrm>
              <a:off x="4947" y="2937"/>
              <a:ext cx="141" cy="1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89"/>
                </a:cxn>
                <a:cxn ang="0">
                  <a:pos x="141" y="130"/>
                </a:cxn>
              </a:cxnLst>
              <a:rect l="0" t="0" r="r" b="b"/>
              <a:pathLst>
                <a:path w="141" h="130">
                  <a:moveTo>
                    <a:pt x="0" y="0"/>
                  </a:moveTo>
                  <a:cubicBezTo>
                    <a:pt x="6" y="15"/>
                    <a:pt x="14" y="67"/>
                    <a:pt x="37" y="89"/>
                  </a:cubicBezTo>
                  <a:cubicBezTo>
                    <a:pt x="60" y="111"/>
                    <a:pt x="119" y="121"/>
                    <a:pt x="141" y="13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none" w="sm" len="med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28" name="Object 160"/>
            <p:cNvGraphicFramePr>
              <a:graphicFrameLocks noChangeAspect="1"/>
            </p:cNvGraphicFramePr>
            <p:nvPr/>
          </p:nvGraphicFramePr>
          <p:xfrm>
            <a:off x="4781" y="2976"/>
            <a:ext cx="25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3" name="Equation" r:id="rId21" imgW="139680" imgH="164880" progId="Equation.3">
                    <p:embed/>
                  </p:oleObj>
                </mc:Choice>
                <mc:Fallback>
                  <p:oleObj name="Equation" r:id="rId21" imgW="139680" imgH="164880" progId="Equation.3">
                    <p:embed/>
                    <p:pic>
                      <p:nvPicPr>
                        <p:cNvPr id="0" name="Object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1" y="2976"/>
                          <a:ext cx="259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99"/>
          <p:cNvGrpSpPr>
            <a:grpSpLocks/>
          </p:cNvGrpSpPr>
          <p:nvPr/>
        </p:nvGrpSpPr>
        <p:grpSpPr bwMode="auto">
          <a:xfrm>
            <a:off x="6324600" y="2133600"/>
            <a:ext cx="2286000" cy="4419600"/>
            <a:chOff x="3984" y="1344"/>
            <a:chExt cx="1440" cy="2784"/>
          </a:xfrm>
        </p:grpSpPr>
        <p:sp>
          <p:nvSpPr>
            <p:cNvPr id="160930" name="Line 162"/>
            <p:cNvSpPr>
              <a:spLocks noChangeShapeType="1"/>
            </p:cNvSpPr>
            <p:nvPr/>
          </p:nvSpPr>
          <p:spPr bwMode="auto">
            <a:xfrm rot="-306278">
              <a:off x="4916" y="3161"/>
              <a:ext cx="172" cy="8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7" name="Group 163"/>
            <p:cNvGrpSpPr>
              <a:grpSpLocks/>
            </p:cNvGrpSpPr>
            <p:nvPr/>
          </p:nvGrpSpPr>
          <p:grpSpPr bwMode="auto">
            <a:xfrm>
              <a:off x="4272" y="2214"/>
              <a:ext cx="672" cy="369"/>
              <a:chOff x="4416" y="1738"/>
              <a:chExt cx="672" cy="369"/>
            </a:xfrm>
          </p:grpSpPr>
          <p:sp>
            <p:nvSpPr>
              <p:cNvPr id="160932" name="Arc 164"/>
              <p:cNvSpPr>
                <a:spLocks/>
              </p:cNvSpPr>
              <p:nvPr/>
            </p:nvSpPr>
            <p:spPr bwMode="auto">
              <a:xfrm rot="-37023215">
                <a:off x="4498" y="1881"/>
                <a:ext cx="144" cy="308"/>
              </a:xfrm>
              <a:custGeom>
                <a:avLst/>
                <a:gdLst>
                  <a:gd name="G0" fmla="+- 0 0 0"/>
                  <a:gd name="G1" fmla="+- 18852 0 0"/>
                  <a:gd name="G2" fmla="+- 21600 0 0"/>
                  <a:gd name="T0" fmla="*/ 10544 w 21587"/>
                  <a:gd name="T1" fmla="*/ 0 h 18852"/>
                  <a:gd name="T2" fmla="*/ 21587 w 21587"/>
                  <a:gd name="T3" fmla="*/ 18112 h 18852"/>
                  <a:gd name="T4" fmla="*/ 0 w 21587"/>
                  <a:gd name="T5" fmla="*/ 18852 h 18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87" h="18852" fill="none" extrusionOk="0">
                    <a:moveTo>
                      <a:pt x="10543" y="0"/>
                    </a:moveTo>
                    <a:cubicBezTo>
                      <a:pt x="17140" y="3689"/>
                      <a:pt x="21328" y="10558"/>
                      <a:pt x="21587" y="18111"/>
                    </a:cubicBezTo>
                  </a:path>
                  <a:path w="21587" h="18852" stroke="0" extrusionOk="0">
                    <a:moveTo>
                      <a:pt x="10543" y="0"/>
                    </a:moveTo>
                    <a:cubicBezTo>
                      <a:pt x="17140" y="3689"/>
                      <a:pt x="21328" y="10558"/>
                      <a:pt x="21587" y="18111"/>
                    </a:cubicBezTo>
                    <a:lnTo>
                      <a:pt x="0" y="18852"/>
                    </a:lnTo>
                    <a:close/>
                  </a:path>
                </a:pathLst>
              </a:custGeom>
              <a:noFill/>
              <a:ln w="28575">
                <a:solidFill>
                  <a:srgbClr val="CC00FF"/>
                </a:solidFill>
                <a:round/>
                <a:headEnd type="triangle" w="sm" len="med"/>
                <a:tailEnd/>
              </a:ln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933" name="Arc 165"/>
              <p:cNvSpPr>
                <a:spLocks/>
              </p:cNvSpPr>
              <p:nvPr/>
            </p:nvSpPr>
            <p:spPr bwMode="auto">
              <a:xfrm rot="12582620" flipH="1">
                <a:off x="4822" y="1781"/>
                <a:ext cx="240" cy="315"/>
              </a:xfrm>
              <a:custGeom>
                <a:avLst/>
                <a:gdLst>
                  <a:gd name="G0" fmla="+- 0 0 0"/>
                  <a:gd name="G1" fmla="+- 19525 0 0"/>
                  <a:gd name="G2" fmla="+- 21600 0 0"/>
                  <a:gd name="T0" fmla="*/ 9238 w 21417"/>
                  <a:gd name="T1" fmla="*/ 0 h 19525"/>
                  <a:gd name="T2" fmla="*/ 21417 w 21417"/>
                  <a:gd name="T3" fmla="*/ 16717 h 19525"/>
                  <a:gd name="T4" fmla="*/ 0 w 21417"/>
                  <a:gd name="T5" fmla="*/ 19525 h 19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417" h="19525" fill="none" extrusionOk="0">
                    <a:moveTo>
                      <a:pt x="9237" y="0"/>
                    </a:moveTo>
                    <a:cubicBezTo>
                      <a:pt x="15874" y="3140"/>
                      <a:pt x="20462" y="9436"/>
                      <a:pt x="21416" y="16717"/>
                    </a:cubicBezTo>
                  </a:path>
                  <a:path w="21417" h="19525" stroke="0" extrusionOk="0">
                    <a:moveTo>
                      <a:pt x="9237" y="0"/>
                    </a:moveTo>
                    <a:cubicBezTo>
                      <a:pt x="15874" y="3140"/>
                      <a:pt x="20462" y="9436"/>
                      <a:pt x="21416" y="16717"/>
                    </a:cubicBezTo>
                    <a:lnTo>
                      <a:pt x="0" y="19525"/>
                    </a:lnTo>
                    <a:close/>
                  </a:path>
                </a:pathLst>
              </a:custGeom>
              <a:noFill/>
              <a:ln w="28575">
                <a:solidFill>
                  <a:srgbClr val="CC00FF"/>
                </a:solidFill>
                <a:round/>
                <a:headEnd type="triangle" w="sm" len="med"/>
                <a:tailEnd/>
              </a:ln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0934" name="Object 166"/>
              <p:cNvGraphicFramePr>
                <a:graphicFrameLocks noChangeAspect="1"/>
              </p:cNvGraphicFramePr>
              <p:nvPr/>
            </p:nvGraphicFramePr>
            <p:xfrm>
              <a:off x="4800" y="1738"/>
              <a:ext cx="2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8044" name="Equation" r:id="rId23" imgW="228600" imgH="177480" progId="Equation.3">
                      <p:embed/>
                    </p:oleObj>
                  </mc:Choice>
                  <mc:Fallback>
                    <p:oleObj name="Equation" r:id="rId23" imgW="228600" imgH="177480" progId="Equation.3">
                      <p:embed/>
                      <p:pic>
                        <p:nvPicPr>
                          <p:cNvPr id="0" name="Object 1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1738"/>
                            <a:ext cx="288" cy="27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0936" name="Freeform 168"/>
            <p:cNvSpPr>
              <a:spLocks/>
            </p:cNvSpPr>
            <p:nvPr/>
          </p:nvSpPr>
          <p:spPr bwMode="auto">
            <a:xfrm>
              <a:off x="4412" y="2197"/>
              <a:ext cx="196" cy="5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58" y="55"/>
                </a:cxn>
                <a:cxn ang="0">
                  <a:pos x="142" y="0"/>
                </a:cxn>
              </a:cxnLst>
              <a:rect l="0" t="0" r="r" b="b"/>
              <a:pathLst>
                <a:path w="142" h="59">
                  <a:moveTo>
                    <a:pt x="0" y="26"/>
                  </a:moveTo>
                  <a:cubicBezTo>
                    <a:pt x="10" y="31"/>
                    <a:pt x="34" y="59"/>
                    <a:pt x="58" y="55"/>
                  </a:cubicBezTo>
                  <a:cubicBezTo>
                    <a:pt x="82" y="51"/>
                    <a:pt x="124" y="12"/>
                    <a:pt x="142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37" name="Object 169"/>
            <p:cNvGraphicFramePr>
              <a:graphicFrameLocks noChangeAspect="1"/>
            </p:cNvGraphicFramePr>
            <p:nvPr/>
          </p:nvGraphicFramePr>
          <p:xfrm>
            <a:off x="4224" y="2007"/>
            <a:ext cx="20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5" name="Equation" r:id="rId25" imgW="126720" imgH="177480" progId="Equation.3">
                    <p:embed/>
                  </p:oleObj>
                </mc:Choice>
                <mc:Fallback>
                  <p:oleObj name="Equation" r:id="rId25" imgW="126720" imgH="177480" progId="Equation.3">
                    <p:embed/>
                    <p:pic>
                      <p:nvPicPr>
                        <p:cNvPr id="0" name="Object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007"/>
                          <a:ext cx="205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43" name="Line 175"/>
            <p:cNvSpPr>
              <a:spLocks noChangeShapeType="1"/>
            </p:cNvSpPr>
            <p:nvPr/>
          </p:nvSpPr>
          <p:spPr bwMode="auto">
            <a:xfrm flipH="1">
              <a:off x="4422" y="3184"/>
              <a:ext cx="7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944" name="Oval 176"/>
            <p:cNvSpPr>
              <a:spLocks noChangeArrowheads="1"/>
            </p:cNvSpPr>
            <p:nvPr/>
          </p:nvSpPr>
          <p:spPr bwMode="auto">
            <a:xfrm>
              <a:off x="4364" y="3358"/>
              <a:ext cx="172" cy="1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0945" name="Object 177"/>
            <p:cNvGraphicFramePr>
              <a:graphicFrameLocks noChangeAspect="1"/>
            </p:cNvGraphicFramePr>
            <p:nvPr/>
          </p:nvGraphicFramePr>
          <p:xfrm>
            <a:off x="4944" y="2378"/>
            <a:ext cx="190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6" name="Equation" r:id="rId26" imgW="88560" imgH="177480" progId="Equation.3">
                    <p:embed/>
                  </p:oleObj>
                </mc:Choice>
                <mc:Fallback>
                  <p:oleObj name="Equation" r:id="rId26" imgW="88560" imgH="177480" progId="Equation.3">
                    <p:embed/>
                    <p:pic>
                      <p:nvPicPr>
                        <p:cNvPr id="0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378"/>
                          <a:ext cx="190" cy="3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46" name="Line 178"/>
            <p:cNvSpPr>
              <a:spLocks noChangeShapeType="1"/>
            </p:cNvSpPr>
            <p:nvPr/>
          </p:nvSpPr>
          <p:spPr bwMode="auto">
            <a:xfrm rot="19947107" flipH="1" flipV="1">
              <a:off x="4583" y="3416"/>
              <a:ext cx="313" cy="3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947" name="Rectangle 179"/>
            <p:cNvSpPr>
              <a:spLocks noChangeArrowheads="1"/>
            </p:cNvSpPr>
            <p:nvPr/>
          </p:nvSpPr>
          <p:spPr bwMode="auto">
            <a:xfrm>
              <a:off x="3984" y="1344"/>
              <a:ext cx="1440" cy="27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948" name="Freeform 180"/>
            <p:cNvSpPr>
              <a:spLocks/>
            </p:cNvSpPr>
            <p:nvPr/>
          </p:nvSpPr>
          <p:spPr bwMode="auto">
            <a:xfrm>
              <a:off x="4413" y="1899"/>
              <a:ext cx="213" cy="7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103" y="64"/>
                </a:cxn>
                <a:cxn ang="0">
                  <a:pos x="213" y="0"/>
                </a:cxn>
              </a:cxnLst>
              <a:rect l="0" t="0" r="r" b="b"/>
              <a:pathLst>
                <a:path w="213" h="70">
                  <a:moveTo>
                    <a:pt x="0" y="34"/>
                  </a:moveTo>
                  <a:cubicBezTo>
                    <a:pt x="32" y="53"/>
                    <a:pt x="68" y="70"/>
                    <a:pt x="103" y="64"/>
                  </a:cubicBezTo>
                  <a:cubicBezTo>
                    <a:pt x="138" y="58"/>
                    <a:pt x="190" y="13"/>
                    <a:pt x="213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49" name="Object 181"/>
            <p:cNvGraphicFramePr>
              <a:graphicFrameLocks noChangeAspect="1"/>
            </p:cNvGraphicFramePr>
            <p:nvPr/>
          </p:nvGraphicFramePr>
          <p:xfrm>
            <a:off x="4464" y="1575"/>
            <a:ext cx="24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7" name="Equation" r:id="rId28" imgW="164880" imgH="228600" progId="Equation.3">
                    <p:embed/>
                  </p:oleObj>
                </mc:Choice>
                <mc:Fallback>
                  <p:oleObj name="Equation" r:id="rId28" imgW="164880" imgH="228600" progId="Equation.3">
                    <p:embed/>
                    <p:pic>
                      <p:nvPicPr>
                        <p:cNvPr id="0" name="Object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575"/>
                          <a:ext cx="242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50" name="Line 182"/>
            <p:cNvSpPr>
              <a:spLocks noChangeShapeType="1"/>
            </p:cNvSpPr>
            <p:nvPr/>
          </p:nvSpPr>
          <p:spPr bwMode="auto">
            <a:xfrm rot="-298930">
              <a:off x="4504" y="1479"/>
              <a:ext cx="344" cy="1907"/>
            </a:xfrm>
            <a:prstGeom prst="line">
              <a:avLst/>
            </a:prstGeom>
            <a:noFill/>
            <a:ln w="19050">
              <a:solidFill>
                <a:srgbClr val="CC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951" name="Arc 183"/>
            <p:cNvSpPr>
              <a:spLocks/>
            </p:cNvSpPr>
            <p:nvPr/>
          </p:nvSpPr>
          <p:spPr bwMode="auto">
            <a:xfrm flipV="1">
              <a:off x="4479" y="3184"/>
              <a:ext cx="687" cy="232"/>
            </a:xfrm>
            <a:custGeom>
              <a:avLst/>
              <a:gdLst>
                <a:gd name="G0" fmla="+- 2678 0 0"/>
                <a:gd name="G1" fmla="+- 21600 0 0"/>
                <a:gd name="G2" fmla="+- 21600 0 0"/>
                <a:gd name="T0" fmla="*/ 0 w 24278"/>
                <a:gd name="T1" fmla="*/ 167 h 21600"/>
                <a:gd name="T2" fmla="*/ 24278 w 24278"/>
                <a:gd name="T3" fmla="*/ 21600 h 21600"/>
                <a:gd name="T4" fmla="*/ 2678 w 2427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78" h="21600" fill="none" extrusionOk="0">
                  <a:moveTo>
                    <a:pt x="-1" y="166"/>
                  </a:moveTo>
                  <a:cubicBezTo>
                    <a:pt x="888" y="55"/>
                    <a:pt x="1782" y="-1"/>
                    <a:pt x="2678" y="0"/>
                  </a:cubicBezTo>
                  <a:cubicBezTo>
                    <a:pt x="14607" y="0"/>
                    <a:pt x="24278" y="9670"/>
                    <a:pt x="24278" y="21600"/>
                  </a:cubicBezTo>
                </a:path>
                <a:path w="24278" h="21600" stroke="0" extrusionOk="0">
                  <a:moveTo>
                    <a:pt x="-1" y="166"/>
                  </a:moveTo>
                  <a:cubicBezTo>
                    <a:pt x="888" y="55"/>
                    <a:pt x="1782" y="-1"/>
                    <a:pt x="2678" y="0"/>
                  </a:cubicBezTo>
                  <a:cubicBezTo>
                    <a:pt x="14607" y="0"/>
                    <a:pt x="24278" y="9670"/>
                    <a:pt x="24278" y="21600"/>
                  </a:cubicBezTo>
                  <a:lnTo>
                    <a:pt x="2678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952" name="Rectangle 184"/>
            <p:cNvSpPr>
              <a:spLocks noChangeArrowheads="1"/>
            </p:cNvSpPr>
            <p:nvPr/>
          </p:nvSpPr>
          <p:spPr bwMode="auto">
            <a:xfrm>
              <a:off x="4032" y="1431"/>
              <a:ext cx="864" cy="4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9966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953" name="Line 185"/>
            <p:cNvSpPr>
              <a:spLocks noChangeShapeType="1"/>
            </p:cNvSpPr>
            <p:nvPr/>
          </p:nvSpPr>
          <p:spPr bwMode="auto">
            <a:xfrm>
              <a:off x="4422" y="1508"/>
              <a:ext cx="1" cy="1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954" name="Line 186"/>
            <p:cNvSpPr>
              <a:spLocks noChangeShapeType="1"/>
            </p:cNvSpPr>
            <p:nvPr/>
          </p:nvSpPr>
          <p:spPr bwMode="auto">
            <a:xfrm>
              <a:off x="4422" y="1451"/>
              <a:ext cx="744" cy="16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955" name="Oval 187"/>
            <p:cNvSpPr>
              <a:spLocks noChangeArrowheads="1"/>
            </p:cNvSpPr>
            <p:nvPr/>
          </p:nvSpPr>
          <p:spPr bwMode="auto">
            <a:xfrm>
              <a:off x="5108" y="3127"/>
              <a:ext cx="172" cy="1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0956" name="Line 188"/>
            <p:cNvSpPr>
              <a:spLocks noChangeShapeType="1"/>
            </p:cNvSpPr>
            <p:nvPr/>
          </p:nvSpPr>
          <p:spPr bwMode="auto">
            <a:xfrm rot="98034">
              <a:off x="4422" y="1565"/>
              <a:ext cx="330" cy="1839"/>
            </a:xfrm>
            <a:prstGeom prst="line">
              <a:avLst/>
            </a:prstGeom>
            <a:noFill/>
            <a:ln w="9525">
              <a:solidFill>
                <a:srgbClr val="CC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57" name="Object 189"/>
            <p:cNvGraphicFramePr>
              <a:graphicFrameLocks noChangeAspect="1"/>
            </p:cNvGraphicFramePr>
            <p:nvPr/>
          </p:nvGraphicFramePr>
          <p:xfrm>
            <a:off x="4512" y="3169"/>
            <a:ext cx="22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8" name="Equation" r:id="rId30" imgW="126720" imgH="177480" progId="Equation.3">
                    <p:embed/>
                  </p:oleObj>
                </mc:Choice>
                <mc:Fallback>
                  <p:oleObj name="Equation" r:id="rId30" imgW="126720" imgH="177480" progId="Equation.3">
                    <p:embed/>
                    <p:pic>
                      <p:nvPicPr>
                        <p:cNvPr id="0" name="Object 1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169"/>
                          <a:ext cx="222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0958" name="Object 190"/>
            <p:cNvGraphicFramePr>
              <a:graphicFrameLocks noChangeAspect="1"/>
            </p:cNvGraphicFramePr>
            <p:nvPr/>
          </p:nvGraphicFramePr>
          <p:xfrm>
            <a:off x="4872" y="3300"/>
            <a:ext cx="168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49" name="Clip" r:id="rId32" imgW="380852" imgH="390270" progId="">
                    <p:embed/>
                  </p:oleObj>
                </mc:Choice>
                <mc:Fallback>
                  <p:oleObj name="Clip" r:id="rId32" imgW="380852" imgH="390270" progId="">
                    <p:embed/>
                    <p:pic>
                      <p:nvPicPr>
                        <p:cNvPr id="0" name="Object 1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3300"/>
                          <a:ext cx="168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91"/>
          <p:cNvGrpSpPr>
            <a:grpSpLocks/>
          </p:cNvGrpSpPr>
          <p:nvPr/>
        </p:nvGrpSpPr>
        <p:grpSpPr bwMode="auto">
          <a:xfrm>
            <a:off x="7599363" y="4410075"/>
            <a:ext cx="477837" cy="833438"/>
            <a:chOff x="4787" y="2686"/>
            <a:chExt cx="301" cy="525"/>
          </a:xfrm>
        </p:grpSpPr>
        <p:sp>
          <p:nvSpPr>
            <p:cNvPr id="160922" name="Line 154"/>
            <p:cNvSpPr>
              <a:spLocks noChangeShapeType="1"/>
            </p:cNvSpPr>
            <p:nvPr/>
          </p:nvSpPr>
          <p:spPr bwMode="auto">
            <a:xfrm rot="-340907" flipH="1" flipV="1">
              <a:off x="4787" y="2686"/>
              <a:ext cx="109" cy="5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924" name="Object 156"/>
            <p:cNvGraphicFramePr>
              <a:graphicFrameLocks noChangeAspect="1"/>
            </p:cNvGraphicFramePr>
            <p:nvPr/>
          </p:nvGraphicFramePr>
          <p:xfrm>
            <a:off x="4800" y="2704"/>
            <a:ext cx="288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50" name="Equation" r:id="rId34" imgW="190440" imgH="228600" progId="Equation.3">
                    <p:embed/>
                  </p:oleObj>
                </mc:Choice>
                <mc:Fallback>
                  <p:oleObj name="Equation" r:id="rId34" imgW="190440" imgH="228600" progId="Equation.3">
                    <p:embed/>
                    <p:pic>
                      <p:nvPicPr>
                        <p:cNvPr id="0" name="Object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704"/>
                          <a:ext cx="288" cy="4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93"/>
          <p:cNvGrpSpPr>
            <a:grpSpLocks/>
          </p:cNvGrpSpPr>
          <p:nvPr/>
        </p:nvGrpSpPr>
        <p:grpSpPr bwMode="auto">
          <a:xfrm>
            <a:off x="7620000" y="5395913"/>
            <a:ext cx="838200" cy="533400"/>
            <a:chOff x="4800" y="3307"/>
            <a:chExt cx="528" cy="336"/>
          </a:xfrm>
        </p:grpSpPr>
        <p:graphicFrame>
          <p:nvGraphicFramePr>
            <p:cNvPr id="160940" name="Object 172"/>
            <p:cNvGraphicFramePr>
              <a:graphicFrameLocks noChangeAspect="1"/>
            </p:cNvGraphicFramePr>
            <p:nvPr/>
          </p:nvGraphicFramePr>
          <p:xfrm>
            <a:off x="5023" y="3311"/>
            <a:ext cx="30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51" name="Equation" r:id="rId36" imgW="228600" imgH="177480" progId="Equation.3">
                    <p:embed/>
                  </p:oleObj>
                </mc:Choice>
                <mc:Fallback>
                  <p:oleObj name="Equation" r:id="rId36" imgW="228600" imgH="177480" progId="Equation.3">
                    <p:embed/>
                    <p:pic>
                      <p:nvPicPr>
                        <p:cNvPr id="0" name="Object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3" y="3311"/>
                          <a:ext cx="305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942" name="Line 174"/>
            <p:cNvSpPr>
              <a:spLocks noChangeShapeType="1"/>
            </p:cNvSpPr>
            <p:nvPr/>
          </p:nvSpPr>
          <p:spPr bwMode="auto">
            <a:xfrm>
              <a:off x="5088" y="3595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0941" name="Line 173"/>
            <p:cNvSpPr>
              <a:spLocks noChangeShapeType="1"/>
            </p:cNvSpPr>
            <p:nvPr/>
          </p:nvSpPr>
          <p:spPr bwMode="auto">
            <a:xfrm>
              <a:off x="4800" y="3307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sm" len="med"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794" name="Object 2"/>
          <p:cNvGraphicFramePr>
            <a:graphicFrameLocks noChangeAspect="1"/>
          </p:cNvGraphicFramePr>
          <p:nvPr/>
        </p:nvGraphicFramePr>
        <p:xfrm>
          <a:off x="762000" y="2209800"/>
          <a:ext cx="48577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66" name="Equation" r:id="rId3" imgW="1473120" imgH="228600" progId="Equation.3">
                  <p:embed/>
                </p:oleObj>
              </mc:Choice>
              <mc:Fallback>
                <p:oleObj name="Equation" r:id="rId3" imgW="147312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09800"/>
                        <a:ext cx="4857750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8600" y="3124200"/>
            <a:ext cx="6019800" cy="1344613"/>
            <a:chOff x="48" y="1217"/>
            <a:chExt cx="3792" cy="847"/>
          </a:xfrm>
        </p:grpSpPr>
        <p:sp>
          <p:nvSpPr>
            <p:cNvPr id="161796" name="Text Box 4"/>
            <p:cNvSpPr txBox="1">
              <a:spLocks noChangeArrowheads="1"/>
            </p:cNvSpPr>
            <p:nvPr/>
          </p:nvSpPr>
          <p:spPr bwMode="auto">
            <a:xfrm>
              <a:off x="48" y="1431"/>
              <a:ext cx="1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由动能定理</a:t>
              </a:r>
            </a:p>
          </p:txBody>
        </p:sp>
        <p:graphicFrame>
          <p:nvGraphicFramePr>
            <p:cNvPr id="161797" name="Object 5"/>
            <p:cNvGraphicFramePr>
              <a:graphicFrameLocks noChangeAspect="1"/>
            </p:cNvGraphicFramePr>
            <p:nvPr/>
          </p:nvGraphicFramePr>
          <p:xfrm>
            <a:off x="1296" y="1217"/>
            <a:ext cx="2544" cy="8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067" name="Equation" r:id="rId5" imgW="1206360" imgH="393480" progId="Equation.3">
                    <p:embed/>
                  </p:oleObj>
                </mc:Choice>
                <mc:Fallback>
                  <p:oleObj name="Equation" r:id="rId5" imgW="1206360" imgH="3934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217"/>
                          <a:ext cx="2544" cy="8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81000" y="4572000"/>
            <a:ext cx="5784850" cy="922338"/>
            <a:chOff x="96" y="2107"/>
            <a:chExt cx="3644" cy="581"/>
          </a:xfrm>
        </p:grpSpPr>
        <p:sp>
          <p:nvSpPr>
            <p:cNvPr id="161799" name="Rectangle 7"/>
            <p:cNvSpPr>
              <a:spLocks noChangeArrowheads="1"/>
            </p:cNvSpPr>
            <p:nvPr/>
          </p:nvSpPr>
          <p:spPr bwMode="auto">
            <a:xfrm>
              <a:off x="96" y="2256"/>
              <a:ext cx="4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/>
                <a:t>得</a:t>
              </a:r>
            </a:p>
          </p:txBody>
        </p:sp>
        <p:graphicFrame>
          <p:nvGraphicFramePr>
            <p:cNvPr id="161800" name="Object 8"/>
            <p:cNvGraphicFramePr>
              <a:graphicFrameLocks noChangeAspect="1"/>
            </p:cNvGraphicFramePr>
            <p:nvPr/>
          </p:nvGraphicFramePr>
          <p:xfrm>
            <a:off x="512" y="2107"/>
            <a:ext cx="3228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068" name="Equation" r:id="rId7" imgW="1511280" imgH="266400" progId="Equation.3">
                    <p:embed/>
                  </p:oleObj>
                </mc:Choice>
                <mc:Fallback>
                  <p:oleObj name="Equation" r:id="rId7" imgW="1511280" imgH="266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" y="2107"/>
                          <a:ext cx="3228" cy="5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1801" name="Object 9"/>
          <p:cNvGraphicFramePr>
            <a:graphicFrameLocks noChangeAspect="1"/>
          </p:cNvGraphicFramePr>
          <p:nvPr/>
        </p:nvGraphicFramePr>
        <p:xfrm>
          <a:off x="1447800" y="5562600"/>
          <a:ext cx="25908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69" name="Equation" r:id="rId9" imgW="761760" imgH="203040" progId="Equation.3">
                  <p:embed/>
                </p:oleObj>
              </mc:Choice>
              <mc:Fallback>
                <p:oleObj name="Equation" r:id="rId9" imgW="76176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62600"/>
                        <a:ext cx="2590800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7"/>
          <p:cNvGrpSpPr>
            <a:grpSpLocks/>
          </p:cNvGrpSpPr>
          <p:nvPr/>
        </p:nvGrpSpPr>
        <p:grpSpPr bwMode="auto">
          <a:xfrm>
            <a:off x="6400800" y="1371600"/>
            <a:ext cx="2286000" cy="4572000"/>
            <a:chOff x="3984" y="864"/>
            <a:chExt cx="1440" cy="2880"/>
          </a:xfrm>
        </p:grpSpPr>
        <p:grpSp>
          <p:nvGrpSpPr>
            <p:cNvPr id="5" name="Group 97"/>
            <p:cNvGrpSpPr>
              <a:grpSpLocks/>
            </p:cNvGrpSpPr>
            <p:nvPr/>
          </p:nvGrpSpPr>
          <p:grpSpPr bwMode="auto">
            <a:xfrm>
              <a:off x="4594" y="2923"/>
              <a:ext cx="398" cy="777"/>
              <a:chOff x="4594" y="3307"/>
              <a:chExt cx="398" cy="777"/>
            </a:xfrm>
          </p:grpSpPr>
          <p:sp>
            <p:nvSpPr>
              <p:cNvPr id="161890" name="Line 98"/>
              <p:cNvSpPr>
                <a:spLocks noChangeShapeType="1"/>
              </p:cNvSpPr>
              <p:nvPr/>
            </p:nvSpPr>
            <p:spPr bwMode="auto">
              <a:xfrm>
                <a:off x="4944" y="3307"/>
                <a:ext cx="0" cy="65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891" name="Object 99"/>
              <p:cNvGraphicFramePr>
                <a:graphicFrameLocks noChangeAspect="1"/>
              </p:cNvGraphicFramePr>
              <p:nvPr/>
            </p:nvGraphicFramePr>
            <p:xfrm>
              <a:off x="4594" y="3691"/>
              <a:ext cx="398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0" name="Equation" r:id="rId11" imgW="152280" imgH="190440" progId="Equation.3">
                      <p:embed/>
                    </p:oleObj>
                  </mc:Choice>
                  <mc:Fallback>
                    <p:oleObj name="Equation" r:id="rId11" imgW="152280" imgH="190440" progId="Equation.3">
                      <p:embed/>
                      <p:pic>
                        <p:nvPicPr>
                          <p:cNvPr id="0" name="Object 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4" y="3691"/>
                            <a:ext cx="398" cy="3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100"/>
            <p:cNvGrpSpPr>
              <a:grpSpLocks/>
            </p:cNvGrpSpPr>
            <p:nvPr/>
          </p:nvGrpSpPr>
          <p:grpSpPr bwMode="auto">
            <a:xfrm>
              <a:off x="4931" y="3296"/>
              <a:ext cx="205" cy="352"/>
              <a:chOff x="3299" y="3200"/>
              <a:chExt cx="205" cy="352"/>
            </a:xfrm>
          </p:grpSpPr>
          <p:sp>
            <p:nvSpPr>
              <p:cNvPr id="161893" name="Freeform 101"/>
              <p:cNvSpPr>
                <a:spLocks/>
              </p:cNvSpPr>
              <p:nvPr/>
            </p:nvSpPr>
            <p:spPr bwMode="auto">
              <a:xfrm>
                <a:off x="3316" y="3200"/>
                <a:ext cx="116" cy="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" y="28"/>
                  </a:cxn>
                  <a:cxn ang="0">
                    <a:pos x="68" y="32"/>
                  </a:cxn>
                  <a:cxn ang="0">
                    <a:pos x="92" y="20"/>
                  </a:cxn>
                  <a:cxn ang="0">
                    <a:pos x="116" y="8"/>
                  </a:cxn>
                </a:cxnLst>
                <a:rect l="0" t="0" r="r" b="b"/>
                <a:pathLst>
                  <a:path w="116" h="32">
                    <a:moveTo>
                      <a:pt x="0" y="0"/>
                    </a:moveTo>
                    <a:lnTo>
                      <a:pt x="36" y="28"/>
                    </a:lnTo>
                    <a:lnTo>
                      <a:pt x="68" y="32"/>
                    </a:lnTo>
                    <a:lnTo>
                      <a:pt x="92" y="20"/>
                    </a:lnTo>
                    <a:lnTo>
                      <a:pt x="116" y="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894" name="Object 102"/>
              <p:cNvGraphicFramePr>
                <a:graphicFrameLocks noChangeAspect="1"/>
              </p:cNvGraphicFramePr>
              <p:nvPr/>
            </p:nvGraphicFramePr>
            <p:xfrm>
              <a:off x="3299" y="3264"/>
              <a:ext cx="205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1" name="Equation" r:id="rId13" imgW="126720" imgH="177480" progId="Equation.3">
                      <p:embed/>
                    </p:oleObj>
                  </mc:Choice>
                  <mc:Fallback>
                    <p:oleObj name="Equation" r:id="rId13" imgW="126720" imgH="177480" progId="Equation.3">
                      <p:embed/>
                      <p:pic>
                        <p:nvPicPr>
                          <p:cNvPr id="0" name="Object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99" y="3264"/>
                            <a:ext cx="205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103"/>
            <p:cNvGrpSpPr>
              <a:grpSpLocks/>
            </p:cNvGrpSpPr>
            <p:nvPr/>
          </p:nvGrpSpPr>
          <p:grpSpPr bwMode="auto">
            <a:xfrm>
              <a:off x="4637" y="2937"/>
              <a:ext cx="307" cy="359"/>
              <a:chOff x="4781" y="2937"/>
              <a:chExt cx="307" cy="359"/>
            </a:xfrm>
          </p:grpSpPr>
          <p:sp>
            <p:nvSpPr>
              <p:cNvPr id="161896" name="Freeform 104"/>
              <p:cNvSpPr>
                <a:spLocks/>
              </p:cNvSpPr>
              <p:nvPr/>
            </p:nvSpPr>
            <p:spPr bwMode="auto">
              <a:xfrm>
                <a:off x="4947" y="2937"/>
                <a:ext cx="141" cy="1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89"/>
                  </a:cxn>
                  <a:cxn ang="0">
                    <a:pos x="141" y="130"/>
                  </a:cxn>
                </a:cxnLst>
                <a:rect l="0" t="0" r="r" b="b"/>
                <a:pathLst>
                  <a:path w="141" h="130">
                    <a:moveTo>
                      <a:pt x="0" y="0"/>
                    </a:moveTo>
                    <a:cubicBezTo>
                      <a:pt x="6" y="15"/>
                      <a:pt x="14" y="67"/>
                      <a:pt x="37" y="89"/>
                    </a:cubicBezTo>
                    <a:cubicBezTo>
                      <a:pt x="60" y="111"/>
                      <a:pt x="119" y="121"/>
                      <a:pt x="141" y="13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897" name="Object 105"/>
              <p:cNvGraphicFramePr>
                <a:graphicFrameLocks noChangeAspect="1"/>
              </p:cNvGraphicFramePr>
              <p:nvPr/>
            </p:nvGraphicFramePr>
            <p:xfrm>
              <a:off x="4781" y="2976"/>
              <a:ext cx="259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2" name="Equation" r:id="rId15" imgW="139680" imgH="164880" progId="Equation.3">
                      <p:embed/>
                    </p:oleObj>
                  </mc:Choice>
                  <mc:Fallback>
                    <p:oleObj name="Equation" r:id="rId15" imgW="139680" imgH="164880" progId="Equation.3">
                      <p:embed/>
                      <p:pic>
                        <p:nvPicPr>
                          <p:cNvPr id="0" name="Object 1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1" y="2976"/>
                            <a:ext cx="259" cy="3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06"/>
            <p:cNvGrpSpPr>
              <a:grpSpLocks/>
            </p:cNvGrpSpPr>
            <p:nvPr/>
          </p:nvGrpSpPr>
          <p:grpSpPr bwMode="auto">
            <a:xfrm>
              <a:off x="3984" y="864"/>
              <a:ext cx="1440" cy="2880"/>
              <a:chOff x="3984" y="1248"/>
              <a:chExt cx="1440" cy="2880"/>
            </a:xfrm>
          </p:grpSpPr>
          <p:sp>
            <p:nvSpPr>
              <p:cNvPr id="161899" name="Line 107"/>
              <p:cNvSpPr>
                <a:spLocks noChangeShapeType="1"/>
              </p:cNvSpPr>
              <p:nvPr/>
            </p:nvSpPr>
            <p:spPr bwMode="auto">
              <a:xfrm rot="-306278">
                <a:off x="4916" y="3069"/>
                <a:ext cx="172" cy="8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pSp>
            <p:nvGrpSpPr>
              <p:cNvPr id="9" name="Group 108"/>
              <p:cNvGrpSpPr>
                <a:grpSpLocks/>
              </p:cNvGrpSpPr>
              <p:nvPr/>
            </p:nvGrpSpPr>
            <p:grpSpPr bwMode="auto">
              <a:xfrm>
                <a:off x="4272" y="2122"/>
                <a:ext cx="672" cy="369"/>
                <a:chOff x="4416" y="1738"/>
                <a:chExt cx="672" cy="369"/>
              </a:xfrm>
            </p:grpSpPr>
            <p:sp>
              <p:nvSpPr>
                <p:cNvPr id="161901" name="Arc 109"/>
                <p:cNvSpPr>
                  <a:spLocks/>
                </p:cNvSpPr>
                <p:nvPr/>
              </p:nvSpPr>
              <p:spPr bwMode="auto">
                <a:xfrm rot="-37023215">
                  <a:off x="4498" y="1881"/>
                  <a:ext cx="144" cy="308"/>
                </a:xfrm>
                <a:custGeom>
                  <a:avLst/>
                  <a:gdLst>
                    <a:gd name="G0" fmla="+- 0 0 0"/>
                    <a:gd name="G1" fmla="+- 18852 0 0"/>
                    <a:gd name="G2" fmla="+- 21600 0 0"/>
                    <a:gd name="T0" fmla="*/ 10544 w 21587"/>
                    <a:gd name="T1" fmla="*/ 0 h 18852"/>
                    <a:gd name="T2" fmla="*/ 21587 w 21587"/>
                    <a:gd name="T3" fmla="*/ 18112 h 18852"/>
                    <a:gd name="T4" fmla="*/ 0 w 21587"/>
                    <a:gd name="T5" fmla="*/ 18852 h 188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87" h="18852" fill="none" extrusionOk="0">
                      <a:moveTo>
                        <a:pt x="10543" y="0"/>
                      </a:moveTo>
                      <a:cubicBezTo>
                        <a:pt x="17140" y="3689"/>
                        <a:pt x="21328" y="10558"/>
                        <a:pt x="21587" y="18111"/>
                      </a:cubicBezTo>
                    </a:path>
                    <a:path w="21587" h="18852" stroke="0" extrusionOk="0">
                      <a:moveTo>
                        <a:pt x="10543" y="0"/>
                      </a:moveTo>
                      <a:cubicBezTo>
                        <a:pt x="17140" y="3689"/>
                        <a:pt x="21328" y="10558"/>
                        <a:pt x="21587" y="18111"/>
                      </a:cubicBezTo>
                      <a:lnTo>
                        <a:pt x="0" y="18852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CC00FF"/>
                  </a:solidFill>
                  <a:round/>
                  <a:headEnd type="triangle" w="sm" len="med"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1902" name="Arc 110"/>
                <p:cNvSpPr>
                  <a:spLocks/>
                </p:cNvSpPr>
                <p:nvPr/>
              </p:nvSpPr>
              <p:spPr bwMode="auto">
                <a:xfrm rot="12582620" flipH="1">
                  <a:off x="4822" y="1781"/>
                  <a:ext cx="240" cy="315"/>
                </a:xfrm>
                <a:custGeom>
                  <a:avLst/>
                  <a:gdLst>
                    <a:gd name="G0" fmla="+- 0 0 0"/>
                    <a:gd name="G1" fmla="+- 19525 0 0"/>
                    <a:gd name="G2" fmla="+- 21600 0 0"/>
                    <a:gd name="T0" fmla="*/ 9238 w 21417"/>
                    <a:gd name="T1" fmla="*/ 0 h 19525"/>
                    <a:gd name="T2" fmla="*/ 21417 w 21417"/>
                    <a:gd name="T3" fmla="*/ 16717 h 19525"/>
                    <a:gd name="T4" fmla="*/ 0 w 21417"/>
                    <a:gd name="T5" fmla="*/ 19525 h 19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417" h="19525" fill="none" extrusionOk="0">
                      <a:moveTo>
                        <a:pt x="9237" y="0"/>
                      </a:moveTo>
                      <a:cubicBezTo>
                        <a:pt x="15874" y="3140"/>
                        <a:pt x="20462" y="9436"/>
                        <a:pt x="21416" y="16717"/>
                      </a:cubicBezTo>
                    </a:path>
                    <a:path w="21417" h="19525" stroke="0" extrusionOk="0">
                      <a:moveTo>
                        <a:pt x="9237" y="0"/>
                      </a:moveTo>
                      <a:cubicBezTo>
                        <a:pt x="15874" y="3140"/>
                        <a:pt x="20462" y="9436"/>
                        <a:pt x="21416" y="16717"/>
                      </a:cubicBezTo>
                      <a:lnTo>
                        <a:pt x="0" y="19525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CC00FF"/>
                  </a:solidFill>
                  <a:round/>
                  <a:headEnd type="triangle" w="sm" len="med"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161903" name="Object 111"/>
                <p:cNvGraphicFramePr>
                  <a:graphicFrameLocks noChangeAspect="1"/>
                </p:cNvGraphicFramePr>
                <p:nvPr/>
              </p:nvGraphicFramePr>
              <p:xfrm>
                <a:off x="4800" y="1738"/>
                <a:ext cx="288" cy="27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79073" name="Equation" r:id="rId17" imgW="228600" imgH="177480" progId="Equation.3">
                        <p:embed/>
                      </p:oleObj>
                    </mc:Choice>
                    <mc:Fallback>
                      <p:oleObj name="Equation" r:id="rId17" imgW="228600" imgH="177480" progId="Equation.3">
                        <p:embed/>
                        <p:pic>
                          <p:nvPicPr>
                            <p:cNvPr id="0" name="Object 1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00" y="1738"/>
                              <a:ext cx="288" cy="27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CC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1904" name="Freeform 112"/>
              <p:cNvSpPr>
                <a:spLocks/>
              </p:cNvSpPr>
              <p:nvPr/>
            </p:nvSpPr>
            <p:spPr bwMode="auto">
              <a:xfrm>
                <a:off x="4412" y="2105"/>
                <a:ext cx="196" cy="50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58" y="55"/>
                  </a:cxn>
                  <a:cxn ang="0">
                    <a:pos x="142" y="0"/>
                  </a:cxn>
                </a:cxnLst>
                <a:rect l="0" t="0" r="r" b="b"/>
                <a:pathLst>
                  <a:path w="142" h="59">
                    <a:moveTo>
                      <a:pt x="0" y="26"/>
                    </a:moveTo>
                    <a:cubicBezTo>
                      <a:pt x="10" y="31"/>
                      <a:pt x="34" y="59"/>
                      <a:pt x="58" y="55"/>
                    </a:cubicBezTo>
                    <a:cubicBezTo>
                      <a:pt x="82" y="51"/>
                      <a:pt x="124" y="12"/>
                      <a:pt x="142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905" name="Object 113"/>
              <p:cNvGraphicFramePr>
                <a:graphicFrameLocks noChangeAspect="1"/>
              </p:cNvGraphicFramePr>
              <p:nvPr/>
            </p:nvGraphicFramePr>
            <p:xfrm>
              <a:off x="4224" y="1915"/>
              <a:ext cx="205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4" name="Equation" r:id="rId19" imgW="126720" imgH="177480" progId="Equation.3">
                      <p:embed/>
                    </p:oleObj>
                  </mc:Choice>
                  <mc:Fallback>
                    <p:oleObj name="Equation" r:id="rId19" imgW="126720" imgH="177480" progId="Equation.3">
                      <p:embed/>
                      <p:pic>
                        <p:nvPicPr>
                          <p:cNvPr id="0" name="Object 1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915"/>
                            <a:ext cx="205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1906" name="Line 114"/>
              <p:cNvSpPr>
                <a:spLocks noChangeShapeType="1"/>
              </p:cNvSpPr>
              <p:nvPr/>
            </p:nvSpPr>
            <p:spPr bwMode="auto">
              <a:xfrm flipH="1">
                <a:off x="4422" y="3092"/>
                <a:ext cx="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1907" name="Oval 115"/>
              <p:cNvSpPr>
                <a:spLocks noChangeArrowheads="1"/>
              </p:cNvSpPr>
              <p:nvPr/>
            </p:nvSpPr>
            <p:spPr bwMode="auto">
              <a:xfrm>
                <a:off x="4364" y="3266"/>
                <a:ext cx="172" cy="17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1908" name="Object 116"/>
              <p:cNvGraphicFramePr>
                <a:graphicFrameLocks noChangeAspect="1"/>
              </p:cNvGraphicFramePr>
              <p:nvPr/>
            </p:nvGraphicFramePr>
            <p:xfrm>
              <a:off x="4944" y="2286"/>
              <a:ext cx="190" cy="3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5" name="Equation" r:id="rId20" imgW="88560" imgH="177480" progId="Equation.3">
                      <p:embed/>
                    </p:oleObj>
                  </mc:Choice>
                  <mc:Fallback>
                    <p:oleObj name="Equation" r:id="rId20" imgW="88560" imgH="177480" progId="Equation.3">
                      <p:embed/>
                      <p:pic>
                        <p:nvPicPr>
                          <p:cNvPr id="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2286"/>
                            <a:ext cx="190" cy="39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1909" name="Line 117"/>
              <p:cNvSpPr>
                <a:spLocks noChangeShapeType="1"/>
              </p:cNvSpPr>
              <p:nvPr/>
            </p:nvSpPr>
            <p:spPr bwMode="auto">
              <a:xfrm rot="19947107" flipH="1" flipV="1">
                <a:off x="4583" y="3324"/>
                <a:ext cx="313" cy="31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1910" name="Rectangle 118"/>
              <p:cNvSpPr>
                <a:spLocks noChangeArrowheads="1"/>
              </p:cNvSpPr>
              <p:nvPr/>
            </p:nvSpPr>
            <p:spPr bwMode="auto">
              <a:xfrm>
                <a:off x="3984" y="1248"/>
                <a:ext cx="1440" cy="28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1911" name="Freeform 119"/>
              <p:cNvSpPr>
                <a:spLocks/>
              </p:cNvSpPr>
              <p:nvPr/>
            </p:nvSpPr>
            <p:spPr bwMode="auto">
              <a:xfrm>
                <a:off x="4413" y="1807"/>
                <a:ext cx="213" cy="70"/>
              </a:xfrm>
              <a:custGeom>
                <a:avLst/>
                <a:gdLst/>
                <a:ahLst/>
                <a:cxnLst>
                  <a:cxn ang="0">
                    <a:pos x="0" y="34"/>
                  </a:cxn>
                  <a:cxn ang="0">
                    <a:pos x="103" y="64"/>
                  </a:cxn>
                  <a:cxn ang="0">
                    <a:pos x="213" y="0"/>
                  </a:cxn>
                </a:cxnLst>
                <a:rect l="0" t="0" r="r" b="b"/>
                <a:pathLst>
                  <a:path w="213" h="70">
                    <a:moveTo>
                      <a:pt x="0" y="34"/>
                    </a:moveTo>
                    <a:cubicBezTo>
                      <a:pt x="32" y="53"/>
                      <a:pt x="68" y="70"/>
                      <a:pt x="103" y="64"/>
                    </a:cubicBezTo>
                    <a:cubicBezTo>
                      <a:pt x="138" y="58"/>
                      <a:pt x="190" y="13"/>
                      <a:pt x="213" y="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912" name="Object 120"/>
              <p:cNvGraphicFramePr>
                <a:graphicFrameLocks noChangeAspect="1"/>
              </p:cNvGraphicFramePr>
              <p:nvPr/>
            </p:nvGraphicFramePr>
            <p:xfrm>
              <a:off x="4464" y="1483"/>
              <a:ext cx="242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6" name="Equation" r:id="rId22" imgW="164880" imgH="228600" progId="Equation.3">
                      <p:embed/>
                    </p:oleObj>
                  </mc:Choice>
                  <mc:Fallback>
                    <p:oleObj name="Equation" r:id="rId22" imgW="164880" imgH="228600" progId="Equation.3">
                      <p:embed/>
                      <p:pic>
                        <p:nvPicPr>
                          <p:cNvPr id="0" name="Object 1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483"/>
                            <a:ext cx="242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1913" name="Line 121"/>
              <p:cNvSpPr>
                <a:spLocks noChangeShapeType="1"/>
              </p:cNvSpPr>
              <p:nvPr/>
            </p:nvSpPr>
            <p:spPr bwMode="auto">
              <a:xfrm rot="-298930">
                <a:off x="4504" y="1387"/>
                <a:ext cx="344" cy="1907"/>
              </a:xfrm>
              <a:prstGeom prst="line">
                <a:avLst/>
              </a:prstGeom>
              <a:noFill/>
              <a:ln w="19050">
                <a:solidFill>
                  <a:srgbClr val="CC00FF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1914" name="Arc 122"/>
              <p:cNvSpPr>
                <a:spLocks/>
              </p:cNvSpPr>
              <p:nvPr/>
            </p:nvSpPr>
            <p:spPr bwMode="auto">
              <a:xfrm flipV="1">
                <a:off x="4479" y="3092"/>
                <a:ext cx="687" cy="232"/>
              </a:xfrm>
              <a:custGeom>
                <a:avLst/>
                <a:gdLst>
                  <a:gd name="G0" fmla="+- 2678 0 0"/>
                  <a:gd name="G1" fmla="+- 21600 0 0"/>
                  <a:gd name="G2" fmla="+- 21600 0 0"/>
                  <a:gd name="T0" fmla="*/ 0 w 24278"/>
                  <a:gd name="T1" fmla="*/ 167 h 21600"/>
                  <a:gd name="T2" fmla="*/ 24278 w 24278"/>
                  <a:gd name="T3" fmla="*/ 21600 h 21600"/>
                  <a:gd name="T4" fmla="*/ 2678 w 24278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278" h="21600" fill="none" extrusionOk="0">
                    <a:moveTo>
                      <a:pt x="-1" y="166"/>
                    </a:moveTo>
                    <a:cubicBezTo>
                      <a:pt x="888" y="55"/>
                      <a:pt x="1782" y="-1"/>
                      <a:pt x="2678" y="0"/>
                    </a:cubicBezTo>
                    <a:cubicBezTo>
                      <a:pt x="14607" y="0"/>
                      <a:pt x="24278" y="9670"/>
                      <a:pt x="24278" y="21600"/>
                    </a:cubicBezTo>
                  </a:path>
                  <a:path w="24278" h="21600" stroke="0" extrusionOk="0">
                    <a:moveTo>
                      <a:pt x="-1" y="166"/>
                    </a:moveTo>
                    <a:cubicBezTo>
                      <a:pt x="888" y="55"/>
                      <a:pt x="1782" y="-1"/>
                      <a:pt x="2678" y="0"/>
                    </a:cubicBezTo>
                    <a:cubicBezTo>
                      <a:pt x="14607" y="0"/>
                      <a:pt x="24278" y="9670"/>
                      <a:pt x="24278" y="21600"/>
                    </a:cubicBezTo>
                    <a:lnTo>
                      <a:pt x="2678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1915" name="Rectangle 123"/>
              <p:cNvSpPr>
                <a:spLocks noChangeArrowheads="1"/>
              </p:cNvSpPr>
              <p:nvPr/>
            </p:nvSpPr>
            <p:spPr bwMode="auto">
              <a:xfrm>
                <a:off x="4032" y="1339"/>
                <a:ext cx="864" cy="48"/>
              </a:xfrm>
              <a:prstGeom prst="rect">
                <a:avLst/>
              </a:prstGeom>
              <a:gradFill rotWithShape="0">
                <a:gsLst>
                  <a:gs pos="0">
                    <a:srgbClr val="996600"/>
                  </a:gs>
                  <a:gs pos="100000">
                    <a:srgbClr val="996600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1916" name="Line 124"/>
              <p:cNvSpPr>
                <a:spLocks noChangeShapeType="1"/>
              </p:cNvSpPr>
              <p:nvPr/>
            </p:nvSpPr>
            <p:spPr bwMode="auto">
              <a:xfrm>
                <a:off x="4422" y="1416"/>
                <a:ext cx="1" cy="18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1917" name="Line 125"/>
              <p:cNvSpPr>
                <a:spLocks noChangeShapeType="1"/>
              </p:cNvSpPr>
              <p:nvPr/>
            </p:nvSpPr>
            <p:spPr bwMode="auto">
              <a:xfrm>
                <a:off x="4422" y="1359"/>
                <a:ext cx="744" cy="16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1918" name="Oval 126"/>
              <p:cNvSpPr>
                <a:spLocks noChangeArrowheads="1"/>
              </p:cNvSpPr>
              <p:nvPr/>
            </p:nvSpPr>
            <p:spPr bwMode="auto">
              <a:xfrm>
                <a:off x="5108" y="3035"/>
                <a:ext cx="172" cy="17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1919" name="Line 127"/>
              <p:cNvSpPr>
                <a:spLocks noChangeShapeType="1"/>
              </p:cNvSpPr>
              <p:nvPr/>
            </p:nvSpPr>
            <p:spPr bwMode="auto">
              <a:xfrm rot="98034">
                <a:off x="4422" y="1473"/>
                <a:ext cx="330" cy="1839"/>
              </a:xfrm>
              <a:prstGeom prst="line">
                <a:avLst/>
              </a:prstGeom>
              <a:noFill/>
              <a:ln w="9525">
                <a:solidFill>
                  <a:srgbClr val="CC00FF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920" name="Object 128"/>
              <p:cNvGraphicFramePr>
                <a:graphicFrameLocks noChangeAspect="1"/>
              </p:cNvGraphicFramePr>
              <p:nvPr/>
            </p:nvGraphicFramePr>
            <p:xfrm>
              <a:off x="4512" y="3077"/>
              <a:ext cx="222" cy="3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7" name="Equation" r:id="rId24" imgW="126720" imgH="177480" progId="Equation.3">
                      <p:embed/>
                    </p:oleObj>
                  </mc:Choice>
                  <mc:Fallback>
                    <p:oleObj name="Equation" r:id="rId24" imgW="126720" imgH="177480" progId="Equation.3">
                      <p:embed/>
                      <p:pic>
                        <p:nvPicPr>
                          <p:cNvPr id="0" name="Object 1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3077"/>
                            <a:ext cx="222" cy="3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1921" name="Object 129"/>
              <p:cNvGraphicFramePr>
                <a:graphicFrameLocks noChangeAspect="1"/>
              </p:cNvGraphicFramePr>
              <p:nvPr/>
            </p:nvGraphicFramePr>
            <p:xfrm>
              <a:off x="4872" y="3208"/>
              <a:ext cx="168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8" name="Clip" r:id="rId26" imgW="380852" imgH="390270" progId="">
                      <p:embed/>
                    </p:oleObj>
                  </mc:Choice>
                  <mc:Fallback>
                    <p:oleObj name="Clip" r:id="rId26" imgW="380852" imgH="390270" progId="">
                      <p:embed/>
                      <p:pic>
                        <p:nvPicPr>
                          <p:cNvPr id="0" name="Object 1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2" y="3208"/>
                            <a:ext cx="168" cy="17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Group 130"/>
            <p:cNvGrpSpPr>
              <a:grpSpLocks/>
            </p:cNvGrpSpPr>
            <p:nvPr/>
          </p:nvGrpSpPr>
          <p:grpSpPr bwMode="auto">
            <a:xfrm>
              <a:off x="4787" y="2302"/>
              <a:ext cx="301" cy="525"/>
              <a:chOff x="4787" y="2686"/>
              <a:chExt cx="301" cy="525"/>
            </a:xfrm>
          </p:grpSpPr>
          <p:sp>
            <p:nvSpPr>
              <p:cNvPr id="161923" name="Line 131"/>
              <p:cNvSpPr>
                <a:spLocks noChangeShapeType="1"/>
              </p:cNvSpPr>
              <p:nvPr/>
            </p:nvSpPr>
            <p:spPr bwMode="auto">
              <a:xfrm rot="-340907" flipH="1" flipV="1">
                <a:off x="4787" y="2686"/>
                <a:ext cx="109" cy="52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1924" name="Object 132"/>
              <p:cNvGraphicFramePr>
                <a:graphicFrameLocks noChangeAspect="1"/>
              </p:cNvGraphicFramePr>
              <p:nvPr/>
            </p:nvGraphicFramePr>
            <p:xfrm>
              <a:off x="4800" y="2704"/>
              <a:ext cx="288" cy="4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79" name="Equation" r:id="rId28" imgW="190440" imgH="228600" progId="Equation.3">
                      <p:embed/>
                    </p:oleObj>
                  </mc:Choice>
                  <mc:Fallback>
                    <p:oleObj name="Equation" r:id="rId28" imgW="190440" imgH="228600" progId="Equation.3">
                      <p:embed/>
                      <p:pic>
                        <p:nvPicPr>
                          <p:cNvPr id="0" name="Object 1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2704"/>
                            <a:ext cx="288" cy="4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" name="Group 133"/>
            <p:cNvGrpSpPr>
              <a:grpSpLocks/>
            </p:cNvGrpSpPr>
            <p:nvPr/>
          </p:nvGrpSpPr>
          <p:grpSpPr bwMode="auto">
            <a:xfrm>
              <a:off x="4800" y="2923"/>
              <a:ext cx="528" cy="336"/>
              <a:chOff x="4800" y="3307"/>
              <a:chExt cx="528" cy="336"/>
            </a:xfrm>
          </p:grpSpPr>
          <p:graphicFrame>
            <p:nvGraphicFramePr>
              <p:cNvPr id="161926" name="Object 134"/>
              <p:cNvGraphicFramePr>
                <a:graphicFrameLocks noChangeAspect="1"/>
              </p:cNvGraphicFramePr>
              <p:nvPr/>
            </p:nvGraphicFramePr>
            <p:xfrm>
              <a:off x="5023" y="3311"/>
              <a:ext cx="305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9080" name="Equation" r:id="rId30" imgW="228600" imgH="177480" progId="Equation.3">
                      <p:embed/>
                    </p:oleObj>
                  </mc:Choice>
                  <mc:Fallback>
                    <p:oleObj name="Equation" r:id="rId30" imgW="228600" imgH="177480" progId="Equation.3">
                      <p:embed/>
                      <p:pic>
                        <p:nvPicPr>
                          <p:cNvPr id="0" name="Object 1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3" y="3311"/>
                            <a:ext cx="305" cy="3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1927" name="Line 135"/>
              <p:cNvSpPr>
                <a:spLocks noChangeShapeType="1"/>
              </p:cNvSpPr>
              <p:nvPr/>
            </p:nvSpPr>
            <p:spPr bwMode="auto">
              <a:xfrm>
                <a:off x="5088" y="359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1928" name="Line 136"/>
              <p:cNvSpPr>
                <a:spLocks noChangeShapeType="1"/>
              </p:cNvSpPr>
              <p:nvPr/>
            </p:nvSpPr>
            <p:spPr bwMode="auto">
              <a:xfrm>
                <a:off x="4800" y="3307"/>
                <a:ext cx="28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sm" len="med"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12" name="Group 142"/>
          <p:cNvGrpSpPr>
            <a:grpSpLocks/>
          </p:cNvGrpSpPr>
          <p:nvPr/>
        </p:nvGrpSpPr>
        <p:grpSpPr bwMode="auto">
          <a:xfrm>
            <a:off x="838200" y="838200"/>
            <a:ext cx="4953000" cy="1295400"/>
            <a:chOff x="432" y="513"/>
            <a:chExt cx="3120" cy="879"/>
          </a:xfrm>
        </p:grpSpPr>
        <p:graphicFrame>
          <p:nvGraphicFramePr>
            <p:cNvPr id="161930" name="Object 138"/>
            <p:cNvGraphicFramePr>
              <a:graphicFrameLocks noChangeAspect="1"/>
            </p:cNvGraphicFramePr>
            <p:nvPr/>
          </p:nvGraphicFramePr>
          <p:xfrm>
            <a:off x="432" y="537"/>
            <a:ext cx="1488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081" name="Equation" r:id="rId32" imgW="1231560" imgH="342720" progId="Equation.3">
                    <p:embed/>
                  </p:oleObj>
                </mc:Choice>
                <mc:Fallback>
                  <p:oleObj name="Equation" r:id="rId32" imgW="1231560" imgH="342720" progId="Equation.3">
                    <p:embed/>
                    <p:pic>
                      <p:nvPicPr>
                        <p:cNvPr id="0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537"/>
                          <a:ext cx="1488" cy="3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1931" name="Object 139"/>
            <p:cNvGraphicFramePr>
              <a:graphicFrameLocks noChangeAspect="1"/>
            </p:cNvGraphicFramePr>
            <p:nvPr/>
          </p:nvGraphicFramePr>
          <p:xfrm>
            <a:off x="2352" y="513"/>
            <a:ext cx="1200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082" name="Equation" r:id="rId34" imgW="1028520" imgH="279360" progId="Equation.3">
                    <p:embed/>
                  </p:oleObj>
                </mc:Choice>
                <mc:Fallback>
                  <p:oleObj name="Equation" r:id="rId34" imgW="1028520" imgH="279360" progId="Equation.3">
                    <p:embed/>
                    <p:pic>
                      <p:nvPicPr>
                        <p:cNvPr id="0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513"/>
                          <a:ext cx="1200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1932" name="Object 140"/>
            <p:cNvGraphicFramePr>
              <a:graphicFrameLocks noChangeAspect="1"/>
            </p:cNvGraphicFramePr>
            <p:nvPr/>
          </p:nvGraphicFramePr>
          <p:xfrm>
            <a:off x="672" y="945"/>
            <a:ext cx="1056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083" name="Equation" r:id="rId36" imgW="990360" imgH="419040" progId="Equation.3">
                    <p:embed/>
                  </p:oleObj>
                </mc:Choice>
                <mc:Fallback>
                  <p:oleObj name="Equation" r:id="rId36" imgW="990360" imgH="419040" progId="Equation.3">
                    <p:embed/>
                    <p:pic>
                      <p:nvPicPr>
                        <p:cNvPr id="0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945"/>
                          <a:ext cx="1056" cy="4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1933" name="Object 141"/>
            <p:cNvGraphicFramePr>
              <a:graphicFrameLocks noChangeAspect="1"/>
            </p:cNvGraphicFramePr>
            <p:nvPr/>
          </p:nvGraphicFramePr>
          <p:xfrm>
            <a:off x="2256" y="945"/>
            <a:ext cx="920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084" name="Equation" r:id="rId38" imgW="863280" imgH="342720" progId="Equation.3">
                    <p:embed/>
                  </p:oleObj>
                </mc:Choice>
                <mc:Fallback>
                  <p:oleObj name="Equation" r:id="rId38" imgW="863280" imgH="342720" progId="Equation.3">
                    <p:embed/>
                    <p:pic>
                      <p:nvPicPr>
                        <p:cNvPr id="0" name="Object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945"/>
                          <a:ext cx="920" cy="3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Rectangle 4"/>
          <p:cNvSpPr>
            <a:spLocks noChangeArrowheads="1"/>
          </p:cNvSpPr>
          <p:nvPr/>
        </p:nvSpPr>
        <p:spPr bwMode="auto">
          <a:xfrm>
            <a:off x="914400" y="1295400"/>
            <a:ext cx="480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CC0000"/>
                </a:solidFill>
                <a:latin typeface="宋体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）</a:t>
            </a: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 </a:t>
            </a:r>
            <a:r>
              <a:rPr lang="zh-CN" altLang="en-US" sz="2800">
                <a:latin typeface="Arial" charset="0"/>
              </a:rPr>
              <a:t>万有引力作功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228600" y="1905000"/>
            <a:ext cx="6477000" cy="595313"/>
            <a:chOff x="144" y="1200"/>
            <a:chExt cx="4080" cy="375"/>
          </a:xfrm>
        </p:grpSpPr>
        <p:sp>
          <p:nvSpPr>
            <p:cNvPr id="162823" name="Text Box 7"/>
            <p:cNvSpPr txBox="1">
              <a:spLocks noChangeArrowheads="1"/>
            </p:cNvSpPr>
            <p:nvPr/>
          </p:nvSpPr>
          <p:spPr bwMode="auto">
            <a:xfrm>
              <a:off x="144" y="1248"/>
              <a:ext cx="40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Arial" charset="0"/>
                </a:rPr>
                <a:t>以 </a:t>
              </a:r>
              <a:r>
                <a:rPr lang="zh-CN" altLang="zh-CN" sz="2800">
                  <a:latin typeface="Arial" charset="0"/>
                </a:rPr>
                <a:t>    </a:t>
              </a:r>
              <a:r>
                <a:rPr lang="zh-CN" altLang="en-US" sz="2800">
                  <a:latin typeface="Arial" charset="0"/>
                </a:rPr>
                <a:t>为参考系，</a:t>
              </a:r>
              <a:r>
                <a:rPr lang="zh-CN" altLang="zh-CN" sz="2800">
                  <a:latin typeface="Arial" charset="0"/>
                </a:rPr>
                <a:t>  的</a:t>
              </a:r>
              <a:r>
                <a:rPr lang="zh-CN" altLang="en-US" sz="2800">
                  <a:latin typeface="Arial" charset="0"/>
                </a:rPr>
                <a:t>位置矢量为   </a:t>
              </a:r>
              <a:r>
                <a:rPr lang="en-US" altLang="zh-CN" sz="2800">
                  <a:latin typeface="Arial" charset="0"/>
                </a:rPr>
                <a:t>. </a:t>
              </a:r>
            </a:p>
          </p:txBody>
        </p:sp>
        <p:graphicFrame>
          <p:nvGraphicFramePr>
            <p:cNvPr id="162824" name="Object 8"/>
            <p:cNvGraphicFramePr>
              <a:graphicFrameLocks noChangeAspect="1"/>
            </p:cNvGraphicFramePr>
            <p:nvPr/>
          </p:nvGraphicFramePr>
          <p:xfrm>
            <a:off x="3312" y="1200"/>
            <a:ext cx="298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0" name="公式" r:id="rId3" imgW="101520" imgH="126720" progId="Equation.3">
                    <p:embed/>
                  </p:oleObj>
                </mc:Choice>
                <mc:Fallback>
                  <p:oleObj name="公式" r:id="rId3" imgW="101520" imgH="12672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200"/>
                          <a:ext cx="298" cy="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5" name="Object 9"/>
            <p:cNvGraphicFramePr>
              <a:graphicFrameLocks noChangeAspect="1"/>
            </p:cNvGraphicFramePr>
            <p:nvPr/>
          </p:nvGraphicFramePr>
          <p:xfrm>
            <a:off x="1728" y="1296"/>
            <a:ext cx="26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1" name="公式" r:id="rId5" imgW="228600" imgH="190440" progId="Equation.3">
                    <p:embed/>
                  </p:oleObj>
                </mc:Choice>
                <mc:Fallback>
                  <p:oleObj name="公式" r:id="rId5" imgW="228600" imgH="1904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296"/>
                          <a:ext cx="26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6" name="Object 10"/>
            <p:cNvGraphicFramePr>
              <a:graphicFrameLocks noChangeAspect="1"/>
            </p:cNvGraphicFramePr>
            <p:nvPr/>
          </p:nvGraphicFramePr>
          <p:xfrm>
            <a:off x="411" y="1237"/>
            <a:ext cx="309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2" name="Equation" r:id="rId7" imgW="304560" imgH="279360" progId="Equation.3">
                    <p:embed/>
                  </p:oleObj>
                </mc:Choice>
                <mc:Fallback>
                  <p:oleObj name="Equation" r:id="rId7" imgW="304560" imgH="2793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" y="1237"/>
                          <a:ext cx="309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2853" name="Text Box 37"/>
          <p:cNvSpPr txBox="1">
            <a:spLocks noChangeArrowheads="1"/>
          </p:cNvSpPr>
          <p:nvPr/>
        </p:nvSpPr>
        <p:spPr bwMode="auto">
          <a:xfrm>
            <a:off x="228600" y="533400"/>
            <a:ext cx="800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3.  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万</a:t>
            </a:r>
            <a:r>
              <a:rPr lang="zh-CN" altLang="en-US" sz="2800" b="1" dirty="0">
                <a:solidFill>
                  <a:srgbClr val="C00000"/>
                </a:solidFill>
              </a:rPr>
              <a:t>有引力、重力、弹性力作功的特点 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228600" y="2608263"/>
            <a:ext cx="4495800" cy="557212"/>
            <a:chOff x="144" y="1643"/>
            <a:chExt cx="2832" cy="351"/>
          </a:xfrm>
        </p:grpSpPr>
        <p:sp>
          <p:nvSpPr>
            <p:cNvPr id="162830" name="Rectangle 14"/>
            <p:cNvSpPr>
              <a:spLocks noChangeArrowheads="1"/>
            </p:cNvSpPr>
            <p:nvPr/>
          </p:nvSpPr>
          <p:spPr bwMode="auto">
            <a:xfrm>
              <a:off x="144" y="1667"/>
              <a:ext cx="283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zh-CN" altLang="en-US" sz="2800">
                  <a:latin typeface="Arial" charset="0"/>
                </a:rPr>
                <a:t>对 </a:t>
              </a:r>
              <a:r>
                <a:rPr lang="zh-CN" altLang="zh-CN" sz="2800">
                  <a:latin typeface="Arial" charset="0"/>
                </a:rPr>
                <a:t>     </a:t>
              </a:r>
              <a:r>
                <a:rPr lang="zh-CN" altLang="en-US" sz="2800">
                  <a:latin typeface="Arial" charset="0"/>
                </a:rPr>
                <a:t>的万有引力为</a:t>
              </a:r>
            </a:p>
          </p:txBody>
        </p:sp>
        <p:graphicFrame>
          <p:nvGraphicFramePr>
            <p:cNvPr id="162854" name="Object 38"/>
            <p:cNvGraphicFramePr>
              <a:graphicFrameLocks noChangeAspect="1"/>
            </p:cNvGraphicFramePr>
            <p:nvPr/>
          </p:nvGraphicFramePr>
          <p:xfrm>
            <a:off x="218" y="1643"/>
            <a:ext cx="31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3" name="Equation" r:id="rId9" imgW="304560" imgH="279360" progId="Equation.3">
                    <p:embed/>
                  </p:oleObj>
                </mc:Choice>
                <mc:Fallback>
                  <p:oleObj name="Equation" r:id="rId9" imgW="304560" imgH="27936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" y="1643"/>
                          <a:ext cx="310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55" name="Object 39"/>
            <p:cNvGraphicFramePr>
              <a:graphicFrameLocks noChangeAspect="1"/>
            </p:cNvGraphicFramePr>
            <p:nvPr/>
          </p:nvGraphicFramePr>
          <p:xfrm>
            <a:off x="888" y="1715"/>
            <a:ext cx="26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4" name="公式" r:id="rId10" imgW="228600" imgH="190440" progId="Equation.3">
                    <p:embed/>
                  </p:oleObj>
                </mc:Choice>
                <mc:Fallback>
                  <p:oleObj name="公式" r:id="rId10" imgW="228600" imgH="19044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1715"/>
                          <a:ext cx="26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2879" name="Object 63"/>
          <p:cNvGraphicFramePr>
            <a:graphicFrameLocks noChangeAspect="1"/>
          </p:cNvGraphicFramePr>
          <p:nvPr/>
        </p:nvGraphicFramePr>
        <p:xfrm>
          <a:off x="533400" y="3276600"/>
          <a:ext cx="30226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095" name="Equation" r:id="rId11" imgW="952200" imgH="393480" progId="Equation.3">
                  <p:embed/>
                </p:oleObj>
              </mc:Choice>
              <mc:Fallback>
                <p:oleObj name="Equation" r:id="rId11" imgW="952200" imgH="39348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76600"/>
                        <a:ext cx="3022600" cy="11620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80" name="Object 64"/>
          <p:cNvGraphicFramePr>
            <a:graphicFrameLocks noChangeAspect="1"/>
          </p:cNvGraphicFramePr>
          <p:nvPr/>
        </p:nvGraphicFramePr>
        <p:xfrm>
          <a:off x="395288" y="5410200"/>
          <a:ext cx="22526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096" name="公式" r:id="rId13" imgW="761760" imgH="203040" progId="Equation.3">
                  <p:embed/>
                </p:oleObj>
              </mc:Choice>
              <mc:Fallback>
                <p:oleObj name="公式" r:id="rId13" imgW="761760" imgH="20304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410200"/>
                        <a:ext cx="2252662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81" name="Object 65"/>
          <p:cNvGraphicFramePr>
            <a:graphicFrameLocks noChangeAspect="1"/>
          </p:cNvGraphicFramePr>
          <p:nvPr/>
        </p:nvGraphicFramePr>
        <p:xfrm>
          <a:off x="2667000" y="5181600"/>
          <a:ext cx="305435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097" name="Equation" r:id="rId15" imgW="1041120" imgH="393480" progId="Equation.3">
                  <p:embed/>
                </p:oleObj>
              </mc:Choice>
              <mc:Fallback>
                <p:oleObj name="Equation" r:id="rId15" imgW="1041120" imgH="39348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181600"/>
                        <a:ext cx="305435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468313" y="4648200"/>
            <a:ext cx="4962525" cy="568325"/>
            <a:chOff x="793" y="2495"/>
            <a:chExt cx="3126" cy="358"/>
          </a:xfrm>
        </p:grpSpPr>
        <p:graphicFrame>
          <p:nvGraphicFramePr>
            <p:cNvPr id="162883" name="Object 67"/>
            <p:cNvGraphicFramePr>
              <a:graphicFrameLocks noChangeAspect="1"/>
            </p:cNvGraphicFramePr>
            <p:nvPr/>
          </p:nvGraphicFramePr>
          <p:xfrm>
            <a:off x="793" y="2613"/>
            <a:ext cx="26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8" name="公式" r:id="rId17" imgW="228600" imgH="190440" progId="Equation.3">
                    <p:embed/>
                  </p:oleObj>
                </mc:Choice>
                <mc:Fallback>
                  <p:oleObj name="公式" r:id="rId17" imgW="228600" imgH="19044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613"/>
                          <a:ext cx="26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84" name="Text Box 68"/>
            <p:cNvSpPr txBox="1">
              <a:spLocks noChangeArrowheads="1"/>
            </p:cNvSpPr>
            <p:nvPr/>
          </p:nvSpPr>
          <p:spPr bwMode="auto">
            <a:xfrm>
              <a:off x="1026" y="2523"/>
              <a:ext cx="289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移</a:t>
              </a:r>
              <a:r>
                <a:rPr lang="zh-CN" altLang="en-US" sz="2800" dirty="0" smtClean="0"/>
                <a:t>动      </a:t>
              </a:r>
              <a:r>
                <a:rPr lang="zh-CN" altLang="en-US" sz="2800" dirty="0"/>
                <a:t>时，  作元功为 </a:t>
              </a:r>
            </a:p>
          </p:txBody>
        </p:sp>
        <p:graphicFrame>
          <p:nvGraphicFramePr>
            <p:cNvPr id="162885" name="Object 69"/>
            <p:cNvGraphicFramePr>
              <a:graphicFrameLocks noChangeAspect="1"/>
            </p:cNvGraphicFramePr>
            <p:nvPr/>
          </p:nvGraphicFramePr>
          <p:xfrm>
            <a:off x="2124" y="2495"/>
            <a:ext cx="29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099" name="Equation" r:id="rId18" imgW="164880" imgH="190440" progId="Equation.3">
                    <p:embed/>
                  </p:oleObj>
                </mc:Choice>
                <mc:Fallback>
                  <p:oleObj name="Equation" r:id="rId18" imgW="164880" imgH="19044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2495"/>
                          <a:ext cx="294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86" name="Object 70"/>
            <p:cNvGraphicFramePr>
              <a:graphicFrameLocks noChangeAspect="1"/>
            </p:cNvGraphicFramePr>
            <p:nvPr/>
          </p:nvGraphicFramePr>
          <p:xfrm>
            <a:off x="1528" y="2550"/>
            <a:ext cx="344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100" name="公式" r:id="rId20" imgW="203040" imgH="177480" progId="Equation.3">
                    <p:embed/>
                  </p:oleObj>
                </mc:Choice>
                <mc:Fallback>
                  <p:oleObj name="公式" r:id="rId20" imgW="203040" imgH="17748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2550"/>
                          <a:ext cx="344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5867400" y="2276475"/>
            <a:ext cx="2971800" cy="3810000"/>
            <a:chOff x="3696" y="1434"/>
            <a:chExt cx="1872" cy="2400"/>
          </a:xfrm>
        </p:grpSpPr>
        <p:sp>
          <p:nvSpPr>
            <p:cNvPr id="162888" name="Rectangle 72"/>
            <p:cNvSpPr>
              <a:spLocks noChangeArrowheads="1"/>
            </p:cNvSpPr>
            <p:nvPr/>
          </p:nvSpPr>
          <p:spPr bwMode="auto">
            <a:xfrm>
              <a:off x="3696" y="1434"/>
              <a:ext cx="1872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6" name="Group 73"/>
            <p:cNvGrpSpPr>
              <a:grpSpLocks/>
            </p:cNvGrpSpPr>
            <p:nvPr/>
          </p:nvGrpSpPr>
          <p:grpSpPr bwMode="auto">
            <a:xfrm>
              <a:off x="3744" y="1530"/>
              <a:ext cx="1776" cy="2160"/>
              <a:chOff x="3744" y="1530"/>
              <a:chExt cx="1776" cy="2160"/>
            </a:xfrm>
          </p:grpSpPr>
          <p:sp>
            <p:nvSpPr>
              <p:cNvPr id="162890" name="AutoShape 74"/>
              <p:cNvSpPr>
                <a:spLocks noChangeArrowheads="1"/>
              </p:cNvSpPr>
              <p:nvPr/>
            </p:nvSpPr>
            <p:spPr bwMode="auto">
              <a:xfrm>
                <a:off x="3924" y="2584"/>
                <a:ext cx="353" cy="368"/>
              </a:xfrm>
              <a:prstGeom prst="irregularSeal1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91" name="AutoShape 75"/>
              <p:cNvSpPr>
                <a:spLocks noChangeArrowheads="1"/>
              </p:cNvSpPr>
              <p:nvPr/>
            </p:nvSpPr>
            <p:spPr bwMode="auto">
              <a:xfrm>
                <a:off x="4761" y="1951"/>
                <a:ext cx="132" cy="159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92" name="AutoShape 76"/>
              <p:cNvSpPr>
                <a:spLocks noChangeArrowheads="1"/>
              </p:cNvSpPr>
              <p:nvPr/>
            </p:nvSpPr>
            <p:spPr bwMode="auto">
              <a:xfrm>
                <a:off x="5136" y="2290"/>
                <a:ext cx="133" cy="158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93" name="Freeform 77"/>
              <p:cNvSpPr>
                <a:spLocks/>
              </p:cNvSpPr>
              <p:nvPr/>
            </p:nvSpPr>
            <p:spPr bwMode="auto">
              <a:xfrm>
                <a:off x="3924" y="1688"/>
                <a:ext cx="1390" cy="200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53" y="143"/>
                  </a:cxn>
                  <a:cxn ang="0">
                    <a:pos x="907" y="347"/>
                  </a:cxn>
                  <a:cxn ang="0">
                    <a:pos x="1129" y="508"/>
                  </a:cxn>
                  <a:cxn ang="0">
                    <a:pos x="1352" y="885"/>
                  </a:cxn>
                  <a:cxn ang="0">
                    <a:pos x="1359" y="1668"/>
                  </a:cxn>
                  <a:cxn ang="0">
                    <a:pos x="1313" y="2002"/>
                  </a:cxn>
                </a:cxnLst>
                <a:rect l="0" t="0" r="r" b="b"/>
                <a:pathLst>
                  <a:path w="1390" h="2002">
                    <a:moveTo>
                      <a:pt x="0" y="0"/>
                    </a:moveTo>
                    <a:cubicBezTo>
                      <a:pt x="155" y="39"/>
                      <a:pt x="302" y="85"/>
                      <a:pt x="453" y="143"/>
                    </a:cubicBezTo>
                    <a:cubicBezTo>
                      <a:pt x="604" y="201"/>
                      <a:pt x="794" y="286"/>
                      <a:pt x="907" y="347"/>
                    </a:cubicBezTo>
                    <a:cubicBezTo>
                      <a:pt x="1020" y="408"/>
                      <a:pt x="1055" y="418"/>
                      <a:pt x="1129" y="508"/>
                    </a:cubicBezTo>
                    <a:cubicBezTo>
                      <a:pt x="1203" y="598"/>
                      <a:pt x="1314" y="692"/>
                      <a:pt x="1352" y="885"/>
                    </a:cubicBezTo>
                    <a:cubicBezTo>
                      <a:pt x="1390" y="1078"/>
                      <a:pt x="1365" y="1482"/>
                      <a:pt x="1359" y="1668"/>
                    </a:cubicBezTo>
                    <a:cubicBezTo>
                      <a:pt x="1353" y="1854"/>
                      <a:pt x="1321" y="1954"/>
                      <a:pt x="1313" y="2002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dash"/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94" name="Line 78"/>
              <p:cNvSpPr>
                <a:spLocks noChangeShapeType="1"/>
              </p:cNvSpPr>
              <p:nvPr/>
            </p:nvSpPr>
            <p:spPr bwMode="auto">
              <a:xfrm flipV="1">
                <a:off x="4100" y="2400"/>
                <a:ext cx="1132" cy="342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895" name="Line 79"/>
              <p:cNvSpPr>
                <a:spLocks noChangeShapeType="1"/>
              </p:cNvSpPr>
              <p:nvPr/>
            </p:nvSpPr>
            <p:spPr bwMode="auto">
              <a:xfrm>
                <a:off x="4849" y="2057"/>
                <a:ext cx="335" cy="343"/>
              </a:xfrm>
              <a:prstGeom prst="line">
                <a:avLst/>
              </a:prstGeom>
              <a:noFill/>
              <a:ln w="31750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2896" name="Object 80"/>
              <p:cNvGraphicFramePr>
                <a:graphicFrameLocks noChangeAspect="1"/>
              </p:cNvGraphicFramePr>
              <p:nvPr/>
            </p:nvGraphicFramePr>
            <p:xfrm>
              <a:off x="4277" y="1962"/>
              <a:ext cx="42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1" name="公式" r:id="rId22" imgW="203040" imgH="152280" progId="Equation.3">
                      <p:embed/>
                    </p:oleObj>
                  </mc:Choice>
                  <mc:Fallback>
                    <p:oleObj name="公式" r:id="rId22" imgW="203040" imgH="152280" progId="Equation.3">
                      <p:embed/>
                      <p:pic>
                        <p:nvPicPr>
                          <p:cNvPr id="0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7" y="1962"/>
                            <a:ext cx="427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97" name="Object 81"/>
              <p:cNvGraphicFramePr>
                <a:graphicFrameLocks noChangeAspect="1"/>
              </p:cNvGraphicFramePr>
              <p:nvPr/>
            </p:nvGraphicFramePr>
            <p:xfrm>
              <a:off x="4560" y="2549"/>
              <a:ext cx="768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2" name="公式" r:id="rId24" imgW="876240" imgH="304560" progId="Equation.3">
                      <p:embed/>
                    </p:oleObj>
                  </mc:Choice>
                  <mc:Fallback>
                    <p:oleObj name="公式" r:id="rId24" imgW="876240" imgH="304560" progId="Equation.3">
                      <p:embed/>
                      <p:pic>
                        <p:nvPicPr>
                          <p:cNvPr id="0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2549"/>
                            <a:ext cx="768" cy="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98" name="Object 82"/>
              <p:cNvGraphicFramePr>
                <a:graphicFrameLocks noChangeAspect="1"/>
              </p:cNvGraphicFramePr>
              <p:nvPr/>
            </p:nvGraphicFramePr>
            <p:xfrm>
              <a:off x="4937" y="1846"/>
              <a:ext cx="346" cy="3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3" name="公式" r:id="rId26" imgW="291960" imgH="253800" progId="Equation.3">
                      <p:embed/>
                    </p:oleObj>
                  </mc:Choice>
                  <mc:Fallback>
                    <p:oleObj name="公式" r:id="rId26" imgW="291960" imgH="253800" progId="Equation.3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7" y="1846"/>
                            <a:ext cx="346" cy="30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2899" name="AutoShape 83"/>
              <p:cNvSpPr>
                <a:spLocks noChangeArrowheads="1"/>
              </p:cNvSpPr>
              <p:nvPr/>
            </p:nvSpPr>
            <p:spPr bwMode="auto">
              <a:xfrm>
                <a:off x="4144" y="1688"/>
                <a:ext cx="133" cy="158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900" name="AutoShape 84"/>
              <p:cNvSpPr>
                <a:spLocks noChangeArrowheads="1"/>
              </p:cNvSpPr>
              <p:nvPr/>
            </p:nvSpPr>
            <p:spPr bwMode="auto">
              <a:xfrm>
                <a:off x="5202" y="3321"/>
                <a:ext cx="132" cy="158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901" name="Line 85"/>
              <p:cNvSpPr>
                <a:spLocks noChangeShapeType="1"/>
              </p:cNvSpPr>
              <p:nvPr/>
            </p:nvSpPr>
            <p:spPr bwMode="auto">
              <a:xfrm flipV="1">
                <a:off x="4100" y="1776"/>
                <a:ext cx="124" cy="966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prstDash val="dash"/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2902" name="Line 86"/>
              <p:cNvSpPr>
                <a:spLocks noChangeShapeType="1"/>
              </p:cNvSpPr>
              <p:nvPr/>
            </p:nvSpPr>
            <p:spPr bwMode="auto">
              <a:xfrm>
                <a:off x="4100" y="2742"/>
                <a:ext cx="1190" cy="68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prstDash val="dash"/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2903" name="Object 87"/>
              <p:cNvGraphicFramePr>
                <a:graphicFrameLocks noChangeAspect="1"/>
              </p:cNvGraphicFramePr>
              <p:nvPr/>
            </p:nvGraphicFramePr>
            <p:xfrm>
              <a:off x="3888" y="1741"/>
              <a:ext cx="242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4" name="公式" r:id="rId28" imgW="228600" imgH="190440" progId="Equation.3">
                      <p:embed/>
                    </p:oleObj>
                  </mc:Choice>
                  <mc:Fallback>
                    <p:oleObj name="公式" r:id="rId28" imgW="228600" imgH="190440" progId="Equation.3">
                      <p:embed/>
                      <p:pic>
                        <p:nvPicPr>
                          <p:cNvPr id="0" name="Object 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1741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904" name="Object 88"/>
              <p:cNvGraphicFramePr>
                <a:graphicFrameLocks noChangeAspect="1"/>
              </p:cNvGraphicFramePr>
              <p:nvPr/>
            </p:nvGraphicFramePr>
            <p:xfrm>
              <a:off x="4064" y="2874"/>
              <a:ext cx="20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5" name="Equation" r:id="rId29" imgW="152280" imgH="177480" progId="Equation.3">
                      <p:embed/>
                    </p:oleObj>
                  </mc:Choice>
                  <mc:Fallback>
                    <p:oleObj name="Equation" r:id="rId29" imgW="152280" imgH="177480" progId="Equation.3">
                      <p:embed/>
                      <p:pic>
                        <p:nvPicPr>
                          <p:cNvPr id="0" name="Object 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64" y="2874"/>
                            <a:ext cx="20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905" name="Object 89"/>
              <p:cNvGraphicFramePr>
                <a:graphicFrameLocks noChangeAspect="1"/>
              </p:cNvGraphicFramePr>
              <p:nvPr/>
            </p:nvGraphicFramePr>
            <p:xfrm>
              <a:off x="3744" y="2353"/>
              <a:ext cx="288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6" name="Equation" r:id="rId31" imgW="304560" imgH="279360" progId="Equation.3">
                      <p:embed/>
                    </p:oleObj>
                  </mc:Choice>
                  <mc:Fallback>
                    <p:oleObj name="Equation" r:id="rId31" imgW="304560" imgH="279360" progId="Equation.3">
                      <p:embed/>
                      <p:pic>
                        <p:nvPicPr>
                          <p:cNvPr id="0" name="Object 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2353"/>
                            <a:ext cx="288" cy="2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906" name="Object 90"/>
              <p:cNvGraphicFramePr>
                <a:graphicFrameLocks noChangeAspect="1"/>
              </p:cNvGraphicFramePr>
              <p:nvPr/>
            </p:nvGraphicFramePr>
            <p:xfrm>
              <a:off x="4235" y="1530"/>
              <a:ext cx="187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7" name="公式" r:id="rId33" imgW="215640" imgH="228600" progId="Equation.3">
                      <p:embed/>
                    </p:oleObj>
                  </mc:Choice>
                  <mc:Fallback>
                    <p:oleObj name="公式" r:id="rId33" imgW="215640" imgH="228600" progId="Equation.3">
                      <p:embed/>
                      <p:pic>
                        <p:nvPicPr>
                          <p:cNvPr id="0" name="Object 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5" y="1530"/>
                            <a:ext cx="187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907" name="Object 91"/>
              <p:cNvGraphicFramePr>
                <a:graphicFrameLocks noChangeAspect="1"/>
              </p:cNvGraphicFramePr>
              <p:nvPr/>
            </p:nvGraphicFramePr>
            <p:xfrm>
              <a:off x="5334" y="3321"/>
              <a:ext cx="18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0108" name="公式" r:id="rId35" imgW="215640" imgH="228600" progId="Equation.3">
                      <p:embed/>
                    </p:oleObj>
                  </mc:Choice>
                  <mc:Fallback>
                    <p:oleObj name="公式" r:id="rId35" imgW="215640" imgH="228600" progId="Equation.3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4" y="3321"/>
                            <a:ext cx="186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2908" name="Line 92"/>
              <p:cNvSpPr>
                <a:spLocks noChangeShapeType="1"/>
              </p:cNvSpPr>
              <p:nvPr/>
            </p:nvSpPr>
            <p:spPr bwMode="auto">
              <a:xfrm flipV="1">
                <a:off x="4100" y="2016"/>
                <a:ext cx="748" cy="726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sp>
        <p:nvSpPr>
          <p:cNvPr id="162909" name="AutoShape 93"/>
          <p:cNvSpPr>
            <a:spLocks noChangeArrowheads="1"/>
          </p:cNvSpPr>
          <p:nvPr/>
        </p:nvSpPr>
        <p:spPr bwMode="auto">
          <a:xfrm>
            <a:off x="4038600" y="3276600"/>
            <a:ext cx="1752600" cy="1143000"/>
          </a:xfrm>
          <a:prstGeom prst="wedgeRoundRectCallout">
            <a:avLst>
              <a:gd name="adj1" fmla="val -81343"/>
              <a:gd name="adj2" fmla="val 2917"/>
              <a:gd name="adj3" fmla="val 16667"/>
            </a:avLst>
          </a:prstGeom>
          <a:gradFill rotWithShape="0">
            <a:gsLst>
              <a:gs pos="0">
                <a:srgbClr val="FEEEF8"/>
              </a:gs>
              <a:gs pos="50000">
                <a:schemeClr val="bg1"/>
              </a:gs>
              <a:gs pos="100000">
                <a:srgbClr val="FEEEF8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zh-CN" sz="2800" i="1"/>
              <a:t>r </a:t>
            </a:r>
            <a:r>
              <a:rPr lang="zh-CN" altLang="en-US" sz="2800"/>
              <a:t>方向单位矢量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16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 autoUpdateAnimBg="0"/>
      <p:bldP spid="162909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5" name="Object 25"/>
          <p:cNvGraphicFramePr>
            <a:graphicFrameLocks noChangeAspect="1"/>
          </p:cNvGraphicFramePr>
          <p:nvPr/>
        </p:nvGraphicFramePr>
        <p:xfrm>
          <a:off x="961861" y="4724400"/>
          <a:ext cx="4524539" cy="123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90" name="Equation" r:id="rId3" imgW="1587240" imgH="406080" progId="Equation.3">
                  <p:embed/>
                </p:oleObj>
              </mc:Choice>
              <mc:Fallback>
                <p:oleObj name="Equation" r:id="rId3" imgW="1587240" imgH="4060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861" y="4724400"/>
                        <a:ext cx="4524539" cy="12367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6" name="Object 26"/>
          <p:cNvGraphicFramePr>
            <a:graphicFrameLocks noChangeAspect="1"/>
          </p:cNvGraphicFramePr>
          <p:nvPr/>
        </p:nvGraphicFramePr>
        <p:xfrm>
          <a:off x="1066800" y="3352800"/>
          <a:ext cx="358140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91" name="Equation" r:id="rId5" imgW="2298600" imgH="761760" progId="Equation.3">
                  <p:embed/>
                </p:oleObj>
              </mc:Choice>
              <mc:Fallback>
                <p:oleObj name="Equation" r:id="rId5" imgW="2298600" imgH="76176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52800"/>
                        <a:ext cx="3581400" cy="115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9" name="Object 69"/>
          <p:cNvGraphicFramePr>
            <a:graphicFrameLocks noChangeAspect="1"/>
          </p:cNvGraphicFramePr>
          <p:nvPr/>
        </p:nvGraphicFramePr>
        <p:xfrm>
          <a:off x="533400" y="2276475"/>
          <a:ext cx="48831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92" name="Equation" r:id="rId7" imgW="1600200" imgH="253800" progId="Equation.3">
                  <p:embed/>
                </p:oleObj>
              </mc:Choice>
              <mc:Fallback>
                <p:oleObj name="Equation" r:id="rId7" imgW="1600200" imgH="25380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76475"/>
                        <a:ext cx="488315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0" name="Object 70"/>
          <p:cNvGraphicFramePr>
            <a:graphicFrameLocks noChangeAspect="1"/>
          </p:cNvGraphicFramePr>
          <p:nvPr/>
        </p:nvGraphicFramePr>
        <p:xfrm>
          <a:off x="198438" y="977900"/>
          <a:ext cx="576103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93" name="Equation" r:id="rId9" imgW="1955520" imgH="393480" progId="Equation.3">
                  <p:embed/>
                </p:oleObj>
              </mc:Choice>
              <mc:Fallback>
                <p:oleObj name="Equation" r:id="rId9" imgW="1955520" imgH="39348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977900"/>
                        <a:ext cx="5761037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5943600" y="914400"/>
            <a:ext cx="2971800" cy="5334000"/>
            <a:chOff x="3744" y="576"/>
            <a:chExt cx="1872" cy="3360"/>
          </a:xfrm>
        </p:grpSpPr>
        <p:sp>
          <p:nvSpPr>
            <p:cNvPr id="163912" name="Rectangle 72"/>
            <p:cNvSpPr>
              <a:spLocks noChangeArrowheads="1"/>
            </p:cNvSpPr>
            <p:nvPr/>
          </p:nvSpPr>
          <p:spPr bwMode="auto">
            <a:xfrm>
              <a:off x="3744" y="576"/>
              <a:ext cx="1872" cy="33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73"/>
            <p:cNvGrpSpPr>
              <a:grpSpLocks/>
            </p:cNvGrpSpPr>
            <p:nvPr/>
          </p:nvGrpSpPr>
          <p:grpSpPr bwMode="auto">
            <a:xfrm>
              <a:off x="3792" y="624"/>
              <a:ext cx="1776" cy="2064"/>
              <a:chOff x="3792" y="624"/>
              <a:chExt cx="1776" cy="2064"/>
            </a:xfrm>
          </p:grpSpPr>
          <p:sp>
            <p:nvSpPr>
              <p:cNvPr id="163914" name="AutoShape 74"/>
              <p:cNvSpPr>
                <a:spLocks noChangeArrowheads="1"/>
              </p:cNvSpPr>
              <p:nvPr/>
            </p:nvSpPr>
            <p:spPr bwMode="auto">
              <a:xfrm>
                <a:off x="3972" y="1630"/>
                <a:ext cx="353" cy="368"/>
              </a:xfrm>
              <a:prstGeom prst="irregularSeal1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15" name="AutoShape 75"/>
              <p:cNvSpPr>
                <a:spLocks noChangeArrowheads="1"/>
              </p:cNvSpPr>
              <p:nvPr/>
            </p:nvSpPr>
            <p:spPr bwMode="auto">
              <a:xfrm>
                <a:off x="4809" y="997"/>
                <a:ext cx="132" cy="159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16" name="AutoShape 76"/>
              <p:cNvSpPr>
                <a:spLocks noChangeArrowheads="1"/>
              </p:cNvSpPr>
              <p:nvPr/>
            </p:nvSpPr>
            <p:spPr bwMode="auto">
              <a:xfrm>
                <a:off x="5243" y="1296"/>
                <a:ext cx="133" cy="158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17" name="Freeform 77"/>
              <p:cNvSpPr>
                <a:spLocks/>
              </p:cNvSpPr>
              <p:nvPr/>
            </p:nvSpPr>
            <p:spPr bwMode="auto">
              <a:xfrm>
                <a:off x="3972" y="734"/>
                <a:ext cx="1487" cy="19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97" y="143"/>
                  </a:cxn>
                  <a:cxn ang="0">
                    <a:pos x="960" y="361"/>
                  </a:cxn>
                  <a:cxn ang="0">
                    <a:pos x="1189" y="502"/>
                  </a:cxn>
                  <a:cxn ang="0">
                    <a:pos x="1442" y="817"/>
                  </a:cxn>
                  <a:cxn ang="0">
                    <a:pos x="1458" y="1270"/>
                  </a:cxn>
                  <a:cxn ang="0">
                    <a:pos x="1358" y="1670"/>
                  </a:cxn>
                  <a:cxn ang="0">
                    <a:pos x="1250" y="1954"/>
                  </a:cxn>
                </a:cxnLst>
                <a:rect l="0" t="0" r="r" b="b"/>
                <a:pathLst>
                  <a:path w="1487" h="1954">
                    <a:moveTo>
                      <a:pt x="0" y="0"/>
                    </a:moveTo>
                    <a:cubicBezTo>
                      <a:pt x="170" y="39"/>
                      <a:pt x="337" y="82"/>
                      <a:pt x="497" y="143"/>
                    </a:cubicBezTo>
                    <a:cubicBezTo>
                      <a:pt x="657" y="203"/>
                      <a:pt x="845" y="301"/>
                      <a:pt x="960" y="361"/>
                    </a:cubicBezTo>
                    <a:cubicBezTo>
                      <a:pt x="1075" y="421"/>
                      <a:pt x="1109" y="426"/>
                      <a:pt x="1189" y="502"/>
                    </a:cubicBezTo>
                    <a:cubicBezTo>
                      <a:pt x="1269" y="578"/>
                      <a:pt x="1397" y="689"/>
                      <a:pt x="1442" y="817"/>
                    </a:cubicBezTo>
                    <a:cubicBezTo>
                      <a:pt x="1487" y="945"/>
                      <a:pt x="1472" y="1128"/>
                      <a:pt x="1458" y="1270"/>
                    </a:cubicBezTo>
                    <a:cubicBezTo>
                      <a:pt x="1444" y="1412"/>
                      <a:pt x="1393" y="1556"/>
                      <a:pt x="1358" y="1670"/>
                    </a:cubicBezTo>
                    <a:cubicBezTo>
                      <a:pt x="1323" y="1784"/>
                      <a:pt x="1272" y="1895"/>
                      <a:pt x="1250" y="1954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dash"/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18" name="Line 78"/>
              <p:cNvSpPr>
                <a:spLocks noChangeShapeType="1"/>
              </p:cNvSpPr>
              <p:nvPr/>
            </p:nvSpPr>
            <p:spPr bwMode="auto">
              <a:xfrm flipV="1">
                <a:off x="4148" y="1056"/>
                <a:ext cx="748" cy="732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19" name="Line 79"/>
              <p:cNvSpPr>
                <a:spLocks noChangeShapeType="1"/>
              </p:cNvSpPr>
              <p:nvPr/>
            </p:nvSpPr>
            <p:spPr bwMode="auto">
              <a:xfrm flipV="1">
                <a:off x="4148" y="1392"/>
                <a:ext cx="1180" cy="396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20" name="Line 80"/>
              <p:cNvSpPr>
                <a:spLocks noChangeShapeType="1"/>
              </p:cNvSpPr>
              <p:nvPr/>
            </p:nvSpPr>
            <p:spPr bwMode="auto">
              <a:xfrm>
                <a:off x="4848" y="1056"/>
                <a:ext cx="432" cy="336"/>
              </a:xfrm>
              <a:prstGeom prst="line">
                <a:avLst/>
              </a:prstGeom>
              <a:noFill/>
              <a:ln w="31750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3921" name="Object 81"/>
              <p:cNvGraphicFramePr>
                <a:graphicFrameLocks noChangeAspect="1"/>
              </p:cNvGraphicFramePr>
              <p:nvPr/>
            </p:nvGraphicFramePr>
            <p:xfrm>
              <a:off x="4325" y="1008"/>
              <a:ext cx="42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094" name="公式" r:id="rId11" imgW="203040" imgH="152280" progId="Equation.3">
                      <p:embed/>
                    </p:oleObj>
                  </mc:Choice>
                  <mc:Fallback>
                    <p:oleObj name="公式" r:id="rId11" imgW="203040" imgH="152280" progId="Equation.3">
                      <p:embed/>
                      <p:pic>
                        <p:nvPicPr>
                          <p:cNvPr id="0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5" y="1008"/>
                            <a:ext cx="427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22" name="Object 82"/>
              <p:cNvGraphicFramePr>
                <a:graphicFrameLocks noChangeAspect="1"/>
              </p:cNvGraphicFramePr>
              <p:nvPr/>
            </p:nvGraphicFramePr>
            <p:xfrm>
              <a:off x="4608" y="1595"/>
              <a:ext cx="768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095" name="公式" r:id="rId13" imgW="876240" imgH="304560" progId="Equation.3">
                      <p:embed/>
                    </p:oleObj>
                  </mc:Choice>
                  <mc:Fallback>
                    <p:oleObj name="公式" r:id="rId13" imgW="876240" imgH="304560" progId="Equation.3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1595"/>
                            <a:ext cx="768" cy="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23" name="Object 83"/>
              <p:cNvGraphicFramePr>
                <a:graphicFrameLocks noChangeAspect="1"/>
              </p:cNvGraphicFramePr>
              <p:nvPr/>
            </p:nvGraphicFramePr>
            <p:xfrm>
              <a:off x="5078" y="941"/>
              <a:ext cx="346" cy="3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096" name="公式" r:id="rId15" imgW="291960" imgH="253800" progId="Equation.3">
                      <p:embed/>
                    </p:oleObj>
                  </mc:Choice>
                  <mc:Fallback>
                    <p:oleObj name="公式" r:id="rId15" imgW="291960" imgH="253800" progId="Equation.3">
                      <p:embed/>
                      <p:pic>
                        <p:nvPicPr>
                          <p:cNvPr id="0" name="Object 8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8" y="941"/>
                            <a:ext cx="346" cy="30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3924" name="AutoShape 84"/>
              <p:cNvSpPr>
                <a:spLocks noChangeArrowheads="1"/>
              </p:cNvSpPr>
              <p:nvPr/>
            </p:nvSpPr>
            <p:spPr bwMode="auto">
              <a:xfrm>
                <a:off x="4192" y="734"/>
                <a:ext cx="133" cy="158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25" name="AutoShape 85"/>
              <p:cNvSpPr>
                <a:spLocks noChangeArrowheads="1"/>
              </p:cNvSpPr>
              <p:nvPr/>
            </p:nvSpPr>
            <p:spPr bwMode="auto">
              <a:xfrm>
                <a:off x="5250" y="2367"/>
                <a:ext cx="132" cy="158"/>
              </a:xfrm>
              <a:prstGeom prst="star5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26" name="Line 86"/>
              <p:cNvSpPr>
                <a:spLocks noChangeShapeType="1"/>
              </p:cNvSpPr>
              <p:nvPr/>
            </p:nvSpPr>
            <p:spPr bwMode="auto">
              <a:xfrm flipV="1">
                <a:off x="4148" y="816"/>
                <a:ext cx="124" cy="972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prstDash val="dash"/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3927" name="Line 87"/>
              <p:cNvSpPr>
                <a:spLocks noChangeShapeType="1"/>
              </p:cNvSpPr>
              <p:nvPr/>
            </p:nvSpPr>
            <p:spPr bwMode="auto">
              <a:xfrm>
                <a:off x="4148" y="1788"/>
                <a:ext cx="1190" cy="68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prstDash val="dash"/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3928" name="Object 88"/>
              <p:cNvGraphicFramePr>
                <a:graphicFrameLocks noChangeAspect="1"/>
              </p:cNvGraphicFramePr>
              <p:nvPr/>
            </p:nvGraphicFramePr>
            <p:xfrm>
              <a:off x="3936" y="787"/>
              <a:ext cx="242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097" name="公式" r:id="rId17" imgW="228600" imgH="190440" progId="Equation.3">
                      <p:embed/>
                    </p:oleObj>
                  </mc:Choice>
                  <mc:Fallback>
                    <p:oleObj name="公式" r:id="rId17" imgW="228600" imgH="190440" progId="Equation.3">
                      <p:embed/>
                      <p:pic>
                        <p:nvPicPr>
                          <p:cNvPr id="0" name="Object 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6" y="787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29" name="Object 89"/>
              <p:cNvGraphicFramePr>
                <a:graphicFrameLocks noChangeAspect="1"/>
              </p:cNvGraphicFramePr>
              <p:nvPr/>
            </p:nvGraphicFramePr>
            <p:xfrm>
              <a:off x="4112" y="1920"/>
              <a:ext cx="20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098" name="Equation" r:id="rId19" imgW="152280" imgH="177480" progId="Equation.3">
                      <p:embed/>
                    </p:oleObj>
                  </mc:Choice>
                  <mc:Fallback>
                    <p:oleObj name="Equation" r:id="rId19" imgW="152280" imgH="177480" progId="Equation.3">
                      <p:embed/>
                      <p:pic>
                        <p:nvPicPr>
                          <p:cNvPr id="0" name="Object 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2" y="1920"/>
                            <a:ext cx="20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30" name="Object 90"/>
              <p:cNvGraphicFramePr>
                <a:graphicFrameLocks noChangeAspect="1"/>
              </p:cNvGraphicFramePr>
              <p:nvPr/>
            </p:nvGraphicFramePr>
            <p:xfrm>
              <a:off x="3792" y="1399"/>
              <a:ext cx="288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099" name="Equation" r:id="rId21" imgW="304560" imgH="279360" progId="Equation.3">
                      <p:embed/>
                    </p:oleObj>
                  </mc:Choice>
                  <mc:Fallback>
                    <p:oleObj name="Equation" r:id="rId21" imgW="304560" imgH="279360" progId="Equation.3">
                      <p:embed/>
                      <p:pic>
                        <p:nvPicPr>
                          <p:cNvPr id="0" name="Object 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399"/>
                            <a:ext cx="288" cy="2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31" name="Object 91"/>
              <p:cNvGraphicFramePr>
                <a:graphicFrameLocks noChangeAspect="1"/>
              </p:cNvGraphicFramePr>
              <p:nvPr/>
            </p:nvGraphicFramePr>
            <p:xfrm>
              <a:off x="4320" y="624"/>
              <a:ext cx="187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100" name="公式" r:id="rId23" imgW="215640" imgH="228600" progId="Equation.3">
                      <p:embed/>
                    </p:oleObj>
                  </mc:Choice>
                  <mc:Fallback>
                    <p:oleObj name="公式" r:id="rId23" imgW="215640" imgH="228600" progId="Equation.3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624"/>
                            <a:ext cx="187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32" name="Object 92"/>
              <p:cNvGraphicFramePr>
                <a:graphicFrameLocks noChangeAspect="1"/>
              </p:cNvGraphicFramePr>
              <p:nvPr/>
            </p:nvGraphicFramePr>
            <p:xfrm>
              <a:off x="5382" y="2367"/>
              <a:ext cx="18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101" name="公式" r:id="rId25" imgW="215640" imgH="228600" progId="Equation.3">
                      <p:embed/>
                    </p:oleObj>
                  </mc:Choice>
                  <mc:Fallback>
                    <p:oleObj name="公式" r:id="rId25" imgW="215640" imgH="228600" progId="Equation.3">
                      <p:embed/>
                      <p:pic>
                        <p:nvPicPr>
                          <p:cNvPr id="0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2" y="2367"/>
                            <a:ext cx="186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93"/>
          <p:cNvGrpSpPr>
            <a:grpSpLocks/>
          </p:cNvGrpSpPr>
          <p:nvPr/>
        </p:nvGrpSpPr>
        <p:grpSpPr bwMode="auto">
          <a:xfrm>
            <a:off x="6248400" y="4038600"/>
            <a:ext cx="2743200" cy="2139950"/>
            <a:chOff x="3888" y="2592"/>
            <a:chExt cx="1728" cy="1348"/>
          </a:xfrm>
        </p:grpSpPr>
        <p:sp>
          <p:nvSpPr>
            <p:cNvPr id="163934" name="Line 94"/>
            <p:cNvSpPr>
              <a:spLocks noChangeShapeType="1"/>
            </p:cNvSpPr>
            <p:nvPr/>
          </p:nvSpPr>
          <p:spPr bwMode="auto">
            <a:xfrm flipV="1">
              <a:off x="3888" y="2976"/>
              <a:ext cx="864" cy="72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935" name="Line 95"/>
            <p:cNvSpPr>
              <a:spLocks noChangeShapeType="1"/>
            </p:cNvSpPr>
            <p:nvPr/>
          </p:nvSpPr>
          <p:spPr bwMode="auto">
            <a:xfrm flipV="1">
              <a:off x="3888" y="3312"/>
              <a:ext cx="1296" cy="3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3936" name="Object 96"/>
            <p:cNvGraphicFramePr>
              <a:graphicFrameLocks noChangeAspect="1"/>
            </p:cNvGraphicFramePr>
            <p:nvPr/>
          </p:nvGraphicFramePr>
          <p:xfrm>
            <a:off x="4061" y="2878"/>
            <a:ext cx="547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1102" name="公式" r:id="rId27" imgW="203040" imgH="152280" progId="Equation.3">
                    <p:embed/>
                  </p:oleObj>
                </mc:Choice>
                <mc:Fallback>
                  <p:oleObj name="公式" r:id="rId27" imgW="203040" imgH="15228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2878"/>
                          <a:ext cx="547" cy="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7" name="Object 97"/>
            <p:cNvGraphicFramePr>
              <a:graphicFrameLocks noChangeAspect="1"/>
            </p:cNvGraphicFramePr>
            <p:nvPr/>
          </p:nvGraphicFramePr>
          <p:xfrm>
            <a:off x="4128" y="3600"/>
            <a:ext cx="883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1103" name="公式" r:id="rId28" imgW="876240" imgH="304560" progId="Equation.3">
                    <p:embed/>
                  </p:oleObj>
                </mc:Choice>
                <mc:Fallback>
                  <p:oleObj name="公式" r:id="rId28" imgW="876240" imgH="304560" progId="Equation.3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600"/>
                          <a:ext cx="883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8" name="Object 98"/>
            <p:cNvGraphicFramePr>
              <a:graphicFrameLocks noChangeAspect="1"/>
            </p:cNvGraphicFramePr>
            <p:nvPr/>
          </p:nvGraphicFramePr>
          <p:xfrm>
            <a:off x="4992" y="2928"/>
            <a:ext cx="377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1104" name="公式" r:id="rId29" imgW="291960" imgH="253800" progId="Equation.3">
                    <p:embed/>
                  </p:oleObj>
                </mc:Choice>
                <mc:Fallback>
                  <p:oleObj name="公式" r:id="rId29" imgW="291960" imgH="253800" progId="Equation.3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928"/>
                          <a:ext cx="377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99"/>
            <p:cNvGrpSpPr>
              <a:grpSpLocks/>
            </p:cNvGrpSpPr>
            <p:nvPr/>
          </p:nvGrpSpPr>
          <p:grpSpPr bwMode="auto">
            <a:xfrm>
              <a:off x="4752" y="2592"/>
              <a:ext cx="302" cy="336"/>
              <a:chOff x="4752" y="2592"/>
              <a:chExt cx="302" cy="336"/>
            </a:xfrm>
          </p:grpSpPr>
          <p:sp>
            <p:nvSpPr>
              <p:cNvPr id="163940" name="AutoShape 100"/>
              <p:cNvSpPr>
                <a:spLocks noChangeArrowheads="1"/>
              </p:cNvSpPr>
              <p:nvPr/>
            </p:nvSpPr>
            <p:spPr bwMode="auto">
              <a:xfrm>
                <a:off x="4752" y="2640"/>
                <a:ext cx="288" cy="240"/>
              </a:xfrm>
              <a:prstGeom prst="wedgeRoundRectCallout">
                <a:avLst>
                  <a:gd name="adj1" fmla="val 37153"/>
                  <a:gd name="adj2" fmla="val 214167"/>
                  <a:gd name="adj3" fmla="val 16667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zh-CN" altLang="zh-CN" sz="2800"/>
              </a:p>
            </p:txBody>
          </p:sp>
          <p:graphicFrame>
            <p:nvGraphicFramePr>
              <p:cNvPr id="163941" name="Object 101"/>
              <p:cNvGraphicFramePr>
                <a:graphicFrameLocks noChangeAspect="1"/>
              </p:cNvGraphicFramePr>
              <p:nvPr/>
            </p:nvGraphicFramePr>
            <p:xfrm>
              <a:off x="4752" y="2592"/>
              <a:ext cx="302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1105" name="公式" r:id="rId30" imgW="114120" imgH="126720" progId="Equation.3">
                      <p:embed/>
                    </p:oleObj>
                  </mc:Choice>
                  <mc:Fallback>
                    <p:oleObj name="公式" r:id="rId30" imgW="114120" imgH="126720" progId="Equation.3">
                      <p:embed/>
                      <p:pic>
                        <p:nvPicPr>
                          <p:cNvPr id="0" name="Object 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2592"/>
                            <a:ext cx="302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gradFill rotWithShape="0">
                                  <a:gsLst>
                                    <a:gs pos="0">
                                      <a:schemeClr val="bg1"/>
                                    </a:gs>
                                    <a:gs pos="100000">
                                      <a:schemeClr val="accent1"/>
                                    </a:gs>
                                  </a:gsLst>
                                  <a:lin ang="5400000" scaled="1"/>
                                </a:gra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00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3942" name="Arc 102"/>
            <p:cNvSpPr>
              <a:spLocks/>
            </p:cNvSpPr>
            <p:nvPr/>
          </p:nvSpPr>
          <p:spPr bwMode="auto">
            <a:xfrm flipH="1">
              <a:off x="4848" y="3168"/>
              <a:ext cx="126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943" name="Line 103"/>
            <p:cNvSpPr>
              <a:spLocks noChangeShapeType="1"/>
            </p:cNvSpPr>
            <p:nvPr/>
          </p:nvSpPr>
          <p:spPr bwMode="auto">
            <a:xfrm>
              <a:off x="4752" y="2976"/>
              <a:ext cx="432" cy="336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944" name="Line 104"/>
            <p:cNvSpPr>
              <a:spLocks noChangeShapeType="1"/>
            </p:cNvSpPr>
            <p:nvPr/>
          </p:nvSpPr>
          <p:spPr bwMode="auto">
            <a:xfrm>
              <a:off x="4752" y="2976"/>
              <a:ext cx="336" cy="72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945" name="Line 105"/>
            <p:cNvSpPr>
              <a:spLocks noChangeShapeType="1"/>
            </p:cNvSpPr>
            <p:nvPr/>
          </p:nvSpPr>
          <p:spPr bwMode="auto">
            <a:xfrm>
              <a:off x="5184" y="3312"/>
              <a:ext cx="144" cy="288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946" name="Line 106"/>
            <p:cNvSpPr>
              <a:spLocks noChangeShapeType="1"/>
            </p:cNvSpPr>
            <p:nvPr/>
          </p:nvSpPr>
          <p:spPr bwMode="auto">
            <a:xfrm flipH="1">
              <a:off x="4992" y="3456"/>
              <a:ext cx="288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947" name="Text Box 107"/>
            <p:cNvSpPr txBox="1">
              <a:spLocks noChangeArrowheads="1"/>
            </p:cNvSpPr>
            <p:nvPr/>
          </p:nvSpPr>
          <p:spPr bwMode="auto">
            <a:xfrm>
              <a:off x="5040" y="3427"/>
              <a:ext cx="57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>
                  <a:solidFill>
                    <a:srgbClr val="990099"/>
                  </a:solidFill>
                </a:rPr>
                <a:t>d</a:t>
              </a:r>
              <a:r>
                <a:rPr lang="en-US" altLang="zh-CN" sz="2800" b="0" i="1">
                  <a:solidFill>
                    <a:srgbClr val="990099"/>
                  </a:solidFill>
                </a:rPr>
                <a:t>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67" name="Object 3"/>
          <p:cNvGraphicFramePr>
            <a:graphicFrameLocks noChangeAspect="1"/>
          </p:cNvGraphicFramePr>
          <p:nvPr/>
        </p:nvGraphicFramePr>
        <p:xfrm>
          <a:off x="533400" y="2590800"/>
          <a:ext cx="406241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83" name="Equation" r:id="rId3" imgW="1117440" imgH="215640" progId="Equation.3">
                  <p:embed/>
                </p:oleObj>
              </mc:Choice>
              <mc:Fallback>
                <p:oleObj name="Equation" r:id="rId3" imgW="111744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90800"/>
                        <a:ext cx="4062413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4"/>
          <p:cNvGraphicFramePr>
            <a:graphicFrameLocks noChangeAspect="1"/>
          </p:cNvGraphicFramePr>
          <p:nvPr/>
        </p:nvGraphicFramePr>
        <p:xfrm>
          <a:off x="838200" y="4489450"/>
          <a:ext cx="3438525" cy="710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84" name="Equation" r:id="rId5" imgW="914400" imgH="203040" progId="Equation.3">
                  <p:embed/>
                </p:oleObj>
              </mc:Choice>
              <mc:Fallback>
                <p:oleObj name="Equation" r:id="rId5" imgW="9144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89450"/>
                        <a:ext cx="3438525" cy="7101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1600200" y="1600200"/>
          <a:ext cx="25908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85" name="Equation" r:id="rId7" imgW="698400" imgH="228600" progId="Equation.3">
                  <p:embed/>
                </p:oleObj>
              </mc:Choice>
              <mc:Fallback>
                <p:oleObj name="Equation" r:id="rId7" imgW="6984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2590800" cy="7699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0" name="Object 6"/>
          <p:cNvGraphicFramePr>
            <a:graphicFrameLocks noChangeAspect="1"/>
          </p:cNvGraphicFramePr>
          <p:nvPr/>
        </p:nvGraphicFramePr>
        <p:xfrm>
          <a:off x="381000" y="3352800"/>
          <a:ext cx="47244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86" name="Equation" r:id="rId9" imgW="1574640" imgH="355320" progId="Equation.3">
                  <p:embed/>
                </p:oleObj>
              </mc:Choice>
              <mc:Fallback>
                <p:oleObj name="Equation" r:id="rId9" imgW="1574640" imgH="355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52800"/>
                        <a:ext cx="4724400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94" name="Text Box 30"/>
          <p:cNvSpPr txBox="1">
            <a:spLocks noChangeArrowheads="1"/>
          </p:cNvSpPr>
          <p:nvPr/>
        </p:nvSpPr>
        <p:spPr bwMode="auto">
          <a:xfrm>
            <a:off x="1219200" y="852488"/>
            <a:ext cx="3200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CC0000"/>
                </a:solidFill>
              </a:rPr>
              <a:t>2 </a:t>
            </a:r>
            <a:r>
              <a:rPr lang="zh-CN" altLang="en-US" sz="2800">
                <a:solidFill>
                  <a:schemeClr val="tx1"/>
                </a:solidFill>
              </a:rPr>
              <a:t>）</a:t>
            </a:r>
            <a:r>
              <a:rPr lang="zh-CN" altLang="en-US" sz="2800">
                <a:solidFill>
                  <a:srgbClr val="CC0000"/>
                </a:solidFill>
              </a:rPr>
              <a:t>  </a:t>
            </a:r>
            <a:r>
              <a:rPr lang="zh-CN" altLang="en-US" sz="2800"/>
              <a:t>重力作功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5334000" y="1219200"/>
            <a:ext cx="3429000" cy="4191000"/>
            <a:chOff x="3456" y="768"/>
            <a:chExt cx="2160" cy="2640"/>
          </a:xfrm>
        </p:grpSpPr>
        <p:sp>
          <p:nvSpPr>
            <p:cNvPr id="164872" name="Rectangle 8"/>
            <p:cNvSpPr>
              <a:spLocks noChangeArrowheads="1"/>
            </p:cNvSpPr>
            <p:nvPr/>
          </p:nvSpPr>
          <p:spPr bwMode="auto">
            <a:xfrm>
              <a:off x="3456" y="768"/>
              <a:ext cx="2160" cy="26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4" name="Line 10"/>
            <p:cNvSpPr>
              <a:spLocks noChangeShapeType="1"/>
            </p:cNvSpPr>
            <p:nvPr/>
          </p:nvSpPr>
          <p:spPr bwMode="auto">
            <a:xfrm>
              <a:off x="4025" y="2909"/>
              <a:ext cx="13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5" name="Line 11"/>
            <p:cNvSpPr>
              <a:spLocks noChangeShapeType="1"/>
            </p:cNvSpPr>
            <p:nvPr/>
          </p:nvSpPr>
          <p:spPr bwMode="auto">
            <a:xfrm flipV="1">
              <a:off x="4025" y="1008"/>
              <a:ext cx="7" cy="19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7" name="Freeform 13"/>
            <p:cNvSpPr>
              <a:spLocks/>
            </p:cNvSpPr>
            <p:nvPr/>
          </p:nvSpPr>
          <p:spPr bwMode="auto">
            <a:xfrm>
              <a:off x="3552" y="1495"/>
              <a:ext cx="1645" cy="1769"/>
            </a:xfrm>
            <a:custGeom>
              <a:avLst/>
              <a:gdLst/>
              <a:ahLst/>
              <a:cxnLst>
                <a:cxn ang="0">
                  <a:pos x="0" y="251"/>
                </a:cxn>
                <a:cxn ang="0">
                  <a:pos x="508" y="69"/>
                </a:cxn>
                <a:cxn ang="0">
                  <a:pos x="950" y="13"/>
                </a:cxn>
                <a:cxn ang="0">
                  <a:pos x="1356" y="149"/>
                </a:cxn>
                <a:cxn ang="0">
                  <a:pos x="1605" y="576"/>
                </a:cxn>
                <a:cxn ang="0">
                  <a:pos x="1598" y="980"/>
                </a:cxn>
                <a:cxn ang="0">
                  <a:pos x="1568" y="1337"/>
                </a:cxn>
                <a:cxn ang="0">
                  <a:pos x="1598" y="1769"/>
                </a:cxn>
              </a:cxnLst>
              <a:rect l="0" t="0" r="r" b="b"/>
              <a:pathLst>
                <a:path w="1645" h="1769">
                  <a:moveTo>
                    <a:pt x="0" y="251"/>
                  </a:moveTo>
                  <a:cubicBezTo>
                    <a:pt x="181" y="175"/>
                    <a:pt x="349" y="109"/>
                    <a:pt x="508" y="69"/>
                  </a:cubicBezTo>
                  <a:cubicBezTo>
                    <a:pt x="666" y="30"/>
                    <a:pt x="809" y="0"/>
                    <a:pt x="950" y="13"/>
                  </a:cubicBezTo>
                  <a:cubicBezTo>
                    <a:pt x="1091" y="26"/>
                    <a:pt x="1247" y="55"/>
                    <a:pt x="1356" y="149"/>
                  </a:cubicBezTo>
                  <a:cubicBezTo>
                    <a:pt x="1465" y="243"/>
                    <a:pt x="1565" y="437"/>
                    <a:pt x="1605" y="576"/>
                  </a:cubicBezTo>
                  <a:cubicBezTo>
                    <a:pt x="1645" y="715"/>
                    <a:pt x="1605" y="853"/>
                    <a:pt x="1598" y="980"/>
                  </a:cubicBezTo>
                  <a:cubicBezTo>
                    <a:pt x="1592" y="1107"/>
                    <a:pt x="1568" y="1205"/>
                    <a:pt x="1568" y="1337"/>
                  </a:cubicBezTo>
                  <a:cubicBezTo>
                    <a:pt x="1568" y="1468"/>
                    <a:pt x="1592" y="1679"/>
                    <a:pt x="1598" y="1769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8" name="Text Box 14"/>
            <p:cNvSpPr txBox="1">
              <a:spLocks noChangeArrowheads="1"/>
            </p:cNvSpPr>
            <p:nvPr/>
          </p:nvSpPr>
          <p:spPr bwMode="auto">
            <a:xfrm>
              <a:off x="4272" y="1152"/>
              <a:ext cx="27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 i="1">
                  <a:solidFill>
                    <a:srgbClr val="A50021"/>
                  </a:solidFill>
                  <a:latin typeface="Arial" charset="0"/>
                </a:rPr>
                <a:t>A</a:t>
              </a:r>
            </a:p>
          </p:txBody>
        </p:sp>
        <p:sp>
          <p:nvSpPr>
            <p:cNvPr id="164879" name="Text Box 15"/>
            <p:cNvSpPr txBox="1">
              <a:spLocks noChangeArrowheads="1"/>
            </p:cNvSpPr>
            <p:nvPr/>
          </p:nvSpPr>
          <p:spPr bwMode="auto">
            <a:xfrm>
              <a:off x="5184" y="2496"/>
              <a:ext cx="32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 i="1">
                  <a:solidFill>
                    <a:srgbClr val="A50021"/>
                  </a:solidFill>
                  <a:latin typeface="Arial" charset="0"/>
                </a:rPr>
                <a:t>B</a:t>
              </a:r>
              <a:endParaRPr lang="en-US" altLang="zh-CN" sz="2800" b="0" i="1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4880" name="Line 16"/>
            <p:cNvSpPr>
              <a:spLocks noChangeShapeType="1"/>
            </p:cNvSpPr>
            <p:nvPr/>
          </p:nvSpPr>
          <p:spPr bwMode="auto">
            <a:xfrm flipH="1" flipV="1">
              <a:off x="4032" y="1488"/>
              <a:ext cx="3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81" name="Line 17"/>
            <p:cNvSpPr>
              <a:spLocks noChangeShapeType="1"/>
            </p:cNvSpPr>
            <p:nvPr/>
          </p:nvSpPr>
          <p:spPr bwMode="auto">
            <a:xfrm flipH="1">
              <a:off x="4025" y="2592"/>
              <a:ext cx="1063" cy="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4882" name="Object 18"/>
            <p:cNvGraphicFramePr>
              <a:graphicFrameLocks noChangeAspect="1"/>
            </p:cNvGraphicFramePr>
            <p:nvPr/>
          </p:nvGraphicFramePr>
          <p:xfrm>
            <a:off x="3648" y="1152"/>
            <a:ext cx="336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87" name="Equation" r:id="rId11" imgW="203040" imgH="215640" progId="Equation.3">
                    <p:embed/>
                  </p:oleObj>
                </mc:Choice>
                <mc:Fallback>
                  <p:oleObj name="Equation" r:id="rId11" imgW="203040" imgH="2156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152"/>
                          <a:ext cx="336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3" name="Object 19"/>
            <p:cNvGraphicFramePr>
              <a:graphicFrameLocks noChangeAspect="1"/>
            </p:cNvGraphicFramePr>
            <p:nvPr/>
          </p:nvGraphicFramePr>
          <p:xfrm>
            <a:off x="3648" y="2304"/>
            <a:ext cx="35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88" name="Equation" r:id="rId13" imgW="203040" imgH="215640" progId="Equation.3">
                    <p:embed/>
                  </p:oleObj>
                </mc:Choice>
                <mc:Fallback>
                  <p:oleObj name="Equation" r:id="rId13" imgW="203040" imgH="215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304"/>
                          <a:ext cx="359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84" name="Oval 20"/>
            <p:cNvSpPr>
              <a:spLocks noChangeArrowheads="1"/>
            </p:cNvSpPr>
            <p:nvPr/>
          </p:nvSpPr>
          <p:spPr bwMode="auto">
            <a:xfrm>
              <a:off x="4368" y="1440"/>
              <a:ext cx="92" cy="102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85" name="Oval 21"/>
            <p:cNvSpPr>
              <a:spLocks noChangeArrowheads="1"/>
            </p:cNvSpPr>
            <p:nvPr/>
          </p:nvSpPr>
          <p:spPr bwMode="auto">
            <a:xfrm>
              <a:off x="4848" y="1584"/>
              <a:ext cx="93" cy="103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87" name="Line 23"/>
            <p:cNvSpPr>
              <a:spLocks noChangeShapeType="1"/>
            </p:cNvSpPr>
            <p:nvPr/>
          </p:nvSpPr>
          <p:spPr bwMode="auto">
            <a:xfrm>
              <a:off x="4896" y="1632"/>
              <a:ext cx="0" cy="6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4888" name="Object 24"/>
            <p:cNvGraphicFramePr>
              <a:graphicFrameLocks noChangeAspect="1"/>
            </p:cNvGraphicFramePr>
            <p:nvPr/>
          </p:nvGraphicFramePr>
          <p:xfrm>
            <a:off x="4560" y="2016"/>
            <a:ext cx="255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89" name="Equation" r:id="rId15" imgW="152280" imgH="190440" progId="Equation.3">
                    <p:embed/>
                  </p:oleObj>
                </mc:Choice>
                <mc:Fallback>
                  <p:oleObj name="Equation" r:id="rId15" imgW="152280" imgH="1904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016"/>
                          <a:ext cx="255" cy="3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9" name="Object 25"/>
            <p:cNvGraphicFramePr>
              <a:graphicFrameLocks noChangeAspect="1"/>
            </p:cNvGraphicFramePr>
            <p:nvPr/>
          </p:nvGraphicFramePr>
          <p:xfrm>
            <a:off x="3840" y="2928"/>
            <a:ext cx="19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90" name="公式" r:id="rId17" imgW="164880" imgH="190440" progId="Equation.3">
                    <p:embed/>
                  </p:oleObj>
                </mc:Choice>
                <mc:Fallback>
                  <p:oleObj name="公式" r:id="rId17" imgW="164880" imgH="1904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928"/>
                          <a:ext cx="192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90" name="Object 26"/>
            <p:cNvGraphicFramePr>
              <a:graphicFrameLocks noChangeAspect="1"/>
            </p:cNvGraphicFramePr>
            <p:nvPr/>
          </p:nvGraphicFramePr>
          <p:xfrm>
            <a:off x="5280" y="2976"/>
            <a:ext cx="22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91" name="公式" r:id="rId19" imgW="177480" imgH="190440" progId="Equation.3">
                    <p:embed/>
                  </p:oleObj>
                </mc:Choice>
                <mc:Fallback>
                  <p:oleObj name="公式" r:id="rId19" imgW="177480" imgH="19044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976"/>
                          <a:ext cx="220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91" name="Object 27"/>
            <p:cNvGraphicFramePr>
              <a:graphicFrameLocks noChangeAspect="1"/>
            </p:cNvGraphicFramePr>
            <p:nvPr/>
          </p:nvGraphicFramePr>
          <p:xfrm>
            <a:off x="3552" y="912"/>
            <a:ext cx="22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92" name="公式" r:id="rId21" imgW="190440" imgH="241200" progId="Equation.3">
                    <p:embed/>
                  </p:oleObj>
                </mc:Choice>
                <mc:Fallback>
                  <p:oleObj name="公式" r:id="rId21" imgW="190440" imgH="241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912"/>
                          <a:ext cx="228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93" name="Oval 29"/>
            <p:cNvSpPr>
              <a:spLocks noChangeArrowheads="1"/>
            </p:cNvSpPr>
            <p:nvPr/>
          </p:nvSpPr>
          <p:spPr bwMode="auto">
            <a:xfrm>
              <a:off x="5088" y="2544"/>
              <a:ext cx="93" cy="103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95" name="Line 31"/>
            <p:cNvSpPr>
              <a:spLocks noChangeShapeType="1"/>
            </p:cNvSpPr>
            <p:nvPr/>
          </p:nvSpPr>
          <p:spPr bwMode="auto">
            <a:xfrm>
              <a:off x="4896" y="1632"/>
              <a:ext cx="240" cy="288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4896" name="Object 32"/>
            <p:cNvGraphicFramePr>
              <a:graphicFrameLocks noChangeAspect="1"/>
            </p:cNvGraphicFramePr>
            <p:nvPr/>
          </p:nvGraphicFramePr>
          <p:xfrm>
            <a:off x="5040" y="1488"/>
            <a:ext cx="35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93" name="Equation" r:id="rId23" imgW="203040" imgH="177480" progId="Equation.3">
                    <p:embed/>
                  </p:oleObj>
                </mc:Choice>
                <mc:Fallback>
                  <p:oleObj name="Equation" r:id="rId23" imgW="203040" imgH="1774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488"/>
                          <a:ext cx="35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97" name="Object 33"/>
            <p:cNvGraphicFramePr>
              <a:graphicFrameLocks noChangeAspect="1"/>
            </p:cNvGraphicFramePr>
            <p:nvPr/>
          </p:nvGraphicFramePr>
          <p:xfrm>
            <a:off x="4896" y="1776"/>
            <a:ext cx="17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094" name="Equation" r:id="rId25" imgW="126720" imgH="177480" progId="Equation.3">
                    <p:embed/>
                  </p:oleObj>
                </mc:Choice>
                <mc:Fallback>
                  <p:oleObj name="Equation" r:id="rId25" imgW="126720" imgH="17748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776"/>
                          <a:ext cx="177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98" name="Freeform 34"/>
            <p:cNvSpPr>
              <a:spLocks/>
            </p:cNvSpPr>
            <p:nvPr/>
          </p:nvSpPr>
          <p:spPr bwMode="auto">
            <a:xfrm>
              <a:off x="4416" y="1280"/>
              <a:ext cx="1152" cy="1312"/>
            </a:xfrm>
            <a:custGeom>
              <a:avLst/>
              <a:gdLst/>
              <a:ahLst/>
              <a:cxnLst>
                <a:cxn ang="0">
                  <a:pos x="0" y="208"/>
                </a:cxn>
                <a:cxn ang="0">
                  <a:pos x="624" y="16"/>
                </a:cxn>
                <a:cxn ang="0">
                  <a:pos x="1008" y="112"/>
                </a:cxn>
                <a:cxn ang="0">
                  <a:pos x="1008" y="448"/>
                </a:cxn>
                <a:cxn ang="0">
                  <a:pos x="1104" y="832"/>
                </a:cxn>
                <a:cxn ang="0">
                  <a:pos x="720" y="1312"/>
                </a:cxn>
              </a:cxnLst>
              <a:rect l="0" t="0" r="r" b="b"/>
              <a:pathLst>
                <a:path w="1152" h="1312">
                  <a:moveTo>
                    <a:pt x="0" y="208"/>
                  </a:moveTo>
                  <a:cubicBezTo>
                    <a:pt x="228" y="120"/>
                    <a:pt x="456" y="32"/>
                    <a:pt x="624" y="16"/>
                  </a:cubicBezTo>
                  <a:cubicBezTo>
                    <a:pt x="792" y="0"/>
                    <a:pt x="944" y="40"/>
                    <a:pt x="1008" y="112"/>
                  </a:cubicBezTo>
                  <a:cubicBezTo>
                    <a:pt x="1072" y="184"/>
                    <a:pt x="992" y="328"/>
                    <a:pt x="1008" y="448"/>
                  </a:cubicBezTo>
                  <a:cubicBezTo>
                    <a:pt x="1024" y="568"/>
                    <a:pt x="1152" y="688"/>
                    <a:pt x="1104" y="832"/>
                  </a:cubicBezTo>
                  <a:cubicBezTo>
                    <a:pt x="1056" y="976"/>
                    <a:pt x="784" y="1232"/>
                    <a:pt x="720" y="1312"/>
                  </a:cubicBezTo>
                </a:path>
              </a:pathLst>
            </a:custGeom>
            <a:noFill/>
            <a:ln w="19050" cmpd="sng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99" name="Text Box 35"/>
            <p:cNvSpPr txBox="1">
              <a:spLocks noChangeArrowheads="1"/>
            </p:cNvSpPr>
            <p:nvPr/>
          </p:nvSpPr>
          <p:spPr bwMode="auto">
            <a:xfrm>
              <a:off x="4992" y="1008"/>
              <a:ext cx="2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rgbClr val="009900"/>
                  </a:solidFill>
                </a:rPr>
                <a:t>D</a:t>
              </a:r>
            </a:p>
          </p:txBody>
        </p:sp>
        <p:sp>
          <p:nvSpPr>
            <p:cNvPr id="164900" name="Text Box 36"/>
            <p:cNvSpPr txBox="1">
              <a:spLocks noChangeArrowheads="1"/>
            </p:cNvSpPr>
            <p:nvPr/>
          </p:nvSpPr>
          <p:spPr bwMode="auto">
            <a:xfrm>
              <a:off x="5136" y="2016"/>
              <a:ext cx="3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rgbClr val="CC0000"/>
                  </a:solidFill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685800" y="4343400"/>
          <a:ext cx="2362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87" name="Equation" r:id="rId3" imgW="977760" imgH="279360" progId="Equation.3">
                  <p:embed/>
                </p:oleObj>
              </mc:Choice>
              <mc:Fallback>
                <p:oleObj name="Equation" r:id="rId3" imgW="977760" imgH="2793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43400"/>
                        <a:ext cx="2362200" cy="552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3657600" y="4114800"/>
          <a:ext cx="48768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88" name="Equation" r:id="rId5" imgW="1511280" imgH="355320" progId="Equation.3">
                  <p:embed/>
                </p:oleObj>
              </mc:Choice>
              <mc:Fallback>
                <p:oleObj name="Equation" r:id="rId5" imgW="151128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14800"/>
                        <a:ext cx="4876800" cy="1116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3" name="Object 5"/>
          <p:cNvGraphicFramePr>
            <a:graphicFrameLocks noChangeAspect="1"/>
          </p:cNvGraphicFramePr>
          <p:nvPr/>
        </p:nvGraphicFramePr>
        <p:xfrm>
          <a:off x="762000" y="5105400"/>
          <a:ext cx="3427518" cy="115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89" name="Equation" r:id="rId7" imgW="1079280" imgH="368280" progId="Equation.3">
                  <p:embed/>
                </p:oleObj>
              </mc:Choice>
              <mc:Fallback>
                <p:oleObj name="Equation" r:id="rId7" imgW="1079280" imgH="36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105400"/>
                        <a:ext cx="3427518" cy="11589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36" name="Text Box 48"/>
          <p:cNvSpPr txBox="1">
            <a:spLocks noChangeArrowheads="1"/>
          </p:cNvSpPr>
          <p:nvPr/>
        </p:nvSpPr>
        <p:spPr bwMode="auto">
          <a:xfrm>
            <a:off x="228600" y="609600"/>
            <a:ext cx="419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3 </a:t>
            </a:r>
            <a:r>
              <a:rPr lang="zh-CN" altLang="en-US" sz="2800" dirty="0">
                <a:solidFill>
                  <a:schemeClr val="tx1"/>
                </a:solidFill>
              </a:rPr>
              <a:t>）</a:t>
            </a:r>
            <a:r>
              <a:rPr lang="zh-CN" altLang="en-US" sz="2800" dirty="0">
                <a:solidFill>
                  <a:srgbClr val="CC0000"/>
                </a:solidFill>
              </a:rPr>
              <a:t>  </a:t>
            </a:r>
            <a:r>
              <a:rPr lang="zh-CN" altLang="en-US" sz="2800" dirty="0"/>
              <a:t>弹性力作功</a:t>
            </a:r>
          </a:p>
        </p:txBody>
      </p:sp>
      <p:grpSp>
        <p:nvGrpSpPr>
          <p:cNvPr id="2" name="Group 56"/>
          <p:cNvGrpSpPr>
            <a:grpSpLocks/>
          </p:cNvGrpSpPr>
          <p:nvPr/>
        </p:nvGrpSpPr>
        <p:grpSpPr bwMode="auto">
          <a:xfrm>
            <a:off x="2057400" y="1524000"/>
            <a:ext cx="4572000" cy="2438400"/>
            <a:chOff x="240" y="912"/>
            <a:chExt cx="2880" cy="1536"/>
          </a:xfrm>
        </p:grpSpPr>
        <p:sp>
          <p:nvSpPr>
            <p:cNvPr id="165895" name="Rectangle 7"/>
            <p:cNvSpPr>
              <a:spLocks noChangeArrowheads="1"/>
            </p:cNvSpPr>
            <p:nvPr/>
          </p:nvSpPr>
          <p:spPr bwMode="auto">
            <a:xfrm>
              <a:off x="240" y="912"/>
              <a:ext cx="2880" cy="14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897" name="Line 9"/>
            <p:cNvSpPr>
              <a:spLocks noChangeShapeType="1"/>
            </p:cNvSpPr>
            <p:nvPr/>
          </p:nvSpPr>
          <p:spPr bwMode="auto">
            <a:xfrm>
              <a:off x="429" y="2084"/>
              <a:ext cx="246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898" name="Line 10"/>
            <p:cNvSpPr>
              <a:spLocks noChangeShapeType="1"/>
            </p:cNvSpPr>
            <p:nvPr/>
          </p:nvSpPr>
          <p:spPr bwMode="auto">
            <a:xfrm flipV="1">
              <a:off x="429" y="1450"/>
              <a:ext cx="0" cy="6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899" name="Rectangle 11" descr="栎木"/>
            <p:cNvSpPr>
              <a:spLocks noChangeArrowheads="1"/>
            </p:cNvSpPr>
            <p:nvPr/>
          </p:nvSpPr>
          <p:spPr bwMode="auto">
            <a:xfrm>
              <a:off x="1825" y="1503"/>
              <a:ext cx="185" cy="581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0" name="Rectangle 12" descr="大棋盘"/>
            <p:cNvSpPr>
              <a:spLocks noChangeArrowheads="1"/>
            </p:cNvSpPr>
            <p:nvPr/>
          </p:nvSpPr>
          <p:spPr bwMode="auto">
            <a:xfrm>
              <a:off x="2383" y="1503"/>
              <a:ext cx="185" cy="581"/>
            </a:xfrm>
            <a:prstGeom prst="rect">
              <a:avLst/>
            </a:prstGeom>
            <a:pattFill prst="lgCheck">
              <a:fgClr>
                <a:srgbClr val="99660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1" name="Line 13"/>
            <p:cNvSpPr>
              <a:spLocks noChangeShapeType="1"/>
            </p:cNvSpPr>
            <p:nvPr/>
          </p:nvSpPr>
          <p:spPr bwMode="auto">
            <a:xfrm>
              <a:off x="2010" y="1766"/>
              <a:ext cx="3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902" name="Object 14"/>
            <p:cNvGraphicFramePr>
              <a:graphicFrameLocks noChangeAspect="1"/>
            </p:cNvGraphicFramePr>
            <p:nvPr/>
          </p:nvGraphicFramePr>
          <p:xfrm>
            <a:off x="1835" y="1978"/>
            <a:ext cx="352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090" name="公式" r:id="rId10" imgW="139680" imgH="164880" progId="Equation.3">
                    <p:embed/>
                  </p:oleObj>
                </mc:Choice>
                <mc:Fallback>
                  <p:oleObj name="公式" r:id="rId10" imgW="139680" imgH="1648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" y="1978"/>
                          <a:ext cx="352" cy="4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03" name="Object 15"/>
            <p:cNvGraphicFramePr>
              <a:graphicFrameLocks noChangeAspect="1"/>
            </p:cNvGraphicFramePr>
            <p:nvPr/>
          </p:nvGraphicFramePr>
          <p:xfrm>
            <a:off x="2393" y="1978"/>
            <a:ext cx="354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091" name="公式" r:id="rId12" imgW="139680" imgH="164880" progId="Equation.3">
                    <p:embed/>
                  </p:oleObj>
                </mc:Choice>
                <mc:Fallback>
                  <p:oleObj name="公式" r:id="rId12" imgW="139680" imgH="1648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3" y="1978"/>
                          <a:ext cx="354" cy="4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429" y="1660"/>
              <a:ext cx="1396" cy="265"/>
              <a:chOff x="2832" y="3696"/>
              <a:chExt cx="1344" cy="240"/>
            </a:xfrm>
          </p:grpSpPr>
          <p:sp>
            <p:nvSpPr>
              <p:cNvPr id="165905" name="Line 17"/>
              <p:cNvSpPr>
                <a:spLocks noChangeShapeType="1"/>
              </p:cNvSpPr>
              <p:nvPr/>
            </p:nvSpPr>
            <p:spPr bwMode="auto">
              <a:xfrm flipV="1">
                <a:off x="2928" y="3696"/>
                <a:ext cx="80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5906" name="Line 18"/>
              <p:cNvSpPr>
                <a:spLocks noChangeShapeType="1"/>
              </p:cNvSpPr>
              <p:nvPr/>
            </p:nvSpPr>
            <p:spPr bwMode="auto">
              <a:xfrm flipH="1" flipV="1">
                <a:off x="3008" y="3696"/>
                <a:ext cx="80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4" name="Group 19"/>
              <p:cNvGrpSpPr>
                <a:grpSpLocks/>
              </p:cNvGrpSpPr>
              <p:nvPr/>
            </p:nvGrpSpPr>
            <p:grpSpPr bwMode="auto">
              <a:xfrm>
                <a:off x="3088" y="3696"/>
                <a:ext cx="160" cy="240"/>
                <a:chOff x="2928" y="3696"/>
                <a:chExt cx="384" cy="240"/>
              </a:xfrm>
            </p:grpSpPr>
            <p:sp>
              <p:nvSpPr>
                <p:cNvPr id="16590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2928" y="3696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5909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3120" y="3696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5" name="Group 22"/>
              <p:cNvGrpSpPr>
                <a:grpSpLocks/>
              </p:cNvGrpSpPr>
              <p:nvPr/>
            </p:nvGrpSpPr>
            <p:grpSpPr bwMode="auto">
              <a:xfrm>
                <a:off x="3248" y="3696"/>
                <a:ext cx="160" cy="240"/>
                <a:chOff x="2928" y="3696"/>
                <a:chExt cx="384" cy="240"/>
              </a:xfrm>
            </p:grpSpPr>
            <p:sp>
              <p:nvSpPr>
                <p:cNvPr id="165911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928" y="3696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5912" name="Line 24"/>
                <p:cNvSpPr>
                  <a:spLocks noChangeShapeType="1"/>
                </p:cNvSpPr>
                <p:nvPr/>
              </p:nvSpPr>
              <p:spPr bwMode="auto">
                <a:xfrm flipH="1" flipV="1">
                  <a:off x="3120" y="3696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6" name="Group 25"/>
              <p:cNvGrpSpPr>
                <a:grpSpLocks/>
              </p:cNvGrpSpPr>
              <p:nvPr/>
            </p:nvGrpSpPr>
            <p:grpSpPr bwMode="auto">
              <a:xfrm>
                <a:off x="3408" y="3696"/>
                <a:ext cx="480" cy="240"/>
                <a:chOff x="2928" y="3696"/>
                <a:chExt cx="1152" cy="240"/>
              </a:xfrm>
            </p:grpSpPr>
            <p:grpSp>
              <p:nvGrpSpPr>
                <p:cNvPr id="7" name="Group 26"/>
                <p:cNvGrpSpPr>
                  <a:grpSpLocks/>
                </p:cNvGrpSpPr>
                <p:nvPr/>
              </p:nvGrpSpPr>
              <p:grpSpPr bwMode="auto">
                <a:xfrm>
                  <a:off x="2928" y="3696"/>
                  <a:ext cx="384" cy="240"/>
                  <a:chOff x="2928" y="3696"/>
                  <a:chExt cx="384" cy="240"/>
                </a:xfrm>
              </p:grpSpPr>
              <p:sp>
                <p:nvSpPr>
                  <p:cNvPr id="165915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28" y="36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  <p:sp>
                <p:nvSpPr>
                  <p:cNvPr id="165916" name="Line 2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120" y="36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</p:grpSp>
            <p:grpSp>
              <p:nvGrpSpPr>
                <p:cNvPr id="8" name="Group 29"/>
                <p:cNvGrpSpPr>
                  <a:grpSpLocks/>
                </p:cNvGrpSpPr>
                <p:nvPr/>
              </p:nvGrpSpPr>
              <p:grpSpPr bwMode="auto">
                <a:xfrm>
                  <a:off x="3312" y="3696"/>
                  <a:ext cx="384" cy="240"/>
                  <a:chOff x="2928" y="3696"/>
                  <a:chExt cx="384" cy="240"/>
                </a:xfrm>
              </p:grpSpPr>
              <p:sp>
                <p:nvSpPr>
                  <p:cNvPr id="165918" name="Line 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28" y="36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  <p:sp>
                <p:nvSpPr>
                  <p:cNvPr id="165919" name="Line 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120" y="36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</p:grpSp>
            <p:grpSp>
              <p:nvGrpSpPr>
                <p:cNvPr id="9" name="Group 32"/>
                <p:cNvGrpSpPr>
                  <a:grpSpLocks/>
                </p:cNvGrpSpPr>
                <p:nvPr/>
              </p:nvGrpSpPr>
              <p:grpSpPr bwMode="auto">
                <a:xfrm>
                  <a:off x="3696" y="3696"/>
                  <a:ext cx="384" cy="240"/>
                  <a:chOff x="2928" y="3696"/>
                  <a:chExt cx="384" cy="240"/>
                </a:xfrm>
              </p:grpSpPr>
              <p:sp>
                <p:nvSpPr>
                  <p:cNvPr id="165921" name="Line 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28" y="36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  <p:sp>
                <p:nvSpPr>
                  <p:cNvPr id="165922" name="Line 3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120" y="36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</p:grpSp>
          </p:grpSp>
          <p:grpSp>
            <p:nvGrpSpPr>
              <p:cNvPr id="10" name="Group 35"/>
              <p:cNvGrpSpPr>
                <a:grpSpLocks/>
              </p:cNvGrpSpPr>
              <p:nvPr/>
            </p:nvGrpSpPr>
            <p:grpSpPr bwMode="auto">
              <a:xfrm>
                <a:off x="3888" y="3696"/>
                <a:ext cx="160" cy="240"/>
                <a:chOff x="2928" y="3696"/>
                <a:chExt cx="384" cy="240"/>
              </a:xfrm>
            </p:grpSpPr>
            <p:sp>
              <p:nvSpPr>
                <p:cNvPr id="165924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2928" y="3696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65925" name="Line 37"/>
                <p:cNvSpPr>
                  <a:spLocks noChangeShapeType="1"/>
                </p:cNvSpPr>
                <p:nvPr/>
              </p:nvSpPr>
              <p:spPr bwMode="auto">
                <a:xfrm flipH="1" flipV="1">
                  <a:off x="3120" y="3696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sp>
            <p:nvSpPr>
              <p:cNvPr id="165926" name="Line 38"/>
              <p:cNvSpPr>
                <a:spLocks noChangeShapeType="1"/>
              </p:cNvSpPr>
              <p:nvPr/>
            </p:nvSpPr>
            <p:spPr bwMode="auto">
              <a:xfrm flipV="1">
                <a:off x="4048" y="3792"/>
                <a:ext cx="32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5927" name="Line 39"/>
              <p:cNvSpPr>
                <a:spLocks noChangeShapeType="1"/>
              </p:cNvSpPr>
              <p:nvPr/>
            </p:nvSpPr>
            <p:spPr bwMode="auto">
              <a:xfrm>
                <a:off x="4080" y="379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5928" name="Line 40"/>
              <p:cNvSpPr>
                <a:spLocks noChangeShapeType="1"/>
              </p:cNvSpPr>
              <p:nvPr/>
            </p:nvSpPr>
            <p:spPr bwMode="auto">
              <a:xfrm>
                <a:off x="2832" y="384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65929" name="Line 41"/>
            <p:cNvSpPr>
              <a:spLocks noChangeShapeType="1"/>
            </p:cNvSpPr>
            <p:nvPr/>
          </p:nvSpPr>
          <p:spPr bwMode="auto">
            <a:xfrm flipV="1">
              <a:off x="1592" y="1344"/>
              <a:ext cx="0" cy="7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932" name="Object 44"/>
            <p:cNvGraphicFramePr>
              <a:graphicFrameLocks noChangeAspect="1"/>
            </p:cNvGraphicFramePr>
            <p:nvPr/>
          </p:nvGraphicFramePr>
          <p:xfrm>
            <a:off x="2069" y="1364"/>
            <a:ext cx="325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092" name="公式" r:id="rId14" imgW="228600" imgH="266400" progId="Equation.3">
                    <p:embed/>
                  </p:oleObj>
                </mc:Choice>
                <mc:Fallback>
                  <p:oleObj name="公式" r:id="rId14" imgW="228600" imgH="2664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9" y="1364"/>
                          <a:ext cx="325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33" name="Object 45"/>
            <p:cNvGraphicFramePr>
              <a:graphicFrameLocks noChangeAspect="1"/>
            </p:cNvGraphicFramePr>
            <p:nvPr/>
          </p:nvGraphicFramePr>
          <p:xfrm>
            <a:off x="2832" y="2112"/>
            <a:ext cx="18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093" name="公式" r:id="rId16" imgW="177480" imgH="190440" progId="Equation.3">
                    <p:embed/>
                  </p:oleObj>
                </mc:Choice>
                <mc:Fallback>
                  <p:oleObj name="公式" r:id="rId16" imgW="177480" imgH="19044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112"/>
                          <a:ext cx="183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34" name="Rectangle 46" descr="沙滩"/>
            <p:cNvSpPr>
              <a:spLocks noChangeArrowheads="1"/>
            </p:cNvSpPr>
            <p:nvPr/>
          </p:nvSpPr>
          <p:spPr bwMode="auto">
            <a:xfrm>
              <a:off x="336" y="1324"/>
              <a:ext cx="96" cy="760"/>
            </a:xfrm>
            <a:prstGeom prst="rect">
              <a:avLst/>
            </a:prstGeom>
            <a:blipFill dpi="0" rotWithShape="0">
              <a:blip r:embed="rId18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935" name="Object 47"/>
            <p:cNvGraphicFramePr>
              <a:graphicFrameLocks noChangeAspect="1"/>
            </p:cNvGraphicFramePr>
            <p:nvPr/>
          </p:nvGraphicFramePr>
          <p:xfrm>
            <a:off x="1499" y="2084"/>
            <a:ext cx="15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094" name="公式" r:id="rId19" imgW="164880" imgH="190440" progId="Equation.3">
                    <p:embed/>
                  </p:oleObj>
                </mc:Choice>
                <mc:Fallback>
                  <p:oleObj name="公式" r:id="rId19" imgW="164880" imgH="19044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9" y="2084"/>
                          <a:ext cx="159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31" name="Line 43"/>
            <p:cNvSpPr>
              <a:spLocks noChangeShapeType="1"/>
            </p:cNvSpPr>
            <p:nvPr/>
          </p:nvSpPr>
          <p:spPr bwMode="auto">
            <a:xfrm flipH="1">
              <a:off x="2057" y="1776"/>
              <a:ext cx="32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41" name="Line 53"/>
            <p:cNvSpPr>
              <a:spLocks noChangeShapeType="1"/>
            </p:cNvSpPr>
            <p:nvPr/>
          </p:nvSpPr>
          <p:spPr bwMode="auto">
            <a:xfrm>
              <a:off x="2544" y="1776"/>
              <a:ext cx="4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942" name="Object 54"/>
            <p:cNvGraphicFramePr>
              <a:graphicFrameLocks noChangeAspect="1"/>
            </p:cNvGraphicFramePr>
            <p:nvPr/>
          </p:nvGraphicFramePr>
          <p:xfrm>
            <a:off x="2592" y="1362"/>
            <a:ext cx="432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095" name="Equation" r:id="rId21" imgW="190440" imgH="190440" progId="Equation.3">
                    <p:embed/>
                  </p:oleObj>
                </mc:Choice>
                <mc:Fallback>
                  <p:oleObj name="Equation" r:id="rId21" imgW="190440" imgH="19044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362"/>
                          <a:ext cx="432" cy="4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304800" y="4114800"/>
            <a:ext cx="8382000" cy="11271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sz="2800" dirty="0" smtClean="0">
                <a:solidFill>
                  <a:schemeClr val="tx1"/>
                </a:solidFill>
                <a:latin typeface="Arial" charset="0"/>
              </a:rPr>
              <a:t>                   </a:t>
            </a:r>
            <a:r>
              <a:rPr lang="zh-CN" altLang="en-US" sz="2800" dirty="0" smtClean="0">
                <a:solidFill>
                  <a:srgbClr val="000000"/>
                </a:solidFill>
                <a:latin typeface="Arial" charset="0"/>
              </a:rPr>
              <a:t>力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所作的功与路径无关</a:t>
            </a:r>
            <a:r>
              <a:rPr lang="zh-CN" altLang="en-US" sz="2800" dirty="0">
                <a:latin typeface="Arial" charset="0"/>
              </a:rPr>
              <a:t>，仅决定于相互作用质点的</a:t>
            </a:r>
            <a:r>
              <a:rPr lang="zh-CN" altLang="en-US" sz="2800" dirty="0">
                <a:solidFill>
                  <a:srgbClr val="CC0000"/>
                </a:solidFill>
                <a:latin typeface="Arial" charset="0"/>
              </a:rPr>
              <a:t>始末</a:t>
            </a:r>
            <a:r>
              <a:rPr lang="zh-CN" altLang="en-US" sz="2800" dirty="0">
                <a:latin typeface="Arial" charset="0"/>
              </a:rPr>
              <a:t>相对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位置 </a:t>
            </a:r>
            <a:r>
              <a:rPr lang="en-US" altLang="zh-CN" sz="2800" dirty="0">
                <a:latin typeface="Arial" charset="0"/>
              </a:rPr>
              <a:t>.</a:t>
            </a:r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366713" y="45720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4.  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保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守力和非保守力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381000" y="1295400"/>
            <a:ext cx="2246313" cy="2286000"/>
            <a:chOff x="265" y="1728"/>
            <a:chExt cx="1415" cy="1440"/>
          </a:xfrm>
        </p:grpSpPr>
        <p:sp>
          <p:nvSpPr>
            <p:cNvPr id="166920" name="Text Box 8"/>
            <p:cNvSpPr txBox="1">
              <a:spLocks noChangeArrowheads="1"/>
            </p:cNvSpPr>
            <p:nvPr/>
          </p:nvSpPr>
          <p:spPr bwMode="auto">
            <a:xfrm>
              <a:off x="265" y="2256"/>
              <a:ext cx="141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重力功</a:t>
              </a:r>
            </a:p>
          </p:txBody>
        </p:sp>
        <p:sp>
          <p:nvSpPr>
            <p:cNvPr id="166921" name="Rectangle 9"/>
            <p:cNvSpPr>
              <a:spLocks noChangeArrowheads="1"/>
            </p:cNvSpPr>
            <p:nvPr/>
          </p:nvSpPr>
          <p:spPr bwMode="auto">
            <a:xfrm>
              <a:off x="288" y="2841"/>
              <a:ext cx="131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弹力功</a:t>
              </a:r>
            </a:p>
          </p:txBody>
        </p:sp>
        <p:sp>
          <p:nvSpPr>
            <p:cNvPr id="166922" name="Rectangle 10"/>
            <p:cNvSpPr>
              <a:spLocks noChangeArrowheads="1"/>
            </p:cNvSpPr>
            <p:nvPr/>
          </p:nvSpPr>
          <p:spPr bwMode="auto">
            <a:xfrm>
              <a:off x="271" y="1728"/>
              <a:ext cx="131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引力功</a:t>
              </a:r>
            </a:p>
          </p:txBody>
        </p:sp>
      </p:grpSp>
      <p:graphicFrame>
        <p:nvGraphicFramePr>
          <p:cNvPr id="684042" name="Object 5"/>
          <p:cNvGraphicFramePr>
            <a:graphicFrameLocks noChangeAspect="1"/>
          </p:cNvGraphicFramePr>
          <p:nvPr/>
        </p:nvGraphicFramePr>
        <p:xfrm>
          <a:off x="2286000" y="2743200"/>
          <a:ext cx="3427413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066" name="Equation" r:id="rId3" imgW="1079280" imgH="368280" progId="Equation.3">
                  <p:embed/>
                </p:oleObj>
              </mc:Choice>
              <mc:Fallback>
                <p:oleObj name="Equation" r:id="rId3" imgW="1079280" imgH="36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43200"/>
                        <a:ext cx="3427413" cy="115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43" name="Object 4"/>
          <p:cNvGraphicFramePr>
            <a:graphicFrameLocks noChangeAspect="1"/>
          </p:cNvGraphicFramePr>
          <p:nvPr/>
        </p:nvGraphicFramePr>
        <p:xfrm>
          <a:off x="2286000" y="2057400"/>
          <a:ext cx="3657600" cy="646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067" name="Equation" r:id="rId5" imgW="1066680" imgH="203040" progId="Equation.3">
                  <p:embed/>
                </p:oleObj>
              </mc:Choice>
              <mc:Fallback>
                <p:oleObj name="Equation" r:id="rId5" imgW="10666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57400"/>
                        <a:ext cx="3657600" cy="6469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44" name="Object 25"/>
          <p:cNvGraphicFramePr>
            <a:graphicFrameLocks noChangeAspect="1"/>
          </p:cNvGraphicFramePr>
          <p:nvPr/>
        </p:nvGraphicFramePr>
        <p:xfrm>
          <a:off x="2257425" y="973137"/>
          <a:ext cx="4524375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068" name="Equation" r:id="rId7" imgW="1587240" imgH="406080" progId="Equation.3">
                  <p:embed/>
                </p:oleObj>
              </mc:Choice>
              <mc:Fallback>
                <p:oleObj name="Equation" r:id="rId7" imgW="1587240" imgH="4060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973137"/>
                        <a:ext cx="4524375" cy="1236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304800" y="4114800"/>
            <a:ext cx="8382000" cy="55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C00000"/>
                </a:solidFill>
                <a:latin typeface="Arial" charset="0"/>
              </a:rPr>
              <a:t>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保守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力：</a:t>
            </a:r>
            <a:endParaRPr lang="en-US" altLang="zh-CN" sz="2800" b="1" dirty="0">
              <a:solidFill>
                <a:srgbClr val="C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6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8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172200" y="1066800"/>
            <a:ext cx="2590800" cy="4267200"/>
            <a:chOff x="3888" y="480"/>
            <a:chExt cx="1536" cy="2688"/>
          </a:xfrm>
        </p:grpSpPr>
        <p:sp>
          <p:nvSpPr>
            <p:cNvPr id="167939" name="Rectangle 3"/>
            <p:cNvSpPr>
              <a:spLocks noChangeArrowheads="1"/>
            </p:cNvSpPr>
            <p:nvPr/>
          </p:nvSpPr>
          <p:spPr bwMode="auto">
            <a:xfrm>
              <a:off x="3888" y="480"/>
              <a:ext cx="1536" cy="26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936" y="624"/>
              <a:ext cx="1392" cy="1152"/>
              <a:chOff x="3936" y="624"/>
              <a:chExt cx="1392" cy="1152"/>
            </a:xfrm>
          </p:grpSpPr>
          <p:sp>
            <p:nvSpPr>
              <p:cNvPr id="167941" name="Freeform 5"/>
              <p:cNvSpPr>
                <a:spLocks/>
              </p:cNvSpPr>
              <p:nvPr/>
            </p:nvSpPr>
            <p:spPr bwMode="auto">
              <a:xfrm>
                <a:off x="4120" y="817"/>
                <a:ext cx="1151" cy="709"/>
              </a:xfrm>
              <a:custGeom>
                <a:avLst/>
                <a:gdLst/>
                <a:ahLst/>
                <a:cxnLst>
                  <a:cxn ang="0">
                    <a:pos x="0" y="56"/>
                  </a:cxn>
                  <a:cxn ang="0">
                    <a:pos x="432" y="8"/>
                  </a:cxn>
                  <a:cxn ang="0">
                    <a:pos x="768" y="104"/>
                  </a:cxn>
                  <a:cxn ang="0">
                    <a:pos x="1104" y="440"/>
                  </a:cxn>
                  <a:cxn ang="0">
                    <a:pos x="1344" y="968"/>
                  </a:cxn>
                </a:cxnLst>
                <a:rect l="0" t="0" r="r" b="b"/>
                <a:pathLst>
                  <a:path w="1344" h="968">
                    <a:moveTo>
                      <a:pt x="0" y="56"/>
                    </a:moveTo>
                    <a:cubicBezTo>
                      <a:pt x="152" y="28"/>
                      <a:pt x="304" y="0"/>
                      <a:pt x="432" y="8"/>
                    </a:cubicBezTo>
                    <a:cubicBezTo>
                      <a:pt x="560" y="16"/>
                      <a:pt x="656" y="32"/>
                      <a:pt x="768" y="104"/>
                    </a:cubicBezTo>
                    <a:cubicBezTo>
                      <a:pt x="880" y="176"/>
                      <a:pt x="1008" y="296"/>
                      <a:pt x="1104" y="440"/>
                    </a:cubicBezTo>
                    <a:cubicBezTo>
                      <a:pt x="1200" y="584"/>
                      <a:pt x="1304" y="880"/>
                      <a:pt x="1344" y="968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7942" name="Freeform 6"/>
              <p:cNvSpPr>
                <a:spLocks/>
              </p:cNvSpPr>
              <p:nvPr/>
            </p:nvSpPr>
            <p:spPr bwMode="auto">
              <a:xfrm>
                <a:off x="4120" y="858"/>
                <a:ext cx="1151" cy="6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6" y="144"/>
                  </a:cxn>
                  <a:cxn ang="0">
                    <a:pos x="528" y="384"/>
                  </a:cxn>
                  <a:cxn ang="0">
                    <a:pos x="576" y="624"/>
                  </a:cxn>
                  <a:cxn ang="0">
                    <a:pos x="768" y="816"/>
                  </a:cxn>
                  <a:cxn ang="0">
                    <a:pos x="1344" y="912"/>
                  </a:cxn>
                </a:cxnLst>
                <a:rect l="0" t="0" r="r" b="b"/>
                <a:pathLst>
                  <a:path w="1344" h="912">
                    <a:moveTo>
                      <a:pt x="0" y="0"/>
                    </a:moveTo>
                    <a:cubicBezTo>
                      <a:pt x="124" y="40"/>
                      <a:pt x="248" y="80"/>
                      <a:pt x="336" y="144"/>
                    </a:cubicBezTo>
                    <a:cubicBezTo>
                      <a:pt x="424" y="208"/>
                      <a:pt x="488" y="304"/>
                      <a:pt x="528" y="384"/>
                    </a:cubicBezTo>
                    <a:cubicBezTo>
                      <a:pt x="568" y="464"/>
                      <a:pt x="536" y="552"/>
                      <a:pt x="576" y="624"/>
                    </a:cubicBezTo>
                    <a:cubicBezTo>
                      <a:pt x="616" y="696"/>
                      <a:pt x="640" y="768"/>
                      <a:pt x="768" y="816"/>
                    </a:cubicBezTo>
                    <a:cubicBezTo>
                      <a:pt x="896" y="864"/>
                      <a:pt x="1248" y="896"/>
                      <a:pt x="1344" y="912"/>
                    </a:cubicBezTo>
                  </a:path>
                </a:pathLst>
              </a:custGeom>
              <a:noFill/>
              <a:ln w="28575" cap="flat" cmpd="sng">
                <a:solidFill>
                  <a:srgbClr val="CC0099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2039" name="Object 7"/>
              <p:cNvGraphicFramePr>
                <a:graphicFrameLocks noChangeAspect="1"/>
              </p:cNvGraphicFramePr>
              <p:nvPr/>
            </p:nvGraphicFramePr>
            <p:xfrm>
              <a:off x="3936" y="624"/>
              <a:ext cx="195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146" name="公式" r:id="rId3" imgW="215640" imgH="228600" progId="Equation.3">
                      <p:embed/>
                    </p:oleObj>
                  </mc:Choice>
                  <mc:Fallback>
                    <p:oleObj name="公式" r:id="rId3" imgW="215640" imgH="2286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6" y="624"/>
                            <a:ext cx="195" cy="2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0" name="Object 8"/>
              <p:cNvGraphicFramePr>
                <a:graphicFrameLocks noChangeAspect="1"/>
              </p:cNvGraphicFramePr>
              <p:nvPr/>
            </p:nvGraphicFramePr>
            <p:xfrm>
              <a:off x="5133" y="1565"/>
              <a:ext cx="195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147" name="公式" r:id="rId5" imgW="215640" imgH="228600" progId="Equation.3">
                      <p:embed/>
                    </p:oleObj>
                  </mc:Choice>
                  <mc:Fallback>
                    <p:oleObj name="公式" r:id="rId5" imgW="215640" imgH="2286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3" y="1565"/>
                            <a:ext cx="195" cy="2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1" name="Object 9"/>
              <p:cNvGraphicFramePr>
                <a:graphicFrameLocks noChangeAspect="1"/>
              </p:cNvGraphicFramePr>
              <p:nvPr/>
            </p:nvGraphicFramePr>
            <p:xfrm>
              <a:off x="4995" y="864"/>
              <a:ext cx="195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148" name="公式" r:id="rId7" imgW="215640" imgH="241200" progId="Equation.3">
                      <p:embed/>
                    </p:oleObj>
                  </mc:Choice>
                  <mc:Fallback>
                    <p:oleObj name="公式" r:id="rId7" imgW="215640" imgH="2412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5" y="864"/>
                            <a:ext cx="195" cy="22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2" name="Object 10"/>
              <p:cNvGraphicFramePr>
                <a:graphicFrameLocks noChangeAspect="1"/>
              </p:cNvGraphicFramePr>
              <p:nvPr/>
            </p:nvGraphicFramePr>
            <p:xfrm>
              <a:off x="4396" y="1238"/>
              <a:ext cx="218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149" name="公式" r:id="rId9" imgW="241200" imgH="228600" progId="Equation.3">
                      <p:embed/>
                    </p:oleObj>
                  </mc:Choice>
                  <mc:Fallback>
                    <p:oleObj name="公式" r:id="rId9" imgW="241200" imgH="2286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6" y="1238"/>
                            <a:ext cx="218" cy="2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7947" name="Line 11"/>
              <p:cNvSpPr>
                <a:spLocks noChangeShapeType="1"/>
              </p:cNvSpPr>
              <p:nvPr/>
            </p:nvSpPr>
            <p:spPr bwMode="auto">
              <a:xfrm rot="-504596">
                <a:off x="4896" y="960"/>
                <a:ext cx="96" cy="144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7948" name="Line 12"/>
              <p:cNvSpPr>
                <a:spLocks noChangeShapeType="1"/>
              </p:cNvSpPr>
              <p:nvPr/>
            </p:nvSpPr>
            <p:spPr bwMode="auto">
              <a:xfrm>
                <a:off x="4514" y="1057"/>
                <a:ext cx="46" cy="47"/>
              </a:xfrm>
              <a:prstGeom prst="line">
                <a:avLst/>
              </a:prstGeom>
              <a:noFill/>
              <a:ln w="38100">
                <a:solidFill>
                  <a:srgbClr val="CC0099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sp>
        <p:nvSpPr>
          <p:cNvPr id="167949" name="Text Box 13"/>
          <p:cNvSpPr txBox="1">
            <a:spLocks noChangeArrowheads="1"/>
          </p:cNvSpPr>
          <p:nvPr/>
        </p:nvSpPr>
        <p:spPr bwMode="auto">
          <a:xfrm>
            <a:off x="304800" y="5638800"/>
            <a:ext cx="8839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sz="2800" dirty="0">
                <a:latin typeface="Arial" charset="0"/>
              </a:rPr>
              <a:t>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非保守力</a:t>
            </a:r>
            <a:r>
              <a:rPr lang="en-US" altLang="zh-CN" sz="2800" b="1" dirty="0">
                <a:solidFill>
                  <a:srgbClr val="C00000"/>
                </a:solidFill>
                <a:latin typeface="Arial" charset="0"/>
              </a:rPr>
              <a:t>:  </a:t>
            </a:r>
            <a:r>
              <a:rPr lang="zh-CN" altLang="en-US" sz="2800" dirty="0">
                <a:latin typeface="Arial" charset="0"/>
              </a:rPr>
              <a:t>力所作的功与路径有关 </a:t>
            </a:r>
            <a:r>
              <a:rPr lang="en-US" altLang="zh-CN" sz="2800" dirty="0">
                <a:latin typeface="Arial" charset="0"/>
              </a:rPr>
              <a:t>.</a:t>
            </a:r>
            <a:r>
              <a:rPr lang="zh-CN" altLang="en-US" sz="2800" dirty="0">
                <a:latin typeface="Arial" charset="0"/>
              </a:rPr>
              <a:t>（例如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摩擦</a:t>
            </a:r>
            <a:r>
              <a:rPr lang="zh-CN" altLang="en-US" sz="2800" dirty="0">
                <a:latin typeface="Arial" charset="0"/>
              </a:rPr>
              <a:t>力）</a:t>
            </a:r>
          </a:p>
        </p:txBody>
      </p:sp>
      <p:sp>
        <p:nvSpPr>
          <p:cNvPr id="167950" name="Rectangle 14"/>
          <p:cNvSpPr>
            <a:spLocks noChangeArrowheads="1"/>
          </p:cNvSpPr>
          <p:nvPr/>
        </p:nvSpPr>
        <p:spPr bwMode="auto">
          <a:xfrm>
            <a:off x="228600" y="4267200"/>
            <a:ext cx="5638800" cy="11271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Arial" charset="0"/>
              </a:rPr>
              <a:t>        </a:t>
            </a:r>
            <a:r>
              <a:rPr lang="zh-CN" altLang="en-US" sz="2800" dirty="0">
                <a:latin typeface="Arial" charset="0"/>
              </a:rPr>
              <a:t>物体沿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闭合</a:t>
            </a:r>
            <a:r>
              <a:rPr lang="zh-CN" altLang="en-US" sz="2800" dirty="0">
                <a:latin typeface="Arial" charset="0"/>
              </a:rPr>
              <a:t>路径运动 一周时</a:t>
            </a:r>
            <a:r>
              <a:rPr lang="en-US" altLang="zh-CN" sz="2800" dirty="0">
                <a:latin typeface="Arial" charset="0"/>
              </a:rPr>
              <a:t>,</a:t>
            </a: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Arial" charset="0"/>
              </a:rPr>
              <a:t>保守力对它所作的功等于零 </a:t>
            </a:r>
            <a:r>
              <a:rPr lang="en-US" altLang="zh-CN" sz="2800" dirty="0">
                <a:solidFill>
                  <a:srgbClr val="000000"/>
                </a:solidFill>
                <a:latin typeface="Arial" charset="0"/>
              </a:rPr>
              <a:t>.</a:t>
            </a:r>
          </a:p>
        </p:txBody>
      </p:sp>
      <p:graphicFrame>
        <p:nvGraphicFramePr>
          <p:cNvPr id="172032" name="Object 0"/>
          <p:cNvGraphicFramePr>
            <a:graphicFrameLocks noChangeAspect="1"/>
          </p:cNvGraphicFramePr>
          <p:nvPr/>
        </p:nvGraphicFramePr>
        <p:xfrm>
          <a:off x="1981200" y="3352800"/>
          <a:ext cx="20574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50" name="Equation" r:id="rId11" imgW="698400" imgH="291960" progId="Equation.3">
                  <p:embed/>
                </p:oleObj>
              </mc:Choice>
              <mc:Fallback>
                <p:oleObj name="Equation" r:id="rId11" imgW="698400" imgH="29196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352800"/>
                        <a:ext cx="205740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3" name="Object 1"/>
          <p:cNvGraphicFramePr>
            <a:graphicFrameLocks noChangeAspect="1"/>
          </p:cNvGraphicFramePr>
          <p:nvPr/>
        </p:nvGraphicFramePr>
        <p:xfrm>
          <a:off x="228600" y="2286000"/>
          <a:ext cx="5715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51" name="Equation" r:id="rId13" imgW="1930320" imgH="291960" progId="Equation.3">
                  <p:embed/>
                </p:oleObj>
              </mc:Choice>
              <mc:Fallback>
                <p:oleObj name="Equation" r:id="rId13" imgW="1930320" imgH="291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0"/>
                        <a:ext cx="57150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2286000" y="2209800"/>
            <a:ext cx="3257550" cy="828675"/>
            <a:chOff x="1440" y="1392"/>
            <a:chExt cx="2052" cy="522"/>
          </a:xfrm>
        </p:grpSpPr>
        <p:sp>
          <p:nvSpPr>
            <p:cNvPr id="167954" name="Line 18"/>
            <p:cNvSpPr>
              <a:spLocks noChangeShapeType="1"/>
            </p:cNvSpPr>
            <p:nvPr/>
          </p:nvSpPr>
          <p:spPr bwMode="auto">
            <a:xfrm>
              <a:off x="1440" y="1439"/>
              <a:ext cx="660" cy="4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7955" name="Line 19"/>
            <p:cNvSpPr>
              <a:spLocks noChangeShapeType="1"/>
            </p:cNvSpPr>
            <p:nvPr/>
          </p:nvSpPr>
          <p:spPr bwMode="auto">
            <a:xfrm>
              <a:off x="2832" y="1392"/>
              <a:ext cx="660" cy="4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6248400" y="3505200"/>
            <a:ext cx="2438400" cy="1676400"/>
            <a:chOff x="4080" y="2016"/>
            <a:chExt cx="1536" cy="1056"/>
          </a:xfrm>
        </p:grpSpPr>
        <p:sp>
          <p:nvSpPr>
            <p:cNvPr id="167958" name="Freeform 22"/>
            <p:cNvSpPr>
              <a:spLocks/>
            </p:cNvSpPr>
            <p:nvPr/>
          </p:nvSpPr>
          <p:spPr bwMode="auto">
            <a:xfrm>
              <a:off x="4271" y="2196"/>
              <a:ext cx="1191" cy="681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432" y="8"/>
                </a:cxn>
                <a:cxn ang="0">
                  <a:pos x="768" y="104"/>
                </a:cxn>
                <a:cxn ang="0">
                  <a:pos x="1104" y="440"/>
                </a:cxn>
                <a:cxn ang="0">
                  <a:pos x="1344" y="968"/>
                </a:cxn>
              </a:cxnLst>
              <a:rect l="0" t="0" r="r" b="b"/>
              <a:pathLst>
                <a:path w="1344" h="968">
                  <a:moveTo>
                    <a:pt x="0" y="56"/>
                  </a:moveTo>
                  <a:cubicBezTo>
                    <a:pt x="152" y="28"/>
                    <a:pt x="304" y="0"/>
                    <a:pt x="432" y="8"/>
                  </a:cubicBezTo>
                  <a:cubicBezTo>
                    <a:pt x="560" y="16"/>
                    <a:pt x="656" y="32"/>
                    <a:pt x="768" y="104"/>
                  </a:cubicBezTo>
                  <a:cubicBezTo>
                    <a:pt x="880" y="176"/>
                    <a:pt x="1008" y="296"/>
                    <a:pt x="1104" y="440"/>
                  </a:cubicBezTo>
                  <a:cubicBezTo>
                    <a:pt x="1200" y="584"/>
                    <a:pt x="1304" y="880"/>
                    <a:pt x="1344" y="968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7959" name="Freeform 23"/>
            <p:cNvSpPr>
              <a:spLocks/>
            </p:cNvSpPr>
            <p:nvPr/>
          </p:nvSpPr>
          <p:spPr bwMode="auto">
            <a:xfrm>
              <a:off x="4271" y="2235"/>
              <a:ext cx="1191" cy="6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36" y="144"/>
                </a:cxn>
                <a:cxn ang="0">
                  <a:pos x="528" y="384"/>
                </a:cxn>
                <a:cxn ang="0">
                  <a:pos x="576" y="624"/>
                </a:cxn>
                <a:cxn ang="0">
                  <a:pos x="768" y="816"/>
                </a:cxn>
                <a:cxn ang="0">
                  <a:pos x="1344" y="912"/>
                </a:cxn>
              </a:cxnLst>
              <a:rect l="0" t="0" r="r" b="b"/>
              <a:pathLst>
                <a:path w="1344" h="912">
                  <a:moveTo>
                    <a:pt x="0" y="0"/>
                  </a:moveTo>
                  <a:cubicBezTo>
                    <a:pt x="124" y="40"/>
                    <a:pt x="248" y="80"/>
                    <a:pt x="336" y="144"/>
                  </a:cubicBezTo>
                  <a:cubicBezTo>
                    <a:pt x="424" y="208"/>
                    <a:pt x="488" y="304"/>
                    <a:pt x="528" y="384"/>
                  </a:cubicBezTo>
                  <a:cubicBezTo>
                    <a:pt x="568" y="464"/>
                    <a:pt x="536" y="552"/>
                    <a:pt x="576" y="624"/>
                  </a:cubicBezTo>
                  <a:cubicBezTo>
                    <a:pt x="616" y="696"/>
                    <a:pt x="640" y="768"/>
                    <a:pt x="768" y="816"/>
                  </a:cubicBezTo>
                  <a:cubicBezTo>
                    <a:pt x="896" y="864"/>
                    <a:pt x="1248" y="896"/>
                    <a:pt x="1344" y="912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2035" name="Object 3"/>
            <p:cNvGraphicFramePr>
              <a:graphicFrameLocks noChangeAspect="1"/>
            </p:cNvGraphicFramePr>
            <p:nvPr/>
          </p:nvGraphicFramePr>
          <p:xfrm>
            <a:off x="4080" y="2016"/>
            <a:ext cx="2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5152" name="公式" r:id="rId15" imgW="215640" imgH="228600" progId="Equation.3">
                    <p:embed/>
                  </p:oleObj>
                </mc:Choice>
                <mc:Fallback>
                  <p:oleObj name="公式" r:id="rId15" imgW="21564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016"/>
                          <a:ext cx="202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6" name="Object 4"/>
            <p:cNvGraphicFramePr>
              <a:graphicFrameLocks noChangeAspect="1"/>
            </p:cNvGraphicFramePr>
            <p:nvPr/>
          </p:nvGraphicFramePr>
          <p:xfrm>
            <a:off x="5414" y="2870"/>
            <a:ext cx="2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5153" name="公式" r:id="rId16" imgW="215640" imgH="228600" progId="Equation.3">
                    <p:embed/>
                  </p:oleObj>
                </mc:Choice>
                <mc:Fallback>
                  <p:oleObj name="公式" r:id="rId16" imgW="21564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4" y="2870"/>
                          <a:ext cx="202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7" name="Object 5"/>
            <p:cNvGraphicFramePr>
              <a:graphicFrameLocks noChangeAspect="1"/>
            </p:cNvGraphicFramePr>
            <p:nvPr/>
          </p:nvGraphicFramePr>
          <p:xfrm>
            <a:off x="5176" y="2281"/>
            <a:ext cx="20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5154" name="公式" r:id="rId17" imgW="215640" imgH="241200" progId="Equation.3">
                    <p:embed/>
                  </p:oleObj>
                </mc:Choice>
                <mc:Fallback>
                  <p:oleObj name="公式" r:id="rId17" imgW="215640" imgH="241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6" y="2281"/>
                          <a:ext cx="202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8" name="Object 6"/>
            <p:cNvGraphicFramePr>
              <a:graphicFrameLocks noChangeAspect="1"/>
            </p:cNvGraphicFramePr>
            <p:nvPr/>
          </p:nvGraphicFramePr>
          <p:xfrm>
            <a:off x="4545" y="2560"/>
            <a:ext cx="225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5155" name="公式" r:id="rId18" imgW="241200" imgH="228600" progId="Equation.3">
                    <p:embed/>
                  </p:oleObj>
                </mc:Choice>
                <mc:Fallback>
                  <p:oleObj name="公式" r:id="rId18" imgW="2412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5" y="2560"/>
                          <a:ext cx="225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64" name="Line 28"/>
            <p:cNvSpPr>
              <a:spLocks noChangeShapeType="1"/>
            </p:cNvSpPr>
            <p:nvPr/>
          </p:nvSpPr>
          <p:spPr bwMode="auto">
            <a:xfrm rot="-1468900">
              <a:off x="4945" y="2259"/>
              <a:ext cx="47" cy="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7965" name="Line 29"/>
            <p:cNvSpPr>
              <a:spLocks noChangeShapeType="1"/>
            </p:cNvSpPr>
            <p:nvPr/>
          </p:nvSpPr>
          <p:spPr bwMode="auto">
            <a:xfrm rot="-1786681">
              <a:off x="4951" y="2747"/>
              <a:ext cx="14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sm" len="lg"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172034" name="Object 2"/>
          <p:cNvGraphicFramePr>
            <a:graphicFrameLocks noChangeAspect="1"/>
          </p:cNvGraphicFramePr>
          <p:nvPr/>
        </p:nvGraphicFramePr>
        <p:xfrm>
          <a:off x="1219200" y="963613"/>
          <a:ext cx="41132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56" name="Equation" r:id="rId19" imgW="1358640" imgH="291960" progId="Equation.3">
                  <p:embed/>
                </p:oleObj>
              </mc:Choice>
              <mc:Fallback>
                <p:oleObj name="Equation" r:id="rId19" imgW="1358640" imgH="291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963613"/>
                        <a:ext cx="4113213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3"/>
          <p:cNvSpPr txBox="1">
            <a:spLocks noChangeArrowheads="1"/>
          </p:cNvSpPr>
          <p:nvPr/>
        </p:nvSpPr>
        <p:spPr bwMode="auto">
          <a:xfrm>
            <a:off x="304800" y="242887"/>
            <a:ext cx="4114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sz="2800" dirty="0">
                <a:latin typeface="Arial" charset="0"/>
              </a:rPr>
              <a:t>  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对于保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守力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charset="0"/>
              </a:rPr>
              <a:t>:</a:t>
            </a:r>
            <a:endParaRPr lang="zh-CN" altLang="en-US" sz="28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9" grpId="0" animBg="1" autoUpdateAnimBg="0"/>
      <p:bldP spid="167950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395288" y="228600"/>
            <a:ext cx="3527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C0000"/>
                </a:solidFill>
                <a:latin typeface="+mj-lt"/>
              </a:rPr>
              <a:t>5.  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势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能    势能曲线</a:t>
            </a: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457200" y="762000"/>
            <a:ext cx="868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800" dirty="0">
                <a:latin typeface="Arial" charset="0"/>
              </a:rPr>
              <a:t>  </a:t>
            </a:r>
            <a:r>
              <a:rPr lang="zh-CN" altLang="en-US" sz="2800" dirty="0">
                <a:latin typeface="Arial" charset="0"/>
              </a:rPr>
              <a:t>势能    与物体间相互作用及相对位置有关的能量 </a:t>
            </a:r>
            <a:r>
              <a:rPr lang="en-US" altLang="zh-CN" sz="2800" dirty="0">
                <a:latin typeface="Arial" charset="0"/>
              </a:rPr>
              <a:t>.       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57200" y="1296007"/>
            <a:ext cx="7885197" cy="670721"/>
            <a:chOff x="240" y="3697"/>
            <a:chExt cx="4815" cy="417"/>
          </a:xfrm>
        </p:grpSpPr>
        <p:graphicFrame>
          <p:nvGraphicFramePr>
            <p:cNvPr id="173062" name="Object 6"/>
            <p:cNvGraphicFramePr>
              <a:graphicFrameLocks noChangeAspect="1"/>
            </p:cNvGraphicFramePr>
            <p:nvPr/>
          </p:nvGraphicFramePr>
          <p:xfrm>
            <a:off x="2427" y="3697"/>
            <a:ext cx="2628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41" name="Equation" r:id="rId4" imgW="1346040" imgH="228600" progId="Equation.3">
                    <p:embed/>
                  </p:oleObj>
                </mc:Choice>
                <mc:Fallback>
                  <p:oleObj name="Equation" r:id="rId4" imgW="134604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3697"/>
                          <a:ext cx="2628" cy="41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2" name="Text Box 12"/>
            <p:cNvSpPr txBox="1">
              <a:spLocks noChangeArrowheads="1"/>
            </p:cNvSpPr>
            <p:nvPr/>
          </p:nvSpPr>
          <p:spPr bwMode="auto">
            <a:xfrm>
              <a:off x="240" y="3744"/>
              <a:ext cx="2280" cy="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2800" dirty="0">
                  <a:solidFill>
                    <a:srgbClr val="000000"/>
                  </a:solidFill>
                </a:rPr>
                <a:t>  </a:t>
              </a:r>
              <a:r>
                <a:rPr lang="zh-CN" altLang="en-US" sz="2800" dirty="0" smtClean="0">
                  <a:solidFill>
                    <a:srgbClr val="000000"/>
                  </a:solidFill>
                </a:rPr>
                <a:t>和保守力功的关系</a:t>
              </a:r>
              <a:endParaRPr lang="zh-CN" altLang="en-US" sz="28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4800600" y="2057400"/>
            <a:ext cx="3886200" cy="4038600"/>
            <a:chOff x="192" y="1104"/>
            <a:chExt cx="2448" cy="2544"/>
          </a:xfrm>
        </p:grpSpPr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240" y="2739"/>
              <a:ext cx="2160" cy="909"/>
              <a:chOff x="288" y="2739"/>
              <a:chExt cx="2160" cy="909"/>
            </a:xfrm>
          </p:grpSpPr>
          <p:sp>
            <p:nvSpPr>
              <p:cNvPr id="168965" name="Text Box 5"/>
              <p:cNvSpPr txBox="1">
                <a:spLocks noChangeArrowheads="1"/>
              </p:cNvSpPr>
              <p:nvPr/>
            </p:nvSpPr>
            <p:spPr bwMode="auto">
              <a:xfrm>
                <a:off x="288" y="2739"/>
                <a:ext cx="17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CC0000"/>
                    </a:solidFill>
                    <a:latin typeface="Arial" charset="0"/>
                  </a:rPr>
                  <a:t>弹性</a:t>
                </a:r>
                <a:r>
                  <a:rPr lang="zh-CN" altLang="en-US" sz="2800">
                    <a:solidFill>
                      <a:srgbClr val="000000"/>
                    </a:solidFill>
                    <a:latin typeface="Arial" charset="0"/>
                  </a:rPr>
                  <a:t>势能</a:t>
                </a:r>
              </a:p>
            </p:txBody>
          </p:sp>
          <p:graphicFrame>
            <p:nvGraphicFramePr>
              <p:cNvPr id="173061" name="Object 5"/>
              <p:cNvGraphicFramePr>
                <a:graphicFrameLocks noChangeAspect="1"/>
              </p:cNvGraphicFramePr>
              <p:nvPr/>
            </p:nvGraphicFramePr>
            <p:xfrm>
              <a:off x="1056" y="2933"/>
              <a:ext cx="1392" cy="7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142" name="Equation" r:id="rId6" imgW="672840" imgH="393480" progId="Equation.3">
                      <p:embed/>
                    </p:oleObj>
                  </mc:Choice>
                  <mc:Fallback>
                    <p:oleObj name="Equation" r:id="rId6" imgW="672840" imgH="39348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2933"/>
                            <a:ext cx="1392" cy="7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240" y="1899"/>
              <a:ext cx="2304" cy="928"/>
              <a:chOff x="240" y="1899"/>
              <a:chExt cx="2304" cy="928"/>
            </a:xfrm>
          </p:grpSpPr>
          <p:sp>
            <p:nvSpPr>
              <p:cNvPr id="168968" name="Rectangle 8"/>
              <p:cNvSpPr>
                <a:spLocks noChangeArrowheads="1"/>
              </p:cNvSpPr>
              <p:nvPr/>
            </p:nvSpPr>
            <p:spPr bwMode="auto">
              <a:xfrm>
                <a:off x="240" y="1899"/>
                <a:ext cx="158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zh-CN" altLang="en-US" sz="2800">
                    <a:solidFill>
                      <a:srgbClr val="CC0000"/>
                    </a:solidFill>
                    <a:latin typeface="Arial" charset="0"/>
                  </a:rPr>
                  <a:t>引力</a:t>
                </a:r>
                <a:r>
                  <a:rPr lang="zh-CN" altLang="en-US" sz="2800">
                    <a:solidFill>
                      <a:srgbClr val="000000"/>
                    </a:solidFill>
                    <a:latin typeface="Arial" charset="0"/>
                  </a:rPr>
                  <a:t>势能</a:t>
                </a:r>
              </a:p>
            </p:txBody>
          </p:sp>
          <p:graphicFrame>
            <p:nvGraphicFramePr>
              <p:cNvPr id="173060" name="Object 4"/>
              <p:cNvGraphicFramePr>
                <a:graphicFrameLocks noChangeAspect="1"/>
              </p:cNvGraphicFramePr>
              <p:nvPr/>
            </p:nvGraphicFramePr>
            <p:xfrm>
              <a:off x="1008" y="2160"/>
              <a:ext cx="1536" cy="6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143" name="Equation" r:id="rId8" imgW="1676160" imgH="723600" progId="Equation.3">
                      <p:embed/>
                    </p:oleObj>
                  </mc:Choice>
                  <mc:Fallback>
                    <p:oleObj name="Equation" r:id="rId8" imgW="1676160" imgH="7236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2160"/>
                            <a:ext cx="1536" cy="6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8981" name="Rectangle 21"/>
            <p:cNvSpPr>
              <a:spLocks noChangeArrowheads="1"/>
            </p:cNvSpPr>
            <p:nvPr/>
          </p:nvSpPr>
          <p:spPr bwMode="auto">
            <a:xfrm>
              <a:off x="240" y="1104"/>
              <a:ext cx="13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rgbClr val="CC0000"/>
                  </a:solidFill>
                  <a:latin typeface="Arial" charset="0"/>
                </a:rPr>
                <a:t>重力</a:t>
              </a:r>
              <a:r>
                <a:rPr lang="zh-CN" altLang="en-US" sz="2800">
                  <a:solidFill>
                    <a:srgbClr val="000000"/>
                  </a:solidFill>
                  <a:latin typeface="Arial" charset="0"/>
                </a:rPr>
                <a:t>势能</a:t>
              </a:r>
            </a:p>
          </p:txBody>
        </p:sp>
        <p:graphicFrame>
          <p:nvGraphicFramePr>
            <p:cNvPr id="173059" name="Object 3"/>
            <p:cNvGraphicFramePr>
              <a:graphicFrameLocks noChangeAspect="1"/>
            </p:cNvGraphicFramePr>
            <p:nvPr/>
          </p:nvGraphicFramePr>
          <p:xfrm>
            <a:off x="1008" y="1412"/>
            <a:ext cx="139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44" name="Equation" r:id="rId10" imgW="583920" imgH="228600" progId="Equation.3">
                    <p:embed/>
                  </p:oleObj>
                </mc:Choice>
                <mc:Fallback>
                  <p:oleObj name="Equation" r:id="rId10" imgW="58392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412"/>
                          <a:ext cx="1392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83" name="Rectangle 23"/>
            <p:cNvSpPr>
              <a:spLocks noChangeArrowheads="1"/>
            </p:cNvSpPr>
            <p:nvPr/>
          </p:nvSpPr>
          <p:spPr bwMode="auto">
            <a:xfrm>
              <a:off x="192" y="1104"/>
              <a:ext cx="2448" cy="2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228600" y="2057400"/>
            <a:ext cx="4419600" cy="4038600"/>
            <a:chOff x="144" y="1056"/>
            <a:chExt cx="2784" cy="2544"/>
          </a:xfrm>
        </p:grpSpPr>
        <p:sp>
          <p:nvSpPr>
            <p:cNvPr id="168975" name="Rectangle 15"/>
            <p:cNvSpPr>
              <a:spLocks noChangeArrowheads="1"/>
            </p:cNvSpPr>
            <p:nvPr/>
          </p:nvSpPr>
          <p:spPr bwMode="auto">
            <a:xfrm>
              <a:off x="198" y="2691"/>
              <a:ext cx="119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弹力</a:t>
              </a:r>
              <a:r>
                <a:rPr lang="zh-CN" altLang="en-US" sz="2800"/>
                <a:t>功</a:t>
              </a:r>
            </a:p>
          </p:txBody>
        </p:sp>
        <p:sp>
          <p:nvSpPr>
            <p:cNvPr id="168978" name="Rectangle 18"/>
            <p:cNvSpPr>
              <a:spLocks noChangeArrowheads="1"/>
            </p:cNvSpPr>
            <p:nvPr/>
          </p:nvSpPr>
          <p:spPr bwMode="auto">
            <a:xfrm>
              <a:off x="192" y="1728"/>
              <a:ext cx="12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引力</a:t>
              </a:r>
              <a:r>
                <a:rPr lang="zh-CN" altLang="en-US" sz="2800"/>
                <a:t>功</a:t>
              </a:r>
            </a:p>
          </p:txBody>
        </p:sp>
        <p:sp>
          <p:nvSpPr>
            <p:cNvPr id="168987" name="Text Box 27"/>
            <p:cNvSpPr txBox="1">
              <a:spLocks noChangeArrowheads="1"/>
            </p:cNvSpPr>
            <p:nvPr/>
          </p:nvSpPr>
          <p:spPr bwMode="auto">
            <a:xfrm>
              <a:off x="192" y="1056"/>
              <a:ext cx="13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重力</a:t>
              </a:r>
              <a:r>
                <a:rPr lang="zh-CN" altLang="en-US" sz="2800"/>
                <a:t>功</a:t>
              </a:r>
            </a:p>
          </p:txBody>
        </p:sp>
        <p:sp>
          <p:nvSpPr>
            <p:cNvPr id="168988" name="Rectangle 28"/>
            <p:cNvSpPr>
              <a:spLocks noChangeArrowheads="1"/>
            </p:cNvSpPr>
            <p:nvPr/>
          </p:nvSpPr>
          <p:spPr bwMode="auto">
            <a:xfrm>
              <a:off x="144" y="1056"/>
              <a:ext cx="2784" cy="2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686089" name="Object 25"/>
          <p:cNvGraphicFramePr>
            <a:graphicFrameLocks noChangeAspect="1"/>
          </p:cNvGraphicFramePr>
          <p:nvPr/>
        </p:nvGraphicFramePr>
        <p:xfrm>
          <a:off x="533401" y="3578860"/>
          <a:ext cx="4190999" cy="1145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5" name="Equation" r:id="rId12" imgW="1587240" imgH="406080" progId="Equation.3">
                  <p:embed/>
                </p:oleObj>
              </mc:Choice>
              <mc:Fallback>
                <p:oleObj name="Equation" r:id="rId12" imgW="1587240" imgH="4060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1" y="3578860"/>
                        <a:ext cx="4190999" cy="11455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90" name="Object 4"/>
          <p:cNvGraphicFramePr>
            <a:graphicFrameLocks noChangeAspect="1"/>
          </p:cNvGraphicFramePr>
          <p:nvPr/>
        </p:nvGraphicFramePr>
        <p:xfrm>
          <a:off x="609600" y="2552700"/>
          <a:ext cx="3657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6" name="Equation" r:id="rId14" imgW="1066680" imgH="203040" progId="Equation.3">
                  <p:embed/>
                </p:oleObj>
              </mc:Choice>
              <mc:Fallback>
                <p:oleObj name="Equation" r:id="rId14" imgW="106668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52700"/>
                        <a:ext cx="36576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91" name="Object 5"/>
          <p:cNvGraphicFramePr>
            <a:graphicFrameLocks noChangeAspect="1"/>
          </p:cNvGraphicFramePr>
          <p:nvPr/>
        </p:nvGraphicFramePr>
        <p:xfrm>
          <a:off x="534987" y="4937125"/>
          <a:ext cx="3427413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7" name="Equation" r:id="rId16" imgW="1079280" imgH="368280" progId="Equation.3">
                  <p:embed/>
                </p:oleObj>
              </mc:Choice>
              <mc:Fallback>
                <p:oleObj name="Equation" r:id="rId16" imgW="107928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" y="4937125"/>
                        <a:ext cx="3427413" cy="115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8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68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304800" y="2528888"/>
            <a:ext cx="883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800">
                <a:latin typeface="Arial" charset="0"/>
              </a:rPr>
              <a:t>  </a:t>
            </a:r>
            <a:r>
              <a:rPr lang="zh-CN" altLang="en-US" sz="2800">
                <a:latin typeface="Arial" charset="0"/>
              </a:rPr>
              <a:t>势能具有</a:t>
            </a:r>
            <a:r>
              <a:rPr lang="zh-CN" altLang="en-US" sz="2800">
                <a:solidFill>
                  <a:srgbClr val="CC0000"/>
                </a:solidFill>
                <a:latin typeface="Arial" charset="0"/>
              </a:rPr>
              <a:t>相对</a:t>
            </a:r>
            <a:r>
              <a:rPr lang="zh-CN" altLang="en-US" sz="2800">
                <a:latin typeface="Arial" charset="0"/>
              </a:rPr>
              <a:t>性，势能</a:t>
            </a:r>
            <a:r>
              <a:rPr lang="zh-CN" altLang="en-US" sz="2800">
                <a:solidFill>
                  <a:srgbClr val="000000"/>
                </a:solidFill>
                <a:latin typeface="Arial" charset="0"/>
              </a:rPr>
              <a:t>大小</a:t>
            </a:r>
            <a:r>
              <a:rPr lang="zh-CN" altLang="en-US" sz="2800">
                <a:latin typeface="Arial" charset="0"/>
              </a:rPr>
              <a:t>与势能</a:t>
            </a:r>
            <a:r>
              <a:rPr lang="zh-CN" altLang="en-US" sz="2800">
                <a:solidFill>
                  <a:srgbClr val="000000"/>
                </a:solidFill>
                <a:latin typeface="Arial" charset="0"/>
              </a:rPr>
              <a:t>零点</a:t>
            </a:r>
            <a:r>
              <a:rPr lang="zh-CN" altLang="en-US" sz="2800">
                <a:latin typeface="Arial" charset="0"/>
              </a:rPr>
              <a:t>的选取</a:t>
            </a:r>
            <a:r>
              <a:rPr lang="zh-CN" altLang="en-US" sz="2800">
                <a:solidFill>
                  <a:srgbClr val="000000"/>
                </a:solidFill>
                <a:latin typeface="Arial" charset="0"/>
              </a:rPr>
              <a:t>有关 </a:t>
            </a:r>
            <a:r>
              <a:rPr lang="en-US" altLang="zh-CN" sz="2800">
                <a:solidFill>
                  <a:srgbClr val="000000"/>
                </a:solidFill>
                <a:latin typeface="Arial" charset="0"/>
              </a:rPr>
              <a:t>.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04800" y="1717675"/>
            <a:ext cx="7118350" cy="644525"/>
            <a:chOff x="192" y="1008"/>
            <a:chExt cx="4484" cy="406"/>
          </a:xfrm>
        </p:grpSpPr>
        <p:graphicFrame>
          <p:nvGraphicFramePr>
            <p:cNvPr id="169988" name="Object 4"/>
            <p:cNvGraphicFramePr>
              <a:graphicFrameLocks noChangeAspect="1"/>
            </p:cNvGraphicFramePr>
            <p:nvPr/>
          </p:nvGraphicFramePr>
          <p:xfrm>
            <a:off x="2784" y="1008"/>
            <a:ext cx="1892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38" name="Equation" r:id="rId4" imgW="1942920" imgH="419040" progId="Equation.3">
                    <p:embed/>
                  </p:oleObj>
                </mc:Choice>
                <mc:Fallback>
                  <p:oleObj name="Equation" r:id="rId4" imgW="1942920" imgH="4190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008"/>
                          <a:ext cx="1892" cy="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9989" name="Rectangle 5"/>
            <p:cNvSpPr>
              <a:spLocks noChangeArrowheads="1"/>
            </p:cNvSpPr>
            <p:nvPr/>
          </p:nvSpPr>
          <p:spPr bwMode="auto">
            <a:xfrm>
              <a:off x="192" y="1008"/>
              <a:ext cx="283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2800">
                  <a:latin typeface="Arial" charset="0"/>
                </a:rPr>
                <a:t>  </a:t>
              </a:r>
              <a:r>
                <a:rPr lang="zh-CN" altLang="en-US" sz="2800">
                  <a:latin typeface="Arial" charset="0"/>
                </a:rPr>
                <a:t>势能是</a:t>
              </a:r>
              <a:r>
                <a:rPr lang="zh-CN" altLang="en-US" sz="2800">
                  <a:solidFill>
                    <a:srgbClr val="CC0000"/>
                  </a:solidFill>
                  <a:latin typeface="Arial" charset="0"/>
                </a:rPr>
                <a:t>状态</a:t>
              </a:r>
              <a:r>
                <a:rPr lang="zh-CN" altLang="en-US" sz="2800">
                  <a:latin typeface="Arial" charset="0"/>
                </a:rPr>
                <a:t>函数</a:t>
              </a:r>
            </a:p>
          </p:txBody>
        </p:sp>
      </p:grpSp>
      <p:sp>
        <p:nvSpPr>
          <p:cNvPr id="169995" name="Rectangle 11"/>
          <p:cNvSpPr>
            <a:spLocks noChangeArrowheads="1"/>
          </p:cNvSpPr>
          <p:nvPr/>
        </p:nvSpPr>
        <p:spPr bwMode="auto">
          <a:xfrm>
            <a:off x="304800" y="3290888"/>
            <a:ext cx="7772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800">
                <a:latin typeface="Arial" charset="0"/>
              </a:rPr>
              <a:t>  </a:t>
            </a:r>
            <a:r>
              <a:rPr lang="zh-CN" altLang="en-US" sz="2800">
                <a:latin typeface="Arial" charset="0"/>
              </a:rPr>
              <a:t>势能是属于</a:t>
            </a:r>
            <a:r>
              <a:rPr lang="zh-CN" altLang="en-US" sz="2800">
                <a:solidFill>
                  <a:srgbClr val="CC0000"/>
                </a:solidFill>
                <a:latin typeface="Arial" charset="0"/>
              </a:rPr>
              <a:t>系统</a:t>
            </a:r>
            <a:r>
              <a:rPr lang="zh-CN" altLang="en-US" sz="2800">
                <a:latin typeface="Arial" charset="0"/>
              </a:rPr>
              <a:t>的 </a:t>
            </a:r>
            <a:r>
              <a:rPr lang="en-US" altLang="zh-CN" sz="2800">
                <a:latin typeface="Arial" charset="0"/>
              </a:rPr>
              <a:t>.</a:t>
            </a:r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228600" y="533400"/>
            <a:ext cx="1752600" cy="838200"/>
            <a:chOff x="624" y="480"/>
            <a:chExt cx="1104" cy="528"/>
          </a:xfrm>
        </p:grpSpPr>
        <p:sp>
          <p:nvSpPr>
            <p:cNvPr id="169997" name="AutoShape 13"/>
            <p:cNvSpPr>
              <a:spLocks noChangeArrowheads="1"/>
            </p:cNvSpPr>
            <p:nvPr/>
          </p:nvSpPr>
          <p:spPr bwMode="auto">
            <a:xfrm>
              <a:off x="624" y="480"/>
              <a:ext cx="1056" cy="528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rgbClr val="009900"/>
              </a:outerShdw>
            </a:effec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9998" name="Text Box 14"/>
            <p:cNvSpPr txBox="1">
              <a:spLocks noChangeArrowheads="1"/>
            </p:cNvSpPr>
            <p:nvPr/>
          </p:nvSpPr>
          <p:spPr bwMode="auto">
            <a:xfrm>
              <a:off x="816" y="528"/>
              <a:ext cx="91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solidFill>
                    <a:srgbClr val="CC0000"/>
                  </a:solidFill>
                </a:rPr>
                <a:t>讨论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04800" y="4062413"/>
            <a:ext cx="7397750" cy="585787"/>
            <a:chOff x="192" y="2352"/>
            <a:chExt cx="4660" cy="369"/>
          </a:xfrm>
        </p:grpSpPr>
        <p:sp>
          <p:nvSpPr>
            <p:cNvPr id="169990" name="Text Box 6"/>
            <p:cNvSpPr txBox="1">
              <a:spLocks noChangeArrowheads="1"/>
            </p:cNvSpPr>
            <p:nvPr/>
          </p:nvSpPr>
          <p:spPr bwMode="auto">
            <a:xfrm>
              <a:off x="192" y="2352"/>
              <a:ext cx="23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2800">
                  <a:latin typeface="Arial" charset="0"/>
                </a:rPr>
                <a:t>  </a:t>
              </a:r>
              <a:r>
                <a:rPr lang="zh-CN" altLang="en-US" sz="2800">
                  <a:latin typeface="Arial" charset="0"/>
                </a:rPr>
                <a:t>势能计算</a:t>
              </a:r>
              <a:endParaRPr lang="zh-CN" altLang="en-US" sz="2800" b="0">
                <a:latin typeface="Arial" charset="0"/>
              </a:endParaRPr>
            </a:p>
          </p:txBody>
        </p:sp>
        <p:graphicFrame>
          <p:nvGraphicFramePr>
            <p:cNvPr id="169999" name="Object 15"/>
            <p:cNvGraphicFramePr>
              <a:graphicFrameLocks noChangeAspect="1"/>
            </p:cNvGraphicFramePr>
            <p:nvPr/>
          </p:nvGraphicFramePr>
          <p:xfrm>
            <a:off x="1968" y="2352"/>
            <a:ext cx="2884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39" name="Equation" r:id="rId6" imgW="3047760" imgH="419040" progId="Equation.3">
                    <p:embed/>
                  </p:oleObj>
                </mc:Choice>
                <mc:Fallback>
                  <p:oleObj name="Equation" r:id="rId6" imgW="3047760" imgH="4190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352"/>
                          <a:ext cx="2884" cy="369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chemeClr val="accent1">
                                <a:gamma/>
                                <a:tint val="0"/>
                                <a:invGamma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0010" name="Object 26"/>
          <p:cNvGraphicFramePr>
            <a:graphicFrameLocks noChangeAspect="1"/>
          </p:cNvGraphicFramePr>
          <p:nvPr/>
        </p:nvGraphicFramePr>
        <p:xfrm>
          <a:off x="2286000" y="5410200"/>
          <a:ext cx="576738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40" name="Equation" r:id="rId8" imgW="1714320" imgH="355320" progId="Equation.3">
                  <p:embed/>
                </p:oleObj>
              </mc:Choice>
              <mc:Fallback>
                <p:oleObj name="Equation" r:id="rId8" imgW="1714320" imgH="35532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10200"/>
                        <a:ext cx="576738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accent1">
                                    <a:gamma/>
                                    <a:tint val="0"/>
                                    <a:invGamma/>
                                  </a:schemeClr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790575" y="4876800"/>
            <a:ext cx="4238625" cy="685800"/>
            <a:chOff x="432" y="3072"/>
            <a:chExt cx="2670" cy="432"/>
          </a:xfrm>
        </p:grpSpPr>
        <p:graphicFrame>
          <p:nvGraphicFramePr>
            <p:cNvPr id="170012" name="Object 28"/>
            <p:cNvGraphicFramePr>
              <a:graphicFrameLocks noChangeAspect="1"/>
            </p:cNvGraphicFramePr>
            <p:nvPr/>
          </p:nvGraphicFramePr>
          <p:xfrm>
            <a:off x="1056" y="3072"/>
            <a:ext cx="204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41" name="Equation" r:id="rId10" imgW="1143000" imgH="241200" progId="Equation.3">
                    <p:embed/>
                  </p:oleObj>
                </mc:Choice>
                <mc:Fallback>
                  <p:oleObj name="Equation" r:id="rId10" imgW="1143000" imgH="241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072"/>
                          <a:ext cx="204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13" name="Text Box 29"/>
            <p:cNvSpPr txBox="1">
              <a:spLocks noChangeArrowheads="1"/>
            </p:cNvSpPr>
            <p:nvPr/>
          </p:nvSpPr>
          <p:spPr bwMode="auto">
            <a:xfrm>
              <a:off x="432" y="3072"/>
              <a:ext cx="11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>
                  <a:solidFill>
                    <a:srgbClr val="CC0000"/>
                  </a:solidFill>
                  <a:latin typeface="Arial" charset="0"/>
                </a:rPr>
                <a:t>若令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9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457200" y="1143000"/>
            <a:ext cx="8153400" cy="3733800"/>
            <a:chOff x="288" y="816"/>
            <a:chExt cx="5136" cy="2352"/>
          </a:xfrm>
        </p:grpSpPr>
        <p:sp>
          <p:nvSpPr>
            <p:cNvPr id="171012" name="Rectangle 4"/>
            <p:cNvSpPr>
              <a:spLocks noChangeArrowheads="1"/>
            </p:cNvSpPr>
            <p:nvPr/>
          </p:nvSpPr>
          <p:spPr bwMode="auto">
            <a:xfrm>
              <a:off x="288" y="816"/>
              <a:ext cx="5136" cy="2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71"/>
            <p:cNvGrpSpPr>
              <a:grpSpLocks/>
            </p:cNvGrpSpPr>
            <p:nvPr/>
          </p:nvGrpSpPr>
          <p:grpSpPr bwMode="auto">
            <a:xfrm>
              <a:off x="336" y="1632"/>
              <a:ext cx="1377" cy="1344"/>
              <a:chOff x="336" y="1632"/>
              <a:chExt cx="1377" cy="1344"/>
            </a:xfrm>
          </p:grpSpPr>
          <p:sp>
            <p:nvSpPr>
              <p:cNvPr id="171014" name="Line 6"/>
              <p:cNvSpPr>
                <a:spLocks noChangeShapeType="1"/>
              </p:cNvSpPr>
              <p:nvPr/>
            </p:nvSpPr>
            <p:spPr bwMode="auto">
              <a:xfrm>
                <a:off x="710" y="2868"/>
                <a:ext cx="98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1015" name="Line 7"/>
              <p:cNvSpPr>
                <a:spLocks noChangeShapeType="1"/>
              </p:cNvSpPr>
              <p:nvPr/>
            </p:nvSpPr>
            <p:spPr bwMode="auto">
              <a:xfrm flipV="1">
                <a:off x="704" y="1737"/>
                <a:ext cx="0" cy="11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1016" name="Line 8"/>
              <p:cNvSpPr>
                <a:spLocks noChangeShapeType="1"/>
              </p:cNvSpPr>
              <p:nvPr/>
            </p:nvSpPr>
            <p:spPr bwMode="auto">
              <a:xfrm flipV="1">
                <a:off x="704" y="2018"/>
                <a:ext cx="817" cy="84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1017" name="Object 9"/>
              <p:cNvGraphicFramePr>
                <a:graphicFrameLocks noChangeAspect="1"/>
              </p:cNvGraphicFramePr>
              <p:nvPr/>
            </p:nvGraphicFramePr>
            <p:xfrm>
              <a:off x="336" y="1632"/>
              <a:ext cx="384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274" name="Equation" r:id="rId3" imgW="190440" imgH="241200" progId="Equation.3">
                      <p:embed/>
                    </p:oleObj>
                  </mc:Choice>
                  <mc:Fallback>
                    <p:oleObj name="Equation" r:id="rId3" imgW="190440" imgH="2412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1632"/>
                            <a:ext cx="384" cy="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8" name="Object 10"/>
              <p:cNvGraphicFramePr>
                <a:graphicFrameLocks noChangeAspect="1"/>
              </p:cNvGraphicFramePr>
              <p:nvPr/>
            </p:nvGraphicFramePr>
            <p:xfrm>
              <a:off x="1512" y="2549"/>
              <a:ext cx="201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275" name="Equation" r:id="rId5" imgW="139680" imgH="164880" progId="Equation.3">
                      <p:embed/>
                    </p:oleObj>
                  </mc:Choice>
                  <mc:Fallback>
                    <p:oleObj name="Equation" r:id="rId5" imgW="139680" imgH="16488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12" y="2549"/>
                            <a:ext cx="201" cy="33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9" name="Object 11"/>
              <p:cNvGraphicFramePr>
                <a:graphicFrameLocks noChangeAspect="1"/>
              </p:cNvGraphicFramePr>
              <p:nvPr/>
            </p:nvGraphicFramePr>
            <p:xfrm>
              <a:off x="480" y="2782"/>
              <a:ext cx="192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276" name="公式" r:id="rId7" imgW="228600" imgH="241200" progId="Equation.3">
                      <p:embed/>
                    </p:oleObj>
                  </mc:Choice>
                  <mc:Fallback>
                    <p:oleObj name="公式" r:id="rId7" imgW="228600" imgH="2412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2782"/>
                            <a:ext cx="192" cy="19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1060" name="Object 52"/>
            <p:cNvGraphicFramePr>
              <a:graphicFrameLocks noChangeAspect="1"/>
            </p:cNvGraphicFramePr>
            <p:nvPr/>
          </p:nvGraphicFramePr>
          <p:xfrm>
            <a:off x="371" y="912"/>
            <a:ext cx="127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277" name="Equation" r:id="rId9" imgW="622080" imgH="241200" progId="Equation.3">
                    <p:embed/>
                  </p:oleObj>
                </mc:Choice>
                <mc:Fallback>
                  <p:oleObj name="Equation" r:id="rId9" imgW="622080" imgH="24120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" y="912"/>
                          <a:ext cx="1274" cy="4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3276600" y="5105400"/>
            <a:ext cx="2895600" cy="1252538"/>
            <a:chOff x="2112" y="3264"/>
            <a:chExt cx="1824" cy="789"/>
          </a:xfrm>
        </p:grpSpPr>
        <p:sp>
          <p:nvSpPr>
            <p:cNvPr id="171036" name="Rectangle 28"/>
            <p:cNvSpPr>
              <a:spLocks noChangeArrowheads="1"/>
            </p:cNvSpPr>
            <p:nvPr/>
          </p:nvSpPr>
          <p:spPr bwMode="auto">
            <a:xfrm>
              <a:off x="2160" y="3264"/>
              <a:ext cx="17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弹性</a:t>
              </a:r>
              <a:r>
                <a:rPr lang="zh-CN" altLang="en-US" sz="2800" dirty="0">
                  <a:latin typeface="Arial" charset="0"/>
                </a:rPr>
                <a:t>势能曲线</a:t>
              </a:r>
            </a:p>
          </p:txBody>
        </p:sp>
        <p:graphicFrame>
          <p:nvGraphicFramePr>
            <p:cNvPr id="171037" name="Object 29"/>
            <p:cNvGraphicFramePr>
              <a:graphicFrameLocks noChangeAspect="1"/>
            </p:cNvGraphicFramePr>
            <p:nvPr/>
          </p:nvGraphicFramePr>
          <p:xfrm>
            <a:off x="2112" y="3625"/>
            <a:ext cx="1584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278" name="Equation" r:id="rId11" imgW="888840" imgH="241200" progId="Equation.3">
                    <p:embed/>
                  </p:oleObj>
                </mc:Choice>
                <mc:Fallback>
                  <p:oleObj name="Equation" r:id="rId11" imgW="888840" imgH="2412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625"/>
                          <a:ext cx="1584" cy="4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381000" y="5105400"/>
            <a:ext cx="3124200" cy="1260475"/>
            <a:chOff x="240" y="3334"/>
            <a:chExt cx="1968" cy="794"/>
          </a:xfrm>
        </p:grpSpPr>
        <p:sp>
          <p:nvSpPr>
            <p:cNvPr id="171039" name="Rectangle 31"/>
            <p:cNvSpPr>
              <a:spLocks noChangeArrowheads="1"/>
            </p:cNvSpPr>
            <p:nvPr/>
          </p:nvSpPr>
          <p:spPr bwMode="auto">
            <a:xfrm>
              <a:off x="240" y="3334"/>
              <a:ext cx="19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重力</a:t>
              </a:r>
              <a:r>
                <a:rPr lang="zh-CN" altLang="en-US" sz="2800" dirty="0">
                  <a:latin typeface="Arial" charset="0"/>
                </a:rPr>
                <a:t>势能曲线</a:t>
              </a:r>
            </a:p>
          </p:txBody>
        </p:sp>
        <p:graphicFrame>
          <p:nvGraphicFramePr>
            <p:cNvPr id="171040" name="Object 32"/>
            <p:cNvGraphicFramePr>
              <a:graphicFrameLocks noChangeAspect="1"/>
            </p:cNvGraphicFramePr>
            <p:nvPr/>
          </p:nvGraphicFramePr>
          <p:xfrm>
            <a:off x="293" y="3709"/>
            <a:ext cx="150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279" name="Equation" r:id="rId13" imgW="901440" imgH="241200" progId="Equation.3">
                    <p:embed/>
                  </p:oleObj>
                </mc:Choice>
                <mc:Fallback>
                  <p:oleObj name="Equation" r:id="rId13" imgW="901440" imgH="241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3709"/>
                          <a:ext cx="1504" cy="4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6248400" y="5105400"/>
            <a:ext cx="2819400" cy="1143000"/>
            <a:chOff x="3984" y="3264"/>
            <a:chExt cx="1776" cy="720"/>
          </a:xfrm>
        </p:grpSpPr>
        <p:sp>
          <p:nvSpPr>
            <p:cNvPr id="171042" name="Rectangle 34"/>
            <p:cNvSpPr>
              <a:spLocks noChangeArrowheads="1"/>
            </p:cNvSpPr>
            <p:nvPr/>
          </p:nvSpPr>
          <p:spPr bwMode="auto">
            <a:xfrm>
              <a:off x="3984" y="3264"/>
              <a:ext cx="17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 dirty="0">
                  <a:solidFill>
                    <a:srgbClr val="CC0000"/>
                  </a:solidFill>
                  <a:latin typeface="Arial" charset="0"/>
                </a:rPr>
                <a:t>引力</a:t>
              </a:r>
              <a:r>
                <a:rPr lang="zh-CN" altLang="en-US" sz="2800" dirty="0">
                  <a:latin typeface="Arial" charset="0"/>
                </a:rPr>
                <a:t>势能曲线</a:t>
              </a:r>
            </a:p>
          </p:txBody>
        </p:sp>
        <p:graphicFrame>
          <p:nvGraphicFramePr>
            <p:cNvPr id="171043" name="Object 35"/>
            <p:cNvGraphicFramePr>
              <a:graphicFrameLocks noChangeAspect="1"/>
            </p:cNvGraphicFramePr>
            <p:nvPr/>
          </p:nvGraphicFramePr>
          <p:xfrm>
            <a:off x="4032" y="3648"/>
            <a:ext cx="14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280" name="Equation" r:id="rId15" imgW="1904760" imgH="419040" progId="Equation.3">
                    <p:embed/>
                  </p:oleObj>
                </mc:Choice>
                <mc:Fallback>
                  <p:oleObj name="Equation" r:id="rId15" imgW="1904760" imgH="41904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648"/>
                          <a:ext cx="144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3429000" y="1066800"/>
            <a:ext cx="2209800" cy="3643313"/>
            <a:chOff x="2160" y="816"/>
            <a:chExt cx="1392" cy="2295"/>
          </a:xfrm>
        </p:grpSpPr>
        <p:grpSp>
          <p:nvGrpSpPr>
            <p:cNvPr id="8" name="Group 47"/>
            <p:cNvGrpSpPr>
              <a:grpSpLocks/>
            </p:cNvGrpSpPr>
            <p:nvPr/>
          </p:nvGrpSpPr>
          <p:grpSpPr bwMode="auto">
            <a:xfrm>
              <a:off x="2160" y="1632"/>
              <a:ext cx="1392" cy="1479"/>
              <a:chOff x="2256" y="1296"/>
              <a:chExt cx="1392" cy="1479"/>
            </a:xfrm>
          </p:grpSpPr>
          <p:grpSp>
            <p:nvGrpSpPr>
              <p:cNvPr id="9" name="Group 44"/>
              <p:cNvGrpSpPr>
                <a:grpSpLocks/>
              </p:cNvGrpSpPr>
              <p:nvPr/>
            </p:nvGrpSpPr>
            <p:grpSpPr bwMode="auto">
              <a:xfrm>
                <a:off x="2256" y="1401"/>
                <a:ext cx="1392" cy="1374"/>
                <a:chOff x="2256" y="1401"/>
                <a:chExt cx="1392" cy="1374"/>
              </a:xfrm>
            </p:grpSpPr>
            <p:sp>
              <p:nvSpPr>
                <p:cNvPr id="171021" name="Line 13"/>
                <p:cNvSpPr>
                  <a:spLocks noChangeShapeType="1"/>
                </p:cNvSpPr>
                <p:nvPr/>
              </p:nvSpPr>
              <p:spPr bwMode="auto">
                <a:xfrm>
                  <a:off x="2256" y="2544"/>
                  <a:ext cx="133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71022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945" y="1401"/>
                  <a:ext cx="0" cy="11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171024" name="Object 16"/>
                <p:cNvGraphicFramePr>
                  <a:graphicFrameLocks noChangeAspect="1"/>
                </p:cNvGraphicFramePr>
                <p:nvPr/>
              </p:nvGraphicFramePr>
              <p:xfrm>
                <a:off x="3441" y="2296"/>
                <a:ext cx="207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89281" name="公式" r:id="rId17" imgW="177480" imgH="190440" progId="Equation.3">
                        <p:embed/>
                      </p:oleObj>
                    </mc:Choice>
                    <mc:Fallback>
                      <p:oleObj name="公式" r:id="rId17" imgW="177480" imgH="190440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41" y="2296"/>
                              <a:ext cx="207" cy="2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1025" name="Freeform 17"/>
                <p:cNvSpPr>
                  <a:spLocks/>
                </p:cNvSpPr>
                <p:nvPr/>
              </p:nvSpPr>
              <p:spPr bwMode="auto">
                <a:xfrm>
                  <a:off x="2428" y="1745"/>
                  <a:ext cx="1032" cy="80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2" y="432"/>
                    </a:cxn>
                    <a:cxn ang="0">
                      <a:pos x="480" y="672"/>
                    </a:cxn>
                    <a:cxn ang="0">
                      <a:pos x="768" y="432"/>
                    </a:cxn>
                    <a:cxn ang="0">
                      <a:pos x="960" y="0"/>
                    </a:cxn>
                  </a:cxnLst>
                  <a:rect l="0" t="0" r="r" b="b"/>
                  <a:pathLst>
                    <a:path w="960" h="672">
                      <a:moveTo>
                        <a:pt x="0" y="0"/>
                      </a:moveTo>
                      <a:cubicBezTo>
                        <a:pt x="56" y="160"/>
                        <a:pt x="112" y="320"/>
                        <a:pt x="192" y="432"/>
                      </a:cubicBezTo>
                      <a:cubicBezTo>
                        <a:pt x="272" y="544"/>
                        <a:pt x="384" y="672"/>
                        <a:pt x="480" y="672"/>
                      </a:cubicBezTo>
                      <a:cubicBezTo>
                        <a:pt x="576" y="672"/>
                        <a:pt x="688" y="544"/>
                        <a:pt x="768" y="432"/>
                      </a:cubicBezTo>
                      <a:cubicBezTo>
                        <a:pt x="848" y="320"/>
                        <a:pt x="928" y="72"/>
                        <a:pt x="960" y="0"/>
                      </a:cubicBezTo>
                    </a:path>
                  </a:pathLst>
                </a:custGeom>
                <a:noFill/>
                <a:ln w="2857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graphicFrame>
              <p:nvGraphicFramePr>
                <p:cNvPr id="171026" name="Object 18"/>
                <p:cNvGraphicFramePr>
                  <a:graphicFrameLocks noChangeAspect="1"/>
                </p:cNvGraphicFramePr>
                <p:nvPr/>
              </p:nvGraphicFramePr>
              <p:xfrm>
                <a:off x="2892" y="2603"/>
                <a:ext cx="148" cy="1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89282" name="公式" r:id="rId19" imgW="228600" imgH="241200" progId="Equation.3">
                        <p:embed/>
                      </p:oleObj>
                    </mc:Choice>
                    <mc:Fallback>
                      <p:oleObj name="公式" r:id="rId19" imgW="228600" imgH="241200" progId="Equation.3">
                        <p:embed/>
                        <p:pic>
                          <p:nvPicPr>
                            <p:cNvPr id="0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2" y="2603"/>
                              <a:ext cx="148" cy="17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71048" name="Object 40"/>
              <p:cNvGraphicFramePr>
                <a:graphicFrameLocks noChangeAspect="1"/>
              </p:cNvGraphicFramePr>
              <p:nvPr/>
            </p:nvGraphicFramePr>
            <p:xfrm>
              <a:off x="2592" y="1296"/>
              <a:ext cx="384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283" name="Equation" r:id="rId20" imgW="190440" imgH="241200" progId="Equation.3">
                      <p:embed/>
                    </p:oleObj>
                  </mc:Choice>
                  <mc:Fallback>
                    <p:oleObj name="Equation" r:id="rId20" imgW="190440" imgH="24120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1296"/>
                            <a:ext cx="384" cy="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1064" name="Object 56"/>
            <p:cNvGraphicFramePr>
              <a:graphicFrameLocks noChangeAspect="1"/>
            </p:cNvGraphicFramePr>
            <p:nvPr/>
          </p:nvGraphicFramePr>
          <p:xfrm>
            <a:off x="2208" y="816"/>
            <a:ext cx="1296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284" name="Equation" r:id="rId21" imgW="672840" imgH="393480" progId="Equation.3">
                    <p:embed/>
                  </p:oleObj>
                </mc:Choice>
                <mc:Fallback>
                  <p:oleObj name="Equation" r:id="rId21" imgW="672840" imgH="39348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816"/>
                          <a:ext cx="1296" cy="6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9"/>
          <p:cNvGrpSpPr>
            <a:grpSpLocks/>
          </p:cNvGrpSpPr>
          <p:nvPr/>
        </p:nvGrpSpPr>
        <p:grpSpPr bwMode="auto">
          <a:xfrm>
            <a:off x="6154738" y="1066800"/>
            <a:ext cx="2227262" cy="3581400"/>
            <a:chOff x="3877" y="864"/>
            <a:chExt cx="1403" cy="2256"/>
          </a:xfrm>
        </p:grpSpPr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4032" y="1632"/>
              <a:ext cx="1248" cy="1488"/>
              <a:chOff x="4080" y="1296"/>
              <a:chExt cx="1248" cy="1488"/>
            </a:xfrm>
          </p:grpSpPr>
          <p:grpSp>
            <p:nvGrpSpPr>
              <p:cNvPr id="12" name="Group 43"/>
              <p:cNvGrpSpPr>
                <a:grpSpLocks/>
              </p:cNvGrpSpPr>
              <p:nvPr/>
            </p:nvGrpSpPr>
            <p:grpSpPr bwMode="auto">
              <a:xfrm>
                <a:off x="4080" y="1442"/>
                <a:ext cx="1248" cy="1342"/>
                <a:chOff x="4080" y="1442"/>
                <a:chExt cx="1248" cy="1342"/>
              </a:xfrm>
            </p:grpSpPr>
            <p:sp>
              <p:nvSpPr>
                <p:cNvPr id="17102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4214" y="1442"/>
                  <a:ext cx="0" cy="134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grpSp>
              <p:nvGrpSpPr>
                <p:cNvPr id="13" name="Group 42"/>
                <p:cNvGrpSpPr>
                  <a:grpSpLocks/>
                </p:cNvGrpSpPr>
                <p:nvPr/>
              </p:nvGrpSpPr>
              <p:grpSpPr bwMode="auto">
                <a:xfrm>
                  <a:off x="4080" y="1541"/>
                  <a:ext cx="1248" cy="1193"/>
                  <a:chOff x="4080" y="1541"/>
                  <a:chExt cx="1248" cy="1193"/>
                </a:xfrm>
              </p:grpSpPr>
              <p:sp>
                <p:nvSpPr>
                  <p:cNvPr id="171030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4214" y="1790"/>
                    <a:ext cx="111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 type="triangl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  <p:graphicFrame>
                <p:nvGraphicFramePr>
                  <p:cNvPr id="171032" name="Object 24"/>
                  <p:cNvGraphicFramePr>
                    <a:graphicFrameLocks noChangeAspect="1"/>
                  </p:cNvGraphicFramePr>
                  <p:nvPr/>
                </p:nvGraphicFramePr>
                <p:xfrm>
                  <a:off x="5061" y="1541"/>
                  <a:ext cx="178" cy="21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89285" name="公式" r:id="rId23" imgW="177480" imgH="190440" progId="Equation.3">
                          <p:embed/>
                        </p:oleObj>
                      </mc:Choice>
                      <mc:Fallback>
                        <p:oleObj name="公式" r:id="rId23" imgW="177480" imgH="190440" progId="Equation.3">
                          <p:embed/>
                          <p:pic>
                            <p:nvPicPr>
                              <p:cNvPr id="0" name="Object 2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61" y="1541"/>
                                <a:ext cx="178" cy="21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71033" name="Freeform 25"/>
                  <p:cNvSpPr>
                    <a:spLocks/>
                  </p:cNvSpPr>
                  <p:nvPr/>
                </p:nvSpPr>
                <p:spPr bwMode="auto">
                  <a:xfrm>
                    <a:off x="4258" y="1839"/>
                    <a:ext cx="936" cy="895"/>
                  </a:xfrm>
                  <a:custGeom>
                    <a:avLst/>
                    <a:gdLst/>
                    <a:ahLst/>
                    <a:cxnLst>
                      <a:cxn ang="0">
                        <a:pos x="0" y="768"/>
                      </a:cxn>
                      <a:cxn ang="0">
                        <a:pos x="48" y="384"/>
                      </a:cxn>
                      <a:cxn ang="0">
                        <a:pos x="144" y="144"/>
                      </a:cxn>
                      <a:cxn ang="0">
                        <a:pos x="432" y="48"/>
                      </a:cxn>
                      <a:cxn ang="0">
                        <a:pos x="912" y="0"/>
                      </a:cxn>
                    </a:cxnLst>
                    <a:rect l="0" t="0" r="r" b="b"/>
                    <a:pathLst>
                      <a:path w="912" h="768">
                        <a:moveTo>
                          <a:pt x="0" y="768"/>
                        </a:moveTo>
                        <a:cubicBezTo>
                          <a:pt x="12" y="628"/>
                          <a:pt x="24" y="488"/>
                          <a:pt x="48" y="384"/>
                        </a:cubicBezTo>
                        <a:cubicBezTo>
                          <a:pt x="72" y="280"/>
                          <a:pt x="80" y="200"/>
                          <a:pt x="144" y="144"/>
                        </a:cubicBezTo>
                        <a:cubicBezTo>
                          <a:pt x="208" y="88"/>
                          <a:pt x="304" y="72"/>
                          <a:pt x="432" y="48"/>
                        </a:cubicBezTo>
                        <a:cubicBezTo>
                          <a:pt x="560" y="24"/>
                          <a:pt x="832" y="8"/>
                          <a:pt x="912" y="0"/>
                        </a:cubicBezTo>
                      </a:path>
                    </a:pathLst>
                  </a:custGeom>
                  <a:noFill/>
                  <a:ln w="28575" cmpd="sng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800"/>
                  </a:p>
                </p:txBody>
              </p:sp>
              <p:graphicFrame>
                <p:nvGraphicFramePr>
                  <p:cNvPr id="171034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0" y="1740"/>
                  <a:ext cx="127" cy="14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89286" name="公式" r:id="rId24" imgW="228600" imgH="241200" progId="Equation.3">
                          <p:embed/>
                        </p:oleObj>
                      </mc:Choice>
                      <mc:Fallback>
                        <p:oleObj name="公式" r:id="rId24" imgW="228600" imgH="241200" progId="Equation.3">
                          <p:embed/>
                          <p:pic>
                            <p:nvPicPr>
                              <p:cNvPr id="0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0" y="1740"/>
                                <a:ext cx="127" cy="149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aphicFrame>
            <p:nvGraphicFramePr>
              <p:cNvPr id="171049" name="Object 41"/>
              <p:cNvGraphicFramePr>
                <a:graphicFrameLocks noChangeAspect="1"/>
              </p:cNvGraphicFramePr>
              <p:nvPr/>
            </p:nvGraphicFramePr>
            <p:xfrm>
              <a:off x="4224" y="1296"/>
              <a:ext cx="384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287" name="Equation" r:id="rId25" imgW="190440" imgH="241200" progId="Equation.3">
                      <p:embed/>
                    </p:oleObj>
                  </mc:Choice>
                  <mc:Fallback>
                    <p:oleObj name="Equation" r:id="rId25" imgW="190440" imgH="241200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296"/>
                            <a:ext cx="384" cy="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1067" name="Object 59"/>
            <p:cNvGraphicFramePr>
              <a:graphicFrameLocks noChangeAspect="1"/>
            </p:cNvGraphicFramePr>
            <p:nvPr/>
          </p:nvGraphicFramePr>
          <p:xfrm>
            <a:off x="3877" y="864"/>
            <a:ext cx="1355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288" name="Equation" r:id="rId26" imgW="1650960" imgH="723600" progId="Equation.3">
                    <p:embed/>
                  </p:oleObj>
                </mc:Choice>
                <mc:Fallback>
                  <p:oleObj name="Equation" r:id="rId26" imgW="1650960" imgH="7236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7" y="864"/>
                          <a:ext cx="1355" cy="6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78" name="Rectangle 70"/>
          <p:cNvSpPr>
            <a:spLocks noChangeArrowheads="1"/>
          </p:cNvSpPr>
          <p:nvPr/>
        </p:nvSpPr>
        <p:spPr bwMode="auto">
          <a:xfrm>
            <a:off x="228600" y="533400"/>
            <a:ext cx="891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sz="2800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</a:rPr>
              <a:t>势能曲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线</a:t>
            </a:r>
            <a:r>
              <a:rPr lang="zh-CN" altLang="en-US" sz="2800" b="1" dirty="0">
                <a:solidFill>
                  <a:srgbClr val="C00000"/>
                </a:solidFill>
              </a:rPr>
              <a:t>：</a:t>
            </a:r>
            <a:r>
              <a:rPr lang="zh-CN" altLang="en-US" sz="2800" dirty="0" smtClean="0">
                <a:solidFill>
                  <a:schemeClr val="tx1"/>
                </a:solidFill>
              </a:rPr>
              <a:t>由</a:t>
            </a:r>
            <a:r>
              <a:rPr lang="zh-CN" altLang="en-US" sz="2800" dirty="0">
                <a:solidFill>
                  <a:schemeClr val="tx1"/>
                </a:solidFill>
              </a:rPr>
              <a:t>势能函数确定的势能随坐标变化的曲线</a:t>
            </a:r>
            <a:r>
              <a:rPr lang="en-US" altLang="zh-CN" sz="28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ext Box 2"/>
          <p:cNvSpPr txBox="1">
            <a:spLocks noChangeArrowheads="1"/>
          </p:cNvSpPr>
          <p:nvPr/>
        </p:nvSpPr>
        <p:spPr bwMode="auto">
          <a:xfrm>
            <a:off x="381000" y="471487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</a:rPr>
              <a:t>6.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质点系的动能定理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33400" y="5097463"/>
            <a:ext cx="7486650" cy="693737"/>
            <a:chOff x="336" y="3211"/>
            <a:chExt cx="4716" cy="437"/>
          </a:xfrm>
        </p:grpSpPr>
        <p:sp>
          <p:nvSpPr>
            <p:cNvPr id="189448" name="Text Box 8"/>
            <p:cNvSpPr txBox="1">
              <a:spLocks noChangeArrowheads="1"/>
            </p:cNvSpPr>
            <p:nvPr/>
          </p:nvSpPr>
          <p:spPr bwMode="auto">
            <a:xfrm>
              <a:off x="336" y="3247"/>
              <a:ext cx="23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2800">
                  <a:solidFill>
                    <a:srgbClr val="000000"/>
                  </a:solidFill>
                  <a:latin typeface="Arial" charset="0"/>
                </a:rPr>
                <a:t>  </a:t>
              </a:r>
              <a:r>
                <a:rPr lang="zh-CN" altLang="en-US" sz="2800">
                  <a:solidFill>
                    <a:srgbClr val="000000"/>
                  </a:solidFill>
                  <a:latin typeface="Arial" charset="0"/>
                </a:rPr>
                <a:t>质点系</a:t>
              </a:r>
              <a:r>
                <a:rPr lang="zh-CN" altLang="en-US" sz="2800">
                  <a:latin typeface="Arial" charset="0"/>
                </a:rPr>
                <a:t>动能定理</a:t>
              </a: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 </a:t>
              </a:r>
            </a:p>
          </p:txBody>
        </p:sp>
        <p:graphicFrame>
          <p:nvGraphicFramePr>
            <p:cNvPr id="189449" name="Object 9"/>
            <p:cNvGraphicFramePr>
              <a:graphicFrameLocks noChangeAspect="1"/>
            </p:cNvGraphicFramePr>
            <p:nvPr/>
          </p:nvGraphicFramePr>
          <p:xfrm>
            <a:off x="2676" y="3211"/>
            <a:ext cx="2376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14" name="Equation" r:id="rId4" imgW="1307880" imgH="241200" progId="Equation.3">
                    <p:embed/>
                  </p:oleObj>
                </mc:Choice>
                <mc:Fallback>
                  <p:oleObj name="Equation" r:id="rId4" imgW="1307880" imgH="241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3211"/>
                          <a:ext cx="2376" cy="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5105400" y="1143000"/>
            <a:ext cx="3505200" cy="2819400"/>
            <a:chOff x="3216" y="720"/>
            <a:chExt cx="2208" cy="1776"/>
          </a:xfrm>
        </p:grpSpPr>
        <p:sp>
          <p:nvSpPr>
            <p:cNvPr id="189451" name="Rectangle 11"/>
            <p:cNvSpPr>
              <a:spLocks noChangeArrowheads="1"/>
            </p:cNvSpPr>
            <p:nvPr/>
          </p:nvSpPr>
          <p:spPr bwMode="auto">
            <a:xfrm>
              <a:off x="3216" y="720"/>
              <a:ext cx="2208" cy="177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2" name="Oval 12"/>
            <p:cNvSpPr>
              <a:spLocks noChangeArrowheads="1"/>
            </p:cNvSpPr>
            <p:nvPr/>
          </p:nvSpPr>
          <p:spPr bwMode="auto">
            <a:xfrm>
              <a:off x="3648" y="1152"/>
              <a:ext cx="48" cy="48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3" name="Oval 13"/>
            <p:cNvSpPr>
              <a:spLocks noChangeArrowheads="1"/>
            </p:cNvSpPr>
            <p:nvPr/>
          </p:nvSpPr>
          <p:spPr bwMode="auto">
            <a:xfrm>
              <a:off x="4608" y="1680"/>
              <a:ext cx="48" cy="48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4" name="Oval 14"/>
            <p:cNvSpPr>
              <a:spLocks noChangeArrowheads="1"/>
            </p:cNvSpPr>
            <p:nvPr/>
          </p:nvSpPr>
          <p:spPr bwMode="auto">
            <a:xfrm>
              <a:off x="3744" y="1776"/>
              <a:ext cx="48" cy="48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5" name="Oval 15"/>
            <p:cNvSpPr>
              <a:spLocks noChangeArrowheads="1"/>
            </p:cNvSpPr>
            <p:nvPr/>
          </p:nvSpPr>
          <p:spPr bwMode="auto">
            <a:xfrm>
              <a:off x="4176" y="1392"/>
              <a:ext cx="48" cy="48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6" name="Oval 16"/>
            <p:cNvSpPr>
              <a:spLocks noChangeArrowheads="1"/>
            </p:cNvSpPr>
            <p:nvPr/>
          </p:nvSpPr>
          <p:spPr bwMode="auto">
            <a:xfrm>
              <a:off x="4656" y="1152"/>
              <a:ext cx="48" cy="48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7" name="Freeform 17"/>
            <p:cNvSpPr>
              <a:spLocks/>
            </p:cNvSpPr>
            <p:nvPr/>
          </p:nvSpPr>
          <p:spPr bwMode="auto">
            <a:xfrm>
              <a:off x="3523" y="1146"/>
              <a:ext cx="1370" cy="1110"/>
            </a:xfrm>
            <a:custGeom>
              <a:avLst/>
              <a:gdLst/>
              <a:ahLst/>
              <a:cxnLst>
                <a:cxn ang="0">
                  <a:pos x="437" y="162"/>
                </a:cxn>
                <a:cxn ang="0">
                  <a:pos x="569" y="6"/>
                </a:cxn>
                <a:cxn ang="0">
                  <a:pos x="881" y="66"/>
                </a:cxn>
                <a:cxn ang="0">
                  <a:pos x="941" y="114"/>
                </a:cxn>
                <a:cxn ang="0">
                  <a:pos x="1133" y="258"/>
                </a:cxn>
                <a:cxn ang="0">
                  <a:pos x="1253" y="294"/>
                </a:cxn>
                <a:cxn ang="0">
                  <a:pos x="1325" y="486"/>
                </a:cxn>
                <a:cxn ang="0">
                  <a:pos x="1361" y="558"/>
                </a:cxn>
                <a:cxn ang="0">
                  <a:pos x="1313" y="798"/>
                </a:cxn>
                <a:cxn ang="0">
                  <a:pos x="1241" y="870"/>
                </a:cxn>
                <a:cxn ang="0">
                  <a:pos x="1205" y="906"/>
                </a:cxn>
                <a:cxn ang="0">
                  <a:pos x="1001" y="1050"/>
                </a:cxn>
                <a:cxn ang="0">
                  <a:pos x="845" y="1038"/>
                </a:cxn>
                <a:cxn ang="0">
                  <a:pos x="773" y="1002"/>
                </a:cxn>
                <a:cxn ang="0">
                  <a:pos x="629" y="942"/>
                </a:cxn>
                <a:cxn ang="0">
                  <a:pos x="353" y="894"/>
                </a:cxn>
                <a:cxn ang="0">
                  <a:pos x="53" y="822"/>
                </a:cxn>
                <a:cxn ang="0">
                  <a:pos x="29" y="510"/>
                </a:cxn>
                <a:cxn ang="0">
                  <a:pos x="77" y="438"/>
                </a:cxn>
                <a:cxn ang="0">
                  <a:pos x="197" y="270"/>
                </a:cxn>
                <a:cxn ang="0">
                  <a:pos x="401" y="186"/>
                </a:cxn>
                <a:cxn ang="0">
                  <a:pos x="437" y="162"/>
                </a:cxn>
              </a:cxnLst>
              <a:rect l="0" t="0" r="r" b="b"/>
              <a:pathLst>
                <a:path w="1370" h="1050">
                  <a:moveTo>
                    <a:pt x="437" y="162"/>
                  </a:moveTo>
                  <a:cubicBezTo>
                    <a:pt x="466" y="18"/>
                    <a:pt x="439" y="28"/>
                    <a:pt x="569" y="6"/>
                  </a:cubicBezTo>
                  <a:cubicBezTo>
                    <a:pt x="694" y="13"/>
                    <a:pt x="783" y="0"/>
                    <a:pt x="881" y="66"/>
                  </a:cubicBezTo>
                  <a:cubicBezTo>
                    <a:pt x="935" y="147"/>
                    <a:pt x="871" y="68"/>
                    <a:pt x="941" y="114"/>
                  </a:cubicBezTo>
                  <a:cubicBezTo>
                    <a:pt x="1002" y="154"/>
                    <a:pt x="1061" y="234"/>
                    <a:pt x="1133" y="258"/>
                  </a:cubicBezTo>
                  <a:cubicBezTo>
                    <a:pt x="1221" y="287"/>
                    <a:pt x="1180" y="276"/>
                    <a:pt x="1253" y="294"/>
                  </a:cubicBezTo>
                  <a:cubicBezTo>
                    <a:pt x="1292" y="352"/>
                    <a:pt x="1287" y="429"/>
                    <a:pt x="1325" y="486"/>
                  </a:cubicBezTo>
                  <a:cubicBezTo>
                    <a:pt x="1356" y="533"/>
                    <a:pt x="1344" y="508"/>
                    <a:pt x="1361" y="558"/>
                  </a:cubicBezTo>
                  <a:cubicBezTo>
                    <a:pt x="1356" y="634"/>
                    <a:pt x="1370" y="734"/>
                    <a:pt x="1313" y="798"/>
                  </a:cubicBezTo>
                  <a:cubicBezTo>
                    <a:pt x="1290" y="823"/>
                    <a:pt x="1265" y="846"/>
                    <a:pt x="1241" y="870"/>
                  </a:cubicBezTo>
                  <a:cubicBezTo>
                    <a:pt x="1229" y="882"/>
                    <a:pt x="1205" y="906"/>
                    <a:pt x="1205" y="906"/>
                  </a:cubicBezTo>
                  <a:cubicBezTo>
                    <a:pt x="1169" y="1014"/>
                    <a:pt x="1081" y="997"/>
                    <a:pt x="1001" y="1050"/>
                  </a:cubicBezTo>
                  <a:cubicBezTo>
                    <a:pt x="949" y="1046"/>
                    <a:pt x="897" y="1044"/>
                    <a:pt x="845" y="1038"/>
                  </a:cubicBezTo>
                  <a:cubicBezTo>
                    <a:pt x="805" y="1033"/>
                    <a:pt x="809" y="1020"/>
                    <a:pt x="773" y="1002"/>
                  </a:cubicBezTo>
                  <a:cubicBezTo>
                    <a:pt x="726" y="978"/>
                    <a:pt x="680" y="959"/>
                    <a:pt x="629" y="942"/>
                  </a:cubicBezTo>
                  <a:cubicBezTo>
                    <a:pt x="544" y="914"/>
                    <a:pt x="438" y="915"/>
                    <a:pt x="353" y="894"/>
                  </a:cubicBezTo>
                  <a:cubicBezTo>
                    <a:pt x="253" y="869"/>
                    <a:pt x="151" y="855"/>
                    <a:pt x="53" y="822"/>
                  </a:cubicBezTo>
                  <a:cubicBezTo>
                    <a:pt x="0" y="716"/>
                    <a:pt x="1" y="646"/>
                    <a:pt x="29" y="510"/>
                  </a:cubicBezTo>
                  <a:cubicBezTo>
                    <a:pt x="35" y="482"/>
                    <a:pt x="64" y="464"/>
                    <a:pt x="77" y="438"/>
                  </a:cubicBezTo>
                  <a:cubicBezTo>
                    <a:pt x="106" y="380"/>
                    <a:pt x="132" y="302"/>
                    <a:pt x="197" y="270"/>
                  </a:cubicBezTo>
                  <a:cubicBezTo>
                    <a:pt x="268" y="234"/>
                    <a:pt x="324" y="208"/>
                    <a:pt x="401" y="186"/>
                  </a:cubicBezTo>
                  <a:cubicBezTo>
                    <a:pt x="441" y="175"/>
                    <a:pt x="437" y="186"/>
                    <a:pt x="437" y="162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CC66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8" name="Line 18"/>
            <p:cNvSpPr>
              <a:spLocks noChangeShapeType="1"/>
            </p:cNvSpPr>
            <p:nvPr/>
          </p:nvSpPr>
          <p:spPr bwMode="auto">
            <a:xfrm flipH="1">
              <a:off x="4032" y="1440"/>
              <a:ext cx="144" cy="14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59" name="Line 19"/>
            <p:cNvSpPr>
              <a:spLocks noChangeShapeType="1"/>
            </p:cNvSpPr>
            <p:nvPr/>
          </p:nvSpPr>
          <p:spPr bwMode="auto">
            <a:xfrm flipV="1">
              <a:off x="3792" y="1632"/>
              <a:ext cx="144" cy="14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60" name="Line 20"/>
            <p:cNvSpPr>
              <a:spLocks noChangeShapeType="1"/>
            </p:cNvSpPr>
            <p:nvPr/>
          </p:nvSpPr>
          <p:spPr bwMode="auto">
            <a:xfrm flipH="1" flipV="1">
              <a:off x="3936" y="912"/>
              <a:ext cx="240" cy="48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61" name="Line 21"/>
            <p:cNvSpPr>
              <a:spLocks noChangeShapeType="1"/>
            </p:cNvSpPr>
            <p:nvPr/>
          </p:nvSpPr>
          <p:spPr bwMode="auto">
            <a:xfrm flipH="1">
              <a:off x="3312" y="1824"/>
              <a:ext cx="432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62" name="Line 22"/>
            <p:cNvSpPr>
              <a:spLocks noChangeShapeType="1"/>
            </p:cNvSpPr>
            <p:nvPr/>
          </p:nvSpPr>
          <p:spPr bwMode="auto">
            <a:xfrm flipV="1">
              <a:off x="4656" y="1392"/>
              <a:ext cx="624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63" name="Line 23"/>
            <p:cNvSpPr>
              <a:spLocks noChangeShapeType="1"/>
            </p:cNvSpPr>
            <p:nvPr/>
          </p:nvSpPr>
          <p:spPr bwMode="auto">
            <a:xfrm flipV="1">
              <a:off x="3792" y="1776"/>
              <a:ext cx="288" cy="48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64" name="Line 24"/>
            <p:cNvSpPr>
              <a:spLocks noChangeShapeType="1"/>
            </p:cNvSpPr>
            <p:nvPr/>
          </p:nvSpPr>
          <p:spPr bwMode="auto">
            <a:xfrm flipH="1">
              <a:off x="4320" y="1680"/>
              <a:ext cx="288" cy="48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89465" name="Object 25"/>
            <p:cNvGraphicFramePr>
              <a:graphicFrameLocks noChangeAspect="1"/>
            </p:cNvGraphicFramePr>
            <p:nvPr/>
          </p:nvGraphicFramePr>
          <p:xfrm>
            <a:off x="4308" y="1248"/>
            <a:ext cx="2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15" name="公式" r:id="rId6" imgW="266400" imgH="317160" progId="Equation.3">
                    <p:embed/>
                  </p:oleObj>
                </mc:Choice>
                <mc:Fallback>
                  <p:oleObj name="公式" r:id="rId6" imgW="266400" imgH="31716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8" y="1248"/>
                          <a:ext cx="252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66" name="Object 26"/>
            <p:cNvGraphicFramePr>
              <a:graphicFrameLocks noChangeAspect="1"/>
            </p:cNvGraphicFramePr>
            <p:nvPr/>
          </p:nvGraphicFramePr>
          <p:xfrm>
            <a:off x="3756" y="1776"/>
            <a:ext cx="27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16" name="公式" r:id="rId8" imgW="291960" imgH="317160" progId="Equation.3">
                    <p:embed/>
                  </p:oleObj>
                </mc:Choice>
                <mc:Fallback>
                  <p:oleObj name="公式" r:id="rId8" imgW="291960" imgH="3171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6" y="1776"/>
                          <a:ext cx="276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67" name="Object 27"/>
            <p:cNvGraphicFramePr>
              <a:graphicFrameLocks noChangeAspect="1"/>
            </p:cNvGraphicFramePr>
            <p:nvPr/>
          </p:nvGraphicFramePr>
          <p:xfrm>
            <a:off x="4608" y="1680"/>
            <a:ext cx="252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17" name="公式" r:id="rId10" imgW="266400" imgH="330120" progId="Equation.3">
                    <p:embed/>
                  </p:oleObj>
                </mc:Choice>
                <mc:Fallback>
                  <p:oleObj name="公式" r:id="rId10" imgW="266400" imgH="33012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680"/>
                          <a:ext cx="252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68" name="Object 28"/>
            <p:cNvGraphicFramePr>
              <a:graphicFrameLocks noChangeAspect="1"/>
            </p:cNvGraphicFramePr>
            <p:nvPr/>
          </p:nvGraphicFramePr>
          <p:xfrm>
            <a:off x="4944" y="1051"/>
            <a:ext cx="384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18" name="Equation" r:id="rId12" imgW="507960" imgH="457200" progId="Equation.3">
                    <p:embed/>
                  </p:oleObj>
                </mc:Choice>
                <mc:Fallback>
                  <p:oleObj name="Equation" r:id="rId12" imgW="507960" imgH="457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051"/>
                          <a:ext cx="384" cy="3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69" name="Object 29"/>
            <p:cNvGraphicFramePr>
              <a:graphicFrameLocks noChangeAspect="1"/>
            </p:cNvGraphicFramePr>
            <p:nvPr/>
          </p:nvGraphicFramePr>
          <p:xfrm>
            <a:off x="4176" y="1728"/>
            <a:ext cx="38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19" name="Equation" r:id="rId14" imgW="457200" imgH="457200" progId="Equation.3">
                    <p:embed/>
                  </p:oleObj>
                </mc:Choice>
                <mc:Fallback>
                  <p:oleObj name="Equation" r:id="rId14" imgW="457200" imgH="4572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728"/>
                          <a:ext cx="383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0" name="Object 30"/>
            <p:cNvGraphicFramePr>
              <a:graphicFrameLocks noChangeAspect="1"/>
            </p:cNvGraphicFramePr>
            <p:nvPr/>
          </p:nvGraphicFramePr>
          <p:xfrm>
            <a:off x="3648" y="110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0" name="Clip" r:id="rId16" imgW="380852" imgH="390270" progId="">
                    <p:embed/>
                  </p:oleObj>
                </mc:Choice>
                <mc:Fallback>
                  <p:oleObj name="Clip" r:id="rId16" imgW="380852" imgH="390270" progId="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10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1" name="Object 31"/>
            <p:cNvGraphicFramePr>
              <a:graphicFrameLocks noChangeAspect="1"/>
            </p:cNvGraphicFramePr>
            <p:nvPr/>
          </p:nvGraphicFramePr>
          <p:xfrm>
            <a:off x="3936" y="2256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1" name="Clip" r:id="rId18" imgW="380852" imgH="390270" progId="">
                    <p:embed/>
                  </p:oleObj>
                </mc:Choice>
                <mc:Fallback>
                  <p:oleObj name="Clip" r:id="rId18" imgW="380852" imgH="390270" progId="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256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2" name="Object 32"/>
            <p:cNvGraphicFramePr>
              <a:graphicFrameLocks noChangeAspect="1"/>
            </p:cNvGraphicFramePr>
            <p:nvPr/>
          </p:nvGraphicFramePr>
          <p:xfrm>
            <a:off x="4992" y="1776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2" name="Clip" r:id="rId19" imgW="380852" imgH="390270" progId="">
                    <p:embed/>
                  </p:oleObj>
                </mc:Choice>
                <mc:Fallback>
                  <p:oleObj name="Clip" r:id="rId19" imgW="380852" imgH="390270" progId="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1776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3" name="Object 33"/>
            <p:cNvGraphicFramePr>
              <a:graphicFrameLocks noChangeAspect="1"/>
            </p:cNvGraphicFramePr>
            <p:nvPr/>
          </p:nvGraphicFramePr>
          <p:xfrm>
            <a:off x="3696" y="1776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3" name="Clip" r:id="rId20" imgW="380852" imgH="390270" progId="">
                    <p:embed/>
                  </p:oleObj>
                </mc:Choice>
                <mc:Fallback>
                  <p:oleObj name="Clip" r:id="rId20" imgW="380852" imgH="390270" progId="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776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4" name="Object 34"/>
            <p:cNvGraphicFramePr>
              <a:graphicFrameLocks noChangeAspect="1"/>
            </p:cNvGraphicFramePr>
            <p:nvPr/>
          </p:nvGraphicFramePr>
          <p:xfrm>
            <a:off x="4608" y="110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4" name="Clip" r:id="rId22" imgW="380852" imgH="390270" progId="">
                    <p:embed/>
                  </p:oleObj>
                </mc:Choice>
                <mc:Fallback>
                  <p:oleObj name="Clip" r:id="rId22" imgW="380852" imgH="390270" progId="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10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5" name="Object 35"/>
            <p:cNvGraphicFramePr>
              <a:graphicFrameLocks noChangeAspect="1"/>
            </p:cNvGraphicFramePr>
            <p:nvPr/>
          </p:nvGraphicFramePr>
          <p:xfrm>
            <a:off x="4752" y="2160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5" name="Clip" r:id="rId23" imgW="380852" imgH="390270" progId="">
                    <p:embed/>
                  </p:oleObj>
                </mc:Choice>
                <mc:Fallback>
                  <p:oleObj name="Clip" r:id="rId23" imgW="380852" imgH="390270" progId="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160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9476" name="Line 36"/>
            <p:cNvSpPr>
              <a:spLocks noChangeShapeType="1"/>
            </p:cNvSpPr>
            <p:nvPr/>
          </p:nvSpPr>
          <p:spPr bwMode="auto">
            <a:xfrm rot="1203202">
              <a:off x="4176" y="1440"/>
              <a:ext cx="240" cy="48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77" name="Line 37"/>
            <p:cNvSpPr>
              <a:spLocks noChangeShapeType="1"/>
            </p:cNvSpPr>
            <p:nvPr/>
          </p:nvSpPr>
          <p:spPr bwMode="auto">
            <a:xfrm rot="1529831" flipH="1" flipV="1">
              <a:off x="4413" y="1594"/>
              <a:ext cx="240" cy="48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89478" name="Object 38"/>
            <p:cNvGraphicFramePr>
              <a:graphicFrameLocks noChangeAspect="1"/>
            </p:cNvGraphicFramePr>
            <p:nvPr/>
          </p:nvGraphicFramePr>
          <p:xfrm>
            <a:off x="4128" y="134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6" name="Clip" r:id="rId24" imgW="380852" imgH="390270" progId="">
                    <p:embed/>
                  </p:oleObj>
                </mc:Choice>
                <mc:Fallback>
                  <p:oleObj name="Clip" r:id="rId24" imgW="380852" imgH="390270" progId="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34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479" name="Object 39"/>
            <p:cNvGraphicFramePr>
              <a:graphicFrameLocks noChangeAspect="1"/>
            </p:cNvGraphicFramePr>
            <p:nvPr/>
          </p:nvGraphicFramePr>
          <p:xfrm>
            <a:off x="4560" y="1632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7" name="Clip" r:id="rId25" imgW="380852" imgH="390270" progId="">
                    <p:embed/>
                  </p:oleObj>
                </mc:Choice>
                <mc:Fallback>
                  <p:oleObj name="Clip" r:id="rId25" imgW="380852" imgH="390270" progId="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32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762000" y="5638800"/>
            <a:ext cx="7086600" cy="914400"/>
            <a:chOff x="480" y="3600"/>
            <a:chExt cx="4464" cy="576"/>
          </a:xfrm>
        </p:grpSpPr>
        <p:sp>
          <p:nvSpPr>
            <p:cNvPr id="189481" name="Text Box 41"/>
            <p:cNvSpPr txBox="1">
              <a:spLocks noChangeArrowheads="1"/>
            </p:cNvSpPr>
            <p:nvPr/>
          </p:nvSpPr>
          <p:spPr bwMode="auto">
            <a:xfrm>
              <a:off x="1728" y="3696"/>
              <a:ext cx="32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Arial" charset="0"/>
                </a:rPr>
                <a:t>内力可以改变质点系的动能</a:t>
              </a:r>
            </a:p>
          </p:txBody>
        </p:sp>
        <p:sp>
          <p:nvSpPr>
            <p:cNvPr id="189482" name="AutoShape 42"/>
            <p:cNvSpPr>
              <a:spLocks noChangeArrowheads="1"/>
            </p:cNvSpPr>
            <p:nvPr/>
          </p:nvSpPr>
          <p:spPr bwMode="auto">
            <a:xfrm>
              <a:off x="480" y="3600"/>
              <a:ext cx="1056" cy="576"/>
            </a:xfrm>
            <a:prstGeom prst="irregularSeal1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DE3E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9483" name="Text Box 43"/>
            <p:cNvSpPr txBox="1">
              <a:spLocks noChangeArrowheads="1"/>
            </p:cNvSpPr>
            <p:nvPr/>
          </p:nvSpPr>
          <p:spPr bwMode="auto">
            <a:xfrm>
              <a:off x="696" y="3705"/>
              <a:ext cx="66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注意</a:t>
              </a:r>
            </a:p>
          </p:txBody>
        </p:sp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533400" y="3505200"/>
            <a:ext cx="7485063" cy="1609725"/>
            <a:chOff x="336" y="2208"/>
            <a:chExt cx="4715" cy="1014"/>
          </a:xfrm>
        </p:grpSpPr>
        <p:graphicFrame>
          <p:nvGraphicFramePr>
            <p:cNvPr id="189445" name="Object 5"/>
            <p:cNvGraphicFramePr>
              <a:graphicFrameLocks noChangeAspect="1"/>
            </p:cNvGraphicFramePr>
            <p:nvPr/>
          </p:nvGraphicFramePr>
          <p:xfrm>
            <a:off x="374" y="2592"/>
            <a:ext cx="4677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8" name="Equation" r:id="rId26" imgW="2755800" imgH="342720" progId="Equation.3">
                    <p:embed/>
                  </p:oleObj>
                </mc:Choice>
                <mc:Fallback>
                  <p:oleObj name="Equation" r:id="rId26" imgW="2755800" imgH="34272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" y="2592"/>
                          <a:ext cx="4677" cy="6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9491" name="Text Box 51"/>
            <p:cNvSpPr txBox="1">
              <a:spLocks noChangeArrowheads="1"/>
            </p:cNvSpPr>
            <p:nvPr/>
          </p:nvSpPr>
          <p:spPr bwMode="auto">
            <a:xfrm>
              <a:off x="336" y="2208"/>
              <a:ext cx="27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Arial" charset="0"/>
                </a:rPr>
                <a:t> </a:t>
              </a:r>
              <a:r>
                <a:rPr lang="zh-CN" altLang="en-US" sz="2800">
                  <a:latin typeface="Arial" charset="0"/>
                </a:rPr>
                <a:t>对质点系，有</a:t>
              </a:r>
            </a:p>
          </p:txBody>
        </p:sp>
      </p:grp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533400" y="1295400"/>
            <a:ext cx="4724400" cy="1295400"/>
            <a:chOff x="336" y="816"/>
            <a:chExt cx="2976" cy="816"/>
          </a:xfrm>
        </p:grpSpPr>
        <p:graphicFrame>
          <p:nvGraphicFramePr>
            <p:cNvPr id="189444" name="Object 4"/>
            <p:cNvGraphicFramePr>
              <a:graphicFrameLocks noChangeAspect="1"/>
            </p:cNvGraphicFramePr>
            <p:nvPr/>
          </p:nvGraphicFramePr>
          <p:xfrm>
            <a:off x="420" y="1193"/>
            <a:ext cx="2665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0329" name="Equation" r:id="rId28" imgW="1358640" imgH="241200" progId="Equation.3">
                    <p:embed/>
                  </p:oleObj>
                </mc:Choice>
                <mc:Fallback>
                  <p:oleObj name="Equation" r:id="rId28" imgW="1358640" imgH="241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" y="1193"/>
                          <a:ext cx="2665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54"/>
            <p:cNvGrpSpPr>
              <a:grpSpLocks/>
            </p:cNvGrpSpPr>
            <p:nvPr/>
          </p:nvGrpSpPr>
          <p:grpSpPr bwMode="auto">
            <a:xfrm>
              <a:off x="336" y="816"/>
              <a:ext cx="2976" cy="340"/>
              <a:chOff x="336" y="816"/>
              <a:chExt cx="2976" cy="340"/>
            </a:xfrm>
          </p:grpSpPr>
          <p:sp>
            <p:nvSpPr>
              <p:cNvPr id="189443" name="Text Box 3"/>
              <p:cNvSpPr txBox="1">
                <a:spLocks noChangeArrowheads="1"/>
              </p:cNvSpPr>
              <p:nvPr/>
            </p:nvSpPr>
            <p:spPr bwMode="auto">
              <a:xfrm>
                <a:off x="336" y="816"/>
                <a:ext cx="29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Blip>
                    <a:blip r:embed="rId3"/>
                  </a:buBlip>
                </a:pPr>
                <a:r>
                  <a:rPr lang="en-US" altLang="zh-CN" sz="2800">
                    <a:latin typeface="Arial" charset="0"/>
                  </a:rPr>
                  <a:t> </a:t>
                </a:r>
                <a:r>
                  <a:rPr lang="zh-CN" altLang="en-US" sz="2800">
                    <a:latin typeface="Arial" charset="0"/>
                  </a:rPr>
                  <a:t>对第   个质点，有</a:t>
                </a:r>
              </a:p>
            </p:txBody>
          </p:sp>
          <p:graphicFrame>
            <p:nvGraphicFramePr>
              <p:cNvPr id="189493" name="Object 53"/>
              <p:cNvGraphicFramePr>
                <a:graphicFrameLocks noChangeAspect="1"/>
              </p:cNvGraphicFramePr>
              <p:nvPr/>
            </p:nvGraphicFramePr>
            <p:xfrm>
              <a:off x="1056" y="816"/>
              <a:ext cx="183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330" name="Equation" r:id="rId30" imgW="88560" imgH="164880" progId="Equation.3">
                      <p:embed/>
                    </p:oleObj>
                  </mc:Choice>
                  <mc:Fallback>
                    <p:oleObj name="Equation" r:id="rId30" imgW="88560" imgH="16488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816"/>
                            <a:ext cx="183" cy="3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457200" y="2743200"/>
            <a:ext cx="3048000" cy="609600"/>
            <a:chOff x="288" y="1728"/>
            <a:chExt cx="1920" cy="384"/>
          </a:xfrm>
        </p:grpSpPr>
        <p:sp>
          <p:nvSpPr>
            <p:cNvPr id="189498" name="AutoShape 58"/>
            <p:cNvSpPr>
              <a:spLocks noChangeArrowheads="1"/>
            </p:cNvSpPr>
            <p:nvPr/>
          </p:nvSpPr>
          <p:spPr bwMode="auto">
            <a:xfrm>
              <a:off x="288" y="1776"/>
              <a:ext cx="864" cy="336"/>
            </a:xfrm>
            <a:prstGeom prst="wedgeRoundRectCallout">
              <a:avLst>
                <a:gd name="adj1" fmla="val 7639"/>
                <a:gd name="adj2" fmla="val -144940"/>
                <a:gd name="adj3" fmla="val 16667"/>
              </a:avLst>
            </a:prstGeom>
            <a:gradFill rotWithShape="0">
              <a:gsLst>
                <a:gs pos="0">
                  <a:srgbClr val="FFDDFF"/>
                </a:gs>
                <a:gs pos="50000">
                  <a:schemeClr val="bg1"/>
                </a:gs>
                <a:gs pos="100000">
                  <a:srgbClr val="FFDDFF"/>
                </a:gs>
              </a:gsLst>
              <a:lin ang="5400000" scaled="1"/>
            </a:gradFill>
            <a:ln w="9525">
              <a:solidFill>
                <a:srgbClr val="CC00CC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800">
                  <a:solidFill>
                    <a:srgbClr val="CC0000"/>
                  </a:solidFill>
                </a:rPr>
                <a:t>外</a:t>
              </a:r>
              <a:r>
                <a:rPr lang="zh-CN" altLang="en-US" sz="2800"/>
                <a:t>力功</a:t>
              </a:r>
            </a:p>
          </p:txBody>
        </p:sp>
        <p:sp>
          <p:nvSpPr>
            <p:cNvPr id="189499" name="AutoShape 59"/>
            <p:cNvSpPr>
              <a:spLocks noChangeArrowheads="1"/>
            </p:cNvSpPr>
            <p:nvPr/>
          </p:nvSpPr>
          <p:spPr bwMode="auto">
            <a:xfrm>
              <a:off x="1344" y="1728"/>
              <a:ext cx="864" cy="384"/>
            </a:xfrm>
            <a:prstGeom prst="wedgeRoundRectCallout">
              <a:avLst>
                <a:gd name="adj1" fmla="val -32523"/>
                <a:gd name="adj2" fmla="val -117968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800">
                  <a:solidFill>
                    <a:srgbClr val="0000FF"/>
                  </a:solidFill>
                </a:rPr>
                <a:t>内</a:t>
              </a:r>
              <a:r>
                <a:rPr lang="zh-CN" altLang="en-US" sz="2800"/>
                <a:t>力功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66" name="Object 2"/>
          <p:cNvGraphicFramePr>
            <a:graphicFrameLocks noChangeAspect="1"/>
          </p:cNvGraphicFramePr>
          <p:nvPr/>
        </p:nvGraphicFramePr>
        <p:xfrm>
          <a:off x="1600200" y="3505200"/>
          <a:ext cx="61722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250" name="Equation" r:id="rId3" imgW="2184120" imgH="253800" progId="Equation.3">
                  <p:embed/>
                </p:oleObj>
              </mc:Choice>
              <mc:Fallback>
                <p:oleObj name="Equation" r:id="rId3" imgW="218412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05200"/>
                        <a:ext cx="61722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" y="4343400"/>
            <a:ext cx="3505200" cy="728662"/>
            <a:chOff x="432" y="2985"/>
            <a:chExt cx="2208" cy="459"/>
          </a:xfrm>
        </p:grpSpPr>
        <p:sp>
          <p:nvSpPr>
            <p:cNvPr id="190468" name="Text Box 4"/>
            <p:cNvSpPr txBox="1">
              <a:spLocks noChangeArrowheads="1"/>
            </p:cNvSpPr>
            <p:nvPr/>
          </p:nvSpPr>
          <p:spPr bwMode="auto">
            <a:xfrm>
              <a:off x="432" y="2985"/>
              <a:ext cx="21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00000"/>
                  </a:solidFill>
                  <a:latin typeface="Arial" charset="0"/>
                </a:rPr>
                <a:t>机械能</a:t>
              </a:r>
            </a:p>
          </p:txBody>
        </p:sp>
        <p:graphicFrame>
          <p:nvGraphicFramePr>
            <p:cNvPr id="190469" name="Object 5"/>
            <p:cNvGraphicFramePr>
              <a:graphicFrameLocks noChangeAspect="1"/>
            </p:cNvGraphicFramePr>
            <p:nvPr/>
          </p:nvGraphicFramePr>
          <p:xfrm>
            <a:off x="1248" y="2993"/>
            <a:ext cx="1392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251" name="Equation" r:id="rId5" imgW="761760" imgH="241200" progId="Equation.3">
                    <p:embed/>
                  </p:oleObj>
                </mc:Choice>
                <mc:Fallback>
                  <p:oleObj name="Equation" r:id="rId5" imgW="761760" imgH="241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993"/>
                          <a:ext cx="1392" cy="4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14350" y="990600"/>
            <a:ext cx="7258050" cy="720725"/>
            <a:chOff x="288" y="864"/>
            <a:chExt cx="4572" cy="454"/>
          </a:xfrm>
        </p:grpSpPr>
        <p:sp>
          <p:nvSpPr>
            <p:cNvPr id="190471" name="Text Box 7"/>
            <p:cNvSpPr txBox="1">
              <a:spLocks noChangeArrowheads="1"/>
            </p:cNvSpPr>
            <p:nvPr/>
          </p:nvSpPr>
          <p:spPr bwMode="auto">
            <a:xfrm>
              <a:off x="288" y="912"/>
              <a:ext cx="1968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>
                  <a:latin typeface="Arial" charset="0"/>
                </a:rPr>
                <a:t>质点系动能定理</a:t>
              </a: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  </a:t>
              </a:r>
            </a:p>
          </p:txBody>
        </p:sp>
        <p:graphicFrame>
          <p:nvGraphicFramePr>
            <p:cNvPr id="190472" name="Object 8"/>
            <p:cNvGraphicFramePr>
              <a:graphicFrameLocks noChangeAspect="1"/>
            </p:cNvGraphicFramePr>
            <p:nvPr/>
          </p:nvGraphicFramePr>
          <p:xfrm>
            <a:off x="2388" y="864"/>
            <a:ext cx="2472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252" name="Equation" r:id="rId7" imgW="1307880" imgH="241200" progId="Equation.3">
                    <p:embed/>
                  </p:oleObj>
                </mc:Choice>
                <mc:Fallback>
                  <p:oleObj name="Equation" r:id="rId7" imgW="1307880" imgH="241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8" y="864"/>
                          <a:ext cx="2472" cy="4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6705600" y="1752600"/>
            <a:ext cx="2120900" cy="946150"/>
            <a:chOff x="4224" y="1344"/>
            <a:chExt cx="1336" cy="596"/>
          </a:xfrm>
        </p:grpSpPr>
        <p:sp>
          <p:nvSpPr>
            <p:cNvPr id="190474" name="Freeform 10"/>
            <p:cNvSpPr>
              <a:spLocks/>
            </p:cNvSpPr>
            <p:nvPr/>
          </p:nvSpPr>
          <p:spPr bwMode="auto">
            <a:xfrm>
              <a:off x="4224" y="1344"/>
              <a:ext cx="1248" cy="576"/>
            </a:xfrm>
            <a:custGeom>
              <a:avLst/>
              <a:gdLst/>
              <a:ahLst/>
              <a:cxnLst>
                <a:cxn ang="0">
                  <a:pos x="331" y="576"/>
                </a:cxn>
                <a:cxn ang="0">
                  <a:pos x="331" y="336"/>
                </a:cxn>
                <a:cxn ang="0">
                  <a:pos x="0" y="286"/>
                </a:cxn>
                <a:cxn ang="0">
                  <a:pos x="331" y="240"/>
                </a:cxn>
                <a:cxn ang="0">
                  <a:pos x="331" y="0"/>
                </a:cxn>
                <a:cxn ang="0">
                  <a:pos x="1195" y="0"/>
                </a:cxn>
                <a:cxn ang="0">
                  <a:pos x="1195" y="576"/>
                </a:cxn>
                <a:cxn ang="0">
                  <a:pos x="331" y="576"/>
                </a:cxn>
              </a:cxnLst>
              <a:rect l="0" t="0" r="r" b="b"/>
              <a:pathLst>
                <a:path w="1195" h="576">
                  <a:moveTo>
                    <a:pt x="331" y="576"/>
                  </a:moveTo>
                  <a:lnTo>
                    <a:pt x="331" y="336"/>
                  </a:lnTo>
                  <a:lnTo>
                    <a:pt x="0" y="286"/>
                  </a:lnTo>
                  <a:lnTo>
                    <a:pt x="331" y="240"/>
                  </a:lnTo>
                  <a:lnTo>
                    <a:pt x="331" y="0"/>
                  </a:lnTo>
                  <a:lnTo>
                    <a:pt x="1195" y="0"/>
                  </a:lnTo>
                  <a:lnTo>
                    <a:pt x="1195" y="576"/>
                  </a:lnTo>
                  <a:lnTo>
                    <a:pt x="331" y="57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90475" name="Text Box 11"/>
            <p:cNvSpPr txBox="1">
              <a:spLocks noChangeArrowheads="1"/>
            </p:cNvSpPr>
            <p:nvPr/>
          </p:nvSpPr>
          <p:spPr bwMode="auto">
            <a:xfrm>
              <a:off x="4638" y="1344"/>
              <a:ext cx="922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</a:rPr>
                <a:t>非</a:t>
              </a:r>
              <a:r>
                <a:rPr lang="zh-CN" altLang="en-US" sz="2800" dirty="0"/>
                <a:t>保守力的功</a:t>
              </a:r>
            </a:p>
          </p:txBody>
        </p:sp>
      </p:grpSp>
      <p:graphicFrame>
        <p:nvGraphicFramePr>
          <p:cNvPr id="190476" name="Object 12"/>
          <p:cNvGraphicFramePr>
            <a:graphicFrameLocks noChangeAspect="1"/>
          </p:cNvGraphicFramePr>
          <p:nvPr/>
        </p:nvGraphicFramePr>
        <p:xfrm>
          <a:off x="1981200" y="1752600"/>
          <a:ext cx="48006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253" name="Equation" r:id="rId9" imgW="1574640" imgH="342720" progId="Equation.3">
                  <p:embed/>
                </p:oleObj>
              </mc:Choice>
              <mc:Fallback>
                <p:oleObj name="Equation" r:id="rId9" imgW="1574640" imgH="3427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4800600" cy="101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7" name="Object 13"/>
          <p:cNvGraphicFramePr>
            <a:graphicFrameLocks noChangeAspect="1"/>
          </p:cNvGraphicFramePr>
          <p:nvPr/>
        </p:nvGraphicFramePr>
        <p:xfrm>
          <a:off x="914400" y="2514600"/>
          <a:ext cx="6332548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254" name="Equation" r:id="rId11" imgW="1968480" imgH="342720" progId="Equation.3">
                  <p:embed/>
                </p:oleObj>
              </mc:Choice>
              <mc:Fallback>
                <p:oleObj name="Equation" r:id="rId11" imgW="1968480" imgH="3427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14600"/>
                        <a:ext cx="6332548" cy="1071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8" name="Object 14"/>
          <p:cNvGraphicFramePr>
            <a:graphicFrameLocks noChangeAspect="1"/>
          </p:cNvGraphicFramePr>
          <p:nvPr/>
        </p:nvGraphicFramePr>
        <p:xfrm>
          <a:off x="4724400" y="4343400"/>
          <a:ext cx="32004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255" name="Equation" r:id="rId13" imgW="1193760" imgH="241200" progId="Equation.3">
                  <p:embed/>
                </p:oleObj>
              </mc:Choice>
              <mc:Fallback>
                <p:oleObj name="Equation" r:id="rId13" imgW="119376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343400"/>
                        <a:ext cx="3200400" cy="6778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63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9" name="Text Box 15"/>
          <p:cNvSpPr txBox="1">
            <a:spLocks noChangeArrowheads="1"/>
          </p:cNvSpPr>
          <p:nvPr/>
        </p:nvSpPr>
        <p:spPr bwMode="auto">
          <a:xfrm>
            <a:off x="381000" y="381000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7.</a:t>
            </a:r>
            <a:r>
              <a:rPr lang="zh-CN" altLang="en-US" sz="2800" b="1" dirty="0" smtClean="0">
                <a:solidFill>
                  <a:srgbClr val="C00000"/>
                </a:solidFill>
                <a:latin typeface="+mj-lt"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质点系的功能原理</a:t>
            </a:r>
          </a:p>
        </p:txBody>
      </p:sp>
      <p:sp>
        <p:nvSpPr>
          <p:cNvPr id="190481" name="Rectangle 17"/>
          <p:cNvSpPr>
            <a:spLocks noChangeArrowheads="1"/>
          </p:cNvSpPr>
          <p:nvPr/>
        </p:nvSpPr>
        <p:spPr bwMode="auto">
          <a:xfrm>
            <a:off x="473075" y="5105400"/>
            <a:ext cx="8366125" cy="1117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Tx/>
              <a:buBlip>
                <a:blip r:embed="rId15"/>
              </a:buBlip>
            </a:pPr>
            <a:r>
              <a:rPr lang="en-US" altLang="zh-CN" sz="2800" dirty="0">
                <a:solidFill>
                  <a:srgbClr val="CC0000"/>
                </a:solidFill>
                <a:latin typeface="Arial" charset="0"/>
              </a:rPr>
              <a:t>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质点系的功能原理</a:t>
            </a:r>
            <a:r>
              <a:rPr lang="en-US" altLang="zh-CN" sz="2800" b="1" dirty="0">
                <a:solidFill>
                  <a:srgbClr val="C00000"/>
                </a:solidFill>
                <a:latin typeface="Arial" charset="0"/>
              </a:rPr>
              <a:t>:   </a:t>
            </a:r>
            <a:r>
              <a:rPr lang="zh-CN" altLang="en-US" sz="2800" dirty="0">
                <a:latin typeface="Arial" charset="0"/>
              </a:rPr>
              <a:t>质点系机械能的增量等于外力和非保守内力作功之和 </a:t>
            </a:r>
            <a:r>
              <a:rPr lang="en-US" altLang="zh-CN" sz="2800" dirty="0">
                <a:latin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9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81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736" name="Object 1024"/>
          <p:cNvGraphicFramePr>
            <a:graphicFrameLocks noChangeAspect="1"/>
          </p:cNvGraphicFramePr>
          <p:nvPr/>
        </p:nvGraphicFramePr>
        <p:xfrm>
          <a:off x="5715000" y="3886200"/>
          <a:ext cx="25146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266" name="Equation" r:id="rId3" imgW="774360" imgH="241200" progId="Equation.3">
                  <p:embed/>
                </p:oleObj>
              </mc:Choice>
              <mc:Fallback>
                <p:oleObj name="Equation" r:id="rId3" imgW="774360" imgH="2412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886200"/>
                        <a:ext cx="2514600" cy="7318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63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37" name="Object 1025"/>
          <p:cNvGraphicFramePr>
            <a:graphicFrameLocks noChangeAspect="1"/>
          </p:cNvGraphicFramePr>
          <p:nvPr/>
        </p:nvGraphicFramePr>
        <p:xfrm>
          <a:off x="1143000" y="3886200"/>
          <a:ext cx="38862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267" name="Equation" r:id="rId5" imgW="1409400" imgH="241200" progId="Equation.3">
                  <p:embed/>
                </p:oleObj>
              </mc:Choice>
              <mc:Fallback>
                <p:oleObj name="Equation" r:id="rId5" imgW="1409400" imgH="2412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86200"/>
                        <a:ext cx="38862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2" name="Rectangle 4"/>
          <p:cNvSpPr>
            <a:spLocks noChangeArrowheads="1"/>
          </p:cNvSpPr>
          <p:nvPr/>
        </p:nvSpPr>
        <p:spPr bwMode="auto">
          <a:xfrm>
            <a:off x="1295400" y="2171700"/>
            <a:ext cx="5867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43000" y="1839912"/>
            <a:ext cx="6477000" cy="674688"/>
            <a:chOff x="912" y="1344"/>
            <a:chExt cx="4080" cy="425"/>
          </a:xfrm>
        </p:grpSpPr>
        <p:sp>
          <p:nvSpPr>
            <p:cNvPr id="191494" name="Text Box 6"/>
            <p:cNvSpPr txBox="1">
              <a:spLocks noChangeArrowheads="1"/>
            </p:cNvSpPr>
            <p:nvPr/>
          </p:nvSpPr>
          <p:spPr bwMode="auto">
            <a:xfrm>
              <a:off x="912" y="1368"/>
              <a:ext cx="43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00"/>
                  </a:solidFill>
                  <a:latin typeface="Arial" charset="0"/>
                </a:rPr>
                <a:t>当</a:t>
              </a:r>
              <a:endParaRPr lang="zh-CN" altLang="en-US" sz="2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44739" name="Object 1027"/>
            <p:cNvGraphicFramePr>
              <a:graphicFrameLocks noChangeAspect="1"/>
            </p:cNvGraphicFramePr>
            <p:nvPr/>
          </p:nvGraphicFramePr>
          <p:xfrm>
            <a:off x="1344" y="1344"/>
            <a:ext cx="1680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2268" name="Equation" r:id="rId7" imgW="888840" imgH="241200" progId="Equation.3">
                    <p:embed/>
                  </p:oleObj>
                </mc:Choice>
                <mc:Fallback>
                  <p:oleObj name="Equation" r:id="rId7" imgW="888840" imgH="241200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344"/>
                          <a:ext cx="1680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FFFCC"/>
                                  </a:gs>
                                  <a:gs pos="10000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99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4740" name="Object 1028"/>
            <p:cNvGraphicFramePr>
              <a:graphicFrameLocks noChangeAspect="1"/>
            </p:cNvGraphicFramePr>
            <p:nvPr/>
          </p:nvGraphicFramePr>
          <p:xfrm>
            <a:off x="4010" y="1368"/>
            <a:ext cx="98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2269" name="公式" r:id="rId9" imgW="711000" imgH="330120" progId="Equation.3">
                    <p:embed/>
                  </p:oleObj>
                </mc:Choice>
                <mc:Fallback>
                  <p:oleObj name="公式" r:id="rId9" imgW="711000" imgH="330120" progId="Equation.3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" y="1368"/>
                          <a:ext cx="982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1497" name="Text Box 9"/>
            <p:cNvSpPr txBox="1">
              <a:spLocks noChangeArrowheads="1"/>
            </p:cNvSpPr>
            <p:nvPr/>
          </p:nvSpPr>
          <p:spPr bwMode="auto">
            <a:xfrm>
              <a:off x="3150" y="1368"/>
              <a:ext cx="81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时，</a:t>
              </a:r>
              <a:r>
                <a:rPr lang="zh-CN" altLang="en-US" sz="2800">
                  <a:solidFill>
                    <a:srgbClr val="000000"/>
                  </a:solidFill>
                </a:rPr>
                <a:t>有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381000" y="990600"/>
            <a:ext cx="8305800" cy="717550"/>
            <a:chOff x="240" y="844"/>
            <a:chExt cx="5232" cy="452"/>
          </a:xfrm>
        </p:grpSpPr>
        <p:graphicFrame>
          <p:nvGraphicFramePr>
            <p:cNvPr id="244738" name="Object 1026"/>
            <p:cNvGraphicFramePr>
              <a:graphicFrameLocks noChangeAspect="1"/>
            </p:cNvGraphicFramePr>
            <p:nvPr/>
          </p:nvGraphicFramePr>
          <p:xfrm>
            <a:off x="1824" y="844"/>
            <a:ext cx="3648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2270" name="Equation" r:id="rId11" imgW="2184120" imgH="253800" progId="Equation.3">
                    <p:embed/>
                  </p:oleObj>
                </mc:Choice>
                <mc:Fallback>
                  <p:oleObj name="Equation" r:id="rId11" imgW="2184120" imgH="253800" progId="Equation.3">
                    <p:embed/>
                    <p:pic>
                      <p:nvPicPr>
                        <p:cNvPr id="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844"/>
                          <a:ext cx="3648" cy="4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1500" name="Text Box 12"/>
            <p:cNvSpPr txBox="1">
              <a:spLocks noChangeArrowheads="1"/>
            </p:cNvSpPr>
            <p:nvPr/>
          </p:nvSpPr>
          <p:spPr bwMode="auto">
            <a:xfrm>
              <a:off x="240" y="884"/>
              <a:ext cx="18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13"/>
                </a:buBlip>
              </a:pPr>
              <a:r>
                <a:rPr lang="en-US" altLang="zh-CN" sz="2800"/>
                <a:t>       </a:t>
              </a:r>
              <a:r>
                <a:rPr lang="zh-CN" altLang="en-US" sz="2800"/>
                <a:t>功能原理</a:t>
              </a:r>
            </a:p>
          </p:txBody>
        </p:sp>
      </p:grpSp>
      <p:sp>
        <p:nvSpPr>
          <p:cNvPr id="191501" name="Rectangle 13"/>
          <p:cNvSpPr>
            <a:spLocks noChangeArrowheads="1"/>
          </p:cNvSpPr>
          <p:nvPr/>
        </p:nvSpPr>
        <p:spPr bwMode="auto">
          <a:xfrm>
            <a:off x="374650" y="381000"/>
            <a:ext cx="4578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  <a:latin typeface="+mj-lt"/>
              </a:rPr>
              <a:t>8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charset="0"/>
              </a:rPr>
              <a:t>.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</a:rPr>
              <a:t>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机械能守恒定律</a:t>
            </a:r>
          </a:p>
        </p:txBody>
      </p:sp>
      <p:sp>
        <p:nvSpPr>
          <p:cNvPr id="191504" name="Rectangle 16"/>
          <p:cNvSpPr>
            <a:spLocks noChangeArrowheads="1"/>
          </p:cNvSpPr>
          <p:nvPr/>
        </p:nvSpPr>
        <p:spPr bwMode="auto">
          <a:xfrm>
            <a:off x="304800" y="2667000"/>
            <a:ext cx="8610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13"/>
              </a:buBlip>
            </a:pPr>
            <a:r>
              <a:rPr lang="en-US" altLang="zh-CN" sz="2800" dirty="0">
                <a:solidFill>
                  <a:srgbClr val="000000"/>
                </a:solidFill>
                <a:latin typeface="Arial" charset="0"/>
              </a:rPr>
              <a:t>     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</a:rPr>
              <a:t>机械能守恒定律     </a:t>
            </a:r>
            <a:r>
              <a:rPr lang="zh-CN" altLang="en-US" sz="2800" dirty="0">
                <a:latin typeface="Arial" charset="0"/>
              </a:rPr>
              <a:t>只有保守内力作功的情况下，质点系的机械能保持不变 </a:t>
            </a:r>
            <a:r>
              <a:rPr lang="en-US" altLang="zh-CN" sz="2800" dirty="0">
                <a:latin typeface="Arial" charset="0"/>
              </a:rPr>
              <a:t>.  </a:t>
            </a:r>
            <a:endParaRPr lang="en-US" altLang="zh-CN" sz="2800" dirty="0">
              <a:solidFill>
                <a:srgbClr val="CC0000"/>
              </a:solidFill>
              <a:latin typeface="Arial" charset="0"/>
            </a:endParaRP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304800" y="4724400"/>
            <a:ext cx="8534400" cy="1574800"/>
            <a:chOff x="192" y="3072"/>
            <a:chExt cx="5376" cy="992"/>
          </a:xfrm>
        </p:grpSpPr>
        <p:sp>
          <p:nvSpPr>
            <p:cNvPr id="191506" name="Rectangle 18"/>
            <p:cNvSpPr>
              <a:spLocks noChangeArrowheads="1"/>
            </p:cNvSpPr>
            <p:nvPr/>
          </p:nvSpPr>
          <p:spPr bwMode="auto">
            <a:xfrm>
              <a:off x="240" y="3072"/>
              <a:ext cx="2976" cy="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buFontTx/>
                <a:buBlip>
                  <a:blip r:embed="rId13"/>
                </a:buBlip>
              </a:pPr>
              <a:r>
                <a:rPr lang="en-US" altLang="zh-CN" sz="2800">
                  <a:latin typeface="Arial" charset="0"/>
                </a:rPr>
                <a:t>     </a:t>
              </a:r>
              <a:r>
                <a:rPr lang="zh-CN" altLang="en-US" sz="2800">
                  <a:latin typeface="Arial" charset="0"/>
                </a:rPr>
                <a:t>守恒定律的</a:t>
              </a:r>
              <a:r>
                <a:rPr lang="zh-CN" altLang="en-US" sz="2800">
                  <a:solidFill>
                    <a:srgbClr val="CC0000"/>
                  </a:solidFill>
                  <a:latin typeface="Arial" charset="0"/>
                </a:rPr>
                <a:t>意义</a:t>
              </a:r>
            </a:p>
          </p:txBody>
        </p:sp>
        <p:sp>
          <p:nvSpPr>
            <p:cNvPr id="191508" name="Rectangle 20"/>
            <p:cNvSpPr>
              <a:spLocks noChangeArrowheads="1"/>
            </p:cNvSpPr>
            <p:nvPr/>
          </p:nvSpPr>
          <p:spPr bwMode="auto">
            <a:xfrm>
              <a:off x="192" y="3360"/>
              <a:ext cx="5376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dirty="0">
                  <a:latin typeface="Arial" charset="0"/>
                </a:rPr>
                <a:t>        </a:t>
              </a:r>
              <a:r>
                <a:rPr lang="zh-CN" altLang="en-US" sz="2800" dirty="0">
                  <a:latin typeface="Arial" charset="0"/>
                </a:rPr>
                <a:t>不究过程细节而能对系统的状态下结论，这是各个守恒定律的特点和优点 </a:t>
              </a:r>
              <a:r>
                <a:rPr lang="en-US" altLang="zh-CN" sz="2800" dirty="0">
                  <a:latin typeface="Arial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4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04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304800" y="228600"/>
            <a:ext cx="8686800" cy="3048000"/>
            <a:chOff x="192" y="144"/>
            <a:chExt cx="5472" cy="1920"/>
          </a:xfrm>
        </p:grpSpPr>
        <p:sp>
          <p:nvSpPr>
            <p:cNvPr id="192514" name="Text Box 2"/>
            <p:cNvSpPr txBox="1">
              <a:spLocks noChangeArrowheads="1"/>
            </p:cNvSpPr>
            <p:nvPr/>
          </p:nvSpPr>
          <p:spPr bwMode="auto">
            <a:xfrm>
              <a:off x="576" y="526"/>
              <a:ext cx="5088" cy="1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2800" dirty="0"/>
                <a:t>        </a:t>
              </a:r>
              <a:r>
                <a:rPr lang="zh-CN" altLang="en-US" sz="2800" dirty="0"/>
                <a:t>如图的系统，物体 </a:t>
              </a:r>
              <a:r>
                <a:rPr lang="en-US" altLang="zh-CN" sz="2800" dirty="0"/>
                <a:t>A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B </a:t>
              </a:r>
              <a:r>
                <a:rPr lang="zh-CN" altLang="en-US" sz="2800" dirty="0"/>
                <a:t>置于光滑的桌面上，物体 </a:t>
              </a:r>
              <a:r>
                <a:rPr lang="en-US" altLang="zh-CN" sz="2800" dirty="0"/>
                <a:t>A </a:t>
              </a:r>
              <a:r>
                <a:rPr lang="zh-CN" altLang="en-US" sz="2800" dirty="0"/>
                <a:t>和 </a:t>
              </a:r>
              <a:r>
                <a:rPr lang="en-US" altLang="zh-CN" sz="2800" dirty="0"/>
                <a:t>C,   B </a:t>
              </a:r>
              <a:r>
                <a:rPr lang="zh-CN" altLang="en-US" sz="2800" dirty="0"/>
                <a:t>和 </a:t>
              </a:r>
              <a:r>
                <a:rPr lang="en-US" altLang="zh-CN" sz="2800" dirty="0"/>
                <a:t>D </a:t>
              </a:r>
              <a:r>
                <a:rPr lang="zh-CN" altLang="en-US" sz="2800" dirty="0"/>
                <a:t>之间摩擦因数均不为零，首先用外力沿水平方向相向推压 </a:t>
              </a:r>
              <a:r>
                <a:rPr lang="en-US" altLang="zh-CN" sz="2800" dirty="0"/>
                <a:t>A </a:t>
              </a:r>
              <a:r>
                <a:rPr lang="zh-CN" altLang="en-US" sz="2800" dirty="0"/>
                <a:t>和 </a:t>
              </a:r>
              <a:r>
                <a:rPr lang="en-US" altLang="zh-CN" sz="2800" dirty="0"/>
                <a:t>B</a:t>
              </a:r>
              <a:r>
                <a:rPr lang="zh-CN" altLang="en-US" sz="2800" dirty="0"/>
                <a:t>， 使弹簧压缩，后拆除外力， 则 </a:t>
              </a:r>
              <a:r>
                <a:rPr lang="en-US" altLang="zh-CN" sz="2800" dirty="0"/>
                <a:t>A </a:t>
              </a:r>
              <a:r>
                <a:rPr lang="zh-CN" altLang="en-US" sz="2800" dirty="0"/>
                <a:t>和 </a:t>
              </a:r>
              <a:r>
                <a:rPr lang="en-US" altLang="zh-CN" sz="2800" dirty="0"/>
                <a:t>B </a:t>
              </a:r>
              <a:r>
                <a:rPr lang="zh-CN" altLang="en-US" sz="2800" dirty="0"/>
                <a:t>弹开过程中，  对 </a:t>
              </a:r>
              <a:r>
                <a:rPr lang="en-US" altLang="zh-CN" sz="2800" dirty="0"/>
                <a:t>A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B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C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D </a:t>
              </a:r>
              <a:r>
                <a:rPr lang="zh-CN" altLang="en-US" sz="2800" dirty="0"/>
                <a:t>组成的系统 </a:t>
              </a:r>
              <a:endParaRPr lang="zh-CN" altLang="zh-CN" sz="2800" dirty="0"/>
            </a:p>
          </p:txBody>
        </p:sp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92" y="144"/>
              <a:ext cx="1008" cy="528"/>
              <a:chOff x="192" y="144"/>
              <a:chExt cx="1008" cy="528"/>
            </a:xfrm>
          </p:grpSpPr>
          <p:sp>
            <p:nvSpPr>
              <p:cNvPr id="192516" name="AutoShape 4"/>
              <p:cNvSpPr>
                <a:spLocks noChangeArrowheads="1"/>
              </p:cNvSpPr>
              <p:nvPr/>
            </p:nvSpPr>
            <p:spPr bwMode="auto">
              <a:xfrm>
                <a:off x="192" y="144"/>
                <a:ext cx="816" cy="528"/>
              </a:xfrm>
              <a:prstGeom prst="horizontalScroll">
                <a:avLst>
                  <a:gd name="adj" fmla="val 12500"/>
                </a:avLst>
              </a:prstGeom>
              <a:gradFill rotWithShape="0">
                <a:gsLst>
                  <a:gs pos="0">
                    <a:schemeClr val="accent1"/>
                  </a:gs>
                  <a:gs pos="5000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13500000" algn="ctr" rotWithShape="0">
                  <a:srgbClr val="009900"/>
                </a:outerShdw>
              </a:effec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17" name="Text Box 5"/>
              <p:cNvSpPr txBox="1">
                <a:spLocks noChangeArrowheads="1"/>
              </p:cNvSpPr>
              <p:nvPr/>
            </p:nvSpPr>
            <p:spPr bwMode="auto">
              <a:xfrm>
                <a:off x="288" y="240"/>
                <a:ext cx="91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CC0000"/>
                    </a:solidFill>
                  </a:rPr>
                  <a:t>讨论</a:t>
                </a:r>
              </a:p>
            </p:txBody>
          </p:sp>
        </p:grpSp>
      </p:grpSp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1371600" y="3228975"/>
            <a:ext cx="59436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A</a:t>
            </a:r>
            <a:r>
              <a:rPr lang="zh-CN" altLang="en-US" sz="2800" dirty="0"/>
              <a:t>）动量守恒，机械能守恒  </a:t>
            </a:r>
            <a:r>
              <a:rPr lang="en-US" altLang="zh-CN" sz="2800" dirty="0"/>
              <a:t>.           </a:t>
            </a:r>
            <a:r>
              <a:rPr lang="zh-CN" altLang="en-US" sz="2800" dirty="0" smtClean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B</a:t>
            </a:r>
            <a:r>
              <a:rPr lang="zh-CN" altLang="en-US" sz="2800" dirty="0"/>
              <a:t>）动量不守恒，机械能守恒 </a:t>
            </a:r>
            <a:r>
              <a:rPr lang="en-US" altLang="zh-CN" sz="2800" dirty="0"/>
              <a:t>.        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C</a:t>
            </a:r>
            <a:r>
              <a:rPr lang="zh-CN" altLang="en-US" sz="2800" dirty="0"/>
              <a:t>）动量不守恒，机械能不守恒 </a:t>
            </a:r>
            <a:r>
              <a:rPr lang="en-US" altLang="zh-CN" sz="2800" dirty="0"/>
              <a:t>.    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D</a:t>
            </a:r>
            <a:r>
              <a:rPr lang="zh-CN" altLang="en-US" sz="2800" dirty="0"/>
              <a:t>）动量守恒，机械能不一定守恒 </a:t>
            </a:r>
            <a:r>
              <a:rPr lang="en-US" altLang="zh-CN" sz="2800" dirty="0"/>
              <a:t>.</a:t>
            </a:r>
          </a:p>
        </p:txBody>
      </p:sp>
      <p:sp>
        <p:nvSpPr>
          <p:cNvPr id="192519" name="AutoShape 7"/>
          <p:cNvSpPr>
            <a:spLocks noChangeArrowheads="1"/>
          </p:cNvSpPr>
          <p:nvPr/>
        </p:nvSpPr>
        <p:spPr bwMode="auto">
          <a:xfrm>
            <a:off x="914400" y="4419600"/>
            <a:ext cx="609600" cy="609600"/>
          </a:xfrm>
          <a:prstGeom prst="star5">
            <a:avLst/>
          </a:prstGeom>
          <a:gradFill rotWithShape="0">
            <a:gsLst>
              <a:gs pos="0">
                <a:srgbClr val="FFFFFF"/>
              </a:gs>
              <a:gs pos="100000">
                <a:srgbClr val="FF5050"/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838200" y="5105400"/>
            <a:ext cx="7696200" cy="1295400"/>
            <a:chOff x="528" y="3216"/>
            <a:chExt cx="4848" cy="816"/>
          </a:xfrm>
        </p:grpSpPr>
        <p:sp>
          <p:nvSpPr>
            <p:cNvPr id="192521" name="Rectangle 9"/>
            <p:cNvSpPr>
              <a:spLocks noChangeArrowheads="1"/>
            </p:cNvSpPr>
            <p:nvPr/>
          </p:nvSpPr>
          <p:spPr bwMode="auto">
            <a:xfrm>
              <a:off x="528" y="3216"/>
              <a:ext cx="484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92522" name="Text Box 10" descr="蓝色砂纸"/>
            <p:cNvSpPr txBox="1">
              <a:spLocks noChangeArrowheads="1"/>
            </p:cNvSpPr>
            <p:nvPr/>
          </p:nvSpPr>
          <p:spPr bwMode="auto">
            <a:xfrm>
              <a:off x="2640" y="3315"/>
              <a:ext cx="288" cy="333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92523" name="Line 11"/>
            <p:cNvSpPr>
              <a:spLocks noChangeShapeType="1"/>
            </p:cNvSpPr>
            <p:nvPr/>
          </p:nvSpPr>
          <p:spPr bwMode="auto">
            <a:xfrm>
              <a:off x="672" y="3935"/>
              <a:ext cx="460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92524" name="Text Box 12" descr="纸莎草纸"/>
            <p:cNvSpPr txBox="1">
              <a:spLocks noChangeArrowheads="1"/>
            </p:cNvSpPr>
            <p:nvPr/>
          </p:nvSpPr>
          <p:spPr bwMode="auto">
            <a:xfrm>
              <a:off x="2557" y="3594"/>
              <a:ext cx="467" cy="33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B</a:t>
              </a:r>
            </a:p>
          </p:txBody>
        </p: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1359" y="3683"/>
              <a:ext cx="1213" cy="144"/>
              <a:chOff x="1104" y="2064"/>
              <a:chExt cx="2400" cy="384"/>
            </a:xfrm>
          </p:grpSpPr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>
                <a:off x="1469" y="2064"/>
                <a:ext cx="208" cy="384"/>
                <a:chOff x="1632" y="2064"/>
                <a:chExt cx="336" cy="384"/>
              </a:xfrm>
            </p:grpSpPr>
            <p:sp>
              <p:nvSpPr>
                <p:cNvPr id="192527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28" name="Line 16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" name="Group 17"/>
              <p:cNvGrpSpPr>
                <a:grpSpLocks/>
              </p:cNvGrpSpPr>
              <p:nvPr/>
            </p:nvGrpSpPr>
            <p:grpSpPr bwMode="auto">
              <a:xfrm>
                <a:off x="1677" y="2064"/>
                <a:ext cx="209" cy="384"/>
                <a:chOff x="1632" y="2064"/>
                <a:chExt cx="336" cy="384"/>
              </a:xfrm>
            </p:grpSpPr>
            <p:sp>
              <p:nvSpPr>
                <p:cNvPr id="192530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31" name="Line 19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1886" y="2064"/>
                <a:ext cx="209" cy="384"/>
                <a:chOff x="1632" y="2064"/>
                <a:chExt cx="336" cy="384"/>
              </a:xfrm>
            </p:grpSpPr>
            <p:sp>
              <p:nvSpPr>
                <p:cNvPr id="192533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34" name="Line 22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9" name="Group 23"/>
              <p:cNvGrpSpPr>
                <a:grpSpLocks/>
              </p:cNvGrpSpPr>
              <p:nvPr/>
            </p:nvGrpSpPr>
            <p:grpSpPr bwMode="auto">
              <a:xfrm>
                <a:off x="2095" y="2064"/>
                <a:ext cx="209" cy="384"/>
                <a:chOff x="1632" y="2064"/>
                <a:chExt cx="336" cy="384"/>
              </a:xfrm>
            </p:grpSpPr>
            <p:sp>
              <p:nvSpPr>
                <p:cNvPr id="192536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37" name="Line 25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0" name="Group 26"/>
              <p:cNvGrpSpPr>
                <a:grpSpLocks/>
              </p:cNvGrpSpPr>
              <p:nvPr/>
            </p:nvGrpSpPr>
            <p:grpSpPr bwMode="auto">
              <a:xfrm>
                <a:off x="2304" y="2064"/>
                <a:ext cx="209" cy="384"/>
                <a:chOff x="1632" y="2064"/>
                <a:chExt cx="336" cy="384"/>
              </a:xfrm>
            </p:grpSpPr>
            <p:sp>
              <p:nvSpPr>
                <p:cNvPr id="192539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40" name="Line 28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1" name="Group 29"/>
              <p:cNvGrpSpPr>
                <a:grpSpLocks/>
              </p:cNvGrpSpPr>
              <p:nvPr/>
            </p:nvGrpSpPr>
            <p:grpSpPr bwMode="auto">
              <a:xfrm>
                <a:off x="2513" y="2064"/>
                <a:ext cx="209" cy="384"/>
                <a:chOff x="1632" y="2064"/>
                <a:chExt cx="336" cy="384"/>
              </a:xfrm>
            </p:grpSpPr>
            <p:sp>
              <p:nvSpPr>
                <p:cNvPr id="19254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43" name="Line 31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2" name="Group 32"/>
              <p:cNvGrpSpPr>
                <a:grpSpLocks/>
              </p:cNvGrpSpPr>
              <p:nvPr/>
            </p:nvGrpSpPr>
            <p:grpSpPr bwMode="auto">
              <a:xfrm>
                <a:off x="2722" y="2064"/>
                <a:ext cx="209" cy="384"/>
                <a:chOff x="1632" y="2064"/>
                <a:chExt cx="336" cy="384"/>
              </a:xfrm>
            </p:grpSpPr>
            <p:sp>
              <p:nvSpPr>
                <p:cNvPr id="192545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46" name="Line 34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3" name="Group 35"/>
              <p:cNvGrpSpPr>
                <a:grpSpLocks/>
              </p:cNvGrpSpPr>
              <p:nvPr/>
            </p:nvGrpSpPr>
            <p:grpSpPr bwMode="auto">
              <a:xfrm>
                <a:off x="2931" y="2064"/>
                <a:ext cx="208" cy="384"/>
                <a:chOff x="1632" y="2064"/>
                <a:chExt cx="336" cy="384"/>
              </a:xfrm>
            </p:grpSpPr>
            <p:sp>
              <p:nvSpPr>
                <p:cNvPr id="192548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49" name="Line 37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sp>
            <p:nvSpPr>
              <p:cNvPr id="192550" name="Line 38"/>
              <p:cNvSpPr>
                <a:spLocks noChangeShapeType="1"/>
              </p:cNvSpPr>
              <p:nvPr/>
            </p:nvSpPr>
            <p:spPr bwMode="auto">
              <a:xfrm flipH="1">
                <a:off x="1290" y="2064"/>
                <a:ext cx="59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51" name="Line 39"/>
              <p:cNvSpPr>
                <a:spLocks noChangeShapeType="1"/>
              </p:cNvSpPr>
              <p:nvPr/>
            </p:nvSpPr>
            <p:spPr bwMode="auto">
              <a:xfrm>
                <a:off x="1349" y="2064"/>
                <a:ext cx="12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52" name="Line 40"/>
              <p:cNvSpPr>
                <a:spLocks noChangeShapeType="1"/>
              </p:cNvSpPr>
              <p:nvPr/>
            </p:nvSpPr>
            <p:spPr bwMode="auto">
              <a:xfrm>
                <a:off x="1104" y="235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53" name="Line 41"/>
              <p:cNvSpPr>
                <a:spLocks noChangeShapeType="1"/>
              </p:cNvSpPr>
              <p:nvPr/>
            </p:nvSpPr>
            <p:spPr bwMode="auto">
              <a:xfrm flipH="1">
                <a:off x="3139" y="2064"/>
                <a:ext cx="9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54" name="Line 42"/>
              <p:cNvSpPr>
                <a:spLocks noChangeShapeType="1"/>
              </p:cNvSpPr>
              <p:nvPr/>
            </p:nvSpPr>
            <p:spPr bwMode="auto">
              <a:xfrm>
                <a:off x="3229" y="2064"/>
                <a:ext cx="8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55" name="Line 43"/>
              <p:cNvSpPr>
                <a:spLocks noChangeShapeType="1"/>
              </p:cNvSpPr>
              <p:nvPr/>
            </p:nvSpPr>
            <p:spPr bwMode="auto">
              <a:xfrm>
                <a:off x="3318" y="2304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4" name="Group 44"/>
            <p:cNvGrpSpPr>
              <a:grpSpLocks/>
            </p:cNvGrpSpPr>
            <p:nvPr/>
          </p:nvGrpSpPr>
          <p:grpSpPr bwMode="auto">
            <a:xfrm>
              <a:off x="3986" y="3683"/>
              <a:ext cx="526" cy="144"/>
              <a:chOff x="1104" y="2064"/>
              <a:chExt cx="2400" cy="384"/>
            </a:xfrm>
          </p:grpSpPr>
          <p:grpSp>
            <p:nvGrpSpPr>
              <p:cNvPr id="15" name="Group 45"/>
              <p:cNvGrpSpPr>
                <a:grpSpLocks/>
              </p:cNvGrpSpPr>
              <p:nvPr/>
            </p:nvGrpSpPr>
            <p:grpSpPr bwMode="auto">
              <a:xfrm>
                <a:off x="1469" y="2064"/>
                <a:ext cx="208" cy="384"/>
                <a:chOff x="1632" y="2064"/>
                <a:chExt cx="336" cy="384"/>
              </a:xfrm>
            </p:grpSpPr>
            <p:sp>
              <p:nvSpPr>
                <p:cNvPr id="192558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59" name="Line 47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6" name="Group 48"/>
              <p:cNvGrpSpPr>
                <a:grpSpLocks/>
              </p:cNvGrpSpPr>
              <p:nvPr/>
            </p:nvGrpSpPr>
            <p:grpSpPr bwMode="auto">
              <a:xfrm>
                <a:off x="1677" y="2064"/>
                <a:ext cx="209" cy="384"/>
                <a:chOff x="1632" y="2064"/>
                <a:chExt cx="336" cy="384"/>
              </a:xfrm>
            </p:grpSpPr>
            <p:sp>
              <p:nvSpPr>
                <p:cNvPr id="192561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62" name="Line 50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7" name="Group 51"/>
              <p:cNvGrpSpPr>
                <a:grpSpLocks/>
              </p:cNvGrpSpPr>
              <p:nvPr/>
            </p:nvGrpSpPr>
            <p:grpSpPr bwMode="auto">
              <a:xfrm>
                <a:off x="1886" y="2064"/>
                <a:ext cx="209" cy="384"/>
                <a:chOff x="1632" y="2064"/>
                <a:chExt cx="336" cy="384"/>
              </a:xfrm>
            </p:grpSpPr>
            <p:sp>
              <p:nvSpPr>
                <p:cNvPr id="192564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65" name="Line 53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8" name="Group 54"/>
              <p:cNvGrpSpPr>
                <a:grpSpLocks/>
              </p:cNvGrpSpPr>
              <p:nvPr/>
            </p:nvGrpSpPr>
            <p:grpSpPr bwMode="auto">
              <a:xfrm>
                <a:off x="2095" y="2064"/>
                <a:ext cx="209" cy="384"/>
                <a:chOff x="1632" y="2064"/>
                <a:chExt cx="336" cy="384"/>
              </a:xfrm>
            </p:grpSpPr>
            <p:sp>
              <p:nvSpPr>
                <p:cNvPr id="192567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68" name="Line 56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9" name="Group 57"/>
              <p:cNvGrpSpPr>
                <a:grpSpLocks/>
              </p:cNvGrpSpPr>
              <p:nvPr/>
            </p:nvGrpSpPr>
            <p:grpSpPr bwMode="auto">
              <a:xfrm>
                <a:off x="2304" y="2064"/>
                <a:ext cx="209" cy="384"/>
                <a:chOff x="1632" y="2064"/>
                <a:chExt cx="336" cy="384"/>
              </a:xfrm>
            </p:grpSpPr>
            <p:sp>
              <p:nvSpPr>
                <p:cNvPr id="192570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71" name="Line 59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0" name="Group 60"/>
              <p:cNvGrpSpPr>
                <a:grpSpLocks/>
              </p:cNvGrpSpPr>
              <p:nvPr/>
            </p:nvGrpSpPr>
            <p:grpSpPr bwMode="auto">
              <a:xfrm>
                <a:off x="2513" y="2064"/>
                <a:ext cx="209" cy="384"/>
                <a:chOff x="1632" y="2064"/>
                <a:chExt cx="336" cy="384"/>
              </a:xfrm>
            </p:grpSpPr>
            <p:sp>
              <p:nvSpPr>
                <p:cNvPr id="192573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74" name="Line 62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1" name="Group 63"/>
              <p:cNvGrpSpPr>
                <a:grpSpLocks/>
              </p:cNvGrpSpPr>
              <p:nvPr/>
            </p:nvGrpSpPr>
            <p:grpSpPr bwMode="auto">
              <a:xfrm>
                <a:off x="2722" y="2064"/>
                <a:ext cx="209" cy="384"/>
                <a:chOff x="1632" y="2064"/>
                <a:chExt cx="336" cy="384"/>
              </a:xfrm>
            </p:grpSpPr>
            <p:sp>
              <p:nvSpPr>
                <p:cNvPr id="192576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77" name="Line 65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2" name="Group 66"/>
              <p:cNvGrpSpPr>
                <a:grpSpLocks/>
              </p:cNvGrpSpPr>
              <p:nvPr/>
            </p:nvGrpSpPr>
            <p:grpSpPr bwMode="auto">
              <a:xfrm>
                <a:off x="2931" y="2064"/>
                <a:ext cx="208" cy="384"/>
                <a:chOff x="1632" y="2064"/>
                <a:chExt cx="336" cy="384"/>
              </a:xfrm>
            </p:grpSpPr>
            <p:sp>
              <p:nvSpPr>
                <p:cNvPr id="192579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92580" name="Line 68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sp>
            <p:nvSpPr>
              <p:cNvPr id="192581" name="Line 69"/>
              <p:cNvSpPr>
                <a:spLocks noChangeShapeType="1"/>
              </p:cNvSpPr>
              <p:nvPr/>
            </p:nvSpPr>
            <p:spPr bwMode="auto">
              <a:xfrm flipH="1">
                <a:off x="1290" y="2064"/>
                <a:ext cx="59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82" name="Line 70"/>
              <p:cNvSpPr>
                <a:spLocks noChangeShapeType="1"/>
              </p:cNvSpPr>
              <p:nvPr/>
            </p:nvSpPr>
            <p:spPr bwMode="auto">
              <a:xfrm>
                <a:off x="1349" y="2064"/>
                <a:ext cx="12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83" name="Line 71"/>
              <p:cNvSpPr>
                <a:spLocks noChangeShapeType="1"/>
              </p:cNvSpPr>
              <p:nvPr/>
            </p:nvSpPr>
            <p:spPr bwMode="auto">
              <a:xfrm>
                <a:off x="1104" y="235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84" name="Line 72"/>
              <p:cNvSpPr>
                <a:spLocks noChangeShapeType="1"/>
              </p:cNvSpPr>
              <p:nvPr/>
            </p:nvSpPr>
            <p:spPr bwMode="auto">
              <a:xfrm flipH="1">
                <a:off x="3139" y="2064"/>
                <a:ext cx="9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85" name="Line 73"/>
              <p:cNvSpPr>
                <a:spLocks noChangeShapeType="1"/>
              </p:cNvSpPr>
              <p:nvPr/>
            </p:nvSpPr>
            <p:spPr bwMode="auto">
              <a:xfrm>
                <a:off x="3229" y="2064"/>
                <a:ext cx="8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2586" name="Line 74"/>
              <p:cNvSpPr>
                <a:spLocks noChangeShapeType="1"/>
              </p:cNvSpPr>
              <p:nvPr/>
            </p:nvSpPr>
            <p:spPr bwMode="auto">
              <a:xfrm>
                <a:off x="3318" y="2304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92587" name="Text Box 75" descr="羊皮纸"/>
            <p:cNvSpPr txBox="1">
              <a:spLocks noChangeArrowheads="1"/>
            </p:cNvSpPr>
            <p:nvPr/>
          </p:nvSpPr>
          <p:spPr bwMode="auto">
            <a:xfrm>
              <a:off x="1008" y="3324"/>
              <a:ext cx="288" cy="333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92588" name="Text Box 76" descr="粉色砂纸"/>
            <p:cNvSpPr txBox="1">
              <a:spLocks noChangeArrowheads="1"/>
            </p:cNvSpPr>
            <p:nvPr/>
          </p:nvSpPr>
          <p:spPr bwMode="auto">
            <a:xfrm>
              <a:off x="925" y="3603"/>
              <a:ext cx="467" cy="333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92589" name="Text Box 77" descr="蓝色砂纸"/>
            <p:cNvSpPr txBox="1">
              <a:spLocks noChangeArrowheads="1"/>
            </p:cNvSpPr>
            <p:nvPr/>
          </p:nvSpPr>
          <p:spPr bwMode="auto">
            <a:xfrm>
              <a:off x="4595" y="3312"/>
              <a:ext cx="288" cy="333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92590" name="Text Box 78" descr="纸莎草纸"/>
            <p:cNvSpPr txBox="1">
              <a:spLocks noChangeArrowheads="1"/>
            </p:cNvSpPr>
            <p:nvPr/>
          </p:nvSpPr>
          <p:spPr bwMode="auto">
            <a:xfrm>
              <a:off x="4512" y="3591"/>
              <a:ext cx="467" cy="33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92591" name="Text Box 79" descr="羊皮纸"/>
            <p:cNvSpPr txBox="1">
              <a:spLocks noChangeArrowheads="1"/>
            </p:cNvSpPr>
            <p:nvPr/>
          </p:nvSpPr>
          <p:spPr bwMode="auto">
            <a:xfrm>
              <a:off x="3587" y="3321"/>
              <a:ext cx="288" cy="333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92592" name="Text Box 80" descr="粉色砂纸"/>
            <p:cNvSpPr txBox="1">
              <a:spLocks noChangeArrowheads="1"/>
            </p:cNvSpPr>
            <p:nvPr/>
          </p:nvSpPr>
          <p:spPr bwMode="auto">
            <a:xfrm>
              <a:off x="3504" y="3600"/>
              <a:ext cx="467" cy="333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2020/4/10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114425" y="29908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14425" y="34790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39052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436245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914400" y="685800"/>
            <a:ext cx="8077200" cy="244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/>
              <a:t>        </a:t>
            </a:r>
            <a:r>
              <a:rPr lang="zh-CN" altLang="en-US" sz="2800" dirty="0"/>
              <a:t>如图的系统，物体 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 </a:t>
            </a:r>
            <a:r>
              <a:rPr lang="zh-CN" altLang="en-US" sz="2800" dirty="0"/>
              <a:t>置于光滑的桌面上，物体 </a:t>
            </a:r>
            <a:r>
              <a:rPr lang="en-US" altLang="zh-CN" sz="2800" dirty="0"/>
              <a:t>A </a:t>
            </a:r>
            <a:r>
              <a:rPr lang="zh-CN" altLang="en-US" sz="2800" dirty="0"/>
              <a:t>和 </a:t>
            </a:r>
            <a:r>
              <a:rPr lang="en-US" altLang="zh-CN" sz="2800" dirty="0"/>
              <a:t>C,   B </a:t>
            </a:r>
            <a:r>
              <a:rPr lang="zh-CN" altLang="en-US" sz="2800" dirty="0"/>
              <a:t>和 </a:t>
            </a:r>
            <a:r>
              <a:rPr lang="en-US" altLang="zh-CN" sz="2800" dirty="0"/>
              <a:t>D </a:t>
            </a:r>
            <a:r>
              <a:rPr lang="zh-CN" altLang="en-US" sz="2800" dirty="0"/>
              <a:t>之间摩擦因数均不为零，首先用外力沿水平方向相向推压 </a:t>
            </a:r>
            <a:r>
              <a:rPr lang="en-US" altLang="zh-CN" sz="2800" dirty="0"/>
              <a:t>A </a:t>
            </a:r>
            <a:r>
              <a:rPr lang="zh-CN" altLang="en-US" sz="2800" dirty="0"/>
              <a:t>和 </a:t>
            </a:r>
            <a:r>
              <a:rPr lang="en-US" altLang="zh-CN" sz="2800" dirty="0"/>
              <a:t>B</a:t>
            </a:r>
            <a:r>
              <a:rPr lang="zh-CN" altLang="en-US" sz="2800" dirty="0"/>
              <a:t>， 使弹簧压缩，后拆除外力， 则 </a:t>
            </a:r>
            <a:r>
              <a:rPr lang="en-US" altLang="zh-CN" sz="2800" dirty="0"/>
              <a:t>A </a:t>
            </a:r>
            <a:r>
              <a:rPr lang="zh-CN" altLang="en-US" sz="2800" dirty="0"/>
              <a:t>和 </a:t>
            </a:r>
            <a:r>
              <a:rPr lang="en-US" altLang="zh-CN" sz="2800" dirty="0"/>
              <a:t>B </a:t>
            </a:r>
            <a:r>
              <a:rPr lang="zh-CN" altLang="en-US" sz="2800" dirty="0"/>
              <a:t>弹开过程中，  对 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、</a:t>
            </a:r>
            <a:r>
              <a:rPr lang="en-US" altLang="zh-CN" sz="2800" dirty="0"/>
              <a:t>D </a:t>
            </a:r>
            <a:r>
              <a:rPr lang="zh-CN" altLang="en-US" sz="2800" dirty="0"/>
              <a:t>组成的系统 </a:t>
            </a:r>
            <a:endParaRPr lang="zh-CN" altLang="zh-CN" sz="2800" dirty="0"/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1371600" y="2971800"/>
            <a:ext cx="59436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A</a:t>
            </a:r>
            <a:r>
              <a:rPr lang="zh-CN" altLang="en-US" sz="2800" dirty="0"/>
              <a:t>）动量守恒，机械能守恒  </a:t>
            </a:r>
            <a:r>
              <a:rPr lang="en-US" altLang="zh-CN" sz="2800" dirty="0"/>
              <a:t>.           </a:t>
            </a:r>
            <a:r>
              <a:rPr lang="zh-CN" altLang="en-US" sz="2800" dirty="0" smtClean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B</a:t>
            </a:r>
            <a:r>
              <a:rPr lang="zh-CN" altLang="en-US" sz="2800" dirty="0"/>
              <a:t>）动量不守恒，机械能守恒 </a:t>
            </a:r>
            <a:r>
              <a:rPr lang="en-US" altLang="zh-CN" sz="2800" dirty="0"/>
              <a:t>.        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C</a:t>
            </a:r>
            <a:r>
              <a:rPr lang="zh-CN" altLang="en-US" sz="2800" dirty="0"/>
              <a:t>）动量不守恒，机械能不守恒 </a:t>
            </a:r>
            <a:r>
              <a:rPr lang="en-US" altLang="zh-CN" sz="2800" dirty="0"/>
              <a:t>.    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CC0000"/>
                </a:solidFill>
              </a:rPr>
              <a:t>D</a:t>
            </a:r>
            <a:r>
              <a:rPr lang="zh-CN" altLang="en-US" sz="2800" dirty="0"/>
              <a:t>）动量守恒，机械能不一定守恒 </a:t>
            </a:r>
            <a:r>
              <a:rPr lang="en-US" altLang="zh-CN" sz="2800" dirty="0"/>
              <a:t>.</a:t>
            </a:r>
          </a:p>
        </p:txBody>
      </p:sp>
      <p:grpSp>
        <p:nvGrpSpPr>
          <p:cNvPr id="27" name="Group 8"/>
          <p:cNvGrpSpPr>
            <a:grpSpLocks/>
          </p:cNvGrpSpPr>
          <p:nvPr/>
        </p:nvGrpSpPr>
        <p:grpSpPr bwMode="auto">
          <a:xfrm>
            <a:off x="838200" y="4800600"/>
            <a:ext cx="7696200" cy="1295400"/>
            <a:chOff x="528" y="3216"/>
            <a:chExt cx="4848" cy="816"/>
          </a:xfrm>
        </p:grpSpPr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528" y="3216"/>
              <a:ext cx="484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9" name="Text Box 10" descr="蓝色砂纸"/>
            <p:cNvSpPr txBox="1">
              <a:spLocks noChangeArrowheads="1"/>
            </p:cNvSpPr>
            <p:nvPr/>
          </p:nvSpPr>
          <p:spPr bwMode="auto">
            <a:xfrm>
              <a:off x="2640" y="3315"/>
              <a:ext cx="288" cy="333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>
              <a:off x="672" y="3935"/>
              <a:ext cx="460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1" name="Text Box 12" descr="纸莎草纸"/>
            <p:cNvSpPr txBox="1">
              <a:spLocks noChangeArrowheads="1"/>
            </p:cNvSpPr>
            <p:nvPr/>
          </p:nvSpPr>
          <p:spPr bwMode="auto">
            <a:xfrm>
              <a:off x="2557" y="3594"/>
              <a:ext cx="467" cy="333"/>
            </a:xfrm>
            <a:prstGeom prst="rect">
              <a:avLst/>
            </a:prstGeom>
            <a:blipFill dpi="0" rotWithShape="0">
              <a:blip r:embed="rId15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B</a:t>
              </a:r>
            </a:p>
          </p:txBody>
        </p:sp>
        <p:grpSp>
          <p:nvGrpSpPr>
            <p:cNvPr id="32" name="Group 13"/>
            <p:cNvGrpSpPr>
              <a:grpSpLocks/>
            </p:cNvGrpSpPr>
            <p:nvPr/>
          </p:nvGrpSpPr>
          <p:grpSpPr bwMode="auto">
            <a:xfrm>
              <a:off x="1359" y="3683"/>
              <a:ext cx="1213" cy="144"/>
              <a:chOff x="1104" y="2064"/>
              <a:chExt cx="2400" cy="384"/>
            </a:xfrm>
          </p:grpSpPr>
          <p:grpSp>
            <p:nvGrpSpPr>
              <p:cNvPr id="70" name="Group 14"/>
              <p:cNvGrpSpPr>
                <a:grpSpLocks/>
              </p:cNvGrpSpPr>
              <p:nvPr/>
            </p:nvGrpSpPr>
            <p:grpSpPr bwMode="auto">
              <a:xfrm>
                <a:off x="1469" y="2064"/>
                <a:ext cx="208" cy="384"/>
                <a:chOff x="1632" y="2064"/>
                <a:chExt cx="336" cy="384"/>
              </a:xfrm>
            </p:grpSpPr>
            <p:sp>
              <p:nvSpPr>
                <p:cNvPr id="98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99" name="Line 16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1" name="Group 17"/>
              <p:cNvGrpSpPr>
                <a:grpSpLocks/>
              </p:cNvGrpSpPr>
              <p:nvPr/>
            </p:nvGrpSpPr>
            <p:grpSpPr bwMode="auto">
              <a:xfrm>
                <a:off x="1677" y="2064"/>
                <a:ext cx="209" cy="384"/>
                <a:chOff x="1632" y="2064"/>
                <a:chExt cx="336" cy="384"/>
              </a:xfrm>
            </p:grpSpPr>
            <p:sp>
              <p:nvSpPr>
                <p:cNvPr id="96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97" name="Line 19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2" name="Group 20"/>
              <p:cNvGrpSpPr>
                <a:grpSpLocks/>
              </p:cNvGrpSpPr>
              <p:nvPr/>
            </p:nvGrpSpPr>
            <p:grpSpPr bwMode="auto">
              <a:xfrm>
                <a:off x="1886" y="2064"/>
                <a:ext cx="209" cy="384"/>
                <a:chOff x="1632" y="2064"/>
                <a:chExt cx="336" cy="384"/>
              </a:xfrm>
            </p:grpSpPr>
            <p:sp>
              <p:nvSpPr>
                <p:cNvPr id="94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95" name="Line 22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3" name="Group 23"/>
              <p:cNvGrpSpPr>
                <a:grpSpLocks/>
              </p:cNvGrpSpPr>
              <p:nvPr/>
            </p:nvGrpSpPr>
            <p:grpSpPr bwMode="auto">
              <a:xfrm>
                <a:off x="2095" y="2064"/>
                <a:ext cx="209" cy="384"/>
                <a:chOff x="1632" y="2064"/>
                <a:chExt cx="336" cy="384"/>
              </a:xfrm>
            </p:grpSpPr>
            <p:sp>
              <p:nvSpPr>
                <p:cNvPr id="92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93" name="Line 25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4" name="Group 26"/>
              <p:cNvGrpSpPr>
                <a:grpSpLocks/>
              </p:cNvGrpSpPr>
              <p:nvPr/>
            </p:nvGrpSpPr>
            <p:grpSpPr bwMode="auto">
              <a:xfrm>
                <a:off x="2304" y="2064"/>
                <a:ext cx="209" cy="384"/>
                <a:chOff x="1632" y="2064"/>
                <a:chExt cx="336" cy="384"/>
              </a:xfrm>
            </p:grpSpPr>
            <p:sp>
              <p:nvSpPr>
                <p:cNvPr id="90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91" name="Line 28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5" name="Group 29"/>
              <p:cNvGrpSpPr>
                <a:grpSpLocks/>
              </p:cNvGrpSpPr>
              <p:nvPr/>
            </p:nvGrpSpPr>
            <p:grpSpPr bwMode="auto">
              <a:xfrm>
                <a:off x="2513" y="2064"/>
                <a:ext cx="209" cy="384"/>
                <a:chOff x="1632" y="2064"/>
                <a:chExt cx="336" cy="384"/>
              </a:xfrm>
            </p:grpSpPr>
            <p:sp>
              <p:nvSpPr>
                <p:cNvPr id="88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89" name="Line 31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6" name="Group 32"/>
              <p:cNvGrpSpPr>
                <a:grpSpLocks/>
              </p:cNvGrpSpPr>
              <p:nvPr/>
            </p:nvGrpSpPr>
            <p:grpSpPr bwMode="auto">
              <a:xfrm>
                <a:off x="2722" y="2064"/>
                <a:ext cx="209" cy="384"/>
                <a:chOff x="1632" y="2064"/>
                <a:chExt cx="336" cy="384"/>
              </a:xfrm>
            </p:grpSpPr>
            <p:sp>
              <p:nvSpPr>
                <p:cNvPr id="86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87" name="Line 34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7" name="Group 35"/>
              <p:cNvGrpSpPr>
                <a:grpSpLocks/>
              </p:cNvGrpSpPr>
              <p:nvPr/>
            </p:nvGrpSpPr>
            <p:grpSpPr bwMode="auto">
              <a:xfrm>
                <a:off x="2931" y="2064"/>
                <a:ext cx="208" cy="384"/>
                <a:chOff x="1632" y="2064"/>
                <a:chExt cx="336" cy="384"/>
              </a:xfrm>
            </p:grpSpPr>
            <p:sp>
              <p:nvSpPr>
                <p:cNvPr id="84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85" name="Line 37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sp>
            <p:nvSpPr>
              <p:cNvPr id="78" name="Line 38"/>
              <p:cNvSpPr>
                <a:spLocks noChangeShapeType="1"/>
              </p:cNvSpPr>
              <p:nvPr/>
            </p:nvSpPr>
            <p:spPr bwMode="auto">
              <a:xfrm flipH="1">
                <a:off x="1290" y="2064"/>
                <a:ext cx="59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79" name="Line 39"/>
              <p:cNvSpPr>
                <a:spLocks noChangeShapeType="1"/>
              </p:cNvSpPr>
              <p:nvPr/>
            </p:nvSpPr>
            <p:spPr bwMode="auto">
              <a:xfrm>
                <a:off x="1349" y="2064"/>
                <a:ext cx="12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0" name="Line 40"/>
              <p:cNvSpPr>
                <a:spLocks noChangeShapeType="1"/>
              </p:cNvSpPr>
              <p:nvPr/>
            </p:nvSpPr>
            <p:spPr bwMode="auto">
              <a:xfrm>
                <a:off x="1104" y="235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" name="Line 41"/>
              <p:cNvSpPr>
                <a:spLocks noChangeShapeType="1"/>
              </p:cNvSpPr>
              <p:nvPr/>
            </p:nvSpPr>
            <p:spPr bwMode="auto">
              <a:xfrm flipH="1">
                <a:off x="3139" y="2064"/>
                <a:ext cx="9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2" name="Line 42"/>
              <p:cNvSpPr>
                <a:spLocks noChangeShapeType="1"/>
              </p:cNvSpPr>
              <p:nvPr/>
            </p:nvSpPr>
            <p:spPr bwMode="auto">
              <a:xfrm>
                <a:off x="3229" y="2064"/>
                <a:ext cx="8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3" name="Line 43"/>
              <p:cNvSpPr>
                <a:spLocks noChangeShapeType="1"/>
              </p:cNvSpPr>
              <p:nvPr/>
            </p:nvSpPr>
            <p:spPr bwMode="auto">
              <a:xfrm>
                <a:off x="3318" y="2304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33" name="Group 44"/>
            <p:cNvGrpSpPr>
              <a:grpSpLocks/>
            </p:cNvGrpSpPr>
            <p:nvPr/>
          </p:nvGrpSpPr>
          <p:grpSpPr bwMode="auto">
            <a:xfrm>
              <a:off x="3986" y="3683"/>
              <a:ext cx="526" cy="144"/>
              <a:chOff x="1104" y="2064"/>
              <a:chExt cx="2400" cy="384"/>
            </a:xfrm>
          </p:grpSpPr>
          <p:grpSp>
            <p:nvGrpSpPr>
              <p:cNvPr id="40" name="Group 45"/>
              <p:cNvGrpSpPr>
                <a:grpSpLocks/>
              </p:cNvGrpSpPr>
              <p:nvPr/>
            </p:nvGrpSpPr>
            <p:grpSpPr bwMode="auto">
              <a:xfrm>
                <a:off x="1469" y="2064"/>
                <a:ext cx="208" cy="384"/>
                <a:chOff x="1632" y="2064"/>
                <a:chExt cx="336" cy="384"/>
              </a:xfrm>
            </p:grpSpPr>
            <p:sp>
              <p:nvSpPr>
                <p:cNvPr id="68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69" name="Line 47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1" name="Group 48"/>
              <p:cNvGrpSpPr>
                <a:grpSpLocks/>
              </p:cNvGrpSpPr>
              <p:nvPr/>
            </p:nvGrpSpPr>
            <p:grpSpPr bwMode="auto">
              <a:xfrm>
                <a:off x="1677" y="2064"/>
                <a:ext cx="209" cy="384"/>
                <a:chOff x="1632" y="2064"/>
                <a:chExt cx="336" cy="384"/>
              </a:xfrm>
            </p:grpSpPr>
            <p:sp>
              <p:nvSpPr>
                <p:cNvPr id="66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67" name="Line 50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2" name="Group 51"/>
              <p:cNvGrpSpPr>
                <a:grpSpLocks/>
              </p:cNvGrpSpPr>
              <p:nvPr/>
            </p:nvGrpSpPr>
            <p:grpSpPr bwMode="auto">
              <a:xfrm>
                <a:off x="1886" y="2064"/>
                <a:ext cx="209" cy="384"/>
                <a:chOff x="1632" y="2064"/>
                <a:chExt cx="336" cy="384"/>
              </a:xfrm>
            </p:grpSpPr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3" name="Group 54"/>
              <p:cNvGrpSpPr>
                <a:grpSpLocks/>
              </p:cNvGrpSpPr>
              <p:nvPr/>
            </p:nvGrpSpPr>
            <p:grpSpPr bwMode="auto">
              <a:xfrm>
                <a:off x="2095" y="2064"/>
                <a:ext cx="209" cy="384"/>
                <a:chOff x="1632" y="2064"/>
                <a:chExt cx="336" cy="384"/>
              </a:xfrm>
            </p:grpSpPr>
            <p:sp>
              <p:nvSpPr>
                <p:cNvPr id="62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63" name="Line 56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4" name="Group 57"/>
              <p:cNvGrpSpPr>
                <a:grpSpLocks/>
              </p:cNvGrpSpPr>
              <p:nvPr/>
            </p:nvGrpSpPr>
            <p:grpSpPr bwMode="auto">
              <a:xfrm>
                <a:off x="2304" y="2064"/>
                <a:ext cx="209" cy="384"/>
                <a:chOff x="1632" y="2064"/>
                <a:chExt cx="336" cy="384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5" name="Group 60"/>
              <p:cNvGrpSpPr>
                <a:grpSpLocks/>
              </p:cNvGrpSpPr>
              <p:nvPr/>
            </p:nvGrpSpPr>
            <p:grpSpPr bwMode="auto">
              <a:xfrm>
                <a:off x="2513" y="2064"/>
                <a:ext cx="209" cy="384"/>
                <a:chOff x="1632" y="2064"/>
                <a:chExt cx="336" cy="384"/>
              </a:xfrm>
            </p:grpSpPr>
            <p:sp>
              <p:nvSpPr>
                <p:cNvPr id="58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59" name="Line 62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6" name="Group 63"/>
              <p:cNvGrpSpPr>
                <a:grpSpLocks/>
              </p:cNvGrpSpPr>
              <p:nvPr/>
            </p:nvGrpSpPr>
            <p:grpSpPr bwMode="auto">
              <a:xfrm>
                <a:off x="2722" y="2064"/>
                <a:ext cx="209" cy="384"/>
                <a:chOff x="1632" y="2064"/>
                <a:chExt cx="336" cy="384"/>
              </a:xfrm>
            </p:grpSpPr>
            <p:sp>
              <p:nvSpPr>
                <p:cNvPr id="56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57" name="Line 65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47" name="Group 66"/>
              <p:cNvGrpSpPr>
                <a:grpSpLocks/>
              </p:cNvGrpSpPr>
              <p:nvPr/>
            </p:nvGrpSpPr>
            <p:grpSpPr bwMode="auto">
              <a:xfrm>
                <a:off x="2931" y="2064"/>
                <a:ext cx="208" cy="384"/>
                <a:chOff x="1632" y="2064"/>
                <a:chExt cx="336" cy="384"/>
              </a:xfrm>
            </p:grpSpPr>
            <p:sp>
              <p:nvSpPr>
                <p:cNvPr id="54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55" name="Line 68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sp>
            <p:nvSpPr>
              <p:cNvPr id="48" name="Line 69"/>
              <p:cNvSpPr>
                <a:spLocks noChangeShapeType="1"/>
              </p:cNvSpPr>
              <p:nvPr/>
            </p:nvSpPr>
            <p:spPr bwMode="auto">
              <a:xfrm flipH="1">
                <a:off x="1290" y="2064"/>
                <a:ext cx="59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9" name="Line 70"/>
              <p:cNvSpPr>
                <a:spLocks noChangeShapeType="1"/>
              </p:cNvSpPr>
              <p:nvPr/>
            </p:nvSpPr>
            <p:spPr bwMode="auto">
              <a:xfrm>
                <a:off x="1349" y="2064"/>
                <a:ext cx="12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0" name="Line 71"/>
              <p:cNvSpPr>
                <a:spLocks noChangeShapeType="1"/>
              </p:cNvSpPr>
              <p:nvPr/>
            </p:nvSpPr>
            <p:spPr bwMode="auto">
              <a:xfrm>
                <a:off x="1104" y="235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1" name="Line 72"/>
              <p:cNvSpPr>
                <a:spLocks noChangeShapeType="1"/>
              </p:cNvSpPr>
              <p:nvPr/>
            </p:nvSpPr>
            <p:spPr bwMode="auto">
              <a:xfrm flipH="1">
                <a:off x="3139" y="2064"/>
                <a:ext cx="9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2" name="Line 73"/>
              <p:cNvSpPr>
                <a:spLocks noChangeShapeType="1"/>
              </p:cNvSpPr>
              <p:nvPr/>
            </p:nvSpPr>
            <p:spPr bwMode="auto">
              <a:xfrm>
                <a:off x="3229" y="2064"/>
                <a:ext cx="8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53" name="Line 74"/>
              <p:cNvSpPr>
                <a:spLocks noChangeShapeType="1"/>
              </p:cNvSpPr>
              <p:nvPr/>
            </p:nvSpPr>
            <p:spPr bwMode="auto">
              <a:xfrm>
                <a:off x="3318" y="2304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34" name="Text Box 75" descr="羊皮纸"/>
            <p:cNvSpPr txBox="1">
              <a:spLocks noChangeArrowheads="1"/>
            </p:cNvSpPr>
            <p:nvPr/>
          </p:nvSpPr>
          <p:spPr bwMode="auto">
            <a:xfrm>
              <a:off x="1008" y="3324"/>
              <a:ext cx="288" cy="333"/>
            </a:xfrm>
            <a:prstGeom prst="rect">
              <a:avLst/>
            </a:prstGeom>
            <a:blipFill dpi="0" rotWithShape="0">
              <a:blip r:embed="rId16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35" name="Text Box 76" descr="粉色砂纸"/>
            <p:cNvSpPr txBox="1">
              <a:spLocks noChangeArrowheads="1"/>
            </p:cNvSpPr>
            <p:nvPr/>
          </p:nvSpPr>
          <p:spPr bwMode="auto">
            <a:xfrm>
              <a:off x="925" y="3603"/>
              <a:ext cx="467" cy="333"/>
            </a:xfrm>
            <a:prstGeom prst="rect">
              <a:avLst/>
            </a:prstGeom>
            <a:blipFill dpi="0" rotWithShape="0">
              <a:blip r:embed="rId17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36" name="Text Box 77" descr="蓝色砂纸"/>
            <p:cNvSpPr txBox="1">
              <a:spLocks noChangeArrowheads="1"/>
            </p:cNvSpPr>
            <p:nvPr/>
          </p:nvSpPr>
          <p:spPr bwMode="auto">
            <a:xfrm>
              <a:off x="4595" y="3312"/>
              <a:ext cx="288" cy="333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7" name="Text Box 78" descr="纸莎草纸"/>
            <p:cNvSpPr txBox="1">
              <a:spLocks noChangeArrowheads="1"/>
            </p:cNvSpPr>
            <p:nvPr/>
          </p:nvSpPr>
          <p:spPr bwMode="auto">
            <a:xfrm>
              <a:off x="4512" y="3591"/>
              <a:ext cx="467" cy="333"/>
            </a:xfrm>
            <a:prstGeom prst="rect">
              <a:avLst/>
            </a:prstGeom>
            <a:blipFill dpi="0" rotWithShape="0">
              <a:blip r:embed="rId15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38" name="Text Box 79" descr="羊皮纸"/>
            <p:cNvSpPr txBox="1">
              <a:spLocks noChangeArrowheads="1"/>
            </p:cNvSpPr>
            <p:nvPr/>
          </p:nvSpPr>
          <p:spPr bwMode="auto">
            <a:xfrm>
              <a:off x="3587" y="3321"/>
              <a:ext cx="288" cy="333"/>
            </a:xfrm>
            <a:prstGeom prst="rect">
              <a:avLst/>
            </a:prstGeom>
            <a:blipFill dpi="0" rotWithShape="0">
              <a:blip r:embed="rId16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39" name="Text Box 80" descr="粉色砂纸"/>
            <p:cNvSpPr txBox="1">
              <a:spLocks noChangeArrowheads="1"/>
            </p:cNvSpPr>
            <p:nvPr/>
          </p:nvSpPr>
          <p:spPr bwMode="auto">
            <a:xfrm>
              <a:off x="3504" y="3600"/>
              <a:ext cx="467" cy="333"/>
            </a:xfrm>
            <a:prstGeom prst="rect">
              <a:avLst/>
            </a:prstGeom>
            <a:blipFill dpi="0" rotWithShape="0">
              <a:blip r:embed="rId17"/>
              <a:srcRect/>
              <a:tile tx="0" ty="0" sx="100000" sy="100000" flip="none" algn="tl"/>
            </a:blip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708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ext Box 2"/>
          <p:cNvSpPr txBox="1">
            <a:spLocks noChangeArrowheads="1"/>
          </p:cNvSpPr>
          <p:nvPr/>
        </p:nvSpPr>
        <p:spPr bwMode="auto">
          <a:xfrm>
            <a:off x="1219200" y="1752600"/>
            <a:ext cx="68580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/>
              <a:t>        </a:t>
            </a:r>
            <a:r>
              <a:rPr lang="zh-CN" altLang="en-US" sz="2800" dirty="0"/>
              <a:t>下列各物理量中，与参照系有关的物理量是哪些？  （不考虑相对论效应）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</a:rPr>
              <a:t>    </a:t>
            </a:r>
            <a:r>
              <a:rPr lang="en-US" altLang="zh-CN" sz="2800" dirty="0">
                <a:solidFill>
                  <a:srgbClr val="CC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</a:rPr>
              <a:t>质量           </a:t>
            </a:r>
            <a:r>
              <a:rPr lang="en-US" altLang="zh-CN" sz="2800" dirty="0">
                <a:solidFill>
                  <a:srgbClr val="CC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</a:rPr>
              <a:t>动量            </a:t>
            </a:r>
            <a:r>
              <a:rPr lang="en-US" altLang="zh-CN" sz="2800" dirty="0">
                <a:solidFill>
                  <a:srgbClr val="CC0000"/>
                </a:solidFill>
              </a:rPr>
              <a:t>3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</a:rPr>
              <a:t>冲量    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rgbClr val="CC0000"/>
                </a:solidFill>
              </a:rPr>
              <a:t>4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</a:rPr>
              <a:t>动能           </a:t>
            </a:r>
            <a:r>
              <a:rPr lang="en-US" altLang="zh-CN" sz="2800" dirty="0">
                <a:solidFill>
                  <a:srgbClr val="CC0000"/>
                </a:solidFill>
              </a:rPr>
              <a:t>5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</a:rPr>
              <a:t>势能            </a:t>
            </a:r>
            <a:r>
              <a:rPr lang="en-US" altLang="zh-CN" sz="2800" dirty="0">
                <a:solidFill>
                  <a:srgbClr val="CC0000"/>
                </a:solidFill>
              </a:rPr>
              <a:t>6</a:t>
            </a:r>
            <a:r>
              <a:rPr lang="zh-CN" altLang="en-US" sz="2800" dirty="0">
                <a:solidFill>
                  <a:srgbClr val="000000"/>
                </a:solidFill>
              </a:rPr>
              <a:t>）  </a:t>
            </a:r>
            <a:r>
              <a:rPr lang="zh-CN" altLang="en-US" sz="2800" dirty="0">
                <a:solidFill>
                  <a:schemeClr val="tx1"/>
                </a:solidFill>
              </a:rPr>
              <a:t>功</a:t>
            </a:r>
          </a:p>
        </p:txBody>
      </p:sp>
      <p:sp>
        <p:nvSpPr>
          <p:cNvPr id="243715" name="Text Box 3"/>
          <p:cNvSpPr txBox="1">
            <a:spLocks noChangeArrowheads="1"/>
          </p:cNvSpPr>
          <p:nvPr/>
        </p:nvSpPr>
        <p:spPr bwMode="auto">
          <a:xfrm>
            <a:off x="2455863" y="4800600"/>
            <a:ext cx="3576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</a:rPr>
              <a:t>答：</a:t>
            </a:r>
            <a:r>
              <a:rPr lang="zh-CN" altLang="en-US" sz="2800" dirty="0"/>
              <a:t>动量、动能、功 </a:t>
            </a:r>
            <a:r>
              <a:rPr lang="en-US" altLang="zh-CN" sz="2800" dirty="0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762000"/>
            <a:ext cx="2133600" cy="838200"/>
            <a:chOff x="336" y="912"/>
            <a:chExt cx="1344" cy="528"/>
          </a:xfrm>
        </p:grpSpPr>
        <p:sp>
          <p:nvSpPr>
            <p:cNvPr id="243717" name="AutoShape 5"/>
            <p:cNvSpPr>
              <a:spLocks noChangeArrowheads="1"/>
            </p:cNvSpPr>
            <p:nvPr/>
          </p:nvSpPr>
          <p:spPr bwMode="auto">
            <a:xfrm>
              <a:off x="336" y="912"/>
              <a:ext cx="1088" cy="528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rgbClr val="009900"/>
              </a:outerShdw>
            </a:effec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43718" name="Text Box 6"/>
            <p:cNvSpPr txBox="1">
              <a:spLocks noChangeArrowheads="1"/>
            </p:cNvSpPr>
            <p:nvPr/>
          </p:nvSpPr>
          <p:spPr bwMode="auto">
            <a:xfrm>
              <a:off x="464" y="1027"/>
              <a:ext cx="121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solidFill>
                    <a:srgbClr val="CC0000"/>
                  </a:solidFill>
                </a:rPr>
                <a:t>讨  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76200" y="4343400"/>
            <a:ext cx="5105400" cy="2133600"/>
            <a:chOff x="48" y="2736"/>
            <a:chExt cx="3216" cy="1344"/>
          </a:xfrm>
        </p:grpSpPr>
        <p:sp>
          <p:nvSpPr>
            <p:cNvPr id="220259" name="Text Box 99"/>
            <p:cNvSpPr txBox="1">
              <a:spLocks noChangeArrowheads="1"/>
            </p:cNvSpPr>
            <p:nvPr/>
          </p:nvSpPr>
          <p:spPr bwMode="auto">
            <a:xfrm>
              <a:off x="48" y="2736"/>
              <a:ext cx="3216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/>
                <a:t>        </a:t>
              </a:r>
              <a:r>
                <a:rPr lang="zh-CN" altLang="en-US" sz="2800">
                  <a:solidFill>
                    <a:srgbClr val="CC0000"/>
                  </a:solidFill>
                </a:rPr>
                <a:t>解</a:t>
              </a:r>
              <a:r>
                <a:rPr lang="en-US" altLang="zh-CN" sz="2800">
                  <a:solidFill>
                    <a:srgbClr val="CC0000"/>
                  </a:solidFill>
                </a:rPr>
                <a:t>:</a:t>
              </a:r>
              <a:r>
                <a:rPr lang="en-US" altLang="zh-CN" sz="2800"/>
                <a:t> </a:t>
              </a:r>
              <a:r>
                <a:rPr lang="zh-CN" altLang="en-US" sz="2800"/>
                <a:t>由牛顿第二定律和万有引力定律</a:t>
              </a:r>
            </a:p>
          </p:txBody>
        </p:sp>
        <p:graphicFrame>
          <p:nvGraphicFramePr>
            <p:cNvPr id="220261" name="Object 101"/>
            <p:cNvGraphicFramePr>
              <a:graphicFrameLocks noChangeAspect="1"/>
            </p:cNvGraphicFramePr>
            <p:nvPr/>
          </p:nvGraphicFramePr>
          <p:xfrm>
            <a:off x="698" y="3216"/>
            <a:ext cx="2445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3298" name="Equation" r:id="rId3" imgW="1206360" imgH="469800" progId="Equation.3">
                    <p:embed/>
                  </p:oleObj>
                </mc:Choice>
                <mc:Fallback>
                  <p:oleObj name="Equation" r:id="rId3" imgW="1206360" imgH="469800" progId="Equation.3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" y="3216"/>
                          <a:ext cx="2445" cy="8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8"/>
          <p:cNvGrpSpPr>
            <a:grpSpLocks/>
          </p:cNvGrpSpPr>
          <p:nvPr/>
        </p:nvGrpSpPr>
        <p:grpSpPr bwMode="auto">
          <a:xfrm>
            <a:off x="5181600" y="3124200"/>
            <a:ext cx="3733800" cy="3352800"/>
            <a:chOff x="3072" y="1200"/>
            <a:chExt cx="2352" cy="2112"/>
          </a:xfrm>
        </p:grpSpPr>
        <p:grpSp>
          <p:nvGrpSpPr>
            <p:cNvPr id="4" name="Group 109"/>
            <p:cNvGrpSpPr>
              <a:grpSpLocks/>
            </p:cNvGrpSpPr>
            <p:nvPr/>
          </p:nvGrpSpPr>
          <p:grpSpPr bwMode="auto">
            <a:xfrm>
              <a:off x="3216" y="1344"/>
              <a:ext cx="2208" cy="1872"/>
              <a:chOff x="2612" y="1392"/>
              <a:chExt cx="2572" cy="2256"/>
            </a:xfrm>
          </p:grpSpPr>
          <p:graphicFrame>
            <p:nvGraphicFramePr>
              <p:cNvPr id="220270" name="Object 110"/>
              <p:cNvGraphicFramePr>
                <a:graphicFrameLocks noChangeAspect="1"/>
              </p:cNvGraphicFramePr>
              <p:nvPr/>
            </p:nvGraphicFramePr>
            <p:xfrm>
              <a:off x="2784" y="1872"/>
              <a:ext cx="336" cy="5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299" name="Equation" r:id="rId5" imgW="177480" imgH="228600" progId="Equation.3">
                      <p:embed/>
                    </p:oleObj>
                  </mc:Choice>
                  <mc:Fallback>
                    <p:oleObj name="Equation" r:id="rId5" imgW="177480" imgH="228600" progId="Equation.3">
                      <p:embed/>
                      <p:pic>
                        <p:nvPicPr>
                          <p:cNvPr id="0" name="Object 1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1872"/>
                            <a:ext cx="336" cy="5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0271" name="Object 111"/>
              <p:cNvGraphicFramePr>
                <a:graphicFrameLocks noChangeAspect="1"/>
              </p:cNvGraphicFramePr>
              <p:nvPr/>
            </p:nvGraphicFramePr>
            <p:xfrm>
              <a:off x="3427" y="2217"/>
              <a:ext cx="605" cy="6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300" name="剪辑" r:id="rId7" imgW="3611160" imgH="3660840" progId="">
                      <p:embed/>
                    </p:oleObj>
                  </mc:Choice>
                  <mc:Fallback>
                    <p:oleObj name="剪辑" r:id="rId7" imgW="3611160" imgH="3660840" progId="">
                      <p:embed/>
                      <p:pic>
                        <p:nvPicPr>
                          <p:cNvPr id="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7" y="2217"/>
                            <a:ext cx="605" cy="6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0272" name="Oval 112"/>
              <p:cNvSpPr>
                <a:spLocks noChangeArrowheads="1"/>
              </p:cNvSpPr>
              <p:nvPr/>
            </p:nvSpPr>
            <p:spPr bwMode="auto">
              <a:xfrm>
                <a:off x="3168" y="1968"/>
                <a:ext cx="1152" cy="115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zh-CN" sz="2800">
                  <a:solidFill>
                    <a:srgbClr val="0000FF"/>
                  </a:solidFill>
                </a:endParaRPr>
              </a:p>
            </p:txBody>
          </p:sp>
          <p:sp>
            <p:nvSpPr>
              <p:cNvPr id="220273" name="Oval 113"/>
              <p:cNvSpPr>
                <a:spLocks noChangeArrowheads="1"/>
              </p:cNvSpPr>
              <p:nvPr/>
            </p:nvSpPr>
            <p:spPr bwMode="auto">
              <a:xfrm>
                <a:off x="2612" y="1392"/>
                <a:ext cx="2256" cy="2256"/>
              </a:xfrm>
              <a:prstGeom prst="ellips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20274" name="Line 114"/>
              <p:cNvSpPr>
                <a:spLocks noChangeShapeType="1"/>
              </p:cNvSpPr>
              <p:nvPr/>
            </p:nvSpPr>
            <p:spPr bwMode="auto">
              <a:xfrm>
                <a:off x="3168" y="2544"/>
                <a:ext cx="1680" cy="0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prstDash val="lgDashDot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20275" name="AutoShape 115"/>
              <p:cNvSpPr>
                <a:spLocks noChangeArrowheads="1"/>
              </p:cNvSpPr>
              <p:nvPr/>
            </p:nvSpPr>
            <p:spPr bwMode="auto">
              <a:xfrm>
                <a:off x="3168" y="1776"/>
                <a:ext cx="1703" cy="1488"/>
              </a:xfrm>
              <a:custGeom>
                <a:avLst/>
                <a:gdLst>
                  <a:gd name="G0" fmla="+- 10737 0 0"/>
                  <a:gd name="G1" fmla="+- 11726537 0 0"/>
                  <a:gd name="G2" fmla="+- 0 0 11726537"/>
                  <a:gd name="T0" fmla="*/ 0 256 1"/>
                  <a:gd name="T1" fmla="*/ 180 256 1"/>
                  <a:gd name="G3" fmla="+- 11726537 T0 T1"/>
                  <a:gd name="T2" fmla="*/ 0 256 1"/>
                  <a:gd name="T3" fmla="*/ 90 256 1"/>
                  <a:gd name="G4" fmla="+- 11726537 T2 T3"/>
                  <a:gd name="G5" fmla="*/ G4 2 1"/>
                  <a:gd name="T4" fmla="*/ 90 256 1"/>
                  <a:gd name="T5" fmla="*/ 0 256 1"/>
                  <a:gd name="G6" fmla="+- 11726537 T4 T5"/>
                  <a:gd name="G7" fmla="*/ G6 2 1"/>
                  <a:gd name="G8" fmla="abs 11726537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737"/>
                  <a:gd name="G18" fmla="*/ 10737 1 2"/>
                  <a:gd name="G19" fmla="+- G18 5400 0"/>
                  <a:gd name="G20" fmla="cos G19 11726537"/>
                  <a:gd name="G21" fmla="sin G19 11726537"/>
                  <a:gd name="G22" fmla="+- G20 10800 0"/>
                  <a:gd name="G23" fmla="+- G21 10800 0"/>
                  <a:gd name="G24" fmla="+- 10800 0 G20"/>
                  <a:gd name="G25" fmla="+- 10737 10800 0"/>
                  <a:gd name="G26" fmla="?: G9 G17 G25"/>
                  <a:gd name="G27" fmla="?: G9 0 21600"/>
                  <a:gd name="G28" fmla="cos 10800 11726537"/>
                  <a:gd name="G29" fmla="sin 10800 11726537"/>
                  <a:gd name="G30" fmla="sin 10737 11726537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26537 G34 0"/>
                  <a:gd name="G36" fmla="?: G6 G35 G31"/>
                  <a:gd name="G37" fmla="+- 21600 0 G36"/>
                  <a:gd name="G38" fmla="?: G4 0 G33"/>
                  <a:gd name="G39" fmla="?: 11726537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32 w 21600"/>
                  <a:gd name="T15" fmla="*/ 11000 h 21600"/>
                  <a:gd name="T16" fmla="*/ 10800 w 21600"/>
                  <a:gd name="T17" fmla="*/ 63 h 21600"/>
                  <a:gd name="T18" fmla="*/ 21568 w 21600"/>
                  <a:gd name="T19" fmla="*/ 110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64" y="10999"/>
                    </a:moveTo>
                    <a:cubicBezTo>
                      <a:pt x="63" y="10933"/>
                      <a:pt x="63" y="10866"/>
                      <a:pt x="63" y="10800"/>
                    </a:cubicBezTo>
                    <a:cubicBezTo>
                      <a:pt x="63" y="4870"/>
                      <a:pt x="4870" y="63"/>
                      <a:pt x="10800" y="63"/>
                    </a:cubicBezTo>
                    <a:cubicBezTo>
                      <a:pt x="16729" y="63"/>
                      <a:pt x="21537" y="4870"/>
                      <a:pt x="21537" y="10800"/>
                    </a:cubicBezTo>
                    <a:cubicBezTo>
                      <a:pt x="21537" y="10866"/>
                      <a:pt x="21536" y="10933"/>
                      <a:pt x="21535" y="10999"/>
                    </a:cubicBezTo>
                    <a:lnTo>
                      <a:pt x="21598" y="11001"/>
                    </a:lnTo>
                    <a:cubicBezTo>
                      <a:pt x="21599" y="10934"/>
                      <a:pt x="21600" y="10867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-1" y="10867"/>
                      <a:pt x="0" y="10934"/>
                      <a:pt x="1" y="1100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CC00C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20276" name="Line 116"/>
              <p:cNvSpPr>
                <a:spLocks noChangeShapeType="1"/>
              </p:cNvSpPr>
              <p:nvPr/>
            </p:nvSpPr>
            <p:spPr bwMode="auto">
              <a:xfrm flipV="1">
                <a:off x="3744" y="1776"/>
                <a:ext cx="192" cy="48"/>
              </a:xfrm>
              <a:prstGeom prst="line">
                <a:avLst/>
              </a:prstGeom>
              <a:noFill/>
              <a:ln w="3810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20277" name="Line 117"/>
              <p:cNvSpPr>
                <a:spLocks noChangeShapeType="1"/>
              </p:cNvSpPr>
              <p:nvPr/>
            </p:nvSpPr>
            <p:spPr bwMode="auto">
              <a:xfrm>
                <a:off x="4871" y="2544"/>
                <a:ext cx="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20278" name="Line 118"/>
              <p:cNvSpPr>
                <a:spLocks noChangeShapeType="1"/>
              </p:cNvSpPr>
              <p:nvPr/>
            </p:nvSpPr>
            <p:spPr bwMode="auto">
              <a:xfrm flipV="1">
                <a:off x="3168" y="2064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220279" name="Object 119"/>
              <p:cNvGraphicFramePr>
                <a:graphicFrameLocks noChangeAspect="1"/>
              </p:cNvGraphicFramePr>
              <p:nvPr/>
            </p:nvGraphicFramePr>
            <p:xfrm>
              <a:off x="4608" y="3072"/>
              <a:ext cx="384" cy="5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301" name="Equation" r:id="rId9" imgW="177480" imgH="228600" progId="Equation.3">
                      <p:embed/>
                    </p:oleObj>
                  </mc:Choice>
                  <mc:Fallback>
                    <p:oleObj name="Equation" r:id="rId9" imgW="177480" imgH="228600" progId="Equation.3">
                      <p:embed/>
                      <p:pic>
                        <p:nvPicPr>
                          <p:cNvPr id="0" name="Object 1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3072"/>
                            <a:ext cx="384" cy="5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0280" name="Line 120"/>
              <p:cNvSpPr>
                <a:spLocks noChangeShapeType="1"/>
              </p:cNvSpPr>
              <p:nvPr/>
            </p:nvSpPr>
            <p:spPr bwMode="auto">
              <a:xfrm>
                <a:off x="3696" y="2544"/>
                <a:ext cx="192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220281" name="Object 121"/>
              <p:cNvGraphicFramePr>
                <a:graphicFrameLocks noChangeAspect="1"/>
              </p:cNvGraphicFramePr>
              <p:nvPr/>
            </p:nvGraphicFramePr>
            <p:xfrm>
              <a:off x="3744" y="2736"/>
              <a:ext cx="3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302" name="Equation" r:id="rId11" imgW="215640" imgH="215640" progId="Equation.3">
                      <p:embed/>
                    </p:oleObj>
                  </mc:Choice>
                  <mc:Fallback>
                    <p:oleObj name="Equation" r:id="rId11" imgW="215640" imgH="215640" progId="Equation.3">
                      <p:embed/>
                      <p:pic>
                        <p:nvPicPr>
                          <p:cNvPr id="0" name="Object 1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2736"/>
                            <a:ext cx="335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0282" name="Object 122"/>
              <p:cNvGraphicFramePr>
                <a:graphicFrameLocks noChangeAspect="1"/>
              </p:cNvGraphicFramePr>
              <p:nvPr/>
            </p:nvGraphicFramePr>
            <p:xfrm>
              <a:off x="2928" y="2928"/>
              <a:ext cx="480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303" name="Equation" r:id="rId13" imgW="291960" imgH="215640" progId="Equation.3">
                      <p:embed/>
                    </p:oleObj>
                  </mc:Choice>
                  <mc:Fallback>
                    <p:oleObj name="Equation" r:id="rId13" imgW="291960" imgH="215640" progId="Equation.3">
                      <p:embed/>
                      <p:pic>
                        <p:nvPicPr>
                          <p:cNvPr id="0" name="Object 1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2928"/>
                            <a:ext cx="480" cy="3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0283" name="Line 123"/>
              <p:cNvSpPr>
                <a:spLocks noChangeShapeType="1"/>
              </p:cNvSpPr>
              <p:nvPr/>
            </p:nvSpPr>
            <p:spPr bwMode="auto">
              <a:xfrm flipH="1">
                <a:off x="2784" y="2544"/>
                <a:ext cx="912" cy="576"/>
              </a:xfrm>
              <a:prstGeom prst="line">
                <a:avLst/>
              </a:prstGeom>
              <a:noFill/>
              <a:ln w="19050">
                <a:solidFill>
                  <a:srgbClr val="FF00FF"/>
                </a:solidFill>
                <a:prstDash val="dash"/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20284" name="Text Box 124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337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20285" name="Text Box 125"/>
              <p:cNvSpPr txBox="1">
                <a:spLocks noChangeArrowheads="1"/>
              </p:cNvSpPr>
              <p:nvPr/>
            </p:nvSpPr>
            <p:spPr bwMode="auto">
              <a:xfrm>
                <a:off x="4849" y="2293"/>
                <a:ext cx="335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/>
                  <a:t>b</a:t>
                </a:r>
              </a:p>
            </p:txBody>
          </p:sp>
          <p:sp>
            <p:nvSpPr>
              <p:cNvPr id="220286" name="Text Box 126"/>
              <p:cNvSpPr txBox="1">
                <a:spLocks noChangeArrowheads="1"/>
              </p:cNvSpPr>
              <p:nvPr/>
            </p:nvSpPr>
            <p:spPr bwMode="auto">
              <a:xfrm>
                <a:off x="3600" y="2189"/>
                <a:ext cx="336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  <p:sp>
          <p:nvSpPr>
            <p:cNvPr id="220287" name="Rectangle 127"/>
            <p:cNvSpPr>
              <a:spLocks noChangeArrowheads="1"/>
            </p:cNvSpPr>
            <p:nvPr/>
          </p:nvSpPr>
          <p:spPr bwMode="auto">
            <a:xfrm>
              <a:off x="3072" y="1200"/>
              <a:ext cx="2352" cy="21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5" name="Group 129"/>
          <p:cNvGrpSpPr>
            <a:grpSpLocks/>
          </p:cNvGrpSpPr>
          <p:nvPr/>
        </p:nvGrpSpPr>
        <p:grpSpPr bwMode="auto">
          <a:xfrm>
            <a:off x="76200" y="533400"/>
            <a:ext cx="9067800" cy="3810000"/>
            <a:chOff x="48" y="336"/>
            <a:chExt cx="5712" cy="2400"/>
          </a:xfrm>
        </p:grpSpPr>
        <p:sp>
          <p:nvSpPr>
            <p:cNvPr id="220164" name="Text Box 4"/>
            <p:cNvSpPr txBox="1">
              <a:spLocks noChangeArrowheads="1"/>
            </p:cNvSpPr>
            <p:nvPr/>
          </p:nvSpPr>
          <p:spPr bwMode="auto">
            <a:xfrm>
              <a:off x="48" y="336"/>
              <a:ext cx="5712" cy="1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dirty="0">
                  <a:solidFill>
                    <a:srgbClr val="C00000"/>
                  </a:solidFill>
                </a:rPr>
                <a:t>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C00000"/>
                  </a:solidFill>
                </a:rPr>
                <a:t>1  </a:t>
              </a:r>
              <a:r>
                <a:rPr lang="zh-CN" altLang="en-US" sz="2800" dirty="0"/>
                <a:t>已知地球的半径为 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E </a:t>
              </a:r>
              <a:r>
                <a:rPr lang="en-US" altLang="zh-CN" sz="2800" dirty="0">
                  <a:cs typeface="Times New Roman" pitchFamily="18" charset="0"/>
                </a:rPr>
                <a:t>≈ </a:t>
              </a:r>
              <a:r>
                <a:rPr lang="en-US" altLang="zh-CN" sz="2800" dirty="0"/>
                <a:t>6.4</a:t>
              </a:r>
              <a:r>
                <a:rPr lang="en-US" altLang="zh-CN" sz="2800" dirty="0">
                  <a:cs typeface="Times New Roman" pitchFamily="18" charset="0"/>
                </a:rPr>
                <a:t>×10</a:t>
              </a:r>
              <a:r>
                <a:rPr lang="en-US" altLang="zh-CN" sz="2800" baseline="30000" dirty="0">
                  <a:cs typeface="Times New Roman" pitchFamily="18" charset="0"/>
                </a:rPr>
                <a:t>3 </a:t>
              </a:r>
              <a:r>
                <a:rPr lang="en-US" altLang="zh-CN" sz="2800" dirty="0">
                  <a:cs typeface="Times New Roman" pitchFamily="18" charset="0"/>
                </a:rPr>
                <a:t>km,  </a:t>
              </a:r>
              <a:r>
                <a:rPr lang="zh-CN" altLang="en-US" sz="2800" dirty="0">
                  <a:cs typeface="Times New Roman" pitchFamily="18" charset="0"/>
                </a:rPr>
                <a:t>今有质量为 </a:t>
              </a:r>
              <a:r>
                <a:rPr lang="en-US" altLang="zh-CN" sz="2800" i="1" dirty="0">
                  <a:cs typeface="Times New Roman" pitchFamily="18" charset="0"/>
                </a:rPr>
                <a:t>m </a:t>
              </a:r>
              <a:r>
                <a:rPr lang="en-US" altLang="zh-CN" sz="2800" dirty="0">
                  <a:cs typeface="Times New Roman" pitchFamily="18" charset="0"/>
                </a:rPr>
                <a:t>= </a:t>
              </a:r>
              <a:r>
                <a:rPr lang="en-US" altLang="zh-CN" sz="2800" dirty="0"/>
                <a:t>3.0×10</a:t>
              </a:r>
              <a:r>
                <a:rPr lang="en-US" altLang="zh-CN" sz="2800" baseline="30000" dirty="0"/>
                <a:t>3 </a:t>
              </a:r>
              <a:r>
                <a:rPr lang="en-US" altLang="zh-CN" sz="2800" dirty="0"/>
                <a:t>kg  </a:t>
              </a:r>
              <a:r>
                <a:rPr lang="zh-CN" altLang="en-US" sz="2800" dirty="0"/>
                <a:t>的人造地球卫星从半径为 </a:t>
              </a:r>
              <a:r>
                <a:rPr lang="en-US" altLang="zh-CN" sz="2800" dirty="0"/>
                <a:t>2 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E </a:t>
              </a:r>
              <a:r>
                <a:rPr lang="zh-CN" altLang="en-US" sz="2800" dirty="0"/>
                <a:t>的圆形轨道上 </a:t>
              </a:r>
              <a:r>
                <a:rPr lang="en-US" altLang="zh-CN" sz="2800" dirty="0"/>
                <a:t>,   </a:t>
              </a:r>
              <a:r>
                <a:rPr lang="zh-CN" altLang="en-US" sz="2800" dirty="0"/>
                <a:t>经如图所示的半椭圆形轨道上的点 </a:t>
              </a:r>
              <a:r>
                <a:rPr lang="en-US" altLang="zh-CN" sz="2800" i="1" dirty="0"/>
                <a:t>a </a:t>
              </a:r>
              <a:r>
                <a:rPr lang="zh-CN" altLang="en-US" sz="2800" dirty="0"/>
                <a:t>变轨至半径为 </a:t>
              </a:r>
              <a:r>
                <a:rPr lang="en-US" altLang="zh-CN" sz="2800" dirty="0"/>
                <a:t>4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E  </a:t>
              </a:r>
              <a:r>
                <a:rPr lang="zh-CN" altLang="en-US" sz="2800" dirty="0"/>
                <a:t>的另一个圆形轨道点 </a:t>
              </a:r>
              <a:r>
                <a:rPr lang="en-US" altLang="zh-CN" sz="2800" i="1" dirty="0"/>
                <a:t>b</a:t>
              </a:r>
              <a:r>
                <a:rPr lang="zh-CN" altLang="en-US" sz="2800" dirty="0"/>
                <a:t>上</a:t>
              </a:r>
              <a:r>
                <a:rPr lang="en-US" altLang="zh-CN" sz="2800" dirty="0"/>
                <a:t>.   </a:t>
              </a:r>
              <a:r>
                <a:rPr lang="zh-CN" altLang="en-US" sz="2800" dirty="0"/>
                <a:t>点 </a:t>
              </a:r>
              <a:r>
                <a:rPr lang="en-US" altLang="zh-CN" sz="2800" i="1" dirty="0"/>
                <a:t>a </a:t>
              </a:r>
              <a:r>
                <a:rPr lang="zh-CN" altLang="en-US" sz="2800" dirty="0"/>
                <a:t>和点 </a:t>
              </a:r>
              <a:r>
                <a:rPr lang="en-US" altLang="zh-CN" sz="2800" i="1" dirty="0"/>
                <a:t>b </a:t>
              </a:r>
              <a:r>
                <a:rPr lang="zh-CN" altLang="en-US" sz="2800" dirty="0"/>
                <a:t>处的椭圆轨道与圆轨道的切线相切</a:t>
              </a:r>
              <a:r>
                <a:rPr lang="en-US" altLang="zh-CN" sz="2800" dirty="0"/>
                <a:t>.   </a:t>
              </a:r>
            </a:p>
          </p:txBody>
        </p:sp>
        <p:sp>
          <p:nvSpPr>
            <p:cNvPr id="220288" name="Rectangle 128"/>
            <p:cNvSpPr>
              <a:spLocks noChangeArrowheads="1"/>
            </p:cNvSpPr>
            <p:nvPr/>
          </p:nvSpPr>
          <p:spPr bwMode="auto">
            <a:xfrm>
              <a:off x="48" y="2032"/>
              <a:ext cx="3264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>
                  <a:solidFill>
                    <a:srgbClr val="CC0000"/>
                  </a:solidFill>
                </a:rPr>
                <a:t>试问</a:t>
              </a:r>
              <a:r>
                <a:rPr lang="en-US" altLang="zh-CN" sz="2800"/>
                <a:t>: </a:t>
              </a:r>
              <a:r>
                <a:rPr lang="zh-CN" altLang="en-US" sz="2800"/>
                <a:t>卫星完成了变轨过程后获得了多少能量 </a:t>
              </a:r>
              <a:r>
                <a:rPr lang="en-US" altLang="zh-CN" sz="2800">
                  <a:solidFill>
                    <a:srgbClr val="CC0000"/>
                  </a:solidFill>
                </a:rPr>
                <a:t>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181600" y="1219200"/>
            <a:ext cx="3733800" cy="3352800"/>
            <a:chOff x="3072" y="1200"/>
            <a:chExt cx="2352" cy="2112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3216" y="1344"/>
              <a:ext cx="2208" cy="1872"/>
              <a:chOff x="2612" y="1392"/>
              <a:chExt cx="2572" cy="2256"/>
            </a:xfrm>
          </p:grpSpPr>
          <p:graphicFrame>
            <p:nvGraphicFramePr>
              <p:cNvPr id="241668" name="Object 4"/>
              <p:cNvGraphicFramePr>
                <a:graphicFrameLocks noChangeAspect="1"/>
              </p:cNvGraphicFramePr>
              <p:nvPr/>
            </p:nvGraphicFramePr>
            <p:xfrm>
              <a:off x="2784" y="1872"/>
              <a:ext cx="336" cy="5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378" name="Equation" r:id="rId3" imgW="177480" imgH="228600" progId="Equation.3">
                      <p:embed/>
                    </p:oleObj>
                  </mc:Choice>
                  <mc:Fallback>
                    <p:oleObj name="Equation" r:id="rId3" imgW="177480" imgH="2286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1872"/>
                            <a:ext cx="336" cy="5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1669" name="Object 5"/>
              <p:cNvGraphicFramePr>
                <a:graphicFrameLocks noChangeAspect="1"/>
              </p:cNvGraphicFramePr>
              <p:nvPr/>
            </p:nvGraphicFramePr>
            <p:xfrm>
              <a:off x="3427" y="2217"/>
              <a:ext cx="605" cy="6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379" name="剪辑" r:id="rId5" imgW="3611160" imgH="3660840" progId="">
                      <p:embed/>
                    </p:oleObj>
                  </mc:Choice>
                  <mc:Fallback>
                    <p:oleObj name="剪辑" r:id="rId5" imgW="3611160" imgH="3660840" progId="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7" y="2217"/>
                            <a:ext cx="605" cy="6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1671" name="Oval 7"/>
              <p:cNvSpPr>
                <a:spLocks noChangeArrowheads="1"/>
              </p:cNvSpPr>
              <p:nvPr/>
            </p:nvSpPr>
            <p:spPr bwMode="auto">
              <a:xfrm>
                <a:off x="3168" y="1968"/>
                <a:ext cx="1152" cy="115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zh-CN" sz="2800">
                  <a:solidFill>
                    <a:srgbClr val="0000FF"/>
                  </a:solidFill>
                </a:endParaRPr>
              </a:p>
            </p:txBody>
          </p:sp>
          <p:sp>
            <p:nvSpPr>
              <p:cNvPr id="241675" name="Oval 11"/>
              <p:cNvSpPr>
                <a:spLocks noChangeArrowheads="1"/>
              </p:cNvSpPr>
              <p:nvPr/>
            </p:nvSpPr>
            <p:spPr bwMode="auto">
              <a:xfrm>
                <a:off x="2612" y="1392"/>
                <a:ext cx="2256" cy="2256"/>
              </a:xfrm>
              <a:prstGeom prst="ellips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41676" name="Line 12"/>
              <p:cNvSpPr>
                <a:spLocks noChangeShapeType="1"/>
              </p:cNvSpPr>
              <p:nvPr/>
            </p:nvSpPr>
            <p:spPr bwMode="auto">
              <a:xfrm>
                <a:off x="3168" y="2544"/>
                <a:ext cx="1680" cy="0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prstDash val="lgDashDot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41678" name="AutoShape 14"/>
              <p:cNvSpPr>
                <a:spLocks noChangeArrowheads="1"/>
              </p:cNvSpPr>
              <p:nvPr/>
            </p:nvSpPr>
            <p:spPr bwMode="auto">
              <a:xfrm>
                <a:off x="3168" y="1776"/>
                <a:ext cx="1703" cy="1488"/>
              </a:xfrm>
              <a:custGeom>
                <a:avLst/>
                <a:gdLst>
                  <a:gd name="G0" fmla="+- 10737 0 0"/>
                  <a:gd name="G1" fmla="+- 11726537 0 0"/>
                  <a:gd name="G2" fmla="+- 0 0 11726537"/>
                  <a:gd name="T0" fmla="*/ 0 256 1"/>
                  <a:gd name="T1" fmla="*/ 180 256 1"/>
                  <a:gd name="G3" fmla="+- 11726537 T0 T1"/>
                  <a:gd name="T2" fmla="*/ 0 256 1"/>
                  <a:gd name="T3" fmla="*/ 90 256 1"/>
                  <a:gd name="G4" fmla="+- 11726537 T2 T3"/>
                  <a:gd name="G5" fmla="*/ G4 2 1"/>
                  <a:gd name="T4" fmla="*/ 90 256 1"/>
                  <a:gd name="T5" fmla="*/ 0 256 1"/>
                  <a:gd name="G6" fmla="+- 11726537 T4 T5"/>
                  <a:gd name="G7" fmla="*/ G6 2 1"/>
                  <a:gd name="G8" fmla="abs 11726537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737"/>
                  <a:gd name="G18" fmla="*/ 10737 1 2"/>
                  <a:gd name="G19" fmla="+- G18 5400 0"/>
                  <a:gd name="G20" fmla="cos G19 11726537"/>
                  <a:gd name="G21" fmla="sin G19 11726537"/>
                  <a:gd name="G22" fmla="+- G20 10800 0"/>
                  <a:gd name="G23" fmla="+- G21 10800 0"/>
                  <a:gd name="G24" fmla="+- 10800 0 G20"/>
                  <a:gd name="G25" fmla="+- 10737 10800 0"/>
                  <a:gd name="G26" fmla="?: G9 G17 G25"/>
                  <a:gd name="G27" fmla="?: G9 0 21600"/>
                  <a:gd name="G28" fmla="cos 10800 11726537"/>
                  <a:gd name="G29" fmla="sin 10800 11726537"/>
                  <a:gd name="G30" fmla="sin 10737 11726537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26537 G34 0"/>
                  <a:gd name="G36" fmla="?: G6 G35 G31"/>
                  <a:gd name="G37" fmla="+- 21600 0 G36"/>
                  <a:gd name="G38" fmla="?: G4 0 G33"/>
                  <a:gd name="G39" fmla="?: 11726537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32 w 21600"/>
                  <a:gd name="T15" fmla="*/ 11000 h 21600"/>
                  <a:gd name="T16" fmla="*/ 10800 w 21600"/>
                  <a:gd name="T17" fmla="*/ 63 h 21600"/>
                  <a:gd name="T18" fmla="*/ 21568 w 21600"/>
                  <a:gd name="T19" fmla="*/ 110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64" y="10999"/>
                    </a:moveTo>
                    <a:cubicBezTo>
                      <a:pt x="63" y="10933"/>
                      <a:pt x="63" y="10866"/>
                      <a:pt x="63" y="10800"/>
                    </a:cubicBezTo>
                    <a:cubicBezTo>
                      <a:pt x="63" y="4870"/>
                      <a:pt x="4870" y="63"/>
                      <a:pt x="10800" y="63"/>
                    </a:cubicBezTo>
                    <a:cubicBezTo>
                      <a:pt x="16729" y="63"/>
                      <a:pt x="21537" y="4870"/>
                      <a:pt x="21537" y="10800"/>
                    </a:cubicBezTo>
                    <a:cubicBezTo>
                      <a:pt x="21537" y="10866"/>
                      <a:pt x="21536" y="10933"/>
                      <a:pt x="21535" y="10999"/>
                    </a:cubicBezTo>
                    <a:lnTo>
                      <a:pt x="21598" y="11001"/>
                    </a:lnTo>
                    <a:cubicBezTo>
                      <a:pt x="21599" y="10934"/>
                      <a:pt x="21600" y="10867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-1" y="10867"/>
                      <a:pt x="0" y="10934"/>
                      <a:pt x="1" y="1100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CC00C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41679" name="Line 15"/>
              <p:cNvSpPr>
                <a:spLocks noChangeShapeType="1"/>
              </p:cNvSpPr>
              <p:nvPr/>
            </p:nvSpPr>
            <p:spPr bwMode="auto">
              <a:xfrm flipV="1">
                <a:off x="3744" y="1776"/>
                <a:ext cx="192" cy="48"/>
              </a:xfrm>
              <a:prstGeom prst="line">
                <a:avLst/>
              </a:prstGeom>
              <a:noFill/>
              <a:ln w="3810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41680" name="Line 16"/>
              <p:cNvSpPr>
                <a:spLocks noChangeShapeType="1"/>
              </p:cNvSpPr>
              <p:nvPr/>
            </p:nvSpPr>
            <p:spPr bwMode="auto">
              <a:xfrm>
                <a:off x="4871" y="2544"/>
                <a:ext cx="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41670" name="Line 6"/>
              <p:cNvSpPr>
                <a:spLocks noChangeShapeType="1"/>
              </p:cNvSpPr>
              <p:nvPr/>
            </p:nvSpPr>
            <p:spPr bwMode="auto">
              <a:xfrm flipV="1">
                <a:off x="3168" y="2064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241681" name="Object 17"/>
              <p:cNvGraphicFramePr>
                <a:graphicFrameLocks noChangeAspect="1"/>
              </p:cNvGraphicFramePr>
              <p:nvPr/>
            </p:nvGraphicFramePr>
            <p:xfrm>
              <a:off x="4608" y="3072"/>
              <a:ext cx="384" cy="5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380" name="Equation" r:id="rId7" imgW="177480" imgH="228600" progId="Equation.3">
                      <p:embed/>
                    </p:oleObj>
                  </mc:Choice>
                  <mc:Fallback>
                    <p:oleObj name="Equation" r:id="rId7" imgW="177480" imgH="2286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3072"/>
                            <a:ext cx="384" cy="5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1683" name="Line 19"/>
              <p:cNvSpPr>
                <a:spLocks noChangeShapeType="1"/>
              </p:cNvSpPr>
              <p:nvPr/>
            </p:nvSpPr>
            <p:spPr bwMode="auto">
              <a:xfrm>
                <a:off x="3696" y="2544"/>
                <a:ext cx="192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241684" name="Object 20"/>
              <p:cNvGraphicFramePr>
                <a:graphicFrameLocks noChangeAspect="1"/>
              </p:cNvGraphicFramePr>
              <p:nvPr/>
            </p:nvGraphicFramePr>
            <p:xfrm>
              <a:off x="3744" y="2736"/>
              <a:ext cx="3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381" name="Equation" r:id="rId9" imgW="215640" imgH="215640" progId="Equation.3">
                      <p:embed/>
                    </p:oleObj>
                  </mc:Choice>
                  <mc:Fallback>
                    <p:oleObj name="Equation" r:id="rId9" imgW="215640" imgH="21564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2736"/>
                            <a:ext cx="335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1685" name="Object 21"/>
              <p:cNvGraphicFramePr>
                <a:graphicFrameLocks noChangeAspect="1"/>
              </p:cNvGraphicFramePr>
              <p:nvPr/>
            </p:nvGraphicFramePr>
            <p:xfrm>
              <a:off x="2928" y="2928"/>
              <a:ext cx="480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382" name="Equation" r:id="rId11" imgW="291960" imgH="215640" progId="Equation.3">
                      <p:embed/>
                    </p:oleObj>
                  </mc:Choice>
                  <mc:Fallback>
                    <p:oleObj name="Equation" r:id="rId11" imgW="291960" imgH="21564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2928"/>
                            <a:ext cx="480" cy="3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1686" name="Line 22"/>
              <p:cNvSpPr>
                <a:spLocks noChangeShapeType="1"/>
              </p:cNvSpPr>
              <p:nvPr/>
            </p:nvSpPr>
            <p:spPr bwMode="auto">
              <a:xfrm flipH="1">
                <a:off x="2784" y="2544"/>
                <a:ext cx="912" cy="576"/>
              </a:xfrm>
              <a:prstGeom prst="line">
                <a:avLst/>
              </a:prstGeom>
              <a:noFill/>
              <a:ln w="19050">
                <a:solidFill>
                  <a:srgbClr val="FF00FF"/>
                </a:solidFill>
                <a:prstDash val="dash"/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41687" name="Text Box 23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337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41688" name="Text Box 24"/>
              <p:cNvSpPr txBox="1">
                <a:spLocks noChangeArrowheads="1"/>
              </p:cNvSpPr>
              <p:nvPr/>
            </p:nvSpPr>
            <p:spPr bwMode="auto">
              <a:xfrm>
                <a:off x="4849" y="2293"/>
                <a:ext cx="335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/>
                  <a:t>b</a:t>
                </a:r>
              </a:p>
            </p:txBody>
          </p:sp>
          <p:sp>
            <p:nvSpPr>
              <p:cNvPr id="241689" name="Text Box 25"/>
              <p:cNvSpPr txBox="1">
                <a:spLocks noChangeArrowheads="1"/>
              </p:cNvSpPr>
              <p:nvPr/>
            </p:nvSpPr>
            <p:spPr bwMode="auto">
              <a:xfrm>
                <a:off x="3600" y="2189"/>
                <a:ext cx="336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  <p:sp>
          <p:nvSpPr>
            <p:cNvPr id="241691" name="Rectangle 27"/>
            <p:cNvSpPr>
              <a:spLocks noChangeArrowheads="1"/>
            </p:cNvSpPr>
            <p:nvPr/>
          </p:nvSpPr>
          <p:spPr bwMode="auto">
            <a:xfrm>
              <a:off x="3072" y="1200"/>
              <a:ext cx="2352" cy="21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241693" name="Object 29"/>
          <p:cNvGraphicFramePr>
            <a:graphicFrameLocks noChangeAspect="1"/>
          </p:cNvGraphicFramePr>
          <p:nvPr/>
        </p:nvGraphicFramePr>
        <p:xfrm>
          <a:off x="228600" y="4289425"/>
          <a:ext cx="5867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3" name="公式" r:id="rId13" imgW="2031840" imgH="431640" progId="Equation.3">
                  <p:embed/>
                </p:oleObj>
              </mc:Choice>
              <mc:Fallback>
                <p:oleObj name="公式" r:id="rId13" imgW="2031840" imgH="431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289425"/>
                        <a:ext cx="586740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96" name="Rectangle 32"/>
          <p:cNvSpPr>
            <a:spLocks noChangeArrowheads="1"/>
          </p:cNvSpPr>
          <p:nvPr/>
        </p:nvSpPr>
        <p:spPr bwMode="auto">
          <a:xfrm>
            <a:off x="914400" y="609600"/>
            <a:ext cx="7315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CC0000"/>
                </a:solidFill>
              </a:rPr>
              <a:t>已知</a:t>
            </a:r>
            <a:r>
              <a:rPr lang="zh-CN" altLang="en-US" sz="2800"/>
              <a:t>：</a:t>
            </a:r>
            <a:r>
              <a:rPr lang="en-US" altLang="zh-CN" sz="2800" b="0" i="1"/>
              <a:t>R</a:t>
            </a:r>
            <a:r>
              <a:rPr lang="en-US" altLang="zh-CN" sz="2800" b="0" baseline="-25000"/>
              <a:t>E </a:t>
            </a:r>
            <a:r>
              <a:rPr lang="en-US" altLang="zh-CN" sz="2800" b="0">
                <a:cs typeface="Times New Roman" pitchFamily="18" charset="0"/>
              </a:rPr>
              <a:t>≈ </a:t>
            </a:r>
            <a:r>
              <a:rPr lang="en-US" altLang="zh-CN" sz="2800" b="0"/>
              <a:t>6.4</a:t>
            </a:r>
            <a:r>
              <a:rPr lang="en-US" altLang="zh-CN" sz="2800" b="0">
                <a:cs typeface="Times New Roman" pitchFamily="18" charset="0"/>
              </a:rPr>
              <a:t>×10</a:t>
            </a:r>
            <a:r>
              <a:rPr lang="en-US" altLang="zh-CN" sz="2800" b="0" baseline="30000">
                <a:cs typeface="Times New Roman" pitchFamily="18" charset="0"/>
              </a:rPr>
              <a:t>3 </a:t>
            </a:r>
            <a:r>
              <a:rPr lang="en-US" altLang="zh-CN" sz="2800" b="0">
                <a:cs typeface="Times New Roman" pitchFamily="18" charset="0"/>
              </a:rPr>
              <a:t>km ,   </a:t>
            </a:r>
            <a:r>
              <a:rPr lang="en-US" altLang="zh-CN" sz="2800" b="0" i="1">
                <a:cs typeface="Times New Roman" pitchFamily="18" charset="0"/>
              </a:rPr>
              <a:t>m </a:t>
            </a:r>
            <a:r>
              <a:rPr lang="en-US" altLang="zh-CN" sz="2800" b="0">
                <a:cs typeface="Times New Roman" pitchFamily="18" charset="0"/>
              </a:rPr>
              <a:t>= </a:t>
            </a:r>
            <a:r>
              <a:rPr lang="en-US" altLang="zh-CN" sz="2800" b="0"/>
              <a:t>3.0×10</a:t>
            </a:r>
            <a:r>
              <a:rPr lang="en-US" altLang="zh-CN" sz="2800" b="0" baseline="30000"/>
              <a:t>3 </a:t>
            </a:r>
            <a:r>
              <a:rPr lang="en-US" altLang="zh-CN" sz="2800" b="0"/>
              <a:t>kg </a:t>
            </a:r>
          </a:p>
        </p:txBody>
      </p:sp>
      <p:graphicFrame>
        <p:nvGraphicFramePr>
          <p:cNvPr id="241697" name="Object 33"/>
          <p:cNvGraphicFramePr>
            <a:graphicFrameLocks noChangeAspect="1"/>
          </p:cNvGraphicFramePr>
          <p:nvPr/>
        </p:nvGraphicFramePr>
        <p:xfrm>
          <a:off x="685800" y="990600"/>
          <a:ext cx="398145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4" name="Equation" r:id="rId15" imgW="1206360" imgH="469800" progId="Equation.3">
                  <p:embed/>
                </p:oleObj>
              </mc:Choice>
              <mc:Fallback>
                <p:oleObj name="Equation" r:id="rId15" imgW="1206360" imgH="4698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3981450" cy="1330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98" name="Object 34"/>
          <p:cNvGraphicFramePr>
            <a:graphicFrameLocks noChangeAspect="1"/>
          </p:cNvGraphicFramePr>
          <p:nvPr/>
        </p:nvGraphicFramePr>
        <p:xfrm>
          <a:off x="228600" y="5408613"/>
          <a:ext cx="579120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5" name="公式" r:id="rId17" imgW="2019240" imgH="431640" progId="Equation.3">
                  <p:embed/>
                </p:oleObj>
              </mc:Choice>
              <mc:Fallback>
                <p:oleObj name="公式" r:id="rId17" imgW="2019240" imgH="4316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08613"/>
                        <a:ext cx="5791200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6172200" y="4648200"/>
            <a:ext cx="2743200" cy="1828800"/>
            <a:chOff x="3888" y="2928"/>
            <a:chExt cx="1728" cy="1152"/>
          </a:xfrm>
        </p:grpSpPr>
        <p:graphicFrame>
          <p:nvGraphicFramePr>
            <p:cNvPr id="241699" name="Object 35"/>
            <p:cNvGraphicFramePr>
              <a:graphicFrameLocks noChangeAspect="1"/>
            </p:cNvGraphicFramePr>
            <p:nvPr/>
          </p:nvGraphicFramePr>
          <p:xfrm>
            <a:off x="3888" y="2928"/>
            <a:ext cx="1728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4386" name="Equation" r:id="rId19" imgW="850680" imgH="393480" progId="Equation.3">
                    <p:embed/>
                  </p:oleObj>
                </mc:Choice>
                <mc:Fallback>
                  <p:oleObj name="Equation" r:id="rId19" imgW="850680" imgH="3934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928"/>
                          <a:ext cx="1728" cy="7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1700" name="Object 36"/>
            <p:cNvGraphicFramePr>
              <a:graphicFrameLocks noChangeAspect="1"/>
            </p:cNvGraphicFramePr>
            <p:nvPr/>
          </p:nvGraphicFramePr>
          <p:xfrm>
            <a:off x="4176" y="3696"/>
            <a:ext cx="144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4387" name="Equation" r:id="rId21" imgW="927000" imgH="215640" progId="Equation.3">
                    <p:embed/>
                  </p:oleObj>
                </mc:Choice>
                <mc:Fallback>
                  <p:oleObj name="Equation" r:id="rId21" imgW="927000" imgH="21564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3696"/>
                          <a:ext cx="1440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1702" name="Object 38"/>
          <p:cNvGraphicFramePr>
            <a:graphicFrameLocks noChangeAspect="1"/>
          </p:cNvGraphicFramePr>
          <p:nvPr/>
        </p:nvGraphicFramePr>
        <p:xfrm>
          <a:off x="990600" y="2290763"/>
          <a:ext cx="312420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8" name="Equation" r:id="rId23" imgW="1041120" imgH="241200" progId="Equation.3">
                  <p:embed/>
                </p:oleObj>
              </mc:Choice>
              <mc:Fallback>
                <p:oleObj name="Equation" r:id="rId23" imgW="1041120" imgH="241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90763"/>
                        <a:ext cx="3124200" cy="681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03" name="Object 39"/>
          <p:cNvGraphicFramePr>
            <a:graphicFrameLocks noChangeAspect="1"/>
          </p:cNvGraphicFramePr>
          <p:nvPr/>
        </p:nvGraphicFramePr>
        <p:xfrm>
          <a:off x="685800" y="2895600"/>
          <a:ext cx="395128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9" name="Equation" r:id="rId25" imgW="1143000" imgH="253800" progId="Equation.3">
                  <p:embed/>
                </p:oleObj>
              </mc:Choice>
              <mc:Fallback>
                <p:oleObj name="Equation" r:id="rId25" imgW="1143000" imgH="2538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95600"/>
                        <a:ext cx="3951288" cy="79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398463" y="3581400"/>
            <a:ext cx="4402137" cy="782638"/>
            <a:chOff x="251" y="2256"/>
            <a:chExt cx="2773" cy="493"/>
          </a:xfrm>
        </p:grpSpPr>
        <p:graphicFrame>
          <p:nvGraphicFramePr>
            <p:cNvPr id="241705" name="Object 41"/>
            <p:cNvGraphicFramePr>
              <a:graphicFrameLocks noChangeAspect="1"/>
            </p:cNvGraphicFramePr>
            <p:nvPr/>
          </p:nvGraphicFramePr>
          <p:xfrm>
            <a:off x="827" y="2256"/>
            <a:ext cx="2197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4390" name="Equation" r:id="rId27" imgW="1028520" imgH="253800" progId="Equation.3">
                    <p:embed/>
                  </p:oleObj>
                </mc:Choice>
                <mc:Fallback>
                  <p:oleObj name="Equation" r:id="rId27" imgW="1028520" imgH="2538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" y="2256"/>
                          <a:ext cx="2197" cy="4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1706" name="Text Box 42"/>
            <p:cNvSpPr txBox="1">
              <a:spLocks noChangeArrowheads="1"/>
            </p:cNvSpPr>
            <p:nvPr/>
          </p:nvSpPr>
          <p:spPr bwMode="auto">
            <a:xfrm>
              <a:off x="251" y="2361"/>
              <a:ext cx="12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同理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81000" y="9538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作业：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2186428"/>
            <a:ext cx="7772400" cy="1420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 smtClean="0"/>
              <a:t> </a:t>
            </a:r>
            <a:r>
              <a:rPr kumimoji="1" lang="en-US" altLang="zh-CN" sz="2800" dirty="0" smtClean="0"/>
              <a:t>3-1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3-2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3-3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3-4</a:t>
            </a:r>
            <a:r>
              <a:rPr kumimoji="1" lang="zh-CN" altLang="en-US" sz="2800" dirty="0" smtClean="0"/>
              <a:t>。</a:t>
            </a:r>
            <a:endParaRPr kumimoji="1" lang="en-US" altLang="zh-CN" sz="2800" dirty="0" smtClean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 smtClean="0"/>
              <a:t> 3-16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3-19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76200" y="5638800"/>
            <a:ext cx="8610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CC0000"/>
                </a:solidFill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</a:rPr>
              <a:t>完全非弹性碰撞</a:t>
            </a:r>
            <a:r>
              <a:rPr lang="zh-CN" altLang="en-US" sz="2800" dirty="0">
                <a:solidFill>
                  <a:srgbClr val="CC0000"/>
                </a:solidFill>
              </a:rPr>
              <a:t>   </a:t>
            </a:r>
            <a:r>
              <a:rPr lang="zh-CN" altLang="en-US" sz="2800" dirty="0"/>
              <a:t>两物体碰撞后</a:t>
            </a:r>
            <a:r>
              <a:rPr lang="en-US" altLang="zh-CN" sz="2800" dirty="0"/>
              <a:t>,</a:t>
            </a:r>
            <a:r>
              <a:rPr lang="zh-CN" altLang="en-US" sz="2800" dirty="0"/>
              <a:t>以同一速度运动 </a:t>
            </a:r>
            <a:r>
              <a:rPr lang="en-US" altLang="zh-CN" sz="2800" dirty="0"/>
              <a:t>.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838200"/>
            <a:ext cx="8686800" cy="1555750"/>
            <a:chOff x="192" y="604"/>
            <a:chExt cx="5472" cy="980"/>
          </a:xfrm>
        </p:grpSpPr>
        <p:graphicFrame>
          <p:nvGraphicFramePr>
            <p:cNvPr id="155655" name="Object 7"/>
            <p:cNvGraphicFramePr>
              <a:graphicFrameLocks noChangeAspect="1"/>
            </p:cNvGraphicFramePr>
            <p:nvPr/>
          </p:nvGraphicFramePr>
          <p:xfrm>
            <a:off x="1824" y="945"/>
            <a:ext cx="3072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2482" name="Equation" r:id="rId3" imgW="3327120" imgH="711000" progId="Equation.3">
                    <p:embed/>
                  </p:oleObj>
                </mc:Choice>
                <mc:Fallback>
                  <p:oleObj name="Equation" r:id="rId3" imgW="3327120" imgH="711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945"/>
                          <a:ext cx="3072" cy="6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60" name="Text Box 12"/>
            <p:cNvSpPr txBox="1">
              <a:spLocks noChangeArrowheads="1"/>
            </p:cNvSpPr>
            <p:nvPr/>
          </p:nvSpPr>
          <p:spPr bwMode="auto">
            <a:xfrm>
              <a:off x="192" y="604"/>
              <a:ext cx="5472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碰撞   </a:t>
              </a:r>
              <a:r>
                <a:rPr lang="zh-CN" altLang="en-US" sz="2800" dirty="0"/>
                <a:t>两物体互相接触时间极短而互作用力较大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dirty="0"/>
                <a:t>的相互作用 </a:t>
              </a:r>
              <a:r>
                <a:rPr lang="en-US" altLang="zh-CN" sz="2800" dirty="0"/>
                <a:t>.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6200" y="2286000"/>
            <a:ext cx="8534400" cy="1277938"/>
            <a:chOff x="192" y="1564"/>
            <a:chExt cx="5376" cy="805"/>
          </a:xfrm>
        </p:grpSpPr>
        <p:graphicFrame>
          <p:nvGraphicFramePr>
            <p:cNvPr id="155658" name="Object 10"/>
            <p:cNvGraphicFramePr>
              <a:graphicFrameLocks noChangeAspect="1"/>
            </p:cNvGraphicFramePr>
            <p:nvPr/>
          </p:nvGraphicFramePr>
          <p:xfrm>
            <a:off x="1872" y="1964"/>
            <a:ext cx="2208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2483" name="Equation" r:id="rId5" imgW="1180800" imgH="215640" progId="Equation.3">
                    <p:embed/>
                  </p:oleObj>
                </mc:Choice>
                <mc:Fallback>
                  <p:oleObj name="Equation" r:id="rId5" imgW="1180800" imgH="2156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964"/>
                          <a:ext cx="2208" cy="4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62" name="Text Box 14"/>
            <p:cNvSpPr txBox="1">
              <a:spLocks noChangeArrowheads="1"/>
            </p:cNvSpPr>
            <p:nvPr/>
          </p:nvSpPr>
          <p:spPr bwMode="auto">
            <a:xfrm>
              <a:off x="192" y="1564"/>
              <a:ext cx="5376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完全弹性碰撞</a:t>
              </a:r>
              <a:r>
                <a:rPr lang="zh-CN" altLang="en-US" sz="2800" dirty="0">
                  <a:solidFill>
                    <a:srgbClr val="CC0000"/>
                  </a:solidFill>
                </a:rPr>
                <a:t>   </a:t>
              </a:r>
              <a:r>
                <a:rPr lang="zh-CN" altLang="en-US" sz="2800" dirty="0"/>
                <a:t>两物体碰撞之后， 它们的动能之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dirty="0"/>
                <a:t>和不变 </a:t>
              </a:r>
              <a:r>
                <a:rPr lang="en-US" altLang="zh-CN" sz="2800" dirty="0"/>
                <a:t>.</a:t>
              </a:r>
            </a:p>
          </p:txBody>
        </p:sp>
      </p:grp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76200" y="3733800"/>
            <a:ext cx="86868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</a:rPr>
              <a:t>非弹性碰撞</a:t>
            </a:r>
            <a:r>
              <a:rPr lang="zh-CN" altLang="en-US" sz="2800" dirty="0">
                <a:solidFill>
                  <a:srgbClr val="CC0000"/>
                </a:solidFill>
              </a:rPr>
              <a:t>   </a:t>
            </a:r>
            <a:r>
              <a:rPr lang="zh-CN" altLang="en-US" sz="2800" dirty="0"/>
              <a:t>由于非保守力的作用 ，两物体碰撞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后，使机械能转换为热能、声能，化学能等其他形式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的能量 </a:t>
            </a:r>
            <a:r>
              <a:rPr lang="en-US" altLang="zh-CN" sz="2800" dirty="0"/>
              <a:t>.</a:t>
            </a: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152400" y="152400"/>
            <a:ext cx="5029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+mn-ea"/>
                <a:cs typeface="Times New Roman"/>
              </a:rPr>
              <a:t>第三部分：</a:t>
            </a:r>
            <a:r>
              <a:rPr lang="zh-CN" altLang="en-US" sz="3600" b="1" dirty="0" smtClean="0">
                <a:solidFill>
                  <a:srgbClr val="000066"/>
                </a:solidFill>
                <a:latin typeface="+mn-ea"/>
              </a:rPr>
              <a:t>碰撞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63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2"/>
          <p:cNvSpPr txBox="1">
            <a:spLocks noChangeArrowheads="1"/>
          </p:cNvSpPr>
          <p:nvPr/>
        </p:nvSpPr>
        <p:spPr bwMode="auto">
          <a:xfrm>
            <a:off x="3124200" y="457200"/>
            <a:ext cx="2743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0" dirty="0">
                <a:solidFill>
                  <a:srgbClr val="CC0000"/>
                </a:solidFill>
                <a:ea typeface="隶书" pitchFamily="49" charset="-122"/>
              </a:rPr>
              <a:t>完全弹性碰撞</a:t>
            </a: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2590800" y="5715000"/>
            <a:ext cx="3962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/>
              <a:t>（五个小球质量全同）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703498" r:id="rId2" imgW="6095238" imgH="4571429"/>
        </mc:Choice>
        <mc:Fallback>
          <p:control r:id="rId2" imgW="6095238" imgH="4571429">
            <p:pic>
              <p:nvPicPr>
                <p:cNvPr id="2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24000" y="1066800"/>
                  <a:ext cx="6096000" cy="45720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857750" y="2881313"/>
            <a:ext cx="3960813" cy="2376487"/>
            <a:chOff x="3061" y="527"/>
            <a:chExt cx="2495" cy="1497"/>
          </a:xfrm>
        </p:grpSpPr>
        <p:sp>
          <p:nvSpPr>
            <p:cNvPr id="166937" name="Rectangle 25"/>
            <p:cNvSpPr>
              <a:spLocks noChangeArrowheads="1"/>
            </p:cNvSpPr>
            <p:nvPr/>
          </p:nvSpPr>
          <p:spPr bwMode="auto">
            <a:xfrm>
              <a:off x="3061" y="527"/>
              <a:ext cx="2495" cy="14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3066" y="618"/>
              <a:ext cx="2454" cy="1282"/>
              <a:chOff x="839" y="1616"/>
              <a:chExt cx="2454" cy="1282"/>
            </a:xfrm>
          </p:grpSpPr>
          <p:sp>
            <p:nvSpPr>
              <p:cNvPr id="166917" name="Rectangle 5"/>
              <p:cNvSpPr>
                <a:spLocks noChangeArrowheads="1"/>
              </p:cNvSpPr>
              <p:nvPr/>
            </p:nvSpPr>
            <p:spPr bwMode="auto">
              <a:xfrm>
                <a:off x="1292" y="1616"/>
                <a:ext cx="1407" cy="181"/>
              </a:xfrm>
              <a:prstGeom prst="rect">
                <a:avLst/>
              </a:prstGeom>
              <a:pattFill prst="dkUpDiag">
                <a:fgClr>
                  <a:srgbClr val="996600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6919" name="AutoShape 7"/>
              <p:cNvSpPr>
                <a:spLocks noChangeArrowheads="1"/>
              </p:cNvSpPr>
              <p:nvPr/>
            </p:nvSpPr>
            <p:spPr bwMode="auto">
              <a:xfrm>
                <a:off x="1519" y="2522"/>
                <a:ext cx="771" cy="364"/>
              </a:xfrm>
              <a:prstGeom prst="cube">
                <a:avLst>
                  <a:gd name="adj" fmla="val 25000"/>
                </a:avLst>
              </a:prstGeom>
              <a:gradFill rotWithShape="1">
                <a:gsLst>
                  <a:gs pos="0">
                    <a:srgbClr val="FFCC99"/>
                  </a:gs>
                  <a:gs pos="50000">
                    <a:schemeClr val="bg1"/>
                  </a:gs>
                  <a:gs pos="100000">
                    <a:srgbClr val="FFCC99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6920" name="Line 8"/>
              <p:cNvSpPr>
                <a:spLocks noChangeShapeType="1"/>
              </p:cNvSpPr>
              <p:nvPr/>
            </p:nvSpPr>
            <p:spPr bwMode="auto">
              <a:xfrm>
                <a:off x="1701" y="1797"/>
                <a:ext cx="0" cy="7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1" name="Line 9"/>
              <p:cNvSpPr>
                <a:spLocks noChangeShapeType="1"/>
              </p:cNvSpPr>
              <p:nvPr/>
            </p:nvSpPr>
            <p:spPr bwMode="auto">
              <a:xfrm>
                <a:off x="2200" y="1797"/>
                <a:ext cx="0" cy="7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2" name="AutoShape 10"/>
              <p:cNvSpPr>
                <a:spLocks noChangeArrowheads="1"/>
              </p:cNvSpPr>
              <p:nvPr/>
            </p:nvSpPr>
            <p:spPr bwMode="auto">
              <a:xfrm>
                <a:off x="2290" y="2115"/>
                <a:ext cx="771" cy="364"/>
              </a:xfrm>
              <a:prstGeom prst="cube">
                <a:avLst>
                  <a:gd name="adj" fmla="val 25000"/>
                </a:avLst>
              </a:prstGeom>
              <a:gradFill rotWithShape="1">
                <a:gsLst>
                  <a:gs pos="0">
                    <a:srgbClr val="FFCC99"/>
                  </a:gs>
                  <a:gs pos="50000">
                    <a:schemeClr val="bg1"/>
                  </a:gs>
                  <a:gs pos="100000">
                    <a:srgbClr val="FFCC99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6923" name="AutoShape 11"/>
              <p:cNvSpPr>
                <a:spLocks noChangeArrowheads="1"/>
              </p:cNvSpPr>
              <p:nvPr/>
            </p:nvSpPr>
            <p:spPr bwMode="auto">
              <a:xfrm>
                <a:off x="930" y="2704"/>
                <a:ext cx="227" cy="91"/>
              </a:xfrm>
              <a:prstGeom prst="homePlate">
                <a:avLst>
                  <a:gd name="adj" fmla="val 62363"/>
                </a:avLst>
              </a:prstGeom>
              <a:gradFill rotWithShape="1">
                <a:gsLst>
                  <a:gs pos="0">
                    <a:srgbClr val="000000"/>
                  </a:gs>
                  <a:gs pos="50000">
                    <a:srgbClr val="FFFFFF"/>
                  </a:gs>
                  <a:gs pos="100000">
                    <a:srgbClr val="000000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6924" name="AutoShape 12"/>
              <p:cNvSpPr>
                <a:spLocks noChangeArrowheads="1"/>
              </p:cNvSpPr>
              <p:nvPr/>
            </p:nvSpPr>
            <p:spPr bwMode="auto">
              <a:xfrm>
                <a:off x="2517" y="2297"/>
                <a:ext cx="227" cy="91"/>
              </a:xfrm>
              <a:prstGeom prst="homePlate">
                <a:avLst>
                  <a:gd name="adj" fmla="val 62363"/>
                </a:avLst>
              </a:prstGeom>
              <a:gradFill rotWithShape="1">
                <a:gsLst>
                  <a:gs pos="0">
                    <a:srgbClr val="000000"/>
                  </a:gs>
                  <a:gs pos="50000">
                    <a:srgbClr val="FFFFFF"/>
                  </a:gs>
                  <a:gs pos="100000">
                    <a:srgbClr val="000000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6926" name="Line 14"/>
              <p:cNvSpPr>
                <a:spLocks noChangeShapeType="1"/>
              </p:cNvSpPr>
              <p:nvPr/>
            </p:nvSpPr>
            <p:spPr bwMode="auto">
              <a:xfrm rot="18000000">
                <a:off x="2041" y="1593"/>
                <a:ext cx="0" cy="7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7" name="Line 15"/>
              <p:cNvSpPr>
                <a:spLocks noChangeShapeType="1"/>
              </p:cNvSpPr>
              <p:nvPr/>
            </p:nvSpPr>
            <p:spPr bwMode="auto">
              <a:xfrm rot="18000000">
                <a:off x="2540" y="1593"/>
                <a:ext cx="0" cy="7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8" name="Line 16"/>
              <p:cNvSpPr>
                <a:spLocks noChangeShapeType="1"/>
              </p:cNvSpPr>
              <p:nvPr/>
            </p:nvSpPr>
            <p:spPr bwMode="auto">
              <a:xfrm>
                <a:off x="2337" y="2886"/>
                <a:ext cx="8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9" name="Line 17"/>
              <p:cNvSpPr>
                <a:spLocks noChangeShapeType="1"/>
              </p:cNvSpPr>
              <p:nvPr/>
            </p:nvSpPr>
            <p:spPr bwMode="auto">
              <a:xfrm>
                <a:off x="3062" y="2478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0" name="Line 18"/>
              <p:cNvSpPr>
                <a:spLocks noChangeShapeType="1"/>
              </p:cNvSpPr>
              <p:nvPr/>
            </p:nvSpPr>
            <p:spPr bwMode="auto">
              <a:xfrm>
                <a:off x="3107" y="2478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1" name="Text Box 19"/>
              <p:cNvSpPr txBox="1">
                <a:spLocks noChangeArrowheads="1"/>
              </p:cNvSpPr>
              <p:nvPr/>
            </p:nvSpPr>
            <p:spPr bwMode="auto">
              <a:xfrm>
                <a:off x="839" y="2373"/>
                <a:ext cx="37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/>
                  <a:t>m</a:t>
                </a:r>
                <a:r>
                  <a:rPr lang="en-US" altLang="zh-CN" sz="2800" baseline="-25000"/>
                  <a:t>1</a:t>
                </a:r>
              </a:p>
            </p:txBody>
          </p:sp>
          <p:sp>
            <p:nvSpPr>
              <p:cNvPr id="166932" name="Line 20"/>
              <p:cNvSpPr>
                <a:spLocks noChangeShapeType="1"/>
              </p:cNvSpPr>
              <p:nvPr/>
            </p:nvSpPr>
            <p:spPr bwMode="auto">
              <a:xfrm>
                <a:off x="1202" y="2750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6933" name="Object 21"/>
              <p:cNvGraphicFramePr>
                <a:graphicFrameLocks noChangeAspect="1"/>
              </p:cNvGraphicFramePr>
              <p:nvPr/>
            </p:nvGraphicFramePr>
            <p:xfrm>
              <a:off x="1202" y="2432"/>
              <a:ext cx="224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4546" name="公式" r:id="rId3" imgW="164880" imgH="215640" progId="Equation.3">
                      <p:embed/>
                    </p:oleObj>
                  </mc:Choice>
                  <mc:Fallback>
                    <p:oleObj name="公式" r:id="rId3" imgW="164880" imgH="21564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2" y="2432"/>
                            <a:ext cx="224" cy="29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6934" name="Text Box 22"/>
              <p:cNvSpPr txBox="1">
                <a:spLocks noChangeArrowheads="1"/>
              </p:cNvSpPr>
              <p:nvPr/>
            </p:nvSpPr>
            <p:spPr bwMode="auto">
              <a:xfrm>
                <a:off x="1735" y="2568"/>
                <a:ext cx="37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/>
                  <a:t>m</a:t>
                </a:r>
                <a:r>
                  <a:rPr lang="en-US" altLang="zh-CN" sz="2800" baseline="-25000"/>
                  <a:t>2</a:t>
                </a:r>
              </a:p>
            </p:txBody>
          </p:sp>
          <p:sp>
            <p:nvSpPr>
              <p:cNvPr id="166935" name="Text Box 23"/>
              <p:cNvSpPr txBox="1">
                <a:spLocks noChangeArrowheads="1"/>
              </p:cNvSpPr>
              <p:nvPr/>
            </p:nvSpPr>
            <p:spPr bwMode="auto">
              <a:xfrm>
                <a:off x="3061" y="2536"/>
                <a:ext cx="23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/>
                  <a:t>h</a:t>
                </a:r>
              </a:p>
            </p:txBody>
          </p:sp>
        </p:grpSp>
      </p:grpSp>
      <p:sp>
        <p:nvSpPr>
          <p:cNvPr id="166938" name="Text Box 26"/>
          <p:cNvSpPr txBox="1">
            <a:spLocks noChangeArrowheads="1"/>
          </p:cNvSpPr>
          <p:nvPr/>
        </p:nvSpPr>
        <p:spPr bwMode="auto">
          <a:xfrm>
            <a:off x="184150" y="609600"/>
            <a:ext cx="8883650" cy="195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CC0000"/>
                </a:solidFill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   </a:t>
            </a:r>
            <a:r>
              <a:rPr lang="zh-CN" altLang="en-US" sz="2800" dirty="0"/>
              <a:t>冲击摆是一种测定子弹速率的装置</a:t>
            </a:r>
            <a:r>
              <a:rPr lang="en-US" altLang="zh-CN" sz="2800" dirty="0"/>
              <a:t>.  </a:t>
            </a:r>
            <a:r>
              <a:rPr lang="zh-CN" altLang="en-US" sz="2800" dirty="0"/>
              <a:t>木块的质量为 </a:t>
            </a:r>
            <a:r>
              <a:rPr lang="en-US" altLang="zh-CN" sz="2800" i="1" dirty="0"/>
              <a:t>m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,  </a:t>
            </a:r>
            <a:r>
              <a:rPr lang="zh-CN" altLang="en-US" sz="2800" dirty="0"/>
              <a:t>被悬挂在细绳的下端</a:t>
            </a:r>
            <a:r>
              <a:rPr lang="en-US" altLang="zh-CN" sz="2800" dirty="0"/>
              <a:t>.   </a:t>
            </a:r>
            <a:r>
              <a:rPr lang="zh-CN" altLang="en-US" sz="2800" dirty="0"/>
              <a:t>有一质量为 </a:t>
            </a:r>
            <a:r>
              <a:rPr lang="en-US" altLang="zh-CN" sz="2800" i="1" dirty="0"/>
              <a:t>m</a:t>
            </a:r>
            <a:r>
              <a:rPr lang="en-US" altLang="zh-CN" sz="2800" baseline="-25000" dirty="0"/>
              <a:t>1 </a:t>
            </a:r>
            <a:r>
              <a:rPr lang="zh-CN" altLang="en-US" sz="2800" dirty="0"/>
              <a:t>的子弹以速率  </a:t>
            </a:r>
            <a:r>
              <a:rPr lang="en-US" altLang="zh-CN" sz="2800" i="1" dirty="0">
                <a:latin typeface="Book Antiqua" pitchFamily="18" charset="0"/>
              </a:rPr>
              <a:t>v</a:t>
            </a:r>
            <a:r>
              <a:rPr lang="en-US" altLang="zh-CN" sz="2800" baseline="-25000" dirty="0"/>
              <a:t>1  </a:t>
            </a:r>
            <a:r>
              <a:rPr lang="zh-CN" altLang="en-US" sz="2800" dirty="0"/>
              <a:t>沿水平方向射入木块中后 </a:t>
            </a:r>
            <a:r>
              <a:rPr lang="en-US" altLang="zh-CN" sz="2800" dirty="0"/>
              <a:t>,  </a:t>
            </a:r>
            <a:r>
              <a:rPr lang="zh-CN" altLang="en-US" sz="2800" dirty="0"/>
              <a:t>子弹与木块将一起摆至高度为 </a:t>
            </a:r>
            <a:r>
              <a:rPr lang="en-US" altLang="zh-CN" sz="2800" i="1" dirty="0"/>
              <a:t>h </a:t>
            </a:r>
            <a:r>
              <a:rPr lang="zh-CN" altLang="en-US" sz="2800" dirty="0"/>
              <a:t>处</a:t>
            </a:r>
            <a:r>
              <a:rPr lang="en-US" altLang="zh-CN" sz="2800" dirty="0"/>
              <a:t>.  </a:t>
            </a:r>
            <a:r>
              <a:rPr lang="zh-CN" altLang="en-US" sz="2800" dirty="0"/>
              <a:t>试求此子弹射入木块前的速率</a:t>
            </a:r>
            <a:r>
              <a:rPr lang="en-US" altLang="zh-CN" sz="2800" dirty="0"/>
              <a:t>.</a:t>
            </a:r>
          </a:p>
        </p:txBody>
      </p:sp>
      <p:sp>
        <p:nvSpPr>
          <p:cNvPr id="166954" name="Text Box 42"/>
          <p:cNvSpPr txBox="1">
            <a:spLocks noChangeArrowheads="1"/>
          </p:cNvSpPr>
          <p:nvPr/>
        </p:nvSpPr>
        <p:spPr bwMode="auto">
          <a:xfrm>
            <a:off x="228600" y="2667000"/>
            <a:ext cx="45720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CC0000"/>
                </a:solidFill>
              </a:rPr>
              <a:t>        </a:t>
            </a:r>
            <a:r>
              <a:rPr lang="zh-CN" altLang="en-US" sz="2800">
                <a:solidFill>
                  <a:srgbClr val="CC0000"/>
                </a:solidFill>
              </a:rPr>
              <a:t>解   </a:t>
            </a:r>
            <a:r>
              <a:rPr lang="zh-CN" altLang="en-US" sz="2800"/>
              <a:t>第</a:t>
            </a:r>
            <a:r>
              <a:rPr lang="zh-CN" altLang="en-US" sz="2800">
                <a:solidFill>
                  <a:srgbClr val="CC0000"/>
                </a:solidFill>
              </a:rPr>
              <a:t>一</a:t>
            </a:r>
            <a:r>
              <a:rPr lang="zh-CN" altLang="en-US" sz="2800"/>
              <a:t>过程子弹与木快碰撞动量守恒</a:t>
            </a:r>
          </a:p>
        </p:txBody>
      </p:sp>
      <p:graphicFrame>
        <p:nvGraphicFramePr>
          <p:cNvPr id="166955" name="Object 43"/>
          <p:cNvGraphicFramePr>
            <a:graphicFrameLocks noChangeAspect="1"/>
          </p:cNvGraphicFramePr>
          <p:nvPr/>
        </p:nvGraphicFramePr>
        <p:xfrm>
          <a:off x="914400" y="3733800"/>
          <a:ext cx="35052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47" name="公式" r:id="rId5" imgW="1168200" imgH="215640" progId="Equation.3">
                  <p:embed/>
                </p:oleObj>
              </mc:Choice>
              <mc:Fallback>
                <p:oleObj name="公式" r:id="rId5" imgW="1168200" imgH="21564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33800"/>
                        <a:ext cx="3505200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56" name="Object 44"/>
          <p:cNvGraphicFramePr>
            <a:graphicFrameLocks noChangeAspect="1"/>
          </p:cNvGraphicFramePr>
          <p:nvPr/>
        </p:nvGraphicFramePr>
        <p:xfrm>
          <a:off x="381000" y="5334000"/>
          <a:ext cx="4876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48" name="公式" r:id="rId7" imgW="1765080" imgH="393480" progId="Equation.3">
                  <p:embed/>
                </p:oleObj>
              </mc:Choice>
              <mc:Fallback>
                <p:oleObj name="公式" r:id="rId7" imgW="1765080" imgH="393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34000"/>
                        <a:ext cx="4876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57" name="Object 45"/>
          <p:cNvGraphicFramePr>
            <a:graphicFrameLocks noChangeAspect="1"/>
          </p:cNvGraphicFramePr>
          <p:nvPr/>
        </p:nvGraphicFramePr>
        <p:xfrm>
          <a:off x="5486400" y="5334000"/>
          <a:ext cx="35052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49" name="公式" r:id="rId9" imgW="1307880" imgH="431640" progId="Equation.3">
                  <p:embed/>
                </p:oleObj>
              </mc:Choice>
              <mc:Fallback>
                <p:oleObj name="公式" r:id="rId9" imgW="1307880" imgH="4316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334000"/>
                        <a:ext cx="350520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58" name="Rectangle 46"/>
          <p:cNvSpPr>
            <a:spLocks noChangeArrowheads="1"/>
          </p:cNvSpPr>
          <p:nvPr/>
        </p:nvSpPr>
        <p:spPr bwMode="auto">
          <a:xfrm>
            <a:off x="304800" y="4343400"/>
            <a:ext cx="4419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/>
              <a:t>        </a:t>
            </a:r>
            <a:r>
              <a:rPr lang="zh-CN" altLang="en-US" sz="2800"/>
              <a:t>第</a:t>
            </a:r>
            <a:r>
              <a:rPr lang="zh-CN" altLang="en-US" sz="2800">
                <a:solidFill>
                  <a:srgbClr val="CC0000"/>
                </a:solidFill>
              </a:rPr>
              <a:t>二</a:t>
            </a:r>
            <a:r>
              <a:rPr lang="zh-CN" altLang="en-US" sz="2800"/>
              <a:t>过程子弹、木块一块运动机械能守恒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54" grpId="0" autoUpdateAnimBg="0"/>
      <p:bldP spid="16695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0" y="498476"/>
            <a:ext cx="9274175" cy="1787526"/>
            <a:chOff x="110" y="314"/>
            <a:chExt cx="5842" cy="1126"/>
          </a:xfrm>
        </p:grpSpPr>
        <p:sp>
          <p:nvSpPr>
            <p:cNvPr id="162819" name="Text Box 3"/>
            <p:cNvSpPr txBox="1">
              <a:spLocks noChangeArrowheads="1"/>
            </p:cNvSpPr>
            <p:nvPr/>
          </p:nvSpPr>
          <p:spPr bwMode="auto">
            <a:xfrm>
              <a:off x="110" y="384"/>
              <a:ext cx="5650" cy="1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例 </a:t>
              </a:r>
              <a:r>
                <a:rPr lang="en-US" altLang="zh-CN" sz="2800" b="1" dirty="0">
                  <a:solidFill>
                    <a:srgbClr val="C00000"/>
                  </a:solidFill>
                </a:rPr>
                <a:t>2    </a:t>
              </a:r>
              <a:r>
                <a:rPr lang="zh-CN" altLang="en-US" sz="2800" dirty="0">
                  <a:solidFill>
                    <a:srgbClr val="000000"/>
                  </a:solidFill>
                </a:rPr>
                <a:t>设有两个质量分别为       和         </a:t>
              </a:r>
              <a:r>
                <a:rPr lang="en-US" altLang="zh-CN" sz="2800" dirty="0">
                  <a:solidFill>
                    <a:srgbClr val="000000"/>
                  </a:solidFill>
                </a:rPr>
                <a:t>,   </a:t>
              </a:r>
              <a:r>
                <a:rPr lang="zh-CN" altLang="en-US" sz="2800" dirty="0">
                  <a:solidFill>
                    <a:srgbClr val="000000"/>
                  </a:solidFill>
                </a:rPr>
                <a:t>速度分别为         </a:t>
              </a:r>
              <a:r>
                <a:rPr lang="zh-CN" altLang="en-US" sz="2800" dirty="0" smtClean="0">
                  <a:solidFill>
                    <a:srgbClr val="000000"/>
                  </a:solidFill>
                </a:rPr>
                <a:t>和         </a:t>
              </a:r>
              <a:r>
                <a:rPr lang="zh-CN" altLang="en-US" sz="2800" dirty="0">
                  <a:solidFill>
                    <a:srgbClr val="000000"/>
                  </a:solidFill>
                </a:rPr>
                <a:t>的弹性小球作对心碰撞 </a:t>
              </a:r>
              <a:r>
                <a:rPr lang="en-US" altLang="zh-CN" sz="2800" dirty="0">
                  <a:solidFill>
                    <a:srgbClr val="000000"/>
                  </a:solidFill>
                </a:rPr>
                <a:t>,   </a:t>
              </a:r>
              <a:r>
                <a:rPr lang="zh-CN" altLang="en-US" sz="2800" dirty="0">
                  <a:solidFill>
                    <a:srgbClr val="000000"/>
                  </a:solidFill>
                </a:rPr>
                <a:t>两球的速度方向相同</a:t>
              </a:r>
              <a:r>
                <a:rPr lang="en-US" altLang="zh-CN" sz="2800" dirty="0">
                  <a:solidFill>
                    <a:srgbClr val="000000"/>
                  </a:solidFill>
                </a:rPr>
                <a:t>. </a:t>
              </a:r>
              <a:r>
                <a:rPr lang="zh-CN" altLang="en-US" sz="2800" dirty="0">
                  <a:solidFill>
                    <a:srgbClr val="000000"/>
                  </a:solidFill>
                </a:rPr>
                <a:t>若碰撞是完全弹性的</a:t>
              </a:r>
              <a:r>
                <a:rPr lang="en-US" altLang="zh-CN" sz="2800" dirty="0">
                  <a:solidFill>
                    <a:srgbClr val="000000"/>
                  </a:solidFill>
                </a:rPr>
                <a:t>, </a:t>
              </a:r>
              <a:r>
                <a:rPr lang="zh-CN" altLang="en-US" sz="2800" dirty="0">
                  <a:solidFill>
                    <a:srgbClr val="000000"/>
                  </a:solidFill>
                </a:rPr>
                <a:t>求碰撞后的速度     和     </a:t>
              </a:r>
              <a:r>
                <a:rPr lang="en-US" altLang="zh-CN" sz="2800" dirty="0">
                  <a:solidFill>
                    <a:srgbClr val="000000"/>
                  </a:solidFill>
                </a:rPr>
                <a:t>. </a:t>
              </a:r>
            </a:p>
          </p:txBody>
        </p:sp>
        <p:graphicFrame>
          <p:nvGraphicFramePr>
            <p:cNvPr id="162826" name="Object 10"/>
            <p:cNvGraphicFramePr>
              <a:graphicFrameLocks noChangeAspect="1"/>
            </p:cNvGraphicFramePr>
            <p:nvPr/>
          </p:nvGraphicFramePr>
          <p:xfrm>
            <a:off x="364" y="672"/>
            <a:ext cx="46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2" name="Equation" r:id="rId3" imgW="215640" imgH="228600" progId="Equation.3">
                    <p:embed/>
                  </p:oleObj>
                </mc:Choice>
                <mc:Fallback>
                  <p:oleObj name="Equation" r:id="rId3" imgW="21564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" y="672"/>
                          <a:ext cx="466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2" name="Object 6"/>
            <p:cNvGraphicFramePr>
              <a:graphicFrameLocks noChangeAspect="1"/>
            </p:cNvGraphicFramePr>
            <p:nvPr/>
          </p:nvGraphicFramePr>
          <p:xfrm>
            <a:off x="3744" y="314"/>
            <a:ext cx="440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3" name="Equation" r:id="rId5" imgW="203040" imgH="215640" progId="Equation.3">
                    <p:embed/>
                  </p:oleObj>
                </mc:Choice>
                <mc:Fallback>
                  <p:oleObj name="Equation" r:id="rId5" imgW="203040" imgH="215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14"/>
                          <a:ext cx="440" cy="4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3" name="Object 7"/>
            <p:cNvGraphicFramePr>
              <a:graphicFrameLocks noChangeAspect="1"/>
            </p:cNvGraphicFramePr>
            <p:nvPr/>
          </p:nvGraphicFramePr>
          <p:xfrm>
            <a:off x="3187" y="315"/>
            <a:ext cx="413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4" name="Equation" r:id="rId7" imgW="190440" imgH="215640" progId="Equation.3">
                    <p:embed/>
                  </p:oleObj>
                </mc:Choice>
                <mc:Fallback>
                  <p:oleObj name="Equation" r:id="rId7" imgW="19044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7" y="315"/>
                          <a:ext cx="413" cy="4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5" name="Object 9"/>
            <p:cNvGraphicFramePr>
              <a:graphicFrameLocks noChangeAspect="1"/>
            </p:cNvGraphicFramePr>
            <p:nvPr/>
          </p:nvGraphicFramePr>
          <p:xfrm>
            <a:off x="5486" y="336"/>
            <a:ext cx="46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5" name="Equation" r:id="rId9" imgW="215640" imgH="228600" progId="Equation.3">
                    <p:embed/>
                  </p:oleObj>
                </mc:Choice>
                <mc:Fallback>
                  <p:oleObj name="Equation" r:id="rId9" imgW="21564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" y="336"/>
                          <a:ext cx="466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7" name="Object 11"/>
            <p:cNvGraphicFramePr>
              <a:graphicFrameLocks noChangeAspect="1"/>
            </p:cNvGraphicFramePr>
            <p:nvPr/>
          </p:nvGraphicFramePr>
          <p:xfrm>
            <a:off x="3644" y="1008"/>
            <a:ext cx="34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6" name="Equation" r:id="rId11" imgW="164880" imgH="215640" progId="Equation.3">
                    <p:embed/>
                  </p:oleObj>
                </mc:Choice>
                <mc:Fallback>
                  <p:oleObj name="Equation" r:id="rId11" imgW="164880" imgH="2156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4" y="1008"/>
                          <a:ext cx="340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28" name="Object 12"/>
            <p:cNvGraphicFramePr>
              <a:graphicFrameLocks noChangeAspect="1"/>
            </p:cNvGraphicFramePr>
            <p:nvPr/>
          </p:nvGraphicFramePr>
          <p:xfrm>
            <a:off x="4050" y="1008"/>
            <a:ext cx="36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7" name="Equation" r:id="rId13" imgW="177480" imgH="215640" progId="Equation.3">
                    <p:embed/>
                  </p:oleObj>
                </mc:Choice>
                <mc:Fallback>
                  <p:oleObj name="Equation" r:id="rId13" imgW="17748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1008"/>
                          <a:ext cx="36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533400" y="3352800"/>
          <a:ext cx="5257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728" name="Equation" r:id="rId15" imgW="1701720" imgH="228600" progId="Equation.3">
                  <p:embed/>
                </p:oleObj>
              </mc:Choice>
              <mc:Fallback>
                <p:oleObj name="Equation" r:id="rId15" imgW="17017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52800"/>
                        <a:ext cx="5257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54" name="Text Box 38"/>
          <p:cNvSpPr txBox="1">
            <a:spLocks noChangeArrowheads="1"/>
          </p:cNvSpPr>
          <p:nvPr/>
        </p:nvSpPr>
        <p:spPr bwMode="auto">
          <a:xfrm>
            <a:off x="228600" y="2286000"/>
            <a:ext cx="54864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/>
              <a:t>       </a:t>
            </a:r>
            <a:r>
              <a:rPr lang="zh-CN" altLang="en-US" sz="2800" dirty="0">
                <a:solidFill>
                  <a:srgbClr val="CC0000"/>
                </a:solidFill>
              </a:rPr>
              <a:t>解</a:t>
            </a:r>
            <a:r>
              <a:rPr lang="zh-CN" altLang="en-US" sz="2800" dirty="0"/>
              <a:t>    取速度方向为正向，由动量守恒定律得</a:t>
            </a:r>
          </a:p>
        </p:txBody>
      </p: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304800" y="4876800"/>
            <a:ext cx="5562600" cy="1600200"/>
            <a:chOff x="192" y="3072"/>
            <a:chExt cx="3504" cy="1008"/>
          </a:xfrm>
        </p:grpSpPr>
        <p:sp>
          <p:nvSpPr>
            <p:cNvPr id="162856" name="Rectangle 40"/>
            <p:cNvSpPr>
              <a:spLocks noChangeArrowheads="1"/>
            </p:cNvSpPr>
            <p:nvPr/>
          </p:nvSpPr>
          <p:spPr bwMode="auto">
            <a:xfrm>
              <a:off x="480" y="3072"/>
              <a:ext cx="28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由机械能守恒定律得</a:t>
              </a:r>
            </a:p>
          </p:txBody>
        </p:sp>
        <p:graphicFrame>
          <p:nvGraphicFramePr>
            <p:cNvPr id="162857" name="Object 41"/>
            <p:cNvGraphicFramePr>
              <a:graphicFrameLocks noChangeAspect="1"/>
            </p:cNvGraphicFramePr>
            <p:nvPr/>
          </p:nvGraphicFramePr>
          <p:xfrm>
            <a:off x="192" y="3408"/>
            <a:ext cx="3504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29" name="Equation" r:id="rId17" imgW="2209680" imgH="393480" progId="Equation.3">
                    <p:embed/>
                  </p:oleObj>
                </mc:Choice>
                <mc:Fallback>
                  <p:oleObj name="Equation" r:id="rId17" imgW="2209680" imgH="39348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408"/>
                          <a:ext cx="3504" cy="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6019800" y="2362200"/>
            <a:ext cx="2895600" cy="4038600"/>
            <a:chOff x="3792" y="1488"/>
            <a:chExt cx="1824" cy="2544"/>
          </a:xfrm>
        </p:grpSpPr>
        <p:sp>
          <p:nvSpPr>
            <p:cNvPr id="162863" name="Line 47"/>
            <p:cNvSpPr>
              <a:spLocks noChangeShapeType="1"/>
            </p:cNvSpPr>
            <p:nvPr/>
          </p:nvSpPr>
          <p:spPr bwMode="auto">
            <a:xfrm>
              <a:off x="4416" y="3504"/>
              <a:ext cx="3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5" name="Group 50"/>
            <p:cNvGrpSpPr>
              <a:grpSpLocks/>
            </p:cNvGrpSpPr>
            <p:nvPr/>
          </p:nvGrpSpPr>
          <p:grpSpPr bwMode="auto">
            <a:xfrm>
              <a:off x="3840" y="1872"/>
              <a:ext cx="1668" cy="852"/>
              <a:chOff x="3840" y="1872"/>
              <a:chExt cx="1668" cy="852"/>
            </a:xfrm>
          </p:grpSpPr>
          <p:sp>
            <p:nvSpPr>
              <p:cNvPr id="162862" name="Line 46"/>
              <p:cNvSpPr>
                <a:spLocks noChangeShapeType="1"/>
              </p:cNvSpPr>
              <p:nvPr/>
            </p:nvSpPr>
            <p:spPr bwMode="auto">
              <a:xfrm>
                <a:off x="4752" y="2340"/>
                <a:ext cx="43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2836" name="Line 20"/>
              <p:cNvSpPr>
                <a:spLocks noChangeShapeType="1"/>
              </p:cNvSpPr>
              <p:nvPr/>
            </p:nvSpPr>
            <p:spPr bwMode="auto">
              <a:xfrm>
                <a:off x="4079" y="2325"/>
                <a:ext cx="43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2824" name="Object 8"/>
              <p:cNvGraphicFramePr>
                <a:graphicFrameLocks noChangeAspect="1"/>
              </p:cNvGraphicFramePr>
              <p:nvPr/>
            </p:nvGraphicFramePr>
            <p:xfrm>
              <a:off x="3909" y="2411"/>
              <a:ext cx="323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0" name="Equation" r:id="rId19" imgW="164880" imgH="164880" progId="Equation.3">
                      <p:embed/>
                    </p:oleObj>
                  </mc:Choice>
                  <mc:Fallback>
                    <p:oleObj name="Equation" r:id="rId19" imgW="164880" imgH="16488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9" y="2411"/>
                            <a:ext cx="323" cy="3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31" name="Object 15"/>
              <p:cNvGraphicFramePr>
                <a:graphicFrameLocks noChangeAspect="1"/>
              </p:cNvGraphicFramePr>
              <p:nvPr/>
            </p:nvGraphicFramePr>
            <p:xfrm>
              <a:off x="4700" y="2195"/>
              <a:ext cx="2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1" name="Clip" r:id="rId21" imgW="380852" imgH="390270" progId="">
                      <p:embed/>
                    </p:oleObj>
                  </mc:Choice>
                  <mc:Fallback>
                    <p:oleObj name="Clip" r:id="rId21" imgW="380852" imgH="390270" progId="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0" y="2195"/>
                            <a:ext cx="25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34" name="Object 18"/>
              <p:cNvGraphicFramePr>
                <a:graphicFrameLocks noChangeAspect="1"/>
              </p:cNvGraphicFramePr>
              <p:nvPr/>
            </p:nvGraphicFramePr>
            <p:xfrm>
              <a:off x="3872" y="2195"/>
              <a:ext cx="2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2" name="Clip" r:id="rId23" imgW="380852" imgH="390270" progId="">
                      <p:embed/>
                    </p:oleObj>
                  </mc:Choice>
                  <mc:Fallback>
                    <p:oleObj name="Clip" r:id="rId23" imgW="380852" imgH="390270" progId="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2" y="2195"/>
                            <a:ext cx="25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37" name="Object 21"/>
              <p:cNvGraphicFramePr>
                <a:graphicFrameLocks noChangeAspect="1"/>
              </p:cNvGraphicFramePr>
              <p:nvPr/>
            </p:nvGraphicFramePr>
            <p:xfrm>
              <a:off x="3840" y="1873"/>
              <a:ext cx="372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3" name="Equation" r:id="rId25" imgW="190440" imgH="215640" progId="Equation.3">
                      <p:embed/>
                    </p:oleObj>
                  </mc:Choice>
                  <mc:Fallback>
                    <p:oleObj name="Equation" r:id="rId25" imgW="190440" imgH="21564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873"/>
                            <a:ext cx="372" cy="4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38" name="Object 22"/>
              <p:cNvGraphicFramePr>
                <a:graphicFrameLocks noChangeAspect="1"/>
              </p:cNvGraphicFramePr>
              <p:nvPr/>
            </p:nvGraphicFramePr>
            <p:xfrm>
              <a:off x="4692" y="1872"/>
              <a:ext cx="397" cy="4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4" name="Equation" r:id="rId26" imgW="203040" imgH="215640" progId="Equation.3">
                      <p:embed/>
                    </p:oleObj>
                  </mc:Choice>
                  <mc:Fallback>
                    <p:oleObj name="Equation" r:id="rId26" imgW="203040" imgH="21564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2" y="1872"/>
                            <a:ext cx="397" cy="4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40" name="Object 24"/>
              <p:cNvGraphicFramePr>
                <a:graphicFrameLocks noChangeAspect="1"/>
              </p:cNvGraphicFramePr>
              <p:nvPr/>
            </p:nvGraphicFramePr>
            <p:xfrm>
              <a:off x="4224" y="1935"/>
              <a:ext cx="42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5" name="Equation" r:id="rId27" imgW="215640" imgH="228600" progId="Equation.3">
                      <p:embed/>
                    </p:oleObj>
                  </mc:Choice>
                  <mc:Fallback>
                    <p:oleObj name="Equation" r:id="rId27" imgW="215640" imgH="2286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935"/>
                            <a:ext cx="42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41" name="Object 25"/>
              <p:cNvGraphicFramePr>
                <a:graphicFrameLocks noChangeAspect="1"/>
              </p:cNvGraphicFramePr>
              <p:nvPr/>
            </p:nvGraphicFramePr>
            <p:xfrm>
              <a:off x="5088" y="1956"/>
              <a:ext cx="42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6" name="Equation" r:id="rId28" imgW="215640" imgH="228600" progId="Equation.3">
                      <p:embed/>
                    </p:oleObj>
                  </mc:Choice>
                  <mc:Fallback>
                    <p:oleObj name="Equation" r:id="rId28" imgW="215640" imgH="2286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1956"/>
                            <a:ext cx="42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42" name="Object 26"/>
              <p:cNvGraphicFramePr>
                <a:graphicFrameLocks noChangeAspect="1"/>
              </p:cNvGraphicFramePr>
              <p:nvPr/>
            </p:nvGraphicFramePr>
            <p:xfrm>
              <a:off x="4693" y="2411"/>
              <a:ext cx="299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5737" name="Equation" r:id="rId29" imgW="152280" imgH="164880" progId="Equation.3">
                      <p:embed/>
                    </p:oleObj>
                  </mc:Choice>
                  <mc:Fallback>
                    <p:oleObj name="Equation" r:id="rId29" imgW="152280" imgH="16488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3" y="2411"/>
                            <a:ext cx="299" cy="3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2843" name="Object 27"/>
            <p:cNvGraphicFramePr>
              <a:graphicFrameLocks noChangeAspect="1"/>
            </p:cNvGraphicFramePr>
            <p:nvPr/>
          </p:nvGraphicFramePr>
          <p:xfrm>
            <a:off x="4962" y="3383"/>
            <a:ext cx="2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38" name="Clip" r:id="rId31" imgW="380852" imgH="390270" progId="">
                    <p:embed/>
                  </p:oleObj>
                </mc:Choice>
                <mc:Fallback>
                  <p:oleObj name="Clip" r:id="rId31" imgW="380852" imgH="390270" progId="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" y="3383"/>
                          <a:ext cx="266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44" name="Object 28"/>
            <p:cNvGraphicFramePr>
              <a:graphicFrameLocks noChangeAspect="1"/>
            </p:cNvGraphicFramePr>
            <p:nvPr/>
          </p:nvGraphicFramePr>
          <p:xfrm>
            <a:off x="4276" y="3383"/>
            <a:ext cx="2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39" name="Clip" r:id="rId32" imgW="380852" imgH="390270" progId="">
                    <p:embed/>
                  </p:oleObj>
                </mc:Choice>
                <mc:Fallback>
                  <p:oleObj name="Clip" r:id="rId32" imgW="380852" imgH="390270" progId="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3383"/>
                          <a:ext cx="266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46" name="Line 30"/>
            <p:cNvSpPr>
              <a:spLocks noChangeShapeType="1"/>
            </p:cNvSpPr>
            <p:nvPr/>
          </p:nvSpPr>
          <p:spPr bwMode="auto">
            <a:xfrm>
              <a:off x="5206" y="3504"/>
              <a:ext cx="3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2847" name="Object 31"/>
            <p:cNvGraphicFramePr>
              <a:graphicFrameLocks noChangeAspect="1"/>
            </p:cNvGraphicFramePr>
            <p:nvPr/>
          </p:nvGraphicFramePr>
          <p:xfrm>
            <a:off x="4559" y="3072"/>
            <a:ext cx="337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40" name="Equation" r:id="rId33" imgW="164880" imgH="215640" progId="Equation.3">
                    <p:embed/>
                  </p:oleObj>
                </mc:Choice>
                <mc:Fallback>
                  <p:oleObj name="Equation" r:id="rId33" imgW="164880" imgH="21564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9" y="3072"/>
                          <a:ext cx="337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48" name="Object 32"/>
            <p:cNvGraphicFramePr>
              <a:graphicFrameLocks noChangeAspect="1"/>
            </p:cNvGraphicFramePr>
            <p:nvPr/>
          </p:nvGraphicFramePr>
          <p:xfrm>
            <a:off x="5184" y="3072"/>
            <a:ext cx="36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41" name="Equation" r:id="rId34" imgW="177480" imgH="215640" progId="Equation.3">
                    <p:embed/>
                  </p:oleObj>
                </mc:Choice>
                <mc:Fallback>
                  <p:oleObj name="Equation" r:id="rId34" imgW="177480" imgH="21564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3072"/>
                          <a:ext cx="362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49" name="Object 33"/>
            <p:cNvGraphicFramePr>
              <a:graphicFrameLocks noChangeAspect="1"/>
            </p:cNvGraphicFramePr>
            <p:nvPr/>
          </p:nvGraphicFramePr>
          <p:xfrm>
            <a:off x="4271" y="3609"/>
            <a:ext cx="33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42" name="Equation" r:id="rId35" imgW="164880" imgH="164880" progId="Equation.3">
                    <p:embed/>
                  </p:oleObj>
                </mc:Choice>
                <mc:Fallback>
                  <p:oleObj name="Equation" r:id="rId35" imgW="164880" imgH="16488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1" y="3609"/>
                          <a:ext cx="337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50" name="Object 34"/>
            <p:cNvGraphicFramePr>
              <a:graphicFrameLocks noChangeAspect="1"/>
            </p:cNvGraphicFramePr>
            <p:nvPr/>
          </p:nvGraphicFramePr>
          <p:xfrm>
            <a:off x="4968" y="3600"/>
            <a:ext cx="31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743" name="Equation" r:id="rId36" imgW="152280" imgH="164880" progId="Equation.3">
                    <p:embed/>
                  </p:oleObj>
                </mc:Choice>
                <mc:Fallback>
                  <p:oleObj name="Equation" r:id="rId36" imgW="152280" imgH="1648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3600"/>
                          <a:ext cx="312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53" name="Rectangle 37"/>
            <p:cNvSpPr>
              <a:spLocks noChangeArrowheads="1"/>
            </p:cNvSpPr>
            <p:nvPr/>
          </p:nvSpPr>
          <p:spPr bwMode="auto">
            <a:xfrm>
              <a:off x="3792" y="1488"/>
              <a:ext cx="1824" cy="2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2865" name="Text Box 49"/>
            <p:cNvSpPr txBox="1">
              <a:spLocks noChangeArrowheads="1"/>
            </p:cNvSpPr>
            <p:nvPr/>
          </p:nvSpPr>
          <p:spPr bwMode="auto">
            <a:xfrm>
              <a:off x="3792" y="1488"/>
              <a:ext cx="720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碰前</a:t>
              </a:r>
            </a:p>
          </p:txBody>
        </p:sp>
        <p:sp>
          <p:nvSpPr>
            <p:cNvPr id="162867" name="Text Box 51"/>
            <p:cNvSpPr txBox="1">
              <a:spLocks noChangeArrowheads="1"/>
            </p:cNvSpPr>
            <p:nvPr/>
          </p:nvSpPr>
          <p:spPr bwMode="auto">
            <a:xfrm>
              <a:off x="3792" y="2835"/>
              <a:ext cx="720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碰后</a:t>
              </a:r>
            </a:p>
          </p:txBody>
        </p:sp>
      </p:grpSp>
      <p:graphicFrame>
        <p:nvGraphicFramePr>
          <p:cNvPr id="162870" name="Object 54"/>
          <p:cNvGraphicFramePr>
            <a:graphicFrameLocks noChangeAspect="1"/>
          </p:cNvGraphicFramePr>
          <p:nvPr/>
        </p:nvGraphicFramePr>
        <p:xfrm>
          <a:off x="609600" y="4114800"/>
          <a:ext cx="4953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744" name="Equation" r:id="rId37" imgW="1638000" imgH="228600" progId="Equation.3">
                  <p:embed/>
                </p:oleObj>
              </mc:Choice>
              <mc:Fallback>
                <p:oleObj name="Equation" r:id="rId37" imgW="1638000" imgH="2286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14800"/>
                        <a:ext cx="4953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54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008" name="Object 1024"/>
          <p:cNvGraphicFramePr>
            <a:graphicFrameLocks noChangeAspect="1"/>
          </p:cNvGraphicFramePr>
          <p:nvPr/>
        </p:nvGraphicFramePr>
        <p:xfrm>
          <a:off x="228600" y="1828800"/>
          <a:ext cx="5715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14" name="Equation" r:id="rId3" imgW="2209680" imgH="393480" progId="Equation.3">
                  <p:embed/>
                </p:oleObj>
              </mc:Choice>
              <mc:Fallback>
                <p:oleObj name="Equation" r:id="rId3" imgW="2209680" imgH="39348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28800"/>
                        <a:ext cx="57150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09" name="Object 1025"/>
          <p:cNvGraphicFramePr>
            <a:graphicFrameLocks noChangeAspect="1"/>
          </p:cNvGraphicFramePr>
          <p:nvPr/>
        </p:nvGraphicFramePr>
        <p:xfrm>
          <a:off x="762000" y="3276600"/>
          <a:ext cx="48768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15" name="Equation" r:id="rId5" imgW="1638000" imgH="241200" progId="Equation.3">
                  <p:embed/>
                </p:oleObj>
              </mc:Choice>
              <mc:Fallback>
                <p:oleObj name="Equation" r:id="rId5" imgW="1638000" imgH="2412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76600"/>
                        <a:ext cx="4876800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0" name="Object 1026"/>
          <p:cNvGraphicFramePr>
            <a:graphicFrameLocks noChangeAspect="1"/>
          </p:cNvGraphicFramePr>
          <p:nvPr/>
        </p:nvGraphicFramePr>
        <p:xfrm>
          <a:off x="457200" y="914400"/>
          <a:ext cx="487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16" name="Equation" r:id="rId7" imgW="1638000" imgH="228600" progId="Equation.3">
                  <p:embed/>
                </p:oleObj>
              </mc:Choice>
              <mc:Fallback>
                <p:oleObj name="Equation" r:id="rId7" imgW="1638000" imgH="2286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914400"/>
                        <a:ext cx="4876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304800" y="4267200"/>
            <a:ext cx="8839200" cy="2038350"/>
            <a:chOff x="192" y="2688"/>
            <a:chExt cx="5568" cy="1284"/>
          </a:xfrm>
        </p:grpSpPr>
        <p:sp>
          <p:nvSpPr>
            <p:cNvPr id="163870" name="Text Box 30"/>
            <p:cNvSpPr txBox="1">
              <a:spLocks noChangeArrowheads="1"/>
            </p:cNvSpPr>
            <p:nvPr/>
          </p:nvSpPr>
          <p:spPr bwMode="auto">
            <a:xfrm>
              <a:off x="528" y="2688"/>
              <a:ext cx="11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解得</a:t>
              </a:r>
            </a:p>
          </p:txBody>
        </p:sp>
        <p:graphicFrame>
          <p:nvGraphicFramePr>
            <p:cNvPr id="171025" name="Object 1041"/>
            <p:cNvGraphicFramePr>
              <a:graphicFrameLocks noChangeAspect="1"/>
            </p:cNvGraphicFramePr>
            <p:nvPr/>
          </p:nvGraphicFramePr>
          <p:xfrm>
            <a:off x="192" y="3120"/>
            <a:ext cx="2770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17" name="Equation" r:id="rId9" imgW="1714320" imgH="431640" progId="Equation.3">
                    <p:embed/>
                  </p:oleObj>
                </mc:Choice>
                <mc:Fallback>
                  <p:oleObj name="Equation" r:id="rId9" imgW="1714320" imgH="431640" progId="Equation.3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2770" cy="8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6" name="Object 1042"/>
            <p:cNvGraphicFramePr>
              <a:graphicFrameLocks noChangeAspect="1"/>
            </p:cNvGraphicFramePr>
            <p:nvPr/>
          </p:nvGraphicFramePr>
          <p:xfrm>
            <a:off x="3072" y="3157"/>
            <a:ext cx="2688" cy="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18" name="Equation" r:id="rId11" imgW="1663560" imgH="431640" progId="Equation.3">
                    <p:embed/>
                  </p:oleObj>
                </mc:Choice>
                <mc:Fallback>
                  <p:oleObj name="Equation" r:id="rId11" imgW="1663560" imgH="431640" progId="Equation.3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157"/>
                          <a:ext cx="2688" cy="8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6019800" y="762000"/>
            <a:ext cx="2895600" cy="4038600"/>
            <a:chOff x="3792" y="1488"/>
            <a:chExt cx="1824" cy="2544"/>
          </a:xfrm>
        </p:grpSpPr>
        <p:sp>
          <p:nvSpPr>
            <p:cNvPr id="163899" name="Line 59"/>
            <p:cNvSpPr>
              <a:spLocks noChangeShapeType="1"/>
            </p:cNvSpPr>
            <p:nvPr/>
          </p:nvSpPr>
          <p:spPr bwMode="auto">
            <a:xfrm>
              <a:off x="4416" y="3504"/>
              <a:ext cx="3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4" name="Group 60"/>
            <p:cNvGrpSpPr>
              <a:grpSpLocks/>
            </p:cNvGrpSpPr>
            <p:nvPr/>
          </p:nvGrpSpPr>
          <p:grpSpPr bwMode="auto">
            <a:xfrm>
              <a:off x="3840" y="1872"/>
              <a:ext cx="1668" cy="852"/>
              <a:chOff x="3840" y="1872"/>
              <a:chExt cx="1668" cy="852"/>
            </a:xfrm>
          </p:grpSpPr>
          <p:sp>
            <p:nvSpPr>
              <p:cNvPr id="163901" name="Line 61"/>
              <p:cNvSpPr>
                <a:spLocks noChangeShapeType="1"/>
              </p:cNvSpPr>
              <p:nvPr/>
            </p:nvSpPr>
            <p:spPr bwMode="auto">
              <a:xfrm>
                <a:off x="4752" y="2340"/>
                <a:ext cx="43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3902" name="Line 62"/>
              <p:cNvSpPr>
                <a:spLocks noChangeShapeType="1"/>
              </p:cNvSpPr>
              <p:nvPr/>
            </p:nvSpPr>
            <p:spPr bwMode="auto">
              <a:xfrm>
                <a:off x="4079" y="2325"/>
                <a:ext cx="43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71017" name="Object 1033"/>
              <p:cNvGraphicFramePr>
                <a:graphicFrameLocks noChangeAspect="1"/>
              </p:cNvGraphicFramePr>
              <p:nvPr/>
            </p:nvGraphicFramePr>
            <p:xfrm>
              <a:off x="3909" y="2411"/>
              <a:ext cx="323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19" name="Equation" r:id="rId13" imgW="164880" imgH="164880" progId="Equation.3">
                      <p:embed/>
                    </p:oleObj>
                  </mc:Choice>
                  <mc:Fallback>
                    <p:oleObj name="Equation" r:id="rId13" imgW="164880" imgH="164880" progId="Equation.3">
                      <p:embed/>
                      <p:pic>
                        <p:nvPicPr>
                          <p:cNvPr id="0" name="Object 10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9" y="2411"/>
                            <a:ext cx="323" cy="3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8" name="Object 1034"/>
              <p:cNvGraphicFramePr>
                <a:graphicFrameLocks noChangeAspect="1"/>
              </p:cNvGraphicFramePr>
              <p:nvPr/>
            </p:nvGraphicFramePr>
            <p:xfrm>
              <a:off x="4700" y="2195"/>
              <a:ext cx="2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0" name="Clip" r:id="rId15" imgW="380852" imgH="390270" progId="">
                      <p:embed/>
                    </p:oleObj>
                  </mc:Choice>
                  <mc:Fallback>
                    <p:oleObj name="Clip" r:id="rId15" imgW="380852" imgH="390270" progId="">
                      <p:embed/>
                      <p:pic>
                        <p:nvPicPr>
                          <p:cNvPr id="0" name="Object 10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0" y="2195"/>
                            <a:ext cx="25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19" name="Object 1035"/>
              <p:cNvGraphicFramePr>
                <a:graphicFrameLocks noChangeAspect="1"/>
              </p:cNvGraphicFramePr>
              <p:nvPr/>
            </p:nvGraphicFramePr>
            <p:xfrm>
              <a:off x="3872" y="2195"/>
              <a:ext cx="2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1" name="Clip" r:id="rId17" imgW="380852" imgH="390270" progId="">
                      <p:embed/>
                    </p:oleObj>
                  </mc:Choice>
                  <mc:Fallback>
                    <p:oleObj name="Clip" r:id="rId17" imgW="380852" imgH="390270" progId="">
                      <p:embed/>
                      <p:pic>
                        <p:nvPicPr>
                          <p:cNvPr id="0" name="Object 10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2" y="2195"/>
                            <a:ext cx="25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20" name="Object 1036"/>
              <p:cNvGraphicFramePr>
                <a:graphicFrameLocks noChangeAspect="1"/>
              </p:cNvGraphicFramePr>
              <p:nvPr/>
            </p:nvGraphicFramePr>
            <p:xfrm>
              <a:off x="3840" y="1873"/>
              <a:ext cx="372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2" name="Equation" r:id="rId19" imgW="190440" imgH="215640" progId="Equation.3">
                      <p:embed/>
                    </p:oleObj>
                  </mc:Choice>
                  <mc:Fallback>
                    <p:oleObj name="Equation" r:id="rId19" imgW="190440" imgH="215640" progId="Equation.3">
                      <p:embed/>
                      <p:pic>
                        <p:nvPicPr>
                          <p:cNvPr id="0" name="Object 10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873"/>
                            <a:ext cx="372" cy="4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21" name="Object 1037"/>
              <p:cNvGraphicFramePr>
                <a:graphicFrameLocks noChangeAspect="1"/>
              </p:cNvGraphicFramePr>
              <p:nvPr/>
            </p:nvGraphicFramePr>
            <p:xfrm>
              <a:off x="4692" y="1872"/>
              <a:ext cx="397" cy="4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3" name="Equation" r:id="rId21" imgW="203040" imgH="215640" progId="Equation.3">
                      <p:embed/>
                    </p:oleObj>
                  </mc:Choice>
                  <mc:Fallback>
                    <p:oleObj name="Equation" r:id="rId21" imgW="203040" imgH="215640" progId="Equation.3">
                      <p:embed/>
                      <p:pic>
                        <p:nvPicPr>
                          <p:cNvPr id="0" name="Object 10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2" y="1872"/>
                            <a:ext cx="397" cy="4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22" name="Object 1038"/>
              <p:cNvGraphicFramePr>
                <a:graphicFrameLocks noChangeAspect="1"/>
              </p:cNvGraphicFramePr>
              <p:nvPr/>
            </p:nvGraphicFramePr>
            <p:xfrm>
              <a:off x="4224" y="1935"/>
              <a:ext cx="42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4" name="Equation" r:id="rId23" imgW="215640" imgH="228600" progId="Equation.3">
                      <p:embed/>
                    </p:oleObj>
                  </mc:Choice>
                  <mc:Fallback>
                    <p:oleObj name="Equation" r:id="rId23" imgW="215640" imgH="228600" progId="Equation.3">
                      <p:embed/>
                      <p:pic>
                        <p:nvPicPr>
                          <p:cNvPr id="0" name="Object 10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935"/>
                            <a:ext cx="42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23" name="Object 1039"/>
              <p:cNvGraphicFramePr>
                <a:graphicFrameLocks noChangeAspect="1"/>
              </p:cNvGraphicFramePr>
              <p:nvPr/>
            </p:nvGraphicFramePr>
            <p:xfrm>
              <a:off x="5088" y="1956"/>
              <a:ext cx="42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5" name="Equation" r:id="rId25" imgW="215640" imgH="228600" progId="Equation.3">
                      <p:embed/>
                    </p:oleObj>
                  </mc:Choice>
                  <mc:Fallback>
                    <p:oleObj name="Equation" r:id="rId25" imgW="215640" imgH="228600" progId="Equation.3">
                      <p:embed/>
                      <p:pic>
                        <p:nvPicPr>
                          <p:cNvPr id="0" name="Object 10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1956"/>
                            <a:ext cx="42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024" name="Object 1040"/>
              <p:cNvGraphicFramePr>
                <a:graphicFrameLocks noChangeAspect="1"/>
              </p:cNvGraphicFramePr>
              <p:nvPr/>
            </p:nvGraphicFramePr>
            <p:xfrm>
              <a:off x="4693" y="2411"/>
              <a:ext cx="299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6726" name="Equation" r:id="rId27" imgW="152280" imgH="164880" progId="Equation.3">
                      <p:embed/>
                    </p:oleObj>
                  </mc:Choice>
                  <mc:Fallback>
                    <p:oleObj name="Equation" r:id="rId27" imgW="152280" imgH="164880" progId="Equation.3">
                      <p:embed/>
                      <p:pic>
                        <p:nvPicPr>
                          <p:cNvPr id="0" name="Object 10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3" y="2411"/>
                            <a:ext cx="299" cy="3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1011" name="Object 1027"/>
            <p:cNvGraphicFramePr>
              <a:graphicFrameLocks noChangeAspect="1"/>
            </p:cNvGraphicFramePr>
            <p:nvPr/>
          </p:nvGraphicFramePr>
          <p:xfrm>
            <a:off x="4962" y="3383"/>
            <a:ext cx="2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27" name="Clip" r:id="rId29" imgW="380852" imgH="390270" progId="">
                    <p:embed/>
                  </p:oleObj>
                </mc:Choice>
                <mc:Fallback>
                  <p:oleObj name="Clip" r:id="rId29" imgW="380852" imgH="390270" progId="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" y="3383"/>
                          <a:ext cx="266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2" name="Object 1028"/>
            <p:cNvGraphicFramePr>
              <a:graphicFrameLocks noChangeAspect="1"/>
            </p:cNvGraphicFramePr>
            <p:nvPr/>
          </p:nvGraphicFramePr>
          <p:xfrm>
            <a:off x="4276" y="3383"/>
            <a:ext cx="2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28" name="Clip" r:id="rId30" imgW="380852" imgH="390270" progId="">
                    <p:embed/>
                  </p:oleObj>
                </mc:Choice>
                <mc:Fallback>
                  <p:oleObj name="Clip" r:id="rId30" imgW="380852" imgH="390270" progId="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3383"/>
                          <a:ext cx="266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13" name="Line 73"/>
            <p:cNvSpPr>
              <a:spLocks noChangeShapeType="1"/>
            </p:cNvSpPr>
            <p:nvPr/>
          </p:nvSpPr>
          <p:spPr bwMode="auto">
            <a:xfrm>
              <a:off x="5206" y="3504"/>
              <a:ext cx="3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1013" name="Object 1029"/>
            <p:cNvGraphicFramePr>
              <a:graphicFrameLocks noChangeAspect="1"/>
            </p:cNvGraphicFramePr>
            <p:nvPr/>
          </p:nvGraphicFramePr>
          <p:xfrm>
            <a:off x="4559" y="3072"/>
            <a:ext cx="337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29" name="Equation" r:id="rId31" imgW="164880" imgH="215640" progId="Equation.3">
                    <p:embed/>
                  </p:oleObj>
                </mc:Choice>
                <mc:Fallback>
                  <p:oleObj name="Equation" r:id="rId31" imgW="164880" imgH="21564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9" y="3072"/>
                          <a:ext cx="337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4" name="Object 1030"/>
            <p:cNvGraphicFramePr>
              <a:graphicFrameLocks noChangeAspect="1"/>
            </p:cNvGraphicFramePr>
            <p:nvPr/>
          </p:nvGraphicFramePr>
          <p:xfrm>
            <a:off x="5184" y="3072"/>
            <a:ext cx="36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30" name="Equation" r:id="rId33" imgW="177480" imgH="215640" progId="Equation.3">
                    <p:embed/>
                  </p:oleObj>
                </mc:Choice>
                <mc:Fallback>
                  <p:oleObj name="Equation" r:id="rId33" imgW="177480" imgH="215640" progId="Equation.3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3072"/>
                          <a:ext cx="362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5" name="Object 1031"/>
            <p:cNvGraphicFramePr>
              <a:graphicFrameLocks noChangeAspect="1"/>
            </p:cNvGraphicFramePr>
            <p:nvPr/>
          </p:nvGraphicFramePr>
          <p:xfrm>
            <a:off x="4271" y="3609"/>
            <a:ext cx="33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31" name="Equation" r:id="rId35" imgW="164880" imgH="164880" progId="Equation.3">
                    <p:embed/>
                  </p:oleObj>
                </mc:Choice>
                <mc:Fallback>
                  <p:oleObj name="Equation" r:id="rId35" imgW="164880" imgH="164880" progId="Equation.3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1" y="3609"/>
                          <a:ext cx="337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6" name="Object 1032"/>
            <p:cNvGraphicFramePr>
              <a:graphicFrameLocks noChangeAspect="1"/>
            </p:cNvGraphicFramePr>
            <p:nvPr/>
          </p:nvGraphicFramePr>
          <p:xfrm>
            <a:off x="4968" y="3600"/>
            <a:ext cx="31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32" name="Equation" r:id="rId36" imgW="152280" imgH="164880" progId="Equation.3">
                    <p:embed/>
                  </p:oleObj>
                </mc:Choice>
                <mc:Fallback>
                  <p:oleObj name="Equation" r:id="rId36" imgW="152280" imgH="164880" progId="Equation.3">
                    <p:embed/>
                    <p:pic>
                      <p:nvPicPr>
                        <p:cNvPr id="0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3600"/>
                          <a:ext cx="312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18" name="Rectangle 78"/>
            <p:cNvSpPr>
              <a:spLocks noChangeArrowheads="1"/>
            </p:cNvSpPr>
            <p:nvPr/>
          </p:nvSpPr>
          <p:spPr bwMode="auto">
            <a:xfrm>
              <a:off x="3792" y="1488"/>
              <a:ext cx="1824" cy="2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919" name="Text Box 79"/>
            <p:cNvSpPr txBox="1">
              <a:spLocks noChangeArrowheads="1"/>
            </p:cNvSpPr>
            <p:nvPr/>
          </p:nvSpPr>
          <p:spPr bwMode="auto">
            <a:xfrm>
              <a:off x="3792" y="1488"/>
              <a:ext cx="720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碰前</a:t>
              </a:r>
            </a:p>
          </p:txBody>
        </p:sp>
        <p:sp>
          <p:nvSpPr>
            <p:cNvPr id="163920" name="Text Box 80"/>
            <p:cNvSpPr txBox="1">
              <a:spLocks noChangeArrowheads="1"/>
            </p:cNvSpPr>
            <p:nvPr/>
          </p:nvSpPr>
          <p:spPr bwMode="auto">
            <a:xfrm>
              <a:off x="3792" y="2835"/>
              <a:ext cx="720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碰后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0" y="4419600"/>
            <a:ext cx="2971800" cy="671513"/>
            <a:chOff x="0" y="2784"/>
            <a:chExt cx="1872" cy="423"/>
          </a:xfrm>
        </p:grpSpPr>
        <p:sp>
          <p:nvSpPr>
            <p:cNvPr id="164891" name="Text Box 27"/>
            <p:cNvSpPr txBox="1">
              <a:spLocks noChangeArrowheads="1"/>
            </p:cNvSpPr>
            <p:nvPr/>
          </p:nvSpPr>
          <p:spPr bwMode="auto">
            <a:xfrm>
              <a:off x="0" y="2841"/>
              <a:ext cx="14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00"/>
                  </a:solidFill>
                </a:rPr>
                <a:t>（</a:t>
              </a:r>
              <a:r>
                <a:rPr lang="en-US" altLang="zh-CN" sz="2800">
                  <a:solidFill>
                    <a:srgbClr val="CC0000"/>
                  </a:solidFill>
                </a:rPr>
                <a:t>1</a:t>
              </a:r>
              <a:r>
                <a:rPr lang="zh-CN" altLang="en-US" sz="2800"/>
                <a:t>）若</a:t>
              </a:r>
            </a:p>
          </p:txBody>
        </p:sp>
        <p:graphicFrame>
          <p:nvGraphicFramePr>
            <p:cNvPr id="172055" name="Object 23"/>
            <p:cNvGraphicFramePr>
              <a:graphicFrameLocks noChangeAspect="1"/>
            </p:cNvGraphicFramePr>
            <p:nvPr/>
          </p:nvGraphicFramePr>
          <p:xfrm>
            <a:off x="949" y="2784"/>
            <a:ext cx="923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78" name="Equation" r:id="rId3" imgW="507960" imgH="215640" progId="Equation.3">
                    <p:embed/>
                  </p:oleObj>
                </mc:Choice>
                <mc:Fallback>
                  <p:oleObj name="Equation" r:id="rId3" imgW="507960" imgH="21564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9" y="2784"/>
                          <a:ext cx="923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3124200" y="4457700"/>
            <a:ext cx="3762375" cy="723900"/>
            <a:chOff x="1968" y="2808"/>
            <a:chExt cx="2370" cy="456"/>
          </a:xfrm>
        </p:grpSpPr>
        <p:sp>
          <p:nvSpPr>
            <p:cNvPr id="164893" name="Text Box 29"/>
            <p:cNvSpPr txBox="1">
              <a:spLocks noChangeArrowheads="1"/>
            </p:cNvSpPr>
            <p:nvPr/>
          </p:nvSpPr>
          <p:spPr bwMode="auto">
            <a:xfrm>
              <a:off x="1968" y="2856"/>
              <a:ext cx="8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则</a:t>
              </a:r>
            </a:p>
          </p:txBody>
        </p:sp>
        <p:graphicFrame>
          <p:nvGraphicFramePr>
            <p:cNvPr id="172054" name="Object 22"/>
            <p:cNvGraphicFramePr>
              <a:graphicFrameLocks noChangeAspect="1"/>
            </p:cNvGraphicFramePr>
            <p:nvPr/>
          </p:nvGraphicFramePr>
          <p:xfrm>
            <a:off x="2400" y="2808"/>
            <a:ext cx="193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79" name="Equation" r:id="rId5" imgW="1143000" imgH="228600" progId="Equation.3">
                    <p:embed/>
                  </p:oleObj>
                </mc:Choice>
                <mc:Fallback>
                  <p:oleObj name="Equation" r:id="rId5" imgW="1143000" imgH="2286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808"/>
                          <a:ext cx="1938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0" y="5105400"/>
            <a:ext cx="4811713" cy="723900"/>
            <a:chOff x="0" y="3216"/>
            <a:chExt cx="3031" cy="456"/>
          </a:xfrm>
        </p:grpSpPr>
        <p:sp>
          <p:nvSpPr>
            <p:cNvPr id="164895" name="Text Box 31"/>
            <p:cNvSpPr txBox="1">
              <a:spLocks noChangeArrowheads="1"/>
            </p:cNvSpPr>
            <p:nvPr/>
          </p:nvSpPr>
          <p:spPr bwMode="auto">
            <a:xfrm>
              <a:off x="0" y="3273"/>
              <a:ext cx="14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00"/>
                  </a:solidFill>
                </a:rPr>
                <a:t>（</a:t>
              </a:r>
              <a:r>
                <a:rPr lang="en-US" altLang="zh-CN" sz="2800">
                  <a:solidFill>
                    <a:srgbClr val="CC0000"/>
                  </a:solidFill>
                </a:rPr>
                <a:t>2</a:t>
              </a:r>
              <a:r>
                <a:rPr lang="zh-CN" altLang="en-US" sz="2800"/>
                <a:t>）若</a:t>
              </a:r>
            </a:p>
          </p:txBody>
        </p:sp>
        <p:sp>
          <p:nvSpPr>
            <p:cNvPr id="164897" name="Text Box 33"/>
            <p:cNvSpPr txBox="1">
              <a:spLocks noChangeArrowheads="1"/>
            </p:cNvSpPr>
            <p:nvPr/>
          </p:nvSpPr>
          <p:spPr bwMode="auto">
            <a:xfrm>
              <a:off x="1920" y="3264"/>
              <a:ext cx="9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且</a:t>
              </a:r>
            </a:p>
          </p:txBody>
        </p:sp>
        <p:graphicFrame>
          <p:nvGraphicFramePr>
            <p:cNvPr id="172052" name="Object 20"/>
            <p:cNvGraphicFramePr>
              <a:graphicFrameLocks noChangeAspect="1"/>
            </p:cNvGraphicFramePr>
            <p:nvPr/>
          </p:nvGraphicFramePr>
          <p:xfrm>
            <a:off x="2256" y="3216"/>
            <a:ext cx="77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80" name="Equation" r:id="rId7" imgW="457200" imgH="228600" progId="Equation.3">
                    <p:embed/>
                  </p:oleObj>
                </mc:Choice>
                <mc:Fallback>
                  <p:oleObj name="Equation" r:id="rId7" imgW="45720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216"/>
                          <a:ext cx="775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53" name="Object 21"/>
            <p:cNvGraphicFramePr>
              <a:graphicFrameLocks noChangeAspect="1"/>
            </p:cNvGraphicFramePr>
            <p:nvPr/>
          </p:nvGraphicFramePr>
          <p:xfrm>
            <a:off x="884" y="3216"/>
            <a:ext cx="1084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81" name="Equation" r:id="rId9" imgW="596880" imgH="215640" progId="Equation.3">
                    <p:embed/>
                  </p:oleObj>
                </mc:Choice>
                <mc:Fallback>
                  <p:oleObj name="Equation" r:id="rId9" imgW="596880" imgH="2156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3216"/>
                          <a:ext cx="1084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4953000" y="5105400"/>
            <a:ext cx="3727450" cy="723900"/>
            <a:chOff x="3120" y="3216"/>
            <a:chExt cx="2348" cy="456"/>
          </a:xfrm>
        </p:grpSpPr>
        <p:sp>
          <p:nvSpPr>
            <p:cNvPr id="164899" name="Text Box 35"/>
            <p:cNvSpPr txBox="1">
              <a:spLocks noChangeArrowheads="1"/>
            </p:cNvSpPr>
            <p:nvPr/>
          </p:nvSpPr>
          <p:spPr bwMode="auto">
            <a:xfrm>
              <a:off x="3120" y="3273"/>
              <a:ext cx="8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则</a:t>
              </a:r>
            </a:p>
          </p:txBody>
        </p:sp>
        <p:graphicFrame>
          <p:nvGraphicFramePr>
            <p:cNvPr id="172051" name="Object 19"/>
            <p:cNvGraphicFramePr>
              <a:graphicFrameLocks noChangeAspect="1"/>
            </p:cNvGraphicFramePr>
            <p:nvPr/>
          </p:nvGraphicFramePr>
          <p:xfrm>
            <a:off x="3552" y="3216"/>
            <a:ext cx="1916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82" name="Equation" r:id="rId11" imgW="1130040" imgH="228600" progId="Equation.3">
                    <p:embed/>
                  </p:oleObj>
                </mc:Choice>
                <mc:Fallback>
                  <p:oleObj name="Equation" r:id="rId11" imgW="1130040" imgH="228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216"/>
                          <a:ext cx="1916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0" y="5791200"/>
            <a:ext cx="5029200" cy="800100"/>
            <a:chOff x="0" y="3648"/>
            <a:chExt cx="3168" cy="504"/>
          </a:xfrm>
        </p:grpSpPr>
        <p:graphicFrame>
          <p:nvGraphicFramePr>
            <p:cNvPr id="172049" name="Object 17"/>
            <p:cNvGraphicFramePr>
              <a:graphicFrameLocks noChangeAspect="1"/>
            </p:cNvGraphicFramePr>
            <p:nvPr/>
          </p:nvGraphicFramePr>
          <p:xfrm>
            <a:off x="2256" y="3696"/>
            <a:ext cx="77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83" name="Equation" r:id="rId13" imgW="457200" imgH="228600" progId="Equation.3">
                    <p:embed/>
                  </p:oleObj>
                </mc:Choice>
                <mc:Fallback>
                  <p:oleObj name="Equation" r:id="rId13" imgW="4572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696"/>
                          <a:ext cx="775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59"/>
            <p:cNvGrpSpPr>
              <a:grpSpLocks/>
            </p:cNvGrpSpPr>
            <p:nvPr/>
          </p:nvGrpSpPr>
          <p:grpSpPr bwMode="auto">
            <a:xfrm>
              <a:off x="0" y="3648"/>
              <a:ext cx="3168" cy="423"/>
              <a:chOff x="0" y="3648"/>
              <a:chExt cx="3168" cy="423"/>
            </a:xfrm>
          </p:grpSpPr>
          <p:graphicFrame>
            <p:nvGraphicFramePr>
              <p:cNvPr id="172050" name="Object 18"/>
              <p:cNvGraphicFramePr>
                <a:graphicFrameLocks noChangeAspect="1"/>
              </p:cNvGraphicFramePr>
              <p:nvPr/>
            </p:nvGraphicFramePr>
            <p:xfrm>
              <a:off x="864" y="3648"/>
              <a:ext cx="1084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84" name="Equation" r:id="rId14" imgW="596880" imgH="215640" progId="Equation.3">
                      <p:embed/>
                    </p:oleObj>
                  </mc:Choice>
                  <mc:Fallback>
                    <p:oleObj name="Equation" r:id="rId14" imgW="596880" imgH="21564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4" y="3648"/>
                            <a:ext cx="1084" cy="4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909" name="Text Box 45"/>
              <p:cNvSpPr txBox="1">
                <a:spLocks noChangeArrowheads="1"/>
              </p:cNvSpPr>
              <p:nvPr/>
            </p:nvSpPr>
            <p:spPr bwMode="auto">
              <a:xfrm>
                <a:off x="0" y="3705"/>
                <a:ext cx="144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000000"/>
                    </a:solidFill>
                  </a:rPr>
                  <a:t>（</a:t>
                </a:r>
                <a:r>
                  <a:rPr lang="en-US" altLang="zh-CN" sz="2800">
                    <a:solidFill>
                      <a:srgbClr val="CC0000"/>
                    </a:solidFill>
                  </a:rPr>
                  <a:t>3</a:t>
                </a:r>
                <a:r>
                  <a:rPr lang="zh-CN" altLang="en-US" sz="2800"/>
                  <a:t>）若</a:t>
                </a:r>
              </a:p>
            </p:txBody>
          </p:sp>
          <p:sp>
            <p:nvSpPr>
              <p:cNvPr id="164911" name="Text Box 47"/>
              <p:cNvSpPr txBox="1">
                <a:spLocks noChangeArrowheads="1"/>
              </p:cNvSpPr>
              <p:nvPr/>
            </p:nvSpPr>
            <p:spPr bwMode="auto">
              <a:xfrm>
                <a:off x="1920" y="3705"/>
                <a:ext cx="124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/>
                  <a:t>且</a:t>
                </a:r>
              </a:p>
            </p:txBody>
          </p:sp>
        </p:grp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953000" y="5791200"/>
            <a:ext cx="3886200" cy="723900"/>
            <a:chOff x="3120" y="3648"/>
            <a:chExt cx="2448" cy="456"/>
          </a:xfrm>
        </p:grpSpPr>
        <p:graphicFrame>
          <p:nvGraphicFramePr>
            <p:cNvPr id="172048" name="Object 16"/>
            <p:cNvGraphicFramePr>
              <a:graphicFrameLocks noChangeAspect="1"/>
            </p:cNvGraphicFramePr>
            <p:nvPr/>
          </p:nvGraphicFramePr>
          <p:xfrm>
            <a:off x="3523" y="3648"/>
            <a:ext cx="204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85" name="Equation" r:id="rId16" imgW="1206360" imgH="228600" progId="Equation.3">
                    <p:embed/>
                  </p:oleObj>
                </mc:Choice>
                <mc:Fallback>
                  <p:oleObj name="Equation" r:id="rId16" imgW="120636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3" y="3648"/>
                          <a:ext cx="2045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12" name="Text Box 48"/>
            <p:cNvSpPr txBox="1">
              <a:spLocks noChangeArrowheads="1"/>
            </p:cNvSpPr>
            <p:nvPr/>
          </p:nvSpPr>
          <p:spPr bwMode="auto">
            <a:xfrm>
              <a:off x="3120" y="3705"/>
              <a:ext cx="8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则</a:t>
              </a:r>
            </a:p>
          </p:txBody>
        </p:sp>
      </p:grpSp>
      <p:grpSp>
        <p:nvGrpSpPr>
          <p:cNvPr id="9" name="Group 106"/>
          <p:cNvGrpSpPr>
            <a:grpSpLocks/>
          </p:cNvGrpSpPr>
          <p:nvPr/>
        </p:nvGrpSpPr>
        <p:grpSpPr bwMode="auto">
          <a:xfrm>
            <a:off x="381000" y="3505200"/>
            <a:ext cx="2133600" cy="838200"/>
            <a:chOff x="240" y="2208"/>
            <a:chExt cx="1344" cy="528"/>
          </a:xfrm>
        </p:grpSpPr>
        <p:sp>
          <p:nvSpPr>
            <p:cNvPr id="164914" name="AutoShape 50"/>
            <p:cNvSpPr>
              <a:spLocks noChangeArrowheads="1"/>
            </p:cNvSpPr>
            <p:nvPr/>
          </p:nvSpPr>
          <p:spPr bwMode="auto">
            <a:xfrm>
              <a:off x="240" y="2208"/>
              <a:ext cx="1088" cy="528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rgbClr val="009900"/>
              </a:outerShdw>
            </a:effec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915" name="Text Box 51"/>
            <p:cNvSpPr txBox="1">
              <a:spLocks noChangeArrowheads="1"/>
            </p:cNvSpPr>
            <p:nvPr/>
          </p:nvSpPr>
          <p:spPr bwMode="auto">
            <a:xfrm>
              <a:off x="368" y="2323"/>
              <a:ext cx="121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solidFill>
                    <a:srgbClr val="CC0000"/>
                  </a:solidFill>
                </a:rPr>
                <a:t>讨  论</a:t>
              </a:r>
            </a:p>
          </p:txBody>
        </p:sp>
      </p:grpSp>
      <p:graphicFrame>
        <p:nvGraphicFramePr>
          <p:cNvPr id="172032" name="Object 0"/>
          <p:cNvGraphicFramePr>
            <a:graphicFrameLocks noChangeAspect="1"/>
          </p:cNvGraphicFramePr>
          <p:nvPr/>
        </p:nvGraphicFramePr>
        <p:xfrm>
          <a:off x="609600" y="762000"/>
          <a:ext cx="48006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86" name="Equation" r:id="rId18" imgW="1663560" imgH="431640" progId="Equation.3">
                  <p:embed/>
                </p:oleObj>
              </mc:Choice>
              <mc:Fallback>
                <p:oleObj name="Equation" r:id="rId18" imgW="1663560" imgH="43164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62000"/>
                        <a:ext cx="480060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3" name="Object 1"/>
          <p:cNvGraphicFramePr>
            <a:graphicFrameLocks noChangeAspect="1"/>
          </p:cNvGraphicFramePr>
          <p:nvPr/>
        </p:nvGraphicFramePr>
        <p:xfrm>
          <a:off x="685800" y="2286000"/>
          <a:ext cx="48006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87" name="Equation" r:id="rId20" imgW="1663560" imgH="431640" progId="Equation.3">
                  <p:embed/>
                </p:oleObj>
              </mc:Choice>
              <mc:Fallback>
                <p:oleObj name="Equation" r:id="rId20" imgW="166356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4800600" cy="1370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83"/>
          <p:cNvGrpSpPr>
            <a:grpSpLocks/>
          </p:cNvGrpSpPr>
          <p:nvPr/>
        </p:nvGrpSpPr>
        <p:grpSpPr bwMode="auto">
          <a:xfrm>
            <a:off x="6019800" y="685800"/>
            <a:ext cx="2667000" cy="3810000"/>
            <a:chOff x="3792" y="1488"/>
            <a:chExt cx="1824" cy="2544"/>
          </a:xfrm>
        </p:grpSpPr>
        <p:sp>
          <p:nvSpPr>
            <p:cNvPr id="164948" name="Line 84"/>
            <p:cNvSpPr>
              <a:spLocks noChangeShapeType="1"/>
            </p:cNvSpPr>
            <p:nvPr/>
          </p:nvSpPr>
          <p:spPr bwMode="auto">
            <a:xfrm>
              <a:off x="4416" y="3504"/>
              <a:ext cx="3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11" name="Group 85"/>
            <p:cNvGrpSpPr>
              <a:grpSpLocks/>
            </p:cNvGrpSpPr>
            <p:nvPr/>
          </p:nvGrpSpPr>
          <p:grpSpPr bwMode="auto">
            <a:xfrm>
              <a:off x="3840" y="1872"/>
              <a:ext cx="1668" cy="852"/>
              <a:chOff x="3840" y="1872"/>
              <a:chExt cx="1668" cy="852"/>
            </a:xfrm>
          </p:grpSpPr>
          <p:sp>
            <p:nvSpPr>
              <p:cNvPr id="164950" name="Line 86"/>
              <p:cNvSpPr>
                <a:spLocks noChangeShapeType="1"/>
              </p:cNvSpPr>
              <p:nvPr/>
            </p:nvSpPr>
            <p:spPr bwMode="auto">
              <a:xfrm>
                <a:off x="4752" y="2340"/>
                <a:ext cx="43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4951" name="Line 87"/>
              <p:cNvSpPr>
                <a:spLocks noChangeShapeType="1"/>
              </p:cNvSpPr>
              <p:nvPr/>
            </p:nvSpPr>
            <p:spPr bwMode="auto">
              <a:xfrm>
                <a:off x="4079" y="2325"/>
                <a:ext cx="43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72040" name="Object 8"/>
              <p:cNvGraphicFramePr>
                <a:graphicFrameLocks noChangeAspect="1"/>
              </p:cNvGraphicFramePr>
              <p:nvPr/>
            </p:nvGraphicFramePr>
            <p:xfrm>
              <a:off x="3909" y="2411"/>
              <a:ext cx="323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88" name="Equation" r:id="rId22" imgW="164880" imgH="164880" progId="Equation.3">
                      <p:embed/>
                    </p:oleObj>
                  </mc:Choice>
                  <mc:Fallback>
                    <p:oleObj name="Equation" r:id="rId22" imgW="164880" imgH="16488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9" y="2411"/>
                            <a:ext cx="323" cy="3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1" name="Object 9"/>
              <p:cNvGraphicFramePr>
                <a:graphicFrameLocks noChangeAspect="1"/>
              </p:cNvGraphicFramePr>
              <p:nvPr/>
            </p:nvGraphicFramePr>
            <p:xfrm>
              <a:off x="4700" y="2195"/>
              <a:ext cx="2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89" name="Clip" r:id="rId24" imgW="380852" imgH="390270" progId="">
                      <p:embed/>
                    </p:oleObj>
                  </mc:Choice>
                  <mc:Fallback>
                    <p:oleObj name="Clip" r:id="rId24" imgW="380852" imgH="390270" progId="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0" y="2195"/>
                            <a:ext cx="25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2" name="Object 10"/>
              <p:cNvGraphicFramePr>
                <a:graphicFrameLocks noChangeAspect="1"/>
              </p:cNvGraphicFramePr>
              <p:nvPr/>
            </p:nvGraphicFramePr>
            <p:xfrm>
              <a:off x="3872" y="2195"/>
              <a:ext cx="2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90" name="Clip" r:id="rId26" imgW="380852" imgH="390270" progId="">
                      <p:embed/>
                    </p:oleObj>
                  </mc:Choice>
                  <mc:Fallback>
                    <p:oleObj name="Clip" r:id="rId26" imgW="380852" imgH="390270" progId="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2" y="2195"/>
                            <a:ext cx="25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3" name="Object 11"/>
              <p:cNvGraphicFramePr>
                <a:graphicFrameLocks noChangeAspect="1"/>
              </p:cNvGraphicFramePr>
              <p:nvPr/>
            </p:nvGraphicFramePr>
            <p:xfrm>
              <a:off x="3840" y="1873"/>
              <a:ext cx="372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91" name="Equation" r:id="rId28" imgW="190440" imgH="215640" progId="Equation.3">
                      <p:embed/>
                    </p:oleObj>
                  </mc:Choice>
                  <mc:Fallback>
                    <p:oleObj name="Equation" r:id="rId28" imgW="190440" imgH="21564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873"/>
                            <a:ext cx="372" cy="4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4" name="Object 12"/>
              <p:cNvGraphicFramePr>
                <a:graphicFrameLocks noChangeAspect="1"/>
              </p:cNvGraphicFramePr>
              <p:nvPr/>
            </p:nvGraphicFramePr>
            <p:xfrm>
              <a:off x="4692" y="1872"/>
              <a:ext cx="397" cy="4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92" name="Equation" r:id="rId30" imgW="203040" imgH="215640" progId="Equation.3">
                      <p:embed/>
                    </p:oleObj>
                  </mc:Choice>
                  <mc:Fallback>
                    <p:oleObj name="Equation" r:id="rId30" imgW="203040" imgH="21564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2" y="1872"/>
                            <a:ext cx="397" cy="4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5" name="Object 13"/>
              <p:cNvGraphicFramePr>
                <a:graphicFrameLocks noChangeAspect="1"/>
              </p:cNvGraphicFramePr>
              <p:nvPr/>
            </p:nvGraphicFramePr>
            <p:xfrm>
              <a:off x="4224" y="1935"/>
              <a:ext cx="42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93" name="Equation" r:id="rId32" imgW="215640" imgH="228600" progId="Equation.3">
                      <p:embed/>
                    </p:oleObj>
                  </mc:Choice>
                  <mc:Fallback>
                    <p:oleObj name="Equation" r:id="rId32" imgW="215640" imgH="2286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935"/>
                            <a:ext cx="42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6" name="Object 14"/>
              <p:cNvGraphicFramePr>
                <a:graphicFrameLocks noChangeAspect="1"/>
              </p:cNvGraphicFramePr>
              <p:nvPr/>
            </p:nvGraphicFramePr>
            <p:xfrm>
              <a:off x="5088" y="1956"/>
              <a:ext cx="42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94" name="Equation" r:id="rId34" imgW="215640" imgH="228600" progId="Equation.3">
                      <p:embed/>
                    </p:oleObj>
                  </mc:Choice>
                  <mc:Fallback>
                    <p:oleObj name="Equation" r:id="rId34" imgW="215640" imgH="22860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1956"/>
                            <a:ext cx="42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47" name="Object 15"/>
              <p:cNvGraphicFramePr>
                <a:graphicFrameLocks noChangeAspect="1"/>
              </p:cNvGraphicFramePr>
              <p:nvPr/>
            </p:nvGraphicFramePr>
            <p:xfrm>
              <a:off x="4693" y="2411"/>
              <a:ext cx="299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795" name="Equation" r:id="rId36" imgW="152280" imgH="164880" progId="Equation.3">
                      <p:embed/>
                    </p:oleObj>
                  </mc:Choice>
                  <mc:Fallback>
                    <p:oleObj name="Equation" r:id="rId36" imgW="152280" imgH="16488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3" y="2411"/>
                            <a:ext cx="299" cy="3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2034" name="Object 2"/>
            <p:cNvGraphicFramePr>
              <a:graphicFrameLocks noChangeAspect="1"/>
            </p:cNvGraphicFramePr>
            <p:nvPr/>
          </p:nvGraphicFramePr>
          <p:xfrm>
            <a:off x="4962" y="3383"/>
            <a:ext cx="2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96" name="Clip" r:id="rId38" imgW="380852" imgH="390270" progId="">
                    <p:embed/>
                  </p:oleObj>
                </mc:Choice>
                <mc:Fallback>
                  <p:oleObj name="Clip" r:id="rId38" imgW="380852" imgH="390270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" y="3383"/>
                          <a:ext cx="266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5" name="Object 3"/>
            <p:cNvGraphicFramePr>
              <a:graphicFrameLocks noChangeAspect="1"/>
            </p:cNvGraphicFramePr>
            <p:nvPr/>
          </p:nvGraphicFramePr>
          <p:xfrm>
            <a:off x="4276" y="3383"/>
            <a:ext cx="2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97" name="Clip" r:id="rId39" imgW="380852" imgH="390270" progId="">
                    <p:embed/>
                  </p:oleObj>
                </mc:Choice>
                <mc:Fallback>
                  <p:oleObj name="Clip" r:id="rId39" imgW="380852" imgH="390270" progId="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3383"/>
                          <a:ext cx="266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62" name="Line 98"/>
            <p:cNvSpPr>
              <a:spLocks noChangeShapeType="1"/>
            </p:cNvSpPr>
            <p:nvPr/>
          </p:nvSpPr>
          <p:spPr bwMode="auto">
            <a:xfrm>
              <a:off x="5206" y="3504"/>
              <a:ext cx="3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2036" name="Object 4"/>
            <p:cNvGraphicFramePr>
              <a:graphicFrameLocks noChangeAspect="1"/>
            </p:cNvGraphicFramePr>
            <p:nvPr/>
          </p:nvGraphicFramePr>
          <p:xfrm>
            <a:off x="4559" y="3072"/>
            <a:ext cx="337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98" name="Equation" r:id="rId40" imgW="164880" imgH="215640" progId="Equation.3">
                    <p:embed/>
                  </p:oleObj>
                </mc:Choice>
                <mc:Fallback>
                  <p:oleObj name="Equation" r:id="rId40" imgW="164880" imgH="2156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9" y="3072"/>
                          <a:ext cx="337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7" name="Object 5"/>
            <p:cNvGraphicFramePr>
              <a:graphicFrameLocks noChangeAspect="1"/>
            </p:cNvGraphicFramePr>
            <p:nvPr/>
          </p:nvGraphicFramePr>
          <p:xfrm>
            <a:off x="5184" y="3072"/>
            <a:ext cx="36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99" name="Equation" r:id="rId42" imgW="177480" imgH="215640" progId="Equation.3">
                    <p:embed/>
                  </p:oleObj>
                </mc:Choice>
                <mc:Fallback>
                  <p:oleObj name="Equation" r:id="rId42" imgW="17748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3072"/>
                          <a:ext cx="362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8" name="Object 6"/>
            <p:cNvGraphicFramePr>
              <a:graphicFrameLocks noChangeAspect="1"/>
            </p:cNvGraphicFramePr>
            <p:nvPr/>
          </p:nvGraphicFramePr>
          <p:xfrm>
            <a:off x="4271" y="3609"/>
            <a:ext cx="33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800" name="Equation" r:id="rId44" imgW="164880" imgH="164880" progId="Equation.3">
                    <p:embed/>
                  </p:oleObj>
                </mc:Choice>
                <mc:Fallback>
                  <p:oleObj name="Equation" r:id="rId44" imgW="164880" imgH="1648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1" y="3609"/>
                          <a:ext cx="337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39" name="Object 7"/>
            <p:cNvGraphicFramePr>
              <a:graphicFrameLocks noChangeAspect="1"/>
            </p:cNvGraphicFramePr>
            <p:nvPr/>
          </p:nvGraphicFramePr>
          <p:xfrm>
            <a:off x="4968" y="3600"/>
            <a:ext cx="31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801" name="Equation" r:id="rId45" imgW="152280" imgH="164880" progId="Equation.3">
                    <p:embed/>
                  </p:oleObj>
                </mc:Choice>
                <mc:Fallback>
                  <p:oleObj name="Equation" r:id="rId45" imgW="152280" imgH="1648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3600"/>
                          <a:ext cx="312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67" name="Rectangle 103"/>
            <p:cNvSpPr>
              <a:spLocks noChangeArrowheads="1"/>
            </p:cNvSpPr>
            <p:nvPr/>
          </p:nvSpPr>
          <p:spPr bwMode="auto">
            <a:xfrm>
              <a:off x="3792" y="1488"/>
              <a:ext cx="1824" cy="2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968" name="Text Box 104"/>
            <p:cNvSpPr txBox="1">
              <a:spLocks noChangeArrowheads="1"/>
            </p:cNvSpPr>
            <p:nvPr/>
          </p:nvSpPr>
          <p:spPr bwMode="auto">
            <a:xfrm>
              <a:off x="3792" y="1488"/>
              <a:ext cx="720" cy="35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碰前</a:t>
              </a:r>
            </a:p>
          </p:txBody>
        </p:sp>
        <p:sp>
          <p:nvSpPr>
            <p:cNvPr id="164969" name="Text Box 105"/>
            <p:cNvSpPr txBox="1">
              <a:spLocks noChangeArrowheads="1"/>
            </p:cNvSpPr>
            <p:nvPr/>
          </p:nvSpPr>
          <p:spPr bwMode="auto">
            <a:xfrm>
              <a:off x="3792" y="2835"/>
              <a:ext cx="720" cy="35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碰后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81000" y="9538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作业：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2186428"/>
            <a:ext cx="7772400" cy="147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 smtClean="0"/>
              <a:t> </a:t>
            </a:r>
            <a:r>
              <a:rPr kumimoji="1" lang="en-US" altLang="zh-CN" sz="2800" dirty="0" smtClean="0"/>
              <a:t>3-5</a:t>
            </a:r>
            <a:r>
              <a:rPr kumimoji="1" lang="zh-CN" altLang="en-US" sz="2800" dirty="0" smtClean="0"/>
              <a:t>；</a:t>
            </a:r>
            <a:endParaRPr kumimoji="1" lang="en-US" altLang="zh-CN" sz="2800" dirty="0" smtClean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 smtClean="0"/>
              <a:t> 3-22</a:t>
            </a:r>
            <a:r>
              <a:rPr kumimoji="1" lang="zh-CN" altLang="en-US" sz="2800" dirty="0" smtClean="0"/>
              <a:t>，</a:t>
            </a:r>
            <a:r>
              <a:rPr kumimoji="1" lang="en-US" altLang="zh-CN" sz="2800" dirty="0" smtClean="0"/>
              <a:t>3-28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Text Box 3"/>
          <p:cNvSpPr txBox="1">
            <a:spLocks noChangeArrowheads="1"/>
          </p:cNvSpPr>
          <p:nvPr/>
        </p:nvSpPr>
        <p:spPr bwMode="auto">
          <a:xfrm>
            <a:off x="103188" y="549275"/>
            <a:ext cx="8964612" cy="272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</a:rPr>
              <a:t>3  </a:t>
            </a:r>
            <a:r>
              <a:rPr lang="zh-CN" altLang="en-US" sz="2800" dirty="0"/>
              <a:t>在宇宙中有密度为 </a:t>
            </a:r>
            <a:r>
              <a:rPr lang="zh-CN" altLang="en-US" sz="2800" i="1" dirty="0">
                <a:sym typeface="Symbol" pitchFamily="18" charset="2"/>
              </a:rPr>
              <a:t> </a:t>
            </a:r>
            <a:r>
              <a:rPr lang="zh-CN" altLang="en-US" sz="2800" dirty="0">
                <a:sym typeface="Symbol" pitchFamily="18" charset="2"/>
              </a:rPr>
              <a:t>的尘埃</a:t>
            </a:r>
            <a:r>
              <a:rPr lang="en-US" altLang="zh-CN" sz="2800" dirty="0">
                <a:sym typeface="Symbol" pitchFamily="18" charset="2"/>
              </a:rPr>
              <a:t>,  </a:t>
            </a:r>
            <a:r>
              <a:rPr lang="zh-CN" altLang="en-US" sz="2800" dirty="0">
                <a:sym typeface="Symbol" pitchFamily="18" charset="2"/>
              </a:rPr>
              <a:t>这些尘埃相对惯性参考系是静止的</a:t>
            </a:r>
            <a:r>
              <a:rPr lang="en-US" altLang="zh-CN" sz="2800" dirty="0">
                <a:sym typeface="Symbol" pitchFamily="18" charset="2"/>
              </a:rPr>
              <a:t>.  </a:t>
            </a:r>
            <a:r>
              <a:rPr lang="zh-CN" altLang="en-US" sz="2800" dirty="0">
                <a:sym typeface="Symbol" pitchFamily="18" charset="2"/>
              </a:rPr>
              <a:t>有一质量为 </a:t>
            </a:r>
            <a:r>
              <a:rPr lang="en-US" altLang="zh-CN" sz="2800" i="1" dirty="0">
                <a:sym typeface="Symbol" pitchFamily="18" charset="2"/>
              </a:rPr>
              <a:t>m</a:t>
            </a:r>
            <a:r>
              <a:rPr lang="en-US" altLang="zh-CN" sz="2800" baseline="-25000" dirty="0">
                <a:sym typeface="Symbol" pitchFamily="18" charset="2"/>
              </a:rPr>
              <a:t>0</a:t>
            </a:r>
            <a:r>
              <a:rPr lang="en-US" altLang="zh-CN" sz="2800" dirty="0">
                <a:sym typeface="Symbol" pitchFamily="18" charset="2"/>
              </a:rPr>
              <a:t> </a:t>
            </a:r>
            <a:r>
              <a:rPr lang="zh-CN" altLang="en-US" sz="2800" dirty="0">
                <a:sym typeface="Symbol" pitchFamily="18" charset="2"/>
              </a:rPr>
              <a:t>的航天器以 初速 </a:t>
            </a:r>
            <a:r>
              <a:rPr lang="en-US" altLang="zh-CN" sz="2800" i="1" dirty="0">
                <a:latin typeface="Book Antiqua" pitchFamily="18" charset="0"/>
                <a:sym typeface="Symbol" pitchFamily="18" charset="2"/>
              </a:rPr>
              <a:t>v</a:t>
            </a:r>
            <a:r>
              <a:rPr lang="en-US" altLang="zh-CN" sz="2800" baseline="-25000" dirty="0">
                <a:sym typeface="Symbol" pitchFamily="18" charset="2"/>
              </a:rPr>
              <a:t>0</a:t>
            </a:r>
            <a:r>
              <a:rPr lang="en-US" altLang="zh-CN" sz="2800" dirty="0">
                <a:sym typeface="Symbol" pitchFamily="18" charset="2"/>
              </a:rPr>
              <a:t>  </a:t>
            </a:r>
            <a:r>
              <a:rPr lang="zh-CN" altLang="en-US" sz="2800" dirty="0">
                <a:sym typeface="Symbol" pitchFamily="18" charset="2"/>
              </a:rPr>
              <a:t>穿过宇宙尘埃</a:t>
            </a:r>
            <a:r>
              <a:rPr lang="en-US" altLang="zh-CN" sz="2800" dirty="0">
                <a:sym typeface="Symbol" pitchFamily="18" charset="2"/>
              </a:rPr>
              <a:t>,   </a:t>
            </a:r>
            <a:r>
              <a:rPr lang="zh-CN" altLang="en-US" sz="2800" dirty="0">
                <a:sym typeface="Symbol" pitchFamily="18" charset="2"/>
              </a:rPr>
              <a:t>由于尘埃粘贴到航天器上</a:t>
            </a:r>
            <a:r>
              <a:rPr lang="en-US" altLang="zh-CN" sz="2800" dirty="0">
                <a:sym typeface="Symbol" pitchFamily="18" charset="2"/>
              </a:rPr>
              <a:t>,   </a:t>
            </a:r>
            <a:r>
              <a:rPr lang="zh-CN" altLang="en-US" sz="2800" dirty="0">
                <a:sym typeface="Symbol" pitchFamily="18" charset="2"/>
              </a:rPr>
              <a:t>致使航天器的速度发生改变</a:t>
            </a:r>
            <a:r>
              <a:rPr lang="en-US" altLang="zh-CN" sz="2800" dirty="0">
                <a:sym typeface="Symbol" pitchFamily="18" charset="2"/>
              </a:rPr>
              <a:t>.  </a:t>
            </a:r>
            <a:r>
              <a:rPr lang="zh-CN" altLang="en-US" sz="2800" dirty="0">
                <a:sym typeface="Symbol" pitchFamily="18" charset="2"/>
              </a:rPr>
              <a:t>求航天器的速度与其在尘埃中飞 行时间的关系 </a:t>
            </a:r>
            <a:r>
              <a:rPr lang="en-US" altLang="zh-CN" sz="2800" dirty="0">
                <a:sym typeface="Symbol" pitchFamily="18" charset="2"/>
              </a:rPr>
              <a:t>. </a:t>
            </a:r>
            <a:r>
              <a:rPr lang="zh-CN" altLang="en-US" sz="2800" dirty="0">
                <a:sym typeface="Symbol" pitchFamily="18" charset="2"/>
              </a:rPr>
              <a:t>（设想航天器的外形是面积为 </a:t>
            </a:r>
            <a:r>
              <a:rPr lang="en-US" altLang="zh-CN" sz="2800" i="1" dirty="0">
                <a:sym typeface="Symbol" pitchFamily="18" charset="2"/>
              </a:rPr>
              <a:t>S </a:t>
            </a:r>
            <a:r>
              <a:rPr lang="zh-CN" altLang="en-US" sz="2800" dirty="0">
                <a:sym typeface="Symbol" pitchFamily="18" charset="2"/>
              </a:rPr>
              <a:t>的圆柱体）</a:t>
            </a:r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5791200" y="3505200"/>
            <a:ext cx="3124200" cy="1676400"/>
            <a:chOff x="3600" y="2160"/>
            <a:chExt cx="2092" cy="1104"/>
          </a:xfrm>
        </p:grpSpPr>
        <p:sp>
          <p:nvSpPr>
            <p:cNvPr id="160774" name="Rectangle 6"/>
            <p:cNvSpPr>
              <a:spLocks noChangeArrowheads="1"/>
            </p:cNvSpPr>
            <p:nvPr/>
          </p:nvSpPr>
          <p:spPr bwMode="auto">
            <a:xfrm>
              <a:off x="3600" y="2160"/>
              <a:ext cx="2064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67"/>
            <p:cNvGrpSpPr>
              <a:grpSpLocks/>
            </p:cNvGrpSpPr>
            <p:nvPr/>
          </p:nvGrpSpPr>
          <p:grpSpPr bwMode="auto">
            <a:xfrm>
              <a:off x="3634" y="2256"/>
              <a:ext cx="1728" cy="912"/>
              <a:chOff x="2064" y="2256"/>
              <a:chExt cx="1584" cy="1152"/>
            </a:xfrm>
          </p:grpSpPr>
          <p:sp>
            <p:nvSpPr>
              <p:cNvPr id="160776" name="Oval 8"/>
              <p:cNvSpPr>
                <a:spLocks noChangeArrowheads="1"/>
              </p:cNvSpPr>
              <p:nvPr/>
            </p:nvSpPr>
            <p:spPr bwMode="auto">
              <a:xfrm flipH="1" flipV="1">
                <a:off x="2208" y="2256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77" name="Oval 9"/>
              <p:cNvSpPr>
                <a:spLocks noChangeArrowheads="1"/>
              </p:cNvSpPr>
              <p:nvPr/>
            </p:nvSpPr>
            <p:spPr bwMode="auto">
              <a:xfrm>
                <a:off x="2448" y="2256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1" name="Oval 23"/>
              <p:cNvSpPr>
                <a:spLocks noChangeArrowheads="1"/>
              </p:cNvSpPr>
              <p:nvPr/>
            </p:nvSpPr>
            <p:spPr bwMode="auto">
              <a:xfrm flipH="1" flipV="1">
                <a:off x="2713" y="2256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2" name="Oval 24"/>
              <p:cNvSpPr>
                <a:spLocks noChangeArrowheads="1"/>
              </p:cNvSpPr>
              <p:nvPr/>
            </p:nvSpPr>
            <p:spPr bwMode="auto">
              <a:xfrm>
                <a:off x="2953" y="2256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3" name="Oval 25"/>
              <p:cNvSpPr>
                <a:spLocks noChangeArrowheads="1"/>
              </p:cNvSpPr>
              <p:nvPr/>
            </p:nvSpPr>
            <p:spPr bwMode="auto">
              <a:xfrm flipH="1" flipV="1">
                <a:off x="3193" y="2256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4" name="Oval 26"/>
              <p:cNvSpPr>
                <a:spLocks noChangeArrowheads="1"/>
              </p:cNvSpPr>
              <p:nvPr/>
            </p:nvSpPr>
            <p:spPr bwMode="auto">
              <a:xfrm>
                <a:off x="3433" y="2256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5" name="Oval 27"/>
              <p:cNvSpPr>
                <a:spLocks noChangeArrowheads="1"/>
              </p:cNvSpPr>
              <p:nvPr/>
            </p:nvSpPr>
            <p:spPr bwMode="auto">
              <a:xfrm flipH="1" flipV="1">
                <a:off x="2304" y="2448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6" name="Oval 28"/>
              <p:cNvSpPr>
                <a:spLocks noChangeArrowheads="1"/>
              </p:cNvSpPr>
              <p:nvPr/>
            </p:nvSpPr>
            <p:spPr bwMode="auto">
              <a:xfrm>
                <a:off x="2592" y="246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7" name="Oval 29"/>
              <p:cNvSpPr>
                <a:spLocks noChangeArrowheads="1"/>
              </p:cNvSpPr>
              <p:nvPr/>
            </p:nvSpPr>
            <p:spPr bwMode="auto">
              <a:xfrm flipH="1" flipV="1">
                <a:off x="2880" y="246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8" name="Oval 30"/>
              <p:cNvSpPr>
                <a:spLocks noChangeArrowheads="1"/>
              </p:cNvSpPr>
              <p:nvPr/>
            </p:nvSpPr>
            <p:spPr bwMode="auto">
              <a:xfrm>
                <a:off x="3120" y="246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799" name="Oval 31"/>
              <p:cNvSpPr>
                <a:spLocks noChangeArrowheads="1"/>
              </p:cNvSpPr>
              <p:nvPr/>
            </p:nvSpPr>
            <p:spPr bwMode="auto">
              <a:xfrm flipH="1" flipV="1">
                <a:off x="3385" y="246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0" name="Oval 32"/>
              <p:cNvSpPr>
                <a:spLocks noChangeArrowheads="1"/>
              </p:cNvSpPr>
              <p:nvPr/>
            </p:nvSpPr>
            <p:spPr bwMode="auto">
              <a:xfrm>
                <a:off x="3625" y="246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1" name="Oval 33"/>
              <p:cNvSpPr>
                <a:spLocks noChangeArrowheads="1"/>
              </p:cNvSpPr>
              <p:nvPr/>
            </p:nvSpPr>
            <p:spPr bwMode="auto">
              <a:xfrm flipH="1" flipV="1">
                <a:off x="2064" y="246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2" name="Oval 34"/>
              <p:cNvSpPr>
                <a:spLocks noChangeArrowheads="1"/>
              </p:cNvSpPr>
              <p:nvPr/>
            </p:nvSpPr>
            <p:spPr bwMode="auto">
              <a:xfrm flipH="1" flipV="1">
                <a:off x="2208" y="2640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3" name="Oval 35"/>
              <p:cNvSpPr>
                <a:spLocks noChangeArrowheads="1"/>
              </p:cNvSpPr>
              <p:nvPr/>
            </p:nvSpPr>
            <p:spPr bwMode="auto">
              <a:xfrm>
                <a:off x="2448" y="2640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4" name="Oval 36"/>
              <p:cNvSpPr>
                <a:spLocks noChangeArrowheads="1"/>
              </p:cNvSpPr>
              <p:nvPr/>
            </p:nvSpPr>
            <p:spPr bwMode="auto">
              <a:xfrm flipH="1" flipV="1">
                <a:off x="2765" y="2640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5" name="Oval 37"/>
              <p:cNvSpPr>
                <a:spLocks noChangeArrowheads="1"/>
              </p:cNvSpPr>
              <p:nvPr/>
            </p:nvSpPr>
            <p:spPr bwMode="auto">
              <a:xfrm>
                <a:off x="2976" y="2640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6" name="Oval 38"/>
              <p:cNvSpPr>
                <a:spLocks noChangeArrowheads="1"/>
              </p:cNvSpPr>
              <p:nvPr/>
            </p:nvSpPr>
            <p:spPr bwMode="auto">
              <a:xfrm flipH="1" flipV="1">
                <a:off x="3193" y="2640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7" name="Oval 39"/>
              <p:cNvSpPr>
                <a:spLocks noChangeArrowheads="1"/>
              </p:cNvSpPr>
              <p:nvPr/>
            </p:nvSpPr>
            <p:spPr bwMode="auto">
              <a:xfrm>
                <a:off x="3433" y="2665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8" name="Oval 40"/>
              <p:cNvSpPr>
                <a:spLocks noChangeArrowheads="1"/>
              </p:cNvSpPr>
              <p:nvPr/>
            </p:nvSpPr>
            <p:spPr bwMode="auto">
              <a:xfrm flipH="1" flipV="1">
                <a:off x="2304" y="2819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09" name="Oval 41"/>
              <p:cNvSpPr>
                <a:spLocks noChangeArrowheads="1"/>
              </p:cNvSpPr>
              <p:nvPr/>
            </p:nvSpPr>
            <p:spPr bwMode="auto">
              <a:xfrm>
                <a:off x="2592" y="2819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0" name="Oval 42"/>
              <p:cNvSpPr>
                <a:spLocks noChangeArrowheads="1"/>
              </p:cNvSpPr>
              <p:nvPr/>
            </p:nvSpPr>
            <p:spPr bwMode="auto">
              <a:xfrm flipH="1" flipV="1">
                <a:off x="2880" y="2819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1" name="Oval 43"/>
              <p:cNvSpPr>
                <a:spLocks noChangeArrowheads="1"/>
              </p:cNvSpPr>
              <p:nvPr/>
            </p:nvSpPr>
            <p:spPr bwMode="auto">
              <a:xfrm>
                <a:off x="3120" y="2832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2" name="Oval 44"/>
              <p:cNvSpPr>
                <a:spLocks noChangeArrowheads="1"/>
              </p:cNvSpPr>
              <p:nvPr/>
            </p:nvSpPr>
            <p:spPr bwMode="auto">
              <a:xfrm flipH="1" flipV="1">
                <a:off x="3385" y="2819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3" name="Oval 45"/>
              <p:cNvSpPr>
                <a:spLocks noChangeArrowheads="1"/>
              </p:cNvSpPr>
              <p:nvPr/>
            </p:nvSpPr>
            <p:spPr bwMode="auto">
              <a:xfrm>
                <a:off x="3625" y="2819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4" name="Oval 46"/>
              <p:cNvSpPr>
                <a:spLocks noChangeArrowheads="1"/>
              </p:cNvSpPr>
              <p:nvPr/>
            </p:nvSpPr>
            <p:spPr bwMode="auto">
              <a:xfrm flipH="1" flipV="1">
                <a:off x="2064" y="2819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5" name="Oval 47"/>
              <p:cNvSpPr>
                <a:spLocks noChangeArrowheads="1"/>
              </p:cNvSpPr>
              <p:nvPr/>
            </p:nvSpPr>
            <p:spPr bwMode="auto">
              <a:xfrm flipH="1" flipV="1">
                <a:off x="2256" y="2997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6" name="Oval 48"/>
              <p:cNvSpPr>
                <a:spLocks noChangeArrowheads="1"/>
              </p:cNvSpPr>
              <p:nvPr/>
            </p:nvSpPr>
            <p:spPr bwMode="auto">
              <a:xfrm>
                <a:off x="2496" y="2997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7" name="Oval 49"/>
              <p:cNvSpPr>
                <a:spLocks noChangeArrowheads="1"/>
              </p:cNvSpPr>
              <p:nvPr/>
            </p:nvSpPr>
            <p:spPr bwMode="auto">
              <a:xfrm flipH="1" flipV="1">
                <a:off x="2765" y="2997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8" name="Oval 50"/>
              <p:cNvSpPr>
                <a:spLocks noChangeArrowheads="1"/>
              </p:cNvSpPr>
              <p:nvPr/>
            </p:nvSpPr>
            <p:spPr bwMode="auto">
              <a:xfrm>
                <a:off x="3001" y="2997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19" name="Oval 51"/>
              <p:cNvSpPr>
                <a:spLocks noChangeArrowheads="1"/>
              </p:cNvSpPr>
              <p:nvPr/>
            </p:nvSpPr>
            <p:spPr bwMode="auto">
              <a:xfrm flipH="1" flipV="1">
                <a:off x="3193" y="2997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0" name="Oval 52"/>
              <p:cNvSpPr>
                <a:spLocks noChangeArrowheads="1"/>
              </p:cNvSpPr>
              <p:nvPr/>
            </p:nvSpPr>
            <p:spPr bwMode="auto">
              <a:xfrm>
                <a:off x="3433" y="2997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1" name="Oval 53"/>
              <p:cNvSpPr>
                <a:spLocks noChangeArrowheads="1"/>
              </p:cNvSpPr>
              <p:nvPr/>
            </p:nvSpPr>
            <p:spPr bwMode="auto">
              <a:xfrm flipH="1" flipV="1">
                <a:off x="2304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2" name="Oval 54"/>
              <p:cNvSpPr>
                <a:spLocks noChangeArrowheads="1"/>
              </p:cNvSpPr>
              <p:nvPr/>
            </p:nvSpPr>
            <p:spPr bwMode="auto">
              <a:xfrm>
                <a:off x="2592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3" name="Oval 55"/>
              <p:cNvSpPr>
                <a:spLocks noChangeArrowheads="1"/>
              </p:cNvSpPr>
              <p:nvPr/>
            </p:nvSpPr>
            <p:spPr bwMode="auto">
              <a:xfrm flipH="1" flipV="1">
                <a:off x="2880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4" name="Oval 56"/>
              <p:cNvSpPr>
                <a:spLocks noChangeArrowheads="1"/>
              </p:cNvSpPr>
              <p:nvPr/>
            </p:nvSpPr>
            <p:spPr bwMode="auto">
              <a:xfrm>
                <a:off x="3145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5" name="Oval 57"/>
              <p:cNvSpPr>
                <a:spLocks noChangeArrowheads="1"/>
              </p:cNvSpPr>
              <p:nvPr/>
            </p:nvSpPr>
            <p:spPr bwMode="auto">
              <a:xfrm flipH="1" flipV="1">
                <a:off x="3408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6" name="Oval 58"/>
              <p:cNvSpPr>
                <a:spLocks noChangeArrowheads="1"/>
              </p:cNvSpPr>
              <p:nvPr/>
            </p:nvSpPr>
            <p:spPr bwMode="auto">
              <a:xfrm>
                <a:off x="3625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7" name="Oval 59"/>
              <p:cNvSpPr>
                <a:spLocks noChangeArrowheads="1"/>
              </p:cNvSpPr>
              <p:nvPr/>
            </p:nvSpPr>
            <p:spPr bwMode="auto">
              <a:xfrm flipH="1" flipV="1">
                <a:off x="2064" y="3190"/>
                <a:ext cx="23" cy="2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8" name="Oval 60"/>
              <p:cNvSpPr>
                <a:spLocks noChangeArrowheads="1"/>
              </p:cNvSpPr>
              <p:nvPr/>
            </p:nvSpPr>
            <p:spPr bwMode="auto">
              <a:xfrm flipH="1" flipV="1">
                <a:off x="2256" y="3381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29" name="Oval 61"/>
              <p:cNvSpPr>
                <a:spLocks noChangeArrowheads="1"/>
              </p:cNvSpPr>
              <p:nvPr/>
            </p:nvSpPr>
            <p:spPr bwMode="auto">
              <a:xfrm>
                <a:off x="2496" y="3381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30" name="Oval 62"/>
              <p:cNvSpPr>
                <a:spLocks noChangeArrowheads="1"/>
              </p:cNvSpPr>
              <p:nvPr/>
            </p:nvSpPr>
            <p:spPr bwMode="auto">
              <a:xfrm flipH="1" flipV="1">
                <a:off x="2809" y="3381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31" name="Oval 63"/>
              <p:cNvSpPr>
                <a:spLocks noChangeArrowheads="1"/>
              </p:cNvSpPr>
              <p:nvPr/>
            </p:nvSpPr>
            <p:spPr bwMode="auto">
              <a:xfrm>
                <a:off x="3001" y="3381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32" name="Oval 64"/>
              <p:cNvSpPr>
                <a:spLocks noChangeArrowheads="1"/>
              </p:cNvSpPr>
              <p:nvPr/>
            </p:nvSpPr>
            <p:spPr bwMode="auto">
              <a:xfrm flipH="1" flipV="1">
                <a:off x="3193" y="3381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33" name="Oval 65"/>
              <p:cNvSpPr>
                <a:spLocks noChangeArrowheads="1"/>
              </p:cNvSpPr>
              <p:nvPr/>
            </p:nvSpPr>
            <p:spPr bwMode="auto">
              <a:xfrm>
                <a:off x="3433" y="3381"/>
                <a:ext cx="23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4" name="Group 89"/>
            <p:cNvGrpSpPr>
              <a:grpSpLocks/>
            </p:cNvGrpSpPr>
            <p:nvPr/>
          </p:nvGrpSpPr>
          <p:grpSpPr bwMode="auto">
            <a:xfrm>
              <a:off x="3922" y="2544"/>
              <a:ext cx="1104" cy="336"/>
              <a:chOff x="816" y="2688"/>
              <a:chExt cx="1104" cy="336"/>
            </a:xfrm>
          </p:grpSpPr>
          <p:sp>
            <p:nvSpPr>
              <p:cNvPr id="160837" name="Oval 69"/>
              <p:cNvSpPr>
                <a:spLocks noChangeArrowheads="1"/>
              </p:cNvSpPr>
              <p:nvPr/>
            </p:nvSpPr>
            <p:spPr bwMode="auto">
              <a:xfrm>
                <a:off x="864" y="2688"/>
                <a:ext cx="192" cy="33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38" name="Oval 70"/>
              <p:cNvSpPr>
                <a:spLocks noChangeArrowheads="1"/>
              </p:cNvSpPr>
              <p:nvPr/>
            </p:nvSpPr>
            <p:spPr bwMode="auto">
              <a:xfrm>
                <a:off x="1734" y="2688"/>
                <a:ext cx="124" cy="33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0849" name="Freeform 81"/>
              <p:cNvSpPr>
                <a:spLocks/>
              </p:cNvSpPr>
              <p:nvPr/>
            </p:nvSpPr>
            <p:spPr bwMode="auto">
              <a:xfrm>
                <a:off x="816" y="2688"/>
                <a:ext cx="1104" cy="336"/>
              </a:xfrm>
              <a:custGeom>
                <a:avLst/>
                <a:gdLst/>
                <a:ahLst/>
                <a:cxnLst>
                  <a:cxn ang="0">
                    <a:pos x="4211" y="19"/>
                  </a:cxn>
                  <a:cxn ang="0">
                    <a:pos x="689" y="19"/>
                  </a:cxn>
                  <a:cxn ang="0">
                    <a:pos x="1060" y="19"/>
                  </a:cxn>
                  <a:cxn ang="0">
                    <a:pos x="1029" y="1"/>
                  </a:cxn>
                  <a:cxn ang="0">
                    <a:pos x="1005" y="19"/>
                  </a:cxn>
                  <a:cxn ang="0">
                    <a:pos x="523" y="23"/>
                  </a:cxn>
                  <a:cxn ang="0">
                    <a:pos x="649" y="10"/>
                  </a:cxn>
                  <a:cxn ang="0">
                    <a:pos x="603" y="19"/>
                  </a:cxn>
                  <a:cxn ang="0">
                    <a:pos x="414" y="122"/>
                  </a:cxn>
                  <a:cxn ang="0">
                    <a:pos x="285" y="350"/>
                  </a:cxn>
                  <a:cxn ang="0">
                    <a:pos x="273" y="648"/>
                  </a:cxn>
                  <a:cxn ang="0">
                    <a:pos x="285" y="1085"/>
                  </a:cxn>
                  <a:cxn ang="0">
                    <a:pos x="394" y="1343"/>
                  </a:cxn>
                  <a:cxn ang="0">
                    <a:pos x="523" y="1463"/>
                  </a:cxn>
                  <a:cxn ang="0">
                    <a:pos x="593" y="1482"/>
                  </a:cxn>
                  <a:cxn ang="0">
                    <a:pos x="4079" y="1472"/>
                  </a:cxn>
                  <a:cxn ang="0">
                    <a:pos x="4128" y="1472"/>
                  </a:cxn>
                  <a:cxn ang="0">
                    <a:pos x="3989" y="1373"/>
                  </a:cxn>
                  <a:cxn ang="0">
                    <a:pos x="3917" y="1192"/>
                  </a:cxn>
                  <a:cxn ang="0">
                    <a:pos x="3860" y="767"/>
                  </a:cxn>
                  <a:cxn ang="0">
                    <a:pos x="3890" y="450"/>
                  </a:cxn>
                  <a:cxn ang="0">
                    <a:pos x="3940" y="241"/>
                  </a:cxn>
                  <a:cxn ang="0">
                    <a:pos x="3999" y="122"/>
                  </a:cxn>
                  <a:cxn ang="0">
                    <a:pos x="4059" y="52"/>
                  </a:cxn>
                  <a:cxn ang="0">
                    <a:pos x="4211" y="19"/>
                  </a:cxn>
                </a:cxnLst>
                <a:rect l="0" t="0" r="r" b="b"/>
                <a:pathLst>
                  <a:path w="4668" h="1488">
                    <a:moveTo>
                      <a:pt x="4211" y="19"/>
                    </a:moveTo>
                    <a:cubicBezTo>
                      <a:pt x="3647" y="9"/>
                      <a:pt x="1216" y="19"/>
                      <a:pt x="689" y="19"/>
                    </a:cubicBezTo>
                    <a:cubicBezTo>
                      <a:pt x="165" y="19"/>
                      <a:pt x="998" y="23"/>
                      <a:pt x="1060" y="19"/>
                    </a:cubicBezTo>
                    <a:cubicBezTo>
                      <a:pt x="1115" y="19"/>
                      <a:pt x="1041" y="1"/>
                      <a:pt x="1029" y="1"/>
                    </a:cubicBezTo>
                    <a:cubicBezTo>
                      <a:pt x="1023" y="1"/>
                      <a:pt x="1089" y="15"/>
                      <a:pt x="1005" y="19"/>
                    </a:cubicBezTo>
                    <a:cubicBezTo>
                      <a:pt x="921" y="23"/>
                      <a:pt x="582" y="25"/>
                      <a:pt x="523" y="23"/>
                    </a:cubicBezTo>
                    <a:cubicBezTo>
                      <a:pt x="464" y="21"/>
                      <a:pt x="636" y="11"/>
                      <a:pt x="649" y="10"/>
                    </a:cubicBezTo>
                    <a:cubicBezTo>
                      <a:pt x="662" y="9"/>
                      <a:pt x="642" y="0"/>
                      <a:pt x="603" y="19"/>
                    </a:cubicBezTo>
                    <a:cubicBezTo>
                      <a:pt x="564" y="38"/>
                      <a:pt x="467" y="67"/>
                      <a:pt x="414" y="122"/>
                    </a:cubicBezTo>
                    <a:cubicBezTo>
                      <a:pt x="361" y="177"/>
                      <a:pt x="309" y="262"/>
                      <a:pt x="285" y="350"/>
                    </a:cubicBezTo>
                    <a:cubicBezTo>
                      <a:pt x="261" y="438"/>
                      <a:pt x="273" y="526"/>
                      <a:pt x="273" y="648"/>
                    </a:cubicBezTo>
                    <a:cubicBezTo>
                      <a:pt x="273" y="770"/>
                      <a:pt x="265" y="969"/>
                      <a:pt x="285" y="1085"/>
                    </a:cubicBezTo>
                    <a:cubicBezTo>
                      <a:pt x="305" y="1201"/>
                      <a:pt x="354" y="1280"/>
                      <a:pt x="394" y="1343"/>
                    </a:cubicBezTo>
                    <a:cubicBezTo>
                      <a:pt x="434" y="1406"/>
                      <a:pt x="490" y="1440"/>
                      <a:pt x="523" y="1463"/>
                    </a:cubicBezTo>
                    <a:cubicBezTo>
                      <a:pt x="556" y="1486"/>
                      <a:pt x="0" y="1481"/>
                      <a:pt x="593" y="1482"/>
                    </a:cubicBezTo>
                    <a:cubicBezTo>
                      <a:pt x="1186" y="1483"/>
                      <a:pt x="3490" y="1474"/>
                      <a:pt x="4079" y="1472"/>
                    </a:cubicBezTo>
                    <a:cubicBezTo>
                      <a:pt x="4668" y="1470"/>
                      <a:pt x="4143" y="1488"/>
                      <a:pt x="4128" y="1472"/>
                    </a:cubicBezTo>
                    <a:cubicBezTo>
                      <a:pt x="4113" y="1456"/>
                      <a:pt x="4024" y="1420"/>
                      <a:pt x="3989" y="1373"/>
                    </a:cubicBezTo>
                    <a:cubicBezTo>
                      <a:pt x="3954" y="1326"/>
                      <a:pt x="3938" y="1293"/>
                      <a:pt x="3917" y="1192"/>
                    </a:cubicBezTo>
                    <a:cubicBezTo>
                      <a:pt x="3896" y="1091"/>
                      <a:pt x="3865" y="891"/>
                      <a:pt x="3860" y="767"/>
                    </a:cubicBezTo>
                    <a:cubicBezTo>
                      <a:pt x="3855" y="643"/>
                      <a:pt x="3877" y="538"/>
                      <a:pt x="3890" y="450"/>
                    </a:cubicBezTo>
                    <a:cubicBezTo>
                      <a:pt x="3903" y="362"/>
                      <a:pt x="3922" y="296"/>
                      <a:pt x="3940" y="241"/>
                    </a:cubicBezTo>
                    <a:cubicBezTo>
                      <a:pt x="3958" y="186"/>
                      <a:pt x="3979" y="153"/>
                      <a:pt x="3999" y="122"/>
                    </a:cubicBezTo>
                    <a:cubicBezTo>
                      <a:pt x="4019" y="91"/>
                      <a:pt x="4024" y="69"/>
                      <a:pt x="4059" y="52"/>
                    </a:cubicBezTo>
                    <a:cubicBezTo>
                      <a:pt x="4094" y="35"/>
                      <a:pt x="4179" y="26"/>
                      <a:pt x="4211" y="1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  <p:sp>
          <p:nvSpPr>
            <p:cNvPr id="160858" name="Line 90"/>
            <p:cNvSpPr>
              <a:spLocks noChangeShapeType="1"/>
            </p:cNvSpPr>
            <p:nvPr/>
          </p:nvSpPr>
          <p:spPr bwMode="auto">
            <a:xfrm>
              <a:off x="4930" y="2736"/>
              <a:ext cx="43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0859" name="Object 91"/>
            <p:cNvGraphicFramePr>
              <a:graphicFrameLocks noChangeAspect="1"/>
            </p:cNvGraphicFramePr>
            <p:nvPr/>
          </p:nvGraphicFramePr>
          <p:xfrm>
            <a:off x="5362" y="2640"/>
            <a:ext cx="33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666" name="Equation" r:id="rId3" imgW="126720" imgH="139680" progId="Equation.3">
                    <p:embed/>
                  </p:oleObj>
                </mc:Choice>
                <mc:Fallback>
                  <p:oleObj name="Equation" r:id="rId3" imgW="126720" imgH="139680" progId="Equation.3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2" y="2640"/>
                          <a:ext cx="330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0860" name="Object 92"/>
            <p:cNvGraphicFramePr>
              <a:graphicFrameLocks noChangeAspect="1"/>
            </p:cNvGraphicFramePr>
            <p:nvPr/>
          </p:nvGraphicFramePr>
          <p:xfrm>
            <a:off x="4306" y="2592"/>
            <a:ext cx="35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667" name="Equation" r:id="rId5" imgW="164880" imgH="139680" progId="Equation.3">
                    <p:embed/>
                  </p:oleObj>
                </mc:Choice>
                <mc:Fallback>
                  <p:oleObj name="Equation" r:id="rId5" imgW="164880" imgH="139680" progId="Equation.3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2592"/>
                          <a:ext cx="358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76200" y="3276600"/>
            <a:ext cx="5791200" cy="1219200"/>
            <a:chOff x="48" y="2064"/>
            <a:chExt cx="3648" cy="768"/>
          </a:xfrm>
        </p:grpSpPr>
        <p:sp>
          <p:nvSpPr>
            <p:cNvPr id="160862" name="Text Box 94"/>
            <p:cNvSpPr txBox="1">
              <a:spLocks noChangeArrowheads="1"/>
            </p:cNvSpPr>
            <p:nvPr/>
          </p:nvSpPr>
          <p:spPr bwMode="auto">
            <a:xfrm>
              <a:off x="48" y="2064"/>
              <a:ext cx="3648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CC0000"/>
                  </a:solidFill>
                </a:rPr>
                <a:t>        </a:t>
              </a:r>
              <a:r>
                <a:rPr lang="zh-CN" altLang="en-US" sz="2800">
                  <a:solidFill>
                    <a:srgbClr val="CC0000"/>
                  </a:solidFill>
                </a:rPr>
                <a:t>解 </a:t>
              </a:r>
              <a:r>
                <a:rPr lang="zh-CN" altLang="en-US" sz="2800">
                  <a:solidFill>
                    <a:schemeClr val="tx1"/>
                  </a:solidFill>
                  <a:sym typeface="Symbol" pitchFamily="18" charset="2"/>
                </a:rPr>
                <a:t>尘埃与航天器作</a:t>
              </a:r>
              <a:r>
                <a:rPr lang="zh-CN" altLang="en-US" sz="2800">
                  <a:solidFill>
                    <a:schemeClr val="tx1"/>
                  </a:solidFill>
                </a:rPr>
                <a:t>完全非弹性碰撞</a:t>
              </a:r>
              <a:r>
                <a:rPr lang="en-US" altLang="zh-CN" sz="2800">
                  <a:solidFill>
                    <a:schemeClr val="tx1"/>
                  </a:solidFill>
                </a:rPr>
                <a:t>,   </a:t>
              </a:r>
              <a:r>
                <a:rPr lang="zh-CN" altLang="en-US" sz="2800">
                  <a:solidFill>
                    <a:schemeClr val="tx1"/>
                  </a:solidFill>
                </a:rPr>
                <a:t>则动量守恒 </a:t>
              </a:r>
              <a:r>
                <a:rPr lang="en-US" altLang="zh-CN" sz="2800">
                  <a:solidFill>
                    <a:schemeClr val="tx1"/>
                  </a:solidFill>
                </a:rPr>
                <a:t>.</a:t>
              </a:r>
            </a:p>
          </p:txBody>
        </p:sp>
        <p:graphicFrame>
          <p:nvGraphicFramePr>
            <p:cNvPr id="160864" name="Object 96"/>
            <p:cNvGraphicFramePr>
              <a:graphicFrameLocks noChangeAspect="1"/>
            </p:cNvGraphicFramePr>
            <p:nvPr/>
          </p:nvGraphicFramePr>
          <p:xfrm>
            <a:off x="2112" y="2406"/>
            <a:ext cx="1315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668" name="Equation" r:id="rId7" imgW="685800" imgH="228600" progId="Equation.3">
                    <p:embed/>
                  </p:oleObj>
                </mc:Choice>
                <mc:Fallback>
                  <p:oleObj name="Equation" r:id="rId7" imgW="685800" imgH="22860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406"/>
                          <a:ext cx="1315" cy="4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0866" name="Object 98"/>
          <p:cNvGraphicFramePr>
            <a:graphicFrameLocks noChangeAspect="1"/>
          </p:cNvGraphicFramePr>
          <p:nvPr/>
        </p:nvGraphicFramePr>
        <p:xfrm>
          <a:off x="228600" y="4419600"/>
          <a:ext cx="33655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69" name="Equation" r:id="rId9" imgW="990360" imgH="393480" progId="Equation.3">
                  <p:embed/>
                </p:oleObj>
              </mc:Choice>
              <mc:Fallback>
                <p:oleObj name="Equation" r:id="rId9" imgW="990360" imgH="39348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19600"/>
                        <a:ext cx="3365500" cy="110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69" name="Object 101"/>
          <p:cNvGraphicFramePr>
            <a:graphicFrameLocks noChangeAspect="1"/>
          </p:cNvGraphicFramePr>
          <p:nvPr/>
        </p:nvGraphicFramePr>
        <p:xfrm>
          <a:off x="3657600" y="4724400"/>
          <a:ext cx="18002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70" name="Equation" r:id="rId11" imgW="533160" imgH="203040" progId="Equation.3">
                  <p:embed/>
                </p:oleObj>
              </mc:Choice>
              <mc:Fallback>
                <p:oleObj name="Equation" r:id="rId11" imgW="533160" imgH="20304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24400"/>
                        <a:ext cx="1800225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71" name="Object 103"/>
          <p:cNvGraphicFramePr>
            <a:graphicFrameLocks noChangeAspect="1"/>
          </p:cNvGraphicFramePr>
          <p:nvPr/>
        </p:nvGraphicFramePr>
        <p:xfrm>
          <a:off x="228600" y="5410200"/>
          <a:ext cx="3733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71" name="Equation" r:id="rId13" imgW="1257120" imgH="431640" progId="Equation.3">
                  <p:embed/>
                </p:oleObj>
              </mc:Choice>
              <mc:Fallback>
                <p:oleObj name="Equation" r:id="rId13" imgW="1257120" imgH="43164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10200"/>
                        <a:ext cx="3733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72" name="Object 104"/>
          <p:cNvGraphicFramePr>
            <a:graphicFrameLocks noChangeAspect="1"/>
          </p:cNvGraphicFramePr>
          <p:nvPr/>
        </p:nvGraphicFramePr>
        <p:xfrm>
          <a:off x="4267200" y="5334000"/>
          <a:ext cx="4648200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72" name="公式" r:id="rId15" imgW="1511280" imgH="431640" progId="Equation.3">
                  <p:embed/>
                </p:oleObj>
              </mc:Choice>
              <mc:Fallback>
                <p:oleObj name="公式" r:id="rId15" imgW="1511280" imgH="43164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334000"/>
                        <a:ext cx="4648200" cy="1208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862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986" name="Picture 2" descr="G:\二版图片\三章\星尘飞船收集彗星尘埃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066800"/>
            <a:ext cx="401637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9987" name="Text Box 3"/>
          <p:cNvSpPr txBox="1">
            <a:spLocks noChangeArrowheads="1"/>
          </p:cNvSpPr>
          <p:nvPr/>
        </p:nvSpPr>
        <p:spPr bwMode="auto">
          <a:xfrm>
            <a:off x="5029200" y="2057400"/>
            <a:ext cx="3657600" cy="249555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/>
              <a:t>         1999</a:t>
            </a:r>
            <a:r>
              <a:rPr lang="zh-CN" altLang="en-US" sz="2800"/>
              <a:t>年二月美国发射的  “ 星尘号 ” 飞船收集慧星尘埃的想象图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7431</TotalTime>
  <Words>2613</Words>
  <Application>Microsoft Office PowerPoint</Application>
  <PresentationFormat>全屏显示(4:3)</PresentationFormat>
  <Paragraphs>337</Paragraphs>
  <Slides>67</Slides>
  <Notes>0</Notes>
  <HiddenSlides>18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67</vt:i4>
      </vt:variant>
    </vt:vector>
  </HeadingPairs>
  <TitlesOfParts>
    <vt:vector size="86" baseType="lpstr">
      <vt:lpstr>Arial Unicode MS</vt:lpstr>
      <vt:lpstr>Microsoft Yahei</vt:lpstr>
      <vt:lpstr>华文细黑</vt:lpstr>
      <vt:lpstr>楷体_GB2312</vt:lpstr>
      <vt:lpstr>隶书</vt:lpstr>
      <vt:lpstr>宋体</vt:lpstr>
      <vt:lpstr>幼圆</vt:lpstr>
      <vt:lpstr>Arial</vt:lpstr>
      <vt:lpstr>Book Antiqua</vt:lpstr>
      <vt:lpstr>Calibri</vt:lpstr>
      <vt:lpstr>Symbol</vt:lpstr>
      <vt:lpstr>Times New Roman</vt:lpstr>
      <vt:lpstr>Wingdings</vt:lpstr>
      <vt:lpstr>Office Theme</vt:lpstr>
      <vt:lpstr>Equation</vt:lpstr>
      <vt:lpstr>公式</vt:lpstr>
      <vt:lpstr>Clip</vt:lpstr>
      <vt:lpstr>Flash Movie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lang</cp:lastModifiedBy>
  <cp:revision>3892</cp:revision>
  <dcterms:created xsi:type="dcterms:W3CDTF">2006-08-16T00:00:00Z</dcterms:created>
  <dcterms:modified xsi:type="dcterms:W3CDTF">2020-04-09T17:41:25Z</dcterms:modified>
</cp:coreProperties>
</file>